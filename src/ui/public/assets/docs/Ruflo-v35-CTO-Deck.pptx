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pgvector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100K vectors</c:v>
                  </c:pt>
                  <c:pt idx="1">
                    <c:v>1M vectors</c:v>
                  </c:pt>
                  <c:pt idx="2">
                    <c:v>10M vectors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320</c:v>
                </c:pt>
                <c:pt idx="2">
                  <c:v>2500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RuVector HNSW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100K vectors</c:v>
                  </c:pt>
                  <c:pt idx="1">
                    <c:v>1M vectors</c:v>
                  </c:pt>
                  <c:pt idx="2">
                    <c:v>10M vectors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</c:v>
                </c:pt>
                <c:pt idx="1">
                  <c:v>0.8</c:v>
                </c:pt>
                <c:pt idx="2">
                  <c:v>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827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oval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377440" cy="2377440"/>
          </a:xfrm>
          <a:prstGeom prst="oval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200400"/>
            <a:ext cx="2743200" cy="2743200"/>
          </a:xfrm>
          <a:prstGeom prst="oval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RuvNet / Ruflo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Self-Learning AI Infrastructure Stack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stateless autocomplete to coordinated intelligence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657600"/>
            <a:ext cx="1463040" cy="365760"/>
          </a:xfrm>
          <a:prstGeom prst="rounde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v3.5  |  2026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47472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10x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More AI Agents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 Engineers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engineering team will operate this way by 2028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731520"/>
            <a:ext cx="2743200" cy="3291840"/>
          </a:xfrm>
          <a:prstGeom prst="roundedRect">
            <a:avLst>
              <a:gd name="adj" fmla="val 4000"/>
            </a:avLst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0058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Predicts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26480" y="22860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2028, 33% of enterprise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will include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AI, up from &lt;1%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2024.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2648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Gartner, 2024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D4FF">
              <a:alpha val="50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AI Tools Forget Everything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3017520"/>
          </a:xfrm>
          <a:prstGeom prst="roundedRect">
            <a:avLst>
              <a:gd name="adj" fmla="val 3509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260604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5544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317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Stateless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27889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starts from zero.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memory. No learning.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re-prompting.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37560" y="1280160"/>
            <a:ext cx="2606040" cy="3017520"/>
          </a:xfrm>
          <a:prstGeom prst="roundedRect">
            <a:avLst>
              <a:gd name="adj" fmla="val 3509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37560" y="128016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55448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20440" y="23317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Coordination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520440" y="27889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can't talk to each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other. Siloed tools. Duplicated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across teams.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17920" y="1280160"/>
            <a:ext cx="2606040" cy="3017520"/>
          </a:xfrm>
          <a:prstGeom prst="roundedRect">
            <a:avLst>
              <a:gd name="adj" fmla="val 3509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128016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55448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23317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 Lock-In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400800" y="27889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lives on someone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else's servers. Latency. Cost.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offline capability.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 1 / Gen 2 / Gen 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 of AI Infrastructure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3200400"/>
          </a:xfrm>
          <a:prstGeom prst="roundedRect">
            <a:avLst>
              <a:gd name="adj" fmla="val 350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606040" cy="54864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6002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 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27889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wrappers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31181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344728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model calls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37764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orchestration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410565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Cloud-only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37560" y="1371600"/>
            <a:ext cx="2606040" cy="3200400"/>
          </a:xfrm>
          <a:prstGeom prst="roundedRect">
            <a:avLst>
              <a:gd name="adj" fmla="val 3509"/>
            </a:avLst>
          </a:prstGeom>
          <a:solidFill>
            <a:srgbClr val="0C2D48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37560" y="1371600"/>
            <a:ext cx="2606040" cy="54864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60020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2044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 2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611880" y="27889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chains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611880" y="31181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vector DB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611880" y="344728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crews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611880" y="37764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memory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611880" y="410565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cloud-bound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217920" y="1371600"/>
            <a:ext cx="2606040" cy="3200400"/>
          </a:xfrm>
          <a:prstGeom prst="roundedRect">
            <a:avLst>
              <a:gd name="adj" fmla="val 3509"/>
            </a:avLst>
          </a:prstGeom>
          <a:solidFill>
            <a:srgbClr val="052E1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217920" y="137160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600200"/>
            <a:ext cx="640080" cy="6400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0080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 3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6492240" y="27889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Self-learning agents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492240" y="31181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RuVector HNSW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492240" y="344728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RL algorithms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492240" y="37764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intelligence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492240" y="410565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anywhere</a:t>
            </a:r>
            <a:endParaRPr lang="en-US" sz="11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2468880"/>
            <a:ext cx="320040" cy="320040"/>
          </a:xfrm>
          <a:prstGeom prst="rect">
            <a:avLst/>
          </a:prstGeom>
        </p:spPr>
      </p:pic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246888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Stack. Self-Learning. Self-Coordinating.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777240"/>
          </a:xfrm>
          <a:prstGeom prst="roundedRect">
            <a:avLst>
              <a:gd name="adj" fmla="val 9412"/>
            </a:avLst>
          </a:prstGeom>
          <a:solidFill>
            <a:srgbClr val="00D4FF">
              <a:alpha val="20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325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 Layer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194560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ruflo@latest  |  init  |  agent  |  swarm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371600" y="2148840"/>
            <a:ext cx="6400800" cy="777240"/>
          </a:xfrm>
          <a:prstGeom prst="roundedRect">
            <a:avLst>
              <a:gd name="adj" fmla="val 9412"/>
            </a:avLst>
          </a:prstGeom>
          <a:solidFill>
            <a:srgbClr val="1C7293">
              <a:alpha val="20000"/>
            </a:srgbClr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28600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19456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Protocol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2194560" y="2560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tools  |  stdio/SSE transport  |  universal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371600" y="3108960"/>
            <a:ext cx="6400800" cy="777240"/>
          </a:xfrm>
          <a:prstGeom prst="roundedRect">
            <a:avLst>
              <a:gd name="adj" fmla="val 9412"/>
            </a:avLst>
          </a:prstGeom>
          <a:solidFill>
            <a:srgbClr val="065A82">
              <a:alpha val="20000"/>
            </a:srgbClr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324612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19456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Engine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2194560" y="3520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AgentDB v3  |  HNSW  |  9 RL Algorithms  |  SONA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1371600" y="4069080"/>
            <a:ext cx="6400800" cy="777240"/>
          </a:xfrm>
          <a:prstGeom prst="roundedRect">
            <a:avLst>
              <a:gd name="adj" fmla="val 9412"/>
            </a:avLst>
          </a:prstGeom>
          <a:solidFill>
            <a:srgbClr val="21295C">
              <a:alpha val="20000"/>
            </a:srgbClr>
          </a:solidFill>
          <a:ln w="19050">
            <a:solidFill>
              <a:srgbClr val="21295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420624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19456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Runtime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2194560" y="4480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 |  Edge  |  Device  |  Browser  |  WASM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480560" y="1965960"/>
            <a:ext cx="137160" cy="182880"/>
          </a:xfrm>
          <a:prstGeom prst="rect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4480560" y="2926080"/>
            <a:ext cx="137160" cy="182880"/>
          </a:xfrm>
          <a:prstGeom prst="rect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21" name="Shape 15"/>
          <p:cNvSpPr/>
          <p:nvPr/>
        </p:nvSpPr>
        <p:spPr>
          <a:xfrm>
            <a:off x="4480560" y="3886200"/>
            <a:ext cx="137160" cy="182880"/>
          </a:xfrm>
          <a:prstGeom prst="rect">
            <a:avLst/>
          </a:prstGeom>
          <a:solidFill>
            <a:srgbClr val="00D4FF">
              <a:alpha val="60000"/>
            </a:srgb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150x to 12,500x Faster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RuVector HNSW vs pgvector  |  Latency in milliseconds (lower is better)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8229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274320"/>
            <a:ext cx="2103120" cy="548640"/>
          </a:xfrm>
          <a:prstGeom prst="rounde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6" name="Text 3"/>
          <p:cNvSpPr/>
          <p:nvPr/>
        </p:nvSpPr>
        <p:spPr>
          <a:xfrm>
            <a:off x="6583680" y="274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12,500x at scale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SONA: Adaptation in Under 0.05ms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Self-Optimizing Neural 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3200400" cy="2560320"/>
          </a:xfrm>
          <a:prstGeom prst="roundedRect">
            <a:avLst>
              <a:gd name="adj" fmla="val 4286"/>
            </a:avLst>
          </a:prstGeom>
          <a:solidFill>
            <a:srgbClr val="065A82">
              <a:alpha val="5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6916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25146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&lt;0.05ms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097280" y="3154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846320" y="1463040"/>
            <a:ext cx="3200400" cy="2560320"/>
          </a:xfrm>
          <a:prstGeom prst="roundedRect">
            <a:avLst>
              <a:gd name="adj" fmla="val 4286"/>
            </a:avLst>
          </a:prstGeom>
          <a:solidFill>
            <a:srgbClr val="065A82">
              <a:alpha val="5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9164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0" y="25146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2.49-7.47x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5029200" y="3154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endParaRPr lang="en-US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38912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4370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Attention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4389120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108960" y="4370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EWC++ (no forgetting)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389120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12080" y="4370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routing</a:t>
            </a:r>
            <a:endParaRPr lang="en-US" sz="10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4389120"/>
            <a:ext cx="228600" cy="2286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315200" y="4370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distillation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152MB  --&gt;  32MB. Runs in a Browser.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6858000" cy="731520"/>
          </a:xfrm>
          <a:prstGeom prst="roundedRect">
            <a:avLst>
              <a:gd name="adj" fmla="val 10000"/>
            </a:avLst>
          </a:prstGeom>
          <a:solidFill>
            <a:srgbClr val="94A3B8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f32 vectors  |  152 MB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1443789" cy="731520"/>
          </a:xfrm>
          <a:prstGeom prst="roundedRect">
            <a:avLst>
              <a:gd name="adj" fmla="val 10000"/>
            </a:avLst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86000"/>
            <a:ext cx="12609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SQ8 quantized  |  32 MB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32509" y="2331720"/>
            <a:ext cx="1645920" cy="640080"/>
          </a:xfrm>
          <a:prstGeom prst="roundedRect">
            <a:avLst>
              <a:gd name="adj" fmla="val 11429"/>
            </a:avLst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2632509" y="2331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smaller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Compression Pipeline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1737360" cy="914400"/>
          </a:xfrm>
          <a:prstGeom prst="roundedRect">
            <a:avLst>
              <a:gd name="adj" fmla="val 8000"/>
            </a:avLst>
          </a:prstGeom>
          <a:solidFill>
            <a:srgbClr val="162032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84048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4206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f32 Vectors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3977640"/>
            <a:ext cx="228600" cy="228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834640" y="3749040"/>
            <a:ext cx="1737360" cy="914400"/>
          </a:xfrm>
          <a:prstGeom prst="roundedRect">
            <a:avLst>
              <a:gd name="adj" fmla="val 8000"/>
            </a:avLst>
          </a:prstGeom>
          <a:solidFill>
            <a:srgbClr val="162032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38404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926080" y="4206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SQ8 Quantize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977640"/>
            <a:ext cx="228600" cy="2286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937760" y="3749040"/>
            <a:ext cx="1737360" cy="914400"/>
          </a:xfrm>
          <a:prstGeom prst="roundedRect">
            <a:avLst>
              <a:gd name="adj" fmla="val 8000"/>
            </a:avLst>
          </a:prstGeom>
          <a:solidFill>
            <a:srgbClr val="162032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384048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029200" y="4206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Gzip Compress</a:t>
            </a:r>
            <a:endParaRPr 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3977640"/>
            <a:ext cx="228600" cy="22860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040880" y="3749040"/>
            <a:ext cx="1737360" cy="914400"/>
          </a:xfrm>
          <a:prstGeom prst="roundedRect">
            <a:avLst>
              <a:gd name="adj" fmla="val 8000"/>
            </a:avLst>
          </a:prstGeom>
          <a:solidFill>
            <a:srgbClr val="162032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3840480"/>
            <a:ext cx="365760" cy="36576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132320" y="4206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WASM</a:t>
            </a:r>
            <a:endParaRPr lang="en-US" sz="1000" dirty="0"/>
          </a:p>
        </p:txBody>
      </p:sp>
      <p:sp>
        <p:nvSpPr>
          <p:cNvPr id="25" name="Text 16"/>
          <p:cNvSpPr/>
          <p:nvPr/>
        </p:nvSpPr>
        <p:spPr>
          <a:xfrm>
            <a:off x="73152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0.9999 cosine similarity  |  Virtually lossless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80-95% Cheaper Than Cloud AI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548640" cy="54864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377440"/>
                <a:gridCol w="1645920"/>
                <a:gridCol w="155448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0A14"/>
                          </a:solidFill>
                        </a:rPr>
                        <a:t>Team Size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0A14"/>
                          </a:solidFill>
                        </a:rPr>
                        <a:t>Capability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0A14"/>
                          </a:solidFill>
                        </a:rPr>
                        <a:t>Cloud AI (monthly)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0A14"/>
                          </a:solidFill>
                        </a:rPr>
                        <a:t>RuvNet (monthly)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0A14"/>
                          </a:solidFill>
                        </a:rPr>
                        <a:t>Savings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 engineers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Agent orchestration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$5,000-15,000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$200-500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90-97%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50 engineers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Full stack (agents + vectors + inference)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$50,000-150,000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$2,500-7,500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85-95%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200 engineers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Enterprise scale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$200,000-500,000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$10,000-25,000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92-95%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3291840"/>
            <a:ext cx="2606040" cy="1371600"/>
          </a:xfrm>
          <a:prstGeom prst="roundedRect">
            <a:avLst>
              <a:gd name="adj" fmla="val 5333"/>
            </a:avLst>
          </a:prstGeom>
          <a:solidFill>
            <a:srgbClr val="162032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3429000"/>
            <a:ext cx="457200" cy="4572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94360" y="3931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594360" y="4251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inference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3337560" y="3291840"/>
            <a:ext cx="2606040" cy="1371600"/>
          </a:xfrm>
          <a:prstGeom prst="roundedRect">
            <a:avLst>
              <a:gd name="adj" fmla="val 5333"/>
            </a:avLst>
          </a:prstGeom>
          <a:solidFill>
            <a:srgbClr val="162032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3429000"/>
            <a:ext cx="457200" cy="4572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74720" y="3931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vendor lock-in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3474720" y="4251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your infrastructure</a:t>
            </a:r>
            <a:endParaRPr lang="en-US" sz="1000" dirty="0"/>
          </a:p>
        </p:txBody>
      </p:sp>
      <p:sp>
        <p:nvSpPr>
          <p:cNvPr id="13" name="Shape 7"/>
          <p:cNvSpPr/>
          <p:nvPr/>
        </p:nvSpPr>
        <p:spPr>
          <a:xfrm>
            <a:off x="6217920" y="3291840"/>
            <a:ext cx="2606040" cy="1371600"/>
          </a:xfrm>
          <a:prstGeom prst="roundedRect">
            <a:avLst>
              <a:gd name="adj" fmla="val 5333"/>
            </a:avLst>
          </a:prstGeom>
          <a:solidFill>
            <a:srgbClr val="162032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3429000"/>
            <a:ext cx="457200" cy="4572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355080" y="3931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Offline capable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6355080" y="4251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cloud dependency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oval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oval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457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npx ruflo@latest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That's It.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645920" y="1920240"/>
            <a:ext cx="5852160" cy="1645920"/>
          </a:xfrm>
          <a:prstGeom prst="roundedRect">
            <a:avLst>
              <a:gd name="adj" fmla="val 5556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74520" y="2057400"/>
            <a:ext cx="137160" cy="137160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2103120" y="2057400"/>
            <a:ext cx="137160" cy="13716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2331720" y="2057400"/>
            <a:ext cx="137160" cy="137160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23317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ruflo@latest init --wizard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ruflo@latest swarm init --v3-mode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ruflo@latest agent spawn -t coder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3931920"/>
            <a:ext cx="1554480" cy="502920"/>
          </a:xfrm>
          <a:prstGeom prst="rounde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931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Config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0" y="3931920"/>
            <a:ext cx="1554480" cy="502920"/>
          </a:xfrm>
          <a:prstGeom prst="rounde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0" y="3931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Commands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931920"/>
            <a:ext cx="1554480" cy="502920"/>
          </a:xfrm>
          <a:prstGeom prst="rounde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3931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140+ Subcommands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3931920"/>
            <a:ext cx="1554480" cy="502920"/>
          </a:xfrm>
          <a:prstGeom prst="rounde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931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 RL Algorithms. Built In.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560320" cy="1097280"/>
          </a:xfrm>
          <a:prstGeom prst="roundedRect">
            <a:avLst>
              <a:gd name="adj" fmla="val 6667"/>
            </a:avLst>
          </a:prstGeom>
          <a:solidFill>
            <a:srgbClr val="162032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960120"/>
            <a:ext cx="54864" cy="109728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234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383280" y="960120"/>
            <a:ext cx="2560320" cy="1097280"/>
          </a:xfrm>
          <a:prstGeom prst="roundedRect">
            <a:avLst>
              <a:gd name="adj" fmla="val 6667"/>
            </a:avLst>
          </a:prstGeom>
          <a:solidFill>
            <a:srgbClr val="162032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383280" y="960120"/>
            <a:ext cx="54864" cy="109728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2344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06240" y="1234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SARSA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17920" y="960120"/>
            <a:ext cx="2560320" cy="1097280"/>
          </a:xfrm>
          <a:prstGeom prst="roundedRect">
            <a:avLst>
              <a:gd name="adj" fmla="val 6667"/>
            </a:avLst>
          </a:prstGeom>
          <a:solidFill>
            <a:srgbClr val="162032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217920" y="960120"/>
            <a:ext cx="54864" cy="109728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2344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40880" y="1234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2286000"/>
            <a:ext cx="2560320" cy="1097280"/>
          </a:xfrm>
          <a:prstGeom prst="roundedRect">
            <a:avLst>
              <a:gd name="adj" fmla="val 6667"/>
            </a:avLst>
          </a:prstGeom>
          <a:solidFill>
            <a:srgbClr val="162032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48640" y="2286000"/>
            <a:ext cx="54864" cy="109728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56032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2560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Actor-Critic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3383280" y="2286000"/>
            <a:ext cx="2560320" cy="1097280"/>
          </a:xfrm>
          <a:prstGeom prst="roundedRect">
            <a:avLst>
              <a:gd name="adj" fmla="val 6667"/>
            </a:avLst>
          </a:prstGeom>
          <a:solidFill>
            <a:srgbClr val="162032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3383280" y="2286000"/>
            <a:ext cx="54864" cy="109728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256032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206240" y="2560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217920" y="2286000"/>
            <a:ext cx="2560320" cy="1097280"/>
          </a:xfrm>
          <a:prstGeom prst="roundedRect">
            <a:avLst>
              <a:gd name="adj" fmla="val 6667"/>
            </a:avLst>
          </a:prstGeom>
          <a:solidFill>
            <a:srgbClr val="162032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6217920" y="2286000"/>
            <a:ext cx="54864" cy="109728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256032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40880" y="2560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Transformer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548640" y="3611880"/>
            <a:ext cx="2560320" cy="1097280"/>
          </a:xfrm>
          <a:prstGeom prst="roundedRect">
            <a:avLst>
              <a:gd name="adj" fmla="val 6667"/>
            </a:avLst>
          </a:prstGeom>
          <a:solidFill>
            <a:srgbClr val="162032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548640" y="3611880"/>
            <a:ext cx="54864" cy="109728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886200"/>
            <a:ext cx="457200" cy="4572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371600" y="3886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3383280" y="3611880"/>
            <a:ext cx="2560320" cy="1097280"/>
          </a:xfrm>
          <a:prstGeom prst="roundedRect">
            <a:avLst>
              <a:gd name="adj" fmla="val 6667"/>
            </a:avLst>
          </a:prstGeom>
          <a:solidFill>
            <a:srgbClr val="162032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3383280" y="3611880"/>
            <a:ext cx="54864" cy="109728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1880" y="3886200"/>
            <a:ext cx="457200" cy="4572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4206240" y="3886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TD-Lambda</a:t>
            </a:r>
            <a:endParaRPr lang="en-US" sz="1300" dirty="0"/>
          </a:p>
        </p:txBody>
      </p:sp>
      <p:sp>
        <p:nvSpPr>
          <p:cNvPr id="35" name="Shape 25"/>
          <p:cNvSpPr/>
          <p:nvPr/>
        </p:nvSpPr>
        <p:spPr>
          <a:xfrm>
            <a:off x="6217920" y="3611880"/>
            <a:ext cx="2560320" cy="1097280"/>
          </a:xfrm>
          <a:prstGeom prst="roundedRect">
            <a:avLst>
              <a:gd name="adj" fmla="val 6667"/>
            </a:avLst>
          </a:prstGeom>
          <a:solidFill>
            <a:srgbClr val="162032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6217920" y="3611880"/>
            <a:ext cx="54864" cy="109728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3886200"/>
            <a:ext cx="457200" cy="4572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040880" y="3886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Multi-Armed Bandit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Applications That Only Exist With Gen 3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097280"/>
          </a:xfrm>
          <a:prstGeom prst="roundedRect">
            <a:avLst>
              <a:gd name="adj" fmla="val 6667"/>
            </a:avLst>
          </a:prstGeom>
          <a:solidFill>
            <a:srgbClr val="111827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188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Through-Wall Sensing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371600" y="1600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CSI + edge AI for building-level spatial intelligence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2423160"/>
            <a:ext cx="4023360" cy="1097280"/>
          </a:xfrm>
          <a:prstGeom prst="roundedRect">
            <a:avLst>
              <a:gd name="adj" fmla="val 6667"/>
            </a:avLst>
          </a:prstGeom>
          <a:solidFill>
            <a:srgbClr val="111827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5176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514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Self-Improving Codebases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371600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learns from its own bugs and auto-patches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57200" y="3749040"/>
            <a:ext cx="4023360" cy="1097280"/>
          </a:xfrm>
          <a:prstGeom prst="roundedRect">
            <a:avLst>
              <a:gd name="adj" fmla="val 6667"/>
            </a:avLst>
          </a:prstGeom>
          <a:solidFill>
            <a:srgbClr val="111827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7764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840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Collective AI Brain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371600" y="4251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agent intelligence across organizations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663440" y="1097280"/>
            <a:ext cx="4023360" cy="1097280"/>
          </a:xfrm>
          <a:prstGeom prst="roundedRect">
            <a:avLst>
              <a:gd name="adj" fmla="val 6667"/>
            </a:avLst>
          </a:prstGeom>
          <a:solidFill>
            <a:srgbClr val="111827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32588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577840" y="1188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Self-Healing Infrastructure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5577840" y="1600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detect, diagnose, and fix themselves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663440" y="2423160"/>
            <a:ext cx="4023360" cy="1097280"/>
          </a:xfrm>
          <a:prstGeom prst="roundedRect">
            <a:avLst>
              <a:gd name="adj" fmla="val 6667"/>
            </a:avLst>
          </a:prstGeom>
          <a:solidFill>
            <a:srgbClr val="111827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651760"/>
            <a:ext cx="548640" cy="5486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577840" y="2514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Privacy-Preserving Buildings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5577840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and comfort optimization without cameras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Security as Infrastructure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AIMDS: AI Intrusion &amp; Manipulation Defence System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029200" cy="868680"/>
          </a:xfrm>
          <a:prstGeom prst="roundedRect">
            <a:avLst>
              <a:gd name="adj" fmla="val 8421"/>
            </a:avLst>
          </a:prstGeom>
          <a:solidFill>
            <a:srgbClr val="162032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3619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Input Scanning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54480" y="18105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detection  |  Input validation  |  Zod schemas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108960" y="2240280"/>
            <a:ext cx="137160" cy="182880"/>
          </a:xfrm>
          <a:prstGeom prst="rect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31520" y="2423160"/>
            <a:ext cx="5029200" cy="868680"/>
          </a:xfrm>
          <a:prstGeom prst="roundedRect">
            <a:avLst>
              <a:gd name="adj" fmla="val 8421"/>
            </a:avLst>
          </a:prstGeom>
          <a:solidFill>
            <a:srgbClr val="16203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8775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Processing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554480" y="28620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25-level meta-learning  |  Lyapunov chaos detection  |  Anomaly scoring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108960" y="3291840"/>
            <a:ext cx="137160" cy="182880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731520" y="3474720"/>
            <a:ext cx="5029200" cy="868680"/>
          </a:xfrm>
          <a:prstGeom prst="roundedRect">
            <a:avLst>
              <a:gd name="adj" fmla="val 8421"/>
            </a:avLst>
          </a:prstGeom>
          <a:solidFill>
            <a:srgbClr val="162032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3931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3520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 Scanning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554480" y="39136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exfiltration prevention  |  PII masking  |  Response validation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40080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400800" y="1920240"/>
            <a:ext cx="2103120" cy="411480"/>
          </a:xfrm>
          <a:prstGeom prst="roundedRect">
            <a:avLst>
              <a:gd name="adj" fmla="val 13333"/>
            </a:avLst>
          </a:prstGeom>
          <a:solidFill>
            <a:srgbClr val="16203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993392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58000" y="1920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Ready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400800" y="2468880"/>
            <a:ext cx="2103120" cy="411480"/>
          </a:xfrm>
          <a:prstGeom prst="roundedRect">
            <a:avLst>
              <a:gd name="adj" fmla="val 13333"/>
            </a:avLst>
          </a:prstGeom>
          <a:solidFill>
            <a:srgbClr val="162032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2542032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58000" y="2468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Compliant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400800" y="3017520"/>
            <a:ext cx="2103120" cy="411480"/>
          </a:xfrm>
          <a:prstGeom prst="roundedRect">
            <a:avLst>
              <a:gd name="adj" fmla="val 13333"/>
            </a:avLst>
          </a:prstGeom>
          <a:solidFill>
            <a:srgbClr val="162032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090672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858000" y="3017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Capable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6400800" y="3566160"/>
            <a:ext cx="2103120" cy="411480"/>
          </a:xfrm>
          <a:prstGeom prst="roundedRect">
            <a:avLst>
              <a:gd name="adj" fmla="val 13333"/>
            </a:avLst>
          </a:prstGeom>
          <a:solidFill>
            <a:srgbClr val="162032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3639312"/>
            <a:ext cx="256032" cy="25603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858000" y="3566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Rip and Replace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adoption — start small, scale fast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768096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61872" y="1664208"/>
            <a:ext cx="365760" cy="365760"/>
          </a:xfrm>
          <a:prstGeom prst="oval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1828800" cy="2194560"/>
          </a:xfrm>
          <a:prstGeom prst="roundedRect">
            <a:avLst>
              <a:gd name="adj" fmla="val 4000"/>
            </a:avLst>
          </a:prstGeom>
          <a:solidFill>
            <a:srgbClr val="111827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286000"/>
            <a:ext cx="18288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 &amp; Explore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8803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ruflo@latest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wizard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agent spawn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64992" y="1664208"/>
            <a:ext cx="365760" cy="365760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280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2286000"/>
            <a:ext cx="1828800" cy="2194560"/>
          </a:xfrm>
          <a:prstGeom prst="roundedRect">
            <a:avLst>
              <a:gd name="adj" fmla="val 4000"/>
            </a:avLst>
          </a:prstGeom>
          <a:solidFill>
            <a:srgbClr val="111827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51760" y="2286000"/>
            <a:ext cx="18288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278892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Pilot Team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88920" y="28803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agents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RL learning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68112" y="1664208"/>
            <a:ext cx="365760" cy="365760"/>
          </a:xfrm>
          <a:prstGeom prst="oval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280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1828800" cy="2194560"/>
          </a:xfrm>
          <a:prstGeom prst="roundedRect">
            <a:avLst>
              <a:gd name="adj" fmla="val 4000"/>
            </a:avLst>
          </a:prstGeom>
          <a:solidFill>
            <a:srgbClr val="111827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86000"/>
            <a:ext cx="1828800" cy="45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Department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28803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agents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swarms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AIMDS security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71232" y="1664208"/>
            <a:ext cx="365760" cy="365760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1280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Scale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0" y="2286000"/>
            <a:ext cx="1828800" cy="2194560"/>
          </a:xfrm>
          <a:prstGeom prst="roundedRect">
            <a:avLst>
              <a:gd name="adj" fmla="val 4000"/>
            </a:avLst>
          </a:prstGeom>
          <a:solidFill>
            <a:srgbClr val="111827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0" y="2286000"/>
            <a:ext cx="18288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95160" y="28803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agents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Cross-org intelligence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self-healing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in the Open. Works With Everything.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oundedRect">
            <a:avLst>
              <a:gd name="adj" fmla="val 2632"/>
            </a:avLst>
          </a:prstGeom>
          <a:solidFill>
            <a:srgbClr val="065A82">
              <a:alpha val="4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2801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Source</a:t>
            </a:r>
            <a:endParaRPr lang="en-US" sz="2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560320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2542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Licensed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926080"/>
            <a:ext cx="201168" cy="2011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25880" y="29077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on GitHub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291840"/>
            <a:ext cx="201168" cy="2011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25880" y="32735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 Rust crates</a:t>
            </a:r>
            <a:endParaRPr lang="en-US" sz="12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657600"/>
            <a:ext cx="201168" cy="20116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325880" y="36393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Community-driven</a:t>
            </a:r>
            <a:endParaRPr lang="en-US" sz="12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023360"/>
            <a:ext cx="201168" cy="20116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325880" y="40050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roadmap</a:t>
            </a:r>
            <a:endParaRPr lang="en-US" sz="1200" dirty="0"/>
          </a:p>
        </p:txBody>
      </p:sp>
      <p:sp>
        <p:nvSpPr>
          <p:cNvPr id="16" name="Shape 8"/>
          <p:cNvSpPr/>
          <p:nvPr/>
        </p:nvSpPr>
        <p:spPr>
          <a:xfrm>
            <a:off x="4754880" y="1097280"/>
            <a:ext cx="3931920" cy="3474720"/>
          </a:xfrm>
          <a:prstGeom prst="roundedRect">
            <a:avLst>
              <a:gd name="adj" fmla="val 2632"/>
            </a:avLst>
          </a:prstGeom>
          <a:solidFill>
            <a:srgbClr val="065A82">
              <a:alpha val="4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1280160"/>
            <a:ext cx="640080" cy="64008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493776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Compatible With</a:t>
            </a:r>
            <a:endParaRPr lang="en-US" sz="200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0" y="2560320"/>
            <a:ext cx="201168" cy="201168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623560" y="2542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/ OpenAI / Google</a:t>
            </a:r>
            <a:endParaRPr lang="en-US" sz="120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520" y="2926080"/>
            <a:ext cx="201168" cy="201168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623560" y="29077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Kubernetes</a:t>
            </a:r>
            <a:endParaRPr lang="en-US" sz="1200" dirty="0"/>
          </a:p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3520" y="3291840"/>
            <a:ext cx="201168" cy="201168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5623560" y="32735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macOS / Windows</a:t>
            </a:r>
            <a:endParaRPr lang="en-US" sz="1200" dirty="0"/>
          </a:p>
        </p:txBody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03520" y="3657600"/>
            <a:ext cx="201168" cy="201168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5623560" y="36393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MCP-compatible tool</a:t>
            </a:r>
            <a:endParaRPr lang="en-US" sz="1200" dirty="0"/>
          </a:p>
        </p:txBody>
      </p:sp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03520" y="4023360"/>
            <a:ext cx="201168" cy="201168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5623560" y="40050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Claude Code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Ruflo Compares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371600"/>
                <a:gridCol w="1188720"/>
                <a:gridCol w="1188720"/>
                <a:gridCol w="14630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295C"/>
                          </a:solidFill>
                        </a:rPr>
                        <a:t>Dimension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295C"/>
                          </a:solidFill>
                        </a:rPr>
                        <a:t>LangChain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295C"/>
                          </a:solidFill>
                        </a:rPr>
                        <a:t>AutoGen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295C"/>
                          </a:solidFill>
                        </a:rPr>
                        <a:t>CrewAI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295C"/>
                          </a:solidFill>
                        </a:rPr>
                        <a:t>Devin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A0A14"/>
                          </a:solidFill>
                        </a:rPr>
                        <a:t>Ruflo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State Management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Manual graph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Conversation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Crew roles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Proprietary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AgentDB v3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Memory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External store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Chat history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Per-crew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Cloud only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HNSW built-in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Learning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None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None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None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Limited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9 RL algorithms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Coordination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Sequential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Group chat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Role-based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Single agent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Fed. mesh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Deploy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Cloud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Cloud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Cloud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Cloud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Anywhere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Security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BYO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BYO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BYO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Proprietary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AIMDS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Offline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Full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Cost Model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API fees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API fees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API fees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$500/mo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Self-hosted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Will Your Agents Learn?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474720"/>
          </a:xfrm>
          <a:prstGeom prst="roundedRect">
            <a:avLst>
              <a:gd name="adj" fmla="val 3448"/>
            </a:avLst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3716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148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 Nothing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85800" y="26517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forget everything.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re-prompting.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cloud costs.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behind competitors.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1097280"/>
            <a:ext cx="2651760" cy="3474720"/>
          </a:xfrm>
          <a:prstGeom prst="roundedRect">
            <a:avLst>
              <a:gd name="adj" fmla="val 3448"/>
            </a:avLst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83280" y="109728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37160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2148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 1 / Gen 2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3611880" y="26517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chains and wrappers.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memory, no learning.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cloud-dependent.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improvement.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309360" y="1097280"/>
            <a:ext cx="2651760" cy="3474720"/>
          </a:xfrm>
          <a:prstGeom prst="roundedRect">
            <a:avLst>
              <a:gd name="adj" fmla="val 3448"/>
            </a:avLst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09360" y="1097280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37160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92240" y="2148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 3 — Ruflo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6537960" y="26517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Self-learning agents.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RL algorithms built-in.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anywhere, offline.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10x-100x cost reduction.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4663440"/>
            <a:ext cx="274320" cy="274320"/>
          </a:xfrm>
          <a:prstGeom prst="rect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466344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oval">
            <a:avLst/>
          </a:prstGeom>
          <a:solidFill>
            <a:srgbClr val="065A82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3657600" cy="3657600"/>
          </a:xfrm>
          <a:prstGeom prst="oval">
            <a:avLst/>
          </a:prstGeom>
          <a:solidFill>
            <a:srgbClr val="065A82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in 90 Seconds.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Evaluate in 2 Weeks.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371600" y="2103120"/>
            <a:ext cx="4572000" cy="640080"/>
          </a:xfrm>
          <a:prstGeom prst="roundedRect">
            <a:avLst>
              <a:gd name="adj" fmla="val 114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21031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ruflo@latest init --wizard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github.com/ruvnet/ruflo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npm: ruflo@latest  |  MIT License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hello@ruvnet.com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0040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Self-Learning AI Infrastructure Stack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RuvNet / Ruflo: The Self-Learning AI Infrastructure Stack</dc:title>
  <dc:subject>PptxGenJS Presentation</dc:subject>
  <dc:creator>RuvNet</dc:creator>
  <cp:lastModifiedBy>RuvNet</cp:lastModifiedBy>
  <cp:revision>1</cp:revision>
  <dcterms:created xsi:type="dcterms:W3CDTF">2026-03-07T22:22:08Z</dcterms:created>
  <dcterms:modified xsi:type="dcterms:W3CDTF">2026-03-07T22:22:08Z</dcterms:modified>
</cp:coreProperties>
</file>