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Segment ($B)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Orchestration</c:v>
                  </c:pt>
                  <c:pt idx="1">
                    <c:v>Memory/RAG</c:v>
                  </c:pt>
                  <c:pt idx="2">
                    <c:v>Sovereignty</c:v>
                  </c:pt>
                  <c:pt idx="3">
                    <c:v>Monitoring</c:v>
                  </c:pt>
                  <c:pt idx="4">
                    <c:v>Security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120</c:v>
                </c:pt>
                <c:pt idx="1">
                  <c:v>95</c:v>
                </c:pt>
                <c:pt idx="2">
                  <c:v>85</c:v>
                </c:pt>
                <c:pt idx="3">
                  <c:v>80</c:v>
                </c:pt>
                <c:pt idx="4">
                  <c:v>70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141C3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image" Target="../media/image-14-9.png"/><Relationship Id="rId10" Type="http://schemas.openxmlformats.org/officeDocument/2006/relationships/image" Target="../media/image-14-10.png"/><Relationship Id="rId11" Type="http://schemas.openxmlformats.org/officeDocument/2006/relationships/image" Target="../media/image-14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C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1E2761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3200400"/>
            <a:ext cx="2743200" cy="2743200"/>
          </a:xfrm>
          <a:prstGeom prst="ellipse">
            <a:avLst/>
          </a:prstGeom>
          <a:solidFill>
            <a:srgbClr val="2A3578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886200" y="548640"/>
            <a:ext cx="1371600" cy="1371600"/>
          </a:xfrm>
          <a:prstGeom prst="roundRect">
            <a:avLst>
              <a:gd name="adj" fmla="val 10000"/>
            </a:avLst>
          </a:prstGeom>
          <a:solidFill>
            <a:srgbClr val="FFB800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886200" y="54864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41C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14400" y="21945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RuvNet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914400" y="29260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Enterprise AI Operating System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371600" y="37490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Coordinated Agents. One Persistent Brain. Your Data Never Leaves.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10" name="Text 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|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C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AI Reality Check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3657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B8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95%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640080" y="283464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enterprise AI projects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to reach production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29200" y="914400"/>
            <a:ext cx="3474720" cy="1188720"/>
          </a:xfrm>
          <a:prstGeom prst="rect">
            <a:avLst/>
          </a:prstGeom>
          <a:solidFill>
            <a:srgbClr val="E5EE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212080" y="1005840"/>
            <a:ext cx="1280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87%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492240" y="100584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 integration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92240" y="16916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Sloan, 2025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029200" y="2240280"/>
            <a:ext cx="3474720" cy="1188720"/>
          </a:xfrm>
          <a:prstGeom prst="rect">
            <a:avLst/>
          </a:prstGeom>
          <a:solidFill>
            <a:srgbClr val="E5EE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212080" y="2331720"/>
            <a:ext cx="1280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73%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92240" y="233172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shadow AI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approval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92240" y="30175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 Corp, 2025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029200" y="3566160"/>
            <a:ext cx="3474720" cy="1188720"/>
          </a:xfrm>
          <a:prstGeom prst="rect">
            <a:avLst/>
          </a:prstGeom>
          <a:solidFill>
            <a:srgbClr val="E5EE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212080" y="3657600"/>
            <a:ext cx="1280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$4.6T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492240" y="365760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AI value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risk annually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92240" y="43434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Gartner, 2026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FB800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C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$450 Billion Agentic AI Opportunity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2468880" cy="2926080"/>
          </a:xfrm>
          <a:prstGeom prst="rect">
            <a:avLst/>
          </a:prstGeom>
          <a:solidFill>
            <a:srgbClr val="E5EE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005840"/>
            <a:ext cx="2468880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7160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$15T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4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Enterprise AI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4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2030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2004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McKinsey 2025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1005840"/>
            <a:ext cx="2468880" cy="2926080"/>
          </a:xfrm>
          <a:prstGeom prst="rect">
            <a:avLst/>
          </a:prstGeom>
          <a:solidFill>
            <a:srgbClr val="E5EE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74720" y="1005840"/>
            <a:ext cx="2468880" cy="73152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137160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B8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$450B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3474720" y="24688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4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4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74720" y="32004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Gartner 2026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309360" y="1005840"/>
            <a:ext cx="2468880" cy="2926080"/>
          </a:xfrm>
          <a:prstGeom prst="rect">
            <a:avLst/>
          </a:prstGeom>
          <a:solidFill>
            <a:srgbClr val="E5EE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09360" y="1005840"/>
            <a:ext cx="2468880" cy="73152"/>
          </a:xfrm>
          <a:prstGeom prst="rect">
            <a:avLst/>
          </a:prstGeom>
          <a:solidFill>
            <a:srgbClr val="2A3578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137160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2A35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$600B</a:t>
            </a:r>
            <a:endParaRPr lang="en-US" sz="5200" dirty="0"/>
          </a:p>
        </p:txBody>
      </p:sp>
      <p:sp>
        <p:nvSpPr>
          <p:cNvPr id="17" name="Text 15"/>
          <p:cNvSpPr/>
          <p:nvPr/>
        </p:nvSpPr>
        <p:spPr>
          <a:xfrm>
            <a:off x="6309360" y="24688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4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Sovereignty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4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09360" y="32004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IDC 2025</a:t>
            </a:r>
            <a:endParaRPr lang="en-US" sz="90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640080" y="4069080"/>
          <a:ext cx="7863840" cy="457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0" name="Text 17"/>
          <p:cNvSpPr/>
          <p:nvPr/>
        </p:nvSpPr>
        <p:spPr>
          <a:xfrm>
            <a:off x="640080" y="46634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McKinsey Global AI Survey 2025, Gartner Agentic AI Forecast, IDC Sovereignty Report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C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AI Is Fragmented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department bought its own tool. None of them talk to each other.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1463040" cy="2926080"/>
          </a:xfrm>
          <a:prstGeom prst="rect">
            <a:avLst/>
          </a:prstGeom>
          <a:solidFill>
            <a:srgbClr val="2A3578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1737360"/>
            <a:ext cx="731520" cy="73152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19202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65176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" y="320040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1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3931920"/>
            <a:ext cx="457200" cy="4572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331720" y="1463040"/>
            <a:ext cx="1463040" cy="2926080"/>
          </a:xfrm>
          <a:prstGeom prst="rect">
            <a:avLst/>
          </a:prstGeom>
          <a:solidFill>
            <a:srgbClr val="2A3578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2697480" y="1737360"/>
            <a:ext cx="731520" cy="73152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360" y="1920240"/>
            <a:ext cx="365760" cy="3657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331720" y="265176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Success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2331720" y="320040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Intercom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1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4640" y="3931920"/>
            <a:ext cx="457200" cy="45720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4023360" y="1463040"/>
            <a:ext cx="1463040" cy="2926080"/>
          </a:xfrm>
          <a:prstGeom prst="rect">
            <a:avLst/>
          </a:prstGeom>
          <a:solidFill>
            <a:srgbClr val="2A3578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4389120" y="1737360"/>
            <a:ext cx="731520" cy="73152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1920240"/>
            <a:ext cx="365760" cy="36576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4023360" y="265176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Sales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4023360" y="320040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Einstein</a:t>
            </a:r>
            <a:endParaRPr lang="en-US" sz="11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26280" y="3931920"/>
            <a:ext cx="457200" cy="457200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5715000" y="1463040"/>
            <a:ext cx="1463040" cy="2926080"/>
          </a:xfrm>
          <a:prstGeom prst="rect">
            <a:avLst/>
          </a:prstGeom>
          <a:solidFill>
            <a:srgbClr val="2A3578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3" name="Shape 15"/>
          <p:cNvSpPr/>
          <p:nvPr/>
        </p:nvSpPr>
        <p:spPr>
          <a:xfrm>
            <a:off x="6080760" y="1737360"/>
            <a:ext cx="731520" cy="73152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3640" y="1920240"/>
            <a:ext cx="365760" cy="36576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5715000" y="265176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Operations</a:t>
            </a:r>
            <a:endParaRPr lang="en-US" sz="1300" dirty="0"/>
          </a:p>
        </p:txBody>
      </p:sp>
      <p:sp>
        <p:nvSpPr>
          <p:cNvPr id="26" name="Text 17"/>
          <p:cNvSpPr/>
          <p:nvPr/>
        </p:nvSpPr>
        <p:spPr>
          <a:xfrm>
            <a:off x="5715000" y="320040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 Wrapper</a:t>
            </a:r>
            <a:endParaRPr lang="en-US" sz="1100" dirty="0"/>
          </a:p>
        </p:txBody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7920" y="3931920"/>
            <a:ext cx="457200" cy="457200"/>
          </a:xfrm>
          <a:prstGeom prst="rect">
            <a:avLst/>
          </a:prstGeom>
        </p:spPr>
      </p:pic>
      <p:sp>
        <p:nvSpPr>
          <p:cNvPr id="28" name="Shape 18"/>
          <p:cNvSpPr/>
          <p:nvPr/>
        </p:nvSpPr>
        <p:spPr>
          <a:xfrm>
            <a:off x="7406640" y="1463040"/>
            <a:ext cx="1463040" cy="2926080"/>
          </a:xfrm>
          <a:prstGeom prst="rect">
            <a:avLst/>
          </a:prstGeom>
          <a:solidFill>
            <a:srgbClr val="2A3578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9" name="Shape 19"/>
          <p:cNvSpPr/>
          <p:nvPr/>
        </p:nvSpPr>
        <p:spPr>
          <a:xfrm>
            <a:off x="7772400" y="1737360"/>
            <a:ext cx="731520" cy="73152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55280" y="1920240"/>
            <a:ext cx="365760" cy="365760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7406640" y="265176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Finance</a:t>
            </a:r>
            <a:endParaRPr lang="en-US" sz="1300" dirty="0"/>
          </a:p>
        </p:txBody>
      </p:sp>
      <p:sp>
        <p:nvSpPr>
          <p:cNvPr id="32" name="Text 21"/>
          <p:cNvSpPr/>
          <p:nvPr/>
        </p:nvSpPr>
        <p:spPr>
          <a:xfrm>
            <a:off x="7406640" y="320040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for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1100" dirty="0"/>
          </a:p>
        </p:txBody>
      </p:sp>
      <p:pic>
        <p:nvPicPr>
          <p:cNvPr id="3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09560" y="3931920"/>
            <a:ext cx="457200" cy="457200"/>
          </a:xfrm>
          <a:prstGeom prst="rect">
            <a:avLst/>
          </a:prstGeom>
        </p:spPr>
      </p:pic>
      <p:sp>
        <p:nvSpPr>
          <p:cNvPr id="34" name="Text 22"/>
          <p:cNvSpPr/>
          <p:nvPr/>
        </p:nvSpPr>
        <p:spPr>
          <a:xfrm>
            <a:off x="640080" y="45720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tool is a silo. Knowledge dies at the end of every session.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C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Fragmentation Actually Costs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3200400" cy="2560320"/>
          </a:xfrm>
          <a:prstGeom prst="rect">
            <a:avLst/>
          </a:prstGeom>
          <a:solidFill>
            <a:srgbClr val="141C3D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18872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B8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$360K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640080" y="246888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100 employees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wasted annually 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AI tools</a:t>
            </a:r>
            <a:endParaRPr lang="en-US" sz="13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105156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709160" y="1005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C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Rework &amp; Re-prompting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132320" y="10058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$120K/yr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709160" y="126187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re-teach AI the same context daily</a:t>
            </a:r>
            <a:endParaRPr lang="en-US" sz="10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169164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09160" y="1645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C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Duplicate Subscriptions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7132320" y="16459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$85K/yr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4709160" y="190195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5+ tools with overlapping capabilities</a:t>
            </a:r>
            <a:endParaRPr lang="en-US" sz="10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233172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709160" y="2286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C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Shadow AI Risk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7132320" y="22860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$95K/yr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4709160" y="254203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fines, data leaks, audit failures</a:t>
            </a:r>
            <a:endParaRPr lang="en-US" sz="10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0" y="2971800"/>
            <a:ext cx="365760" cy="36576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709160" y="2926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C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Lost Institutional Knowledge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713232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$60K/yr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4709160" y="318211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session starts from zero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640080" y="3931920"/>
            <a:ext cx="7863840" cy="457200"/>
          </a:xfrm>
          <a:prstGeom prst="rect">
            <a:avLst/>
          </a:prstGeom>
          <a:solidFill>
            <a:srgbClr val="E5EEFF"/>
          </a:solidFill>
          <a:ln/>
        </p:spPr>
      </p:sp>
      <p:sp>
        <p:nvSpPr>
          <p:cNvPr id="24" name="Text 18"/>
          <p:cNvSpPr/>
          <p:nvPr/>
        </p:nvSpPr>
        <p:spPr>
          <a:xfrm>
            <a:off x="640080" y="39319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500-person company: $1.8M in annual hidden costs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C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Longer You Wait...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2468880" cy="3291840"/>
          </a:xfrm>
          <a:prstGeom prst="rect">
            <a:avLst/>
          </a:prstGeom>
          <a:solidFill>
            <a:srgbClr val="2A3578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097280"/>
            <a:ext cx="2468880" cy="54864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5" name="Shape 3"/>
          <p:cNvSpPr/>
          <p:nvPr/>
        </p:nvSpPr>
        <p:spPr>
          <a:xfrm>
            <a:off x="1417320" y="1417320"/>
            <a:ext cx="914400" cy="91440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0" y="164592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4688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B8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40%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822960" y="310896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AI initiatives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cancelled within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months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0080" y="39776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Gartner 2025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474720" y="1097280"/>
            <a:ext cx="2468880" cy="3291840"/>
          </a:xfrm>
          <a:prstGeom prst="rect">
            <a:avLst/>
          </a:prstGeom>
          <a:solidFill>
            <a:srgbClr val="2A3578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474720" y="1097280"/>
            <a:ext cx="2468880" cy="54864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12" name="Shape 9"/>
          <p:cNvSpPr/>
          <p:nvPr/>
        </p:nvSpPr>
        <p:spPr>
          <a:xfrm>
            <a:off x="4251960" y="1417320"/>
            <a:ext cx="914400" cy="91440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64592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474720" y="24688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B8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73%</a:t>
            </a:r>
            <a:endParaRPr lang="en-US" sz="4000" dirty="0"/>
          </a:p>
        </p:txBody>
      </p:sp>
      <p:sp>
        <p:nvSpPr>
          <p:cNvPr id="15" name="Text 11"/>
          <p:cNvSpPr/>
          <p:nvPr/>
        </p:nvSpPr>
        <p:spPr>
          <a:xfrm>
            <a:off x="3657600" y="310896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employees use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AI without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approval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3474720" y="39776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 Corp 2025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6309360" y="1097280"/>
            <a:ext cx="2468880" cy="3291840"/>
          </a:xfrm>
          <a:prstGeom prst="rect">
            <a:avLst/>
          </a:prstGeom>
          <a:solidFill>
            <a:srgbClr val="2A3578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309360" y="1097280"/>
            <a:ext cx="2468880" cy="54864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19" name="Shape 15"/>
          <p:cNvSpPr/>
          <p:nvPr/>
        </p:nvSpPr>
        <p:spPr>
          <a:xfrm>
            <a:off x="7086600" y="1417320"/>
            <a:ext cx="914400" cy="91440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645920"/>
            <a:ext cx="457200" cy="4572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309360" y="24688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B8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3-5x</a:t>
            </a:r>
            <a:endParaRPr lang="en-US" sz="4000" dirty="0"/>
          </a:p>
        </p:txBody>
      </p:sp>
      <p:sp>
        <p:nvSpPr>
          <p:cNvPr id="22" name="Text 17"/>
          <p:cNvSpPr/>
          <p:nvPr/>
        </p:nvSpPr>
        <p:spPr>
          <a:xfrm>
            <a:off x="6492240" y="310896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multiplier for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AI consolidation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early adoption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6309360" y="39776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McKinsey 2026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640080" y="45720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quarter of delay compounds the cost of migration and the risk of data sprawl.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C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If Every Team Shared One AI Brain?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828800" y="1371600"/>
            <a:ext cx="2651760" cy="1188720"/>
          </a:xfrm>
          <a:prstGeom prst="line">
            <a:avLst/>
          </a:prstGeom>
          <a:noFill/>
          <a:ln w="19050">
            <a:solidFill>
              <a:srgbClr val="CADCFC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4480560" y="1371600"/>
            <a:ext cx="2468880" cy="1188720"/>
          </a:xfrm>
          <a:prstGeom prst="line">
            <a:avLst/>
          </a:prstGeom>
          <a:noFill/>
          <a:ln w="19050">
            <a:solidFill>
              <a:srgbClr val="CADCFC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4480560" y="2560320"/>
            <a:ext cx="3383280" cy="548640"/>
          </a:xfrm>
          <a:prstGeom prst="line">
            <a:avLst/>
          </a:prstGeom>
          <a:noFill/>
          <a:ln w="19050">
            <a:solidFill>
              <a:srgbClr val="CADCFC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4480560" y="2560320"/>
            <a:ext cx="1554480" cy="1645920"/>
          </a:xfrm>
          <a:prstGeom prst="line">
            <a:avLst/>
          </a:prstGeom>
          <a:noFill/>
          <a:ln w="19050">
            <a:solidFill>
              <a:srgbClr val="CADCFC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1280160" y="2560320"/>
            <a:ext cx="3200400" cy="731520"/>
          </a:xfrm>
          <a:prstGeom prst="line">
            <a:avLst/>
          </a:prstGeom>
          <a:noFill/>
          <a:ln w="19050">
            <a:solidFill>
              <a:srgbClr val="CADCFC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3749040" y="1828800"/>
            <a:ext cx="1463040" cy="146304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1965960"/>
            <a:ext cx="914400" cy="9144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749040" y="283464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RuvNet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1463040" y="1005840"/>
            <a:ext cx="731520" cy="731520"/>
          </a:xfrm>
          <a:prstGeom prst="ellipse">
            <a:avLst/>
          </a:prstGeom>
          <a:solidFill>
            <a:srgbClr val="E5EE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118872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280160" y="17830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583680" y="1005840"/>
            <a:ext cx="731520" cy="731520"/>
          </a:xfrm>
          <a:prstGeom prst="ellipse">
            <a:avLst/>
          </a:prstGeom>
          <a:solidFill>
            <a:srgbClr val="E5EE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118872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00800" y="17830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7498080" y="2743200"/>
            <a:ext cx="731520" cy="731520"/>
          </a:xfrm>
          <a:prstGeom prst="ellipse">
            <a:avLst/>
          </a:prstGeom>
          <a:solidFill>
            <a:srgbClr val="E5EE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0" y="2926080"/>
            <a:ext cx="365760" cy="36576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315200" y="35204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5669280" y="3657600"/>
            <a:ext cx="731520" cy="731520"/>
          </a:xfrm>
          <a:prstGeom prst="ellipse">
            <a:avLst/>
          </a:prstGeom>
          <a:solidFill>
            <a:srgbClr val="E5EE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2160" y="3840480"/>
            <a:ext cx="365760" cy="36576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486400" y="44348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914400" y="2926080"/>
            <a:ext cx="731520" cy="731520"/>
          </a:xfrm>
          <a:prstGeom prst="ellipse">
            <a:avLst/>
          </a:prstGeom>
          <a:solidFill>
            <a:srgbClr val="E5EE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0" y="3108960"/>
            <a:ext cx="365760" cy="36576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31520" y="37033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000" dirty="0"/>
          </a:p>
        </p:txBody>
      </p:sp>
      <p:sp>
        <p:nvSpPr>
          <p:cNvPr id="27" name="Text 19"/>
          <p:cNvSpPr/>
          <p:nvPr/>
        </p:nvSpPr>
        <p:spPr>
          <a:xfrm>
            <a:off x="640080" y="47548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knowledge base. Every interaction makes every department smarter.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C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 Coordinated Agents. One Persistent Brain.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2468880" cy="3291840"/>
          </a:xfrm>
          <a:prstGeom prst="rect">
            <a:avLst/>
          </a:prstGeom>
          <a:solidFill>
            <a:srgbClr val="2A3578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417320" y="1371600"/>
            <a:ext cx="914400" cy="91440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0" y="160020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46888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Multi-Agent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Orchestration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68680" y="3154680"/>
            <a:ext cx="20116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specialized agents collaborate in real-time. Swarm topology auto-scales based on task complexity.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474720" y="1097280"/>
            <a:ext cx="2468880" cy="3291840"/>
          </a:xfrm>
          <a:prstGeom prst="rect">
            <a:avLst/>
          </a:prstGeom>
          <a:solidFill>
            <a:srgbClr val="2A3578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251960" y="1371600"/>
            <a:ext cx="914400" cy="91440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60020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657600" y="246888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Self-Learning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Memory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3703320" y="3154680"/>
            <a:ext cx="20116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HNSW vector search with persistent knowledge. Every interaction compounds organizational intelligence.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309360" y="1097280"/>
            <a:ext cx="2468880" cy="3291840"/>
          </a:xfrm>
          <a:prstGeom prst="rect">
            <a:avLst/>
          </a:prstGeom>
          <a:solidFill>
            <a:srgbClr val="2A3578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086600" y="1371600"/>
            <a:ext cx="914400" cy="91440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60020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492240" y="246888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Sovereignty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6537960" y="3154680"/>
            <a:ext cx="20116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Air-gapped deployment. Your data never touches external servers. Full compliance by design.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19" name="Text 1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Ruflo v3.5 — Production-grade agentic infrastructure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C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Chaos to Coordination in Days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920240" cy="3200400"/>
          </a:xfrm>
          <a:prstGeom prst="rect">
            <a:avLst/>
          </a:prstGeom>
          <a:solidFill>
            <a:srgbClr val="E5EE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0" y="12801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280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960120" y="2148840"/>
            <a:ext cx="914400" cy="91440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237744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32004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94360" y="361188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on-prem or edge in under 4 hours. No cloud dependency.</a:t>
            </a:r>
            <a:endParaRPr lang="en-US" sz="10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7440" y="2423160"/>
            <a:ext cx="274320" cy="27432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651760" y="1097280"/>
            <a:ext cx="1920240" cy="3200400"/>
          </a:xfrm>
          <a:prstGeom prst="rect">
            <a:avLst/>
          </a:prstGeom>
          <a:solidFill>
            <a:srgbClr val="E5EE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291840" y="12801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0"/>
          <p:cNvSpPr/>
          <p:nvPr/>
        </p:nvSpPr>
        <p:spPr>
          <a:xfrm>
            <a:off x="3291840" y="1280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Shape 11"/>
          <p:cNvSpPr/>
          <p:nvPr/>
        </p:nvSpPr>
        <p:spPr>
          <a:xfrm>
            <a:off x="3154680" y="2148840"/>
            <a:ext cx="914400" cy="91440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0" y="237744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651760" y="32004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Connect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2788920" y="361188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existing tools via MCP protocol. 96 tools out of the box.</a:t>
            </a:r>
            <a:endParaRPr lang="en-US" sz="10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2423160"/>
            <a:ext cx="274320" cy="274320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4846320" y="1097280"/>
            <a:ext cx="1920240" cy="3200400"/>
          </a:xfrm>
          <a:prstGeom prst="rect">
            <a:avLst/>
          </a:prstGeom>
          <a:solidFill>
            <a:srgbClr val="E5EE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5486400" y="12801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16"/>
          <p:cNvSpPr/>
          <p:nvPr/>
        </p:nvSpPr>
        <p:spPr>
          <a:xfrm>
            <a:off x="5486400" y="1280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23" name="Shape 17"/>
          <p:cNvSpPr/>
          <p:nvPr/>
        </p:nvSpPr>
        <p:spPr>
          <a:xfrm>
            <a:off x="5349240" y="2148840"/>
            <a:ext cx="914400" cy="91440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7840" y="2377440"/>
            <a:ext cx="457200" cy="45720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4846320" y="32004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Orchestrate</a:t>
            </a:r>
            <a:endParaRPr lang="en-US" sz="1600" dirty="0"/>
          </a:p>
        </p:txBody>
      </p:sp>
      <p:sp>
        <p:nvSpPr>
          <p:cNvPr id="26" name="Text 19"/>
          <p:cNvSpPr/>
          <p:nvPr/>
        </p:nvSpPr>
        <p:spPr>
          <a:xfrm>
            <a:off x="4983480" y="361188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self-organize using swarm topology. Zero manual configuration.</a:t>
            </a:r>
            <a:endParaRPr lang="en-US" sz="1000" dirty="0"/>
          </a:p>
        </p:txBody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6560" y="2423160"/>
            <a:ext cx="274320" cy="274320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7040880" y="1097280"/>
            <a:ext cx="1920240" cy="3200400"/>
          </a:xfrm>
          <a:prstGeom prst="rect">
            <a:avLst/>
          </a:prstGeom>
          <a:solidFill>
            <a:srgbClr val="E5EE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9" name="Shape 21"/>
          <p:cNvSpPr/>
          <p:nvPr/>
        </p:nvSpPr>
        <p:spPr>
          <a:xfrm>
            <a:off x="7680960" y="12801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0" name="Text 22"/>
          <p:cNvSpPr/>
          <p:nvPr/>
        </p:nvSpPr>
        <p:spPr>
          <a:xfrm>
            <a:off x="7680960" y="1280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31" name="Shape 23"/>
          <p:cNvSpPr/>
          <p:nvPr/>
        </p:nvSpPr>
        <p:spPr>
          <a:xfrm>
            <a:off x="7543800" y="2148840"/>
            <a:ext cx="914400" cy="91440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0" y="2377440"/>
            <a:ext cx="457200" cy="457200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7040880" y="32004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Compound</a:t>
            </a:r>
            <a:endParaRPr lang="en-US" sz="1600" dirty="0"/>
          </a:p>
        </p:txBody>
      </p:sp>
      <p:sp>
        <p:nvSpPr>
          <p:cNvPr id="34" name="Text 25"/>
          <p:cNvSpPr/>
          <p:nvPr/>
        </p:nvSpPr>
        <p:spPr>
          <a:xfrm>
            <a:off x="7178040" y="361188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compounds daily. ROI accelerates every week.</a:t>
            </a:r>
            <a:endParaRPr lang="en-US" sz="1000" dirty="0"/>
          </a:p>
        </p:txBody>
      </p:sp>
      <p:sp>
        <p:nvSpPr>
          <p:cNvPr id="35" name="Text 26"/>
          <p:cNvSpPr/>
          <p:nvPr/>
        </p:nvSpPr>
        <p:spPr>
          <a:xfrm>
            <a:off x="640080" y="45720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time to first value: 5 business days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C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Self-Learning vs. Stateless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3657600" cy="3474720"/>
          </a:xfrm>
          <a:prstGeom prst="rect">
            <a:avLst/>
          </a:prstGeom>
          <a:solidFill>
            <a:srgbClr val="FFF0F0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972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3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Traditional AI Tools</a:t>
            </a:r>
            <a:endParaRPr lang="en-US" sz="1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69164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691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session starts from zero</a:t>
            </a:r>
            <a:endParaRPr lang="en-US" sz="11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130552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80160" y="21305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tool per department</a:t>
            </a:r>
            <a:endParaRPr lang="en-US" sz="11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569464"/>
            <a:ext cx="274320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80160" y="25694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sent to external cloud</a:t>
            </a:r>
            <a:endParaRPr lang="en-US" sz="11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008376"/>
            <a:ext cx="274320" cy="27432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80160" y="30083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prompt engineering</a:t>
            </a:r>
            <a:endParaRPr lang="en-US" sz="11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447288"/>
            <a:ext cx="274320" cy="27432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280160" y="34472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cross-team learning</a:t>
            </a:r>
            <a:endParaRPr lang="en-US" sz="11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3886200"/>
            <a:ext cx="274320" cy="27432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1280160" y="3886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per-seat pricing</a:t>
            </a:r>
            <a:endParaRPr lang="en-US" sz="1100" dirty="0"/>
          </a:p>
        </p:txBody>
      </p:sp>
      <p:sp>
        <p:nvSpPr>
          <p:cNvPr id="18" name="Shape 10"/>
          <p:cNvSpPr/>
          <p:nvPr/>
        </p:nvSpPr>
        <p:spPr>
          <a:xfrm>
            <a:off x="4846320" y="1005840"/>
            <a:ext cx="3657600" cy="3474720"/>
          </a:xfrm>
          <a:prstGeom prst="rect">
            <a:avLst/>
          </a:prstGeom>
          <a:solidFill>
            <a:srgbClr val="F0FFF4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9" name="Text 11"/>
          <p:cNvSpPr/>
          <p:nvPr/>
        </p:nvSpPr>
        <p:spPr>
          <a:xfrm>
            <a:off x="4846320" y="10972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8A7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RuvNet (Ruflo v3.5)</a:t>
            </a:r>
            <a:endParaRPr lang="en-US" sz="1600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20640" y="1691640"/>
            <a:ext cx="274320" cy="274320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5486400" y="1691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memory compounds daily</a:t>
            </a:r>
            <a:endParaRPr lang="en-US" sz="1100" dirty="0"/>
          </a:p>
        </p:txBody>
      </p:sp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20640" y="2130552"/>
            <a:ext cx="274320" cy="274320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5486400" y="21305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agents share one brain</a:t>
            </a:r>
            <a:endParaRPr lang="en-US" sz="1100" dirty="0"/>
          </a:p>
        </p:txBody>
      </p:sp>
      <p:pic>
        <p:nvPicPr>
          <p:cNvPr id="2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20640" y="2569464"/>
            <a:ext cx="274320" cy="274320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5486400" y="25694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Air-gapped, on-prem deployment</a:t>
            </a:r>
            <a:endParaRPr lang="en-US" sz="1100" dirty="0"/>
          </a:p>
        </p:txBody>
      </p:sp>
      <p:pic>
        <p:nvPicPr>
          <p:cNvPr id="2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20640" y="3008376"/>
            <a:ext cx="274320" cy="274320"/>
          </a:xfrm>
          <a:prstGeom prst="rect">
            <a:avLst/>
          </a:prstGeom>
        </p:spPr>
      </p:pic>
      <p:sp>
        <p:nvSpPr>
          <p:cNvPr id="27" name="Text 15"/>
          <p:cNvSpPr/>
          <p:nvPr/>
        </p:nvSpPr>
        <p:spPr>
          <a:xfrm>
            <a:off x="5486400" y="30083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Self-optimizing agent swarms</a:t>
            </a:r>
            <a:endParaRPr lang="en-US" sz="1100" dirty="0"/>
          </a:p>
        </p:txBody>
      </p:sp>
      <p:pic>
        <p:nvPicPr>
          <p:cNvPr id="2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20640" y="3447288"/>
            <a:ext cx="274320" cy="274320"/>
          </a:xfrm>
          <a:prstGeom prst="rect">
            <a:avLst/>
          </a:prstGeom>
        </p:spPr>
      </p:pic>
      <p:sp>
        <p:nvSpPr>
          <p:cNvPr id="29" name="Text 16"/>
          <p:cNvSpPr/>
          <p:nvPr/>
        </p:nvSpPr>
        <p:spPr>
          <a:xfrm>
            <a:off x="5486400" y="34472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Cross-department knowledge graph</a:t>
            </a:r>
            <a:endParaRPr lang="en-US" sz="1100" dirty="0"/>
          </a:p>
        </p:txBody>
      </p:sp>
      <p:pic>
        <p:nvPicPr>
          <p:cNvPr id="3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120640" y="3886200"/>
            <a:ext cx="274320" cy="274320"/>
          </a:xfrm>
          <a:prstGeom prst="rect">
            <a:avLst/>
          </a:prstGeom>
        </p:spPr>
      </p:pic>
      <p:sp>
        <p:nvSpPr>
          <p:cNvPr id="31" name="Text 17"/>
          <p:cNvSpPr/>
          <p:nvPr/>
        </p:nvSpPr>
        <p:spPr>
          <a:xfrm>
            <a:off x="5486400" y="3886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Value-based ROI pricing</a:t>
            </a:r>
            <a:endParaRPr lang="en-US" sz="1100" dirty="0"/>
          </a:p>
        </p:txBody>
      </p:sp>
      <p:sp>
        <p:nvSpPr>
          <p:cNvPr id="32" name="Text 18"/>
          <p:cNvSpPr/>
          <p:nvPr/>
        </p:nvSpPr>
        <p:spPr>
          <a:xfrm>
            <a:off x="640080" y="46634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RuvNet doesn't just answer questions. It learns your business.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1C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Another AI Tool. A Different Category.</a:t>
            </a:r>
            <a:endParaRPr lang="en-US" sz="2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2296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097280"/>
                <a:gridCol w="1097280"/>
                <a:gridCol w="1097280"/>
                <a:gridCol w="1097280"/>
                <a:gridCol w="109728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41C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RuvNet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8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LangChain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Copilot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ChatGPT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41C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Multi-Agent Orchestration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8A7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 agents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41C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3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3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3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41C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Persistent Memory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8A7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HNSW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3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3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3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3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41C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On-Prem / Air-Gap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8A7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Native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41C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3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3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3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41C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Self-Learning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8A7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Compounds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3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3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3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3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41C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Cross-Dept Knowledge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8A7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Unified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3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41C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3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3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41C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Sovereignty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8A7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41C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3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3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3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41C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to Value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8A7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days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3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41C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41C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Hours*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41C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45720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ChatGPT Enterprise: fast to start, but no persistence, no sovereignty, no multi-agent coordination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C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Math Is Simple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2468880" cy="2377440"/>
          </a:xfrm>
          <a:prstGeom prst="rect">
            <a:avLst/>
          </a:prstGeom>
          <a:solidFill>
            <a:srgbClr val="2A3578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508760" y="1325880"/>
            <a:ext cx="731520" cy="73152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150876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14884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B8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27%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640080" y="278892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474720" y="1097280"/>
            <a:ext cx="2468880" cy="2377440"/>
          </a:xfrm>
          <a:prstGeom prst="rect">
            <a:avLst/>
          </a:prstGeom>
          <a:solidFill>
            <a:srgbClr val="2A3578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343400" y="1325880"/>
            <a:ext cx="731520" cy="73152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50876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474720" y="214884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B8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11.4h</a:t>
            </a:r>
            <a:endParaRPr lang="en-US" sz="4000" dirty="0"/>
          </a:p>
        </p:txBody>
      </p:sp>
      <p:sp>
        <p:nvSpPr>
          <p:cNvPr id="12" name="Text 8"/>
          <p:cNvSpPr/>
          <p:nvPr/>
        </p:nvSpPr>
        <p:spPr>
          <a:xfrm>
            <a:off x="3474720" y="278892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Per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/ Week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309360" y="1097280"/>
            <a:ext cx="2468880" cy="2377440"/>
          </a:xfrm>
          <a:prstGeom prst="rect">
            <a:avLst/>
          </a:prstGeom>
          <a:solidFill>
            <a:srgbClr val="2A3578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178040" y="1325880"/>
            <a:ext cx="731520" cy="73152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0" y="150876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309360" y="214884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B8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$8,700</a:t>
            </a:r>
            <a:endParaRPr lang="en-US" sz="4000" dirty="0"/>
          </a:p>
        </p:txBody>
      </p:sp>
      <p:sp>
        <p:nvSpPr>
          <p:cNvPr id="17" name="Text 12"/>
          <p:cNvSpPr/>
          <p:nvPr/>
        </p:nvSpPr>
        <p:spPr>
          <a:xfrm>
            <a:off x="6309360" y="278892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Savings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Employee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40080" y="3840480"/>
            <a:ext cx="7863840" cy="731520"/>
          </a:xfrm>
          <a:prstGeom prst="rect">
            <a:avLst/>
          </a:prstGeom>
          <a:solidFill>
            <a:srgbClr val="FFB800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9" name="Text 14"/>
          <p:cNvSpPr/>
          <p:nvPr/>
        </p:nvSpPr>
        <p:spPr>
          <a:xfrm>
            <a:off x="640080" y="384048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4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Employees  x  $8,700  =  </a:t>
            </a:r>
            <a:pPr algn="ctr" indent="0" marL="0">
              <a:buNone/>
            </a:pPr>
            <a:r>
              <a:rPr lang="en-US" sz="2000" b="1" dirty="0">
                <a:solidFill>
                  <a:srgbClr val="141C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$4.35M Annual Savings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640080" y="47091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Stanford HAI, 2025 — Measured across knowledge worker tasks including coding, analysis, and writing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C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Data Never Leaves Your Building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3657600" cy="3474720"/>
          </a:xfrm>
          <a:prstGeom prst="rect">
            <a:avLst/>
          </a:prstGeom>
          <a:solidFill>
            <a:srgbClr val="E5EE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65960" y="1188720"/>
            <a:ext cx="731520" cy="73152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8840" y="137160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057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Edge Deployment</a:t>
            </a:r>
            <a:endParaRPr lang="en-US" sz="16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560320"/>
            <a:ext cx="228600" cy="228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34440" y="25603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your hardware (M3 Mac, GPU server, or bare metal)</a:t>
            </a:r>
            <a:endParaRPr lang="en-US" sz="10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944368"/>
            <a:ext cx="228600" cy="2286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34440" y="294436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external API calls for core operations</a:t>
            </a:r>
            <a:endParaRPr lang="en-US" sz="10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328416"/>
            <a:ext cx="228600" cy="2286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34440" y="3328416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HIPAA, SOC2, GDPR compliant by architecture</a:t>
            </a:r>
            <a:endParaRPr lang="en-US" sz="10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712464"/>
            <a:ext cx="228600" cy="22860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234440" y="3712464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Air-gapped mode for classified environments</a:t>
            </a:r>
            <a:endParaRPr lang="en-US" sz="10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4096512"/>
            <a:ext cx="228600" cy="22860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1234440" y="409651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 stays on-premises</a:t>
            </a:r>
            <a:endParaRPr lang="en-US" sz="1000" dirty="0"/>
          </a:p>
        </p:txBody>
      </p:sp>
      <p:sp>
        <p:nvSpPr>
          <p:cNvPr id="18" name="Shape 10"/>
          <p:cNvSpPr/>
          <p:nvPr/>
        </p:nvSpPr>
        <p:spPr>
          <a:xfrm>
            <a:off x="4846320" y="1005840"/>
            <a:ext cx="3657600" cy="3474720"/>
          </a:xfrm>
          <a:prstGeom prst="rect">
            <a:avLst/>
          </a:prstGeom>
          <a:solidFill>
            <a:srgbClr val="141C3D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9" name="Shape 11"/>
          <p:cNvSpPr/>
          <p:nvPr/>
        </p:nvSpPr>
        <p:spPr>
          <a:xfrm>
            <a:off x="6172200" y="1188720"/>
            <a:ext cx="731520" cy="731520"/>
          </a:xfrm>
          <a:prstGeom prst="ellipse">
            <a:avLst/>
          </a:prstGeom>
          <a:solidFill>
            <a:srgbClr val="2A3578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5080" y="1371600"/>
            <a:ext cx="365760" cy="365760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4846320" y="2057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 Per Query</a:t>
            </a:r>
            <a:endParaRPr lang="en-US" sz="1600" dirty="0"/>
          </a:p>
        </p:txBody>
      </p:sp>
      <p:sp>
        <p:nvSpPr>
          <p:cNvPr id="22" name="Text 13"/>
          <p:cNvSpPr/>
          <p:nvPr/>
        </p:nvSpPr>
        <p:spPr>
          <a:xfrm>
            <a:off x="5120640" y="25603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AI APIs</a:t>
            </a:r>
            <a:endParaRPr lang="en-US" sz="1200" dirty="0"/>
          </a:p>
        </p:txBody>
      </p:sp>
      <p:sp>
        <p:nvSpPr>
          <p:cNvPr id="23" name="Text 14"/>
          <p:cNvSpPr/>
          <p:nvPr/>
        </p:nvSpPr>
        <p:spPr>
          <a:xfrm>
            <a:off x="5120640" y="28346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3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$0.03 - $0.12 / query</a:t>
            </a:r>
            <a:endParaRPr lang="en-US" sz="1400" dirty="0"/>
          </a:p>
        </p:txBody>
      </p:sp>
      <p:sp>
        <p:nvSpPr>
          <p:cNvPr id="24" name="Text 15"/>
          <p:cNvSpPr/>
          <p:nvPr/>
        </p:nvSpPr>
        <p:spPr>
          <a:xfrm>
            <a:off x="5120640" y="310896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data leaves your network</a:t>
            </a:r>
            <a:endParaRPr lang="en-US" sz="1000" dirty="0"/>
          </a:p>
        </p:txBody>
      </p:sp>
      <p:sp>
        <p:nvSpPr>
          <p:cNvPr id="25" name="Text 16"/>
          <p:cNvSpPr/>
          <p:nvPr/>
        </p:nvSpPr>
        <p:spPr>
          <a:xfrm>
            <a:off x="5120640" y="35204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RuvNet Edge</a:t>
            </a:r>
            <a:endParaRPr lang="en-US" sz="1200" dirty="0"/>
          </a:p>
        </p:txBody>
      </p:sp>
      <p:sp>
        <p:nvSpPr>
          <p:cNvPr id="26" name="Text 17"/>
          <p:cNvSpPr/>
          <p:nvPr/>
        </p:nvSpPr>
        <p:spPr>
          <a:xfrm>
            <a:off x="5120640" y="37947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A7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 $0.005 / query</a:t>
            </a:r>
            <a:endParaRPr lang="en-US" sz="1400" dirty="0"/>
          </a:p>
        </p:txBody>
      </p:sp>
      <p:sp>
        <p:nvSpPr>
          <p:cNvPr id="27" name="Text 18"/>
          <p:cNvSpPr/>
          <p:nvPr/>
        </p:nvSpPr>
        <p:spPr>
          <a:xfrm>
            <a:off x="5120640" y="406908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data never leaves your building</a:t>
            </a:r>
            <a:endParaRPr lang="en-US" sz="1000" dirty="0"/>
          </a:p>
        </p:txBody>
      </p:sp>
      <p:sp>
        <p:nvSpPr>
          <p:cNvPr id="28" name="Text 19"/>
          <p:cNvSpPr/>
          <p:nvPr/>
        </p:nvSpPr>
        <p:spPr>
          <a:xfrm>
            <a:off x="640080" y="46634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6x - 24x cheaper than cloud APIs with full data sovereignty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1C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5 Isolated Tools to 1 Coordinated Brain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Case Study: 500-Person Financial Services Firm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3657600" cy="3017520"/>
          </a:xfrm>
          <a:prstGeom prst="rect">
            <a:avLst/>
          </a:prstGeom>
          <a:solidFill>
            <a:srgbClr val="3A1520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3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BEFORE</a:t>
            </a:r>
            <a:endParaRPr lang="en-US" sz="1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874520"/>
            <a:ext cx="228600" cy="228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8745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separate AI subscriptions ($280K/yr)</a:t>
            </a:r>
            <a:endParaRPr lang="en-US" sz="11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331720"/>
            <a:ext cx="228600" cy="228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34440" y="23317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team re-trained prompts weekly</a:t>
            </a:r>
            <a:endParaRPr lang="en-US" sz="11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788920"/>
            <a:ext cx="228600" cy="2286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34440" y="27889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context lost between handoffs</a:t>
            </a:r>
            <a:endParaRPr lang="en-US" sz="11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246120"/>
            <a:ext cx="228600" cy="2286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34440" y="32461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compliance incidents in 6 months</a:t>
            </a:r>
            <a:endParaRPr lang="en-US" sz="11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703320"/>
            <a:ext cx="228600" cy="22860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234440" y="37033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visibility into AI usage patterns</a:t>
            </a:r>
            <a:endParaRPr lang="en-US" sz="1100" dirty="0"/>
          </a:p>
        </p:txBody>
      </p:sp>
      <p:sp>
        <p:nvSpPr>
          <p:cNvPr id="16" name="Shape 9"/>
          <p:cNvSpPr/>
          <p:nvPr/>
        </p:nvSpPr>
        <p:spPr>
          <a:xfrm>
            <a:off x="4846320" y="1280160"/>
            <a:ext cx="3657600" cy="3017520"/>
          </a:xfrm>
          <a:prstGeom prst="rect">
            <a:avLst/>
          </a:prstGeom>
          <a:solidFill>
            <a:srgbClr val="152A20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7" name="Text 10"/>
          <p:cNvSpPr/>
          <p:nvPr/>
        </p:nvSpPr>
        <p:spPr>
          <a:xfrm>
            <a:off x="484632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8A7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AFTER (90 Days)</a:t>
            </a:r>
            <a:endParaRPr lang="en-US" sz="16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0640" y="1874520"/>
            <a:ext cx="228600" cy="22860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440680" y="18745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platform: $95K/yr (66% savings)</a:t>
            </a:r>
            <a:endParaRPr lang="en-US" sz="1100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20640" y="2331720"/>
            <a:ext cx="228600" cy="228600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5440680" y="23317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Self-learning agents, zero re-training</a:t>
            </a:r>
            <a:endParaRPr lang="en-US" sz="1100" dirty="0"/>
          </a:p>
        </p:txBody>
      </p:sp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20640" y="2788920"/>
            <a:ext cx="228600" cy="228600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5440680" y="27889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customer knowledge graph</a:t>
            </a:r>
            <a:endParaRPr lang="en-US" sz="1100" dirty="0"/>
          </a:p>
        </p:txBody>
      </p:sp>
      <p:pic>
        <p:nvPicPr>
          <p:cNvPr id="2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20640" y="3246120"/>
            <a:ext cx="228600" cy="228600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5440680" y="32461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compliance incidents</a:t>
            </a:r>
            <a:endParaRPr lang="en-US" sz="1100" dirty="0"/>
          </a:p>
        </p:txBody>
      </p:sp>
      <p:pic>
        <p:nvPicPr>
          <p:cNvPr id="2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20640" y="3703320"/>
            <a:ext cx="228600" cy="228600"/>
          </a:xfrm>
          <a:prstGeom prst="rect">
            <a:avLst/>
          </a:prstGeom>
        </p:spPr>
      </p:pic>
      <p:sp>
        <p:nvSpPr>
          <p:cNvPr id="27" name="Text 15"/>
          <p:cNvSpPr/>
          <p:nvPr/>
        </p:nvSpPr>
        <p:spPr>
          <a:xfrm>
            <a:off x="5440680" y="37033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dashboard + usage analytics</a:t>
            </a:r>
            <a:endParaRPr lang="en-US" sz="1100" dirty="0"/>
          </a:p>
        </p:txBody>
      </p:sp>
      <p:pic>
        <p:nvPicPr>
          <p:cNvPr id="2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43400" y="2514600"/>
            <a:ext cx="457200" cy="457200"/>
          </a:xfrm>
          <a:prstGeom prst="rect">
            <a:avLst/>
          </a:prstGeom>
        </p:spPr>
      </p:pic>
      <p:sp>
        <p:nvSpPr>
          <p:cNvPr id="29" name="Shape 16"/>
          <p:cNvSpPr/>
          <p:nvPr/>
        </p:nvSpPr>
        <p:spPr>
          <a:xfrm>
            <a:off x="640080" y="4480560"/>
            <a:ext cx="7863840" cy="457200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30" name="Text 17"/>
          <p:cNvSpPr/>
          <p:nvPr/>
        </p:nvSpPr>
        <p:spPr>
          <a:xfrm>
            <a:off x="640080" y="44805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$185K saved  |  27% productivity gain  |  Zero compliance incidents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C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See It Working on Your Data in 5 Days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2468880" cy="3200400"/>
          </a:xfrm>
          <a:prstGeom prst="rect">
            <a:avLst/>
          </a:prstGeom>
          <a:solidFill>
            <a:srgbClr val="E5EE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005840"/>
            <a:ext cx="246888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058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 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417320" y="1691640"/>
            <a:ext cx="731520" cy="73152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187452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25603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Discovery &amp; Deploy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68680" y="2926080"/>
            <a:ext cx="20116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4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alignment call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4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provisioning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4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 mapping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4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review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474720" y="1005840"/>
            <a:ext cx="2468880" cy="3200400"/>
          </a:xfrm>
          <a:prstGeom prst="rect">
            <a:avLst/>
          </a:prstGeom>
          <a:solidFill>
            <a:srgbClr val="E5EE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474720" y="1005840"/>
            <a:ext cx="2468880" cy="502920"/>
          </a:xfrm>
          <a:prstGeom prst="rect">
            <a:avLst/>
          </a:prstGeom>
          <a:solidFill>
            <a:srgbClr val="2A3578"/>
          </a:solidFill>
          <a:ln/>
        </p:spPr>
      </p:sp>
      <p:sp>
        <p:nvSpPr>
          <p:cNvPr id="13" name="Text 10"/>
          <p:cNvSpPr/>
          <p:nvPr/>
        </p:nvSpPr>
        <p:spPr>
          <a:xfrm>
            <a:off x="3474720" y="10058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 2-3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251960" y="1691640"/>
            <a:ext cx="731520" cy="731520"/>
          </a:xfrm>
          <a:prstGeom prst="ellipse">
            <a:avLst/>
          </a:prstGeom>
          <a:solidFill>
            <a:srgbClr val="2A3578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1874520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474720" y="25603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Configure &amp; Train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3703320" y="2926080"/>
            <a:ext cx="20116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4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topology design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4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 ingestion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4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with existing tools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4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acceptance testing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6309360" y="1005840"/>
            <a:ext cx="2468880" cy="3200400"/>
          </a:xfrm>
          <a:prstGeom prst="rect">
            <a:avLst/>
          </a:prstGeom>
          <a:solidFill>
            <a:srgbClr val="E5EE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309360" y="1005840"/>
            <a:ext cx="2468880" cy="502920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20" name="Text 16"/>
          <p:cNvSpPr/>
          <p:nvPr/>
        </p:nvSpPr>
        <p:spPr>
          <a:xfrm>
            <a:off x="6309360" y="10058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 4+</a:t>
            </a:r>
            <a:endParaRPr lang="en-US" sz="1400" dirty="0"/>
          </a:p>
        </p:txBody>
      </p:sp>
      <p:sp>
        <p:nvSpPr>
          <p:cNvPr id="21" name="Shape 17"/>
          <p:cNvSpPr/>
          <p:nvPr/>
        </p:nvSpPr>
        <p:spPr>
          <a:xfrm>
            <a:off x="7086600" y="1691640"/>
            <a:ext cx="731520" cy="731520"/>
          </a:xfrm>
          <a:prstGeom prst="ellipse">
            <a:avLst/>
          </a:prstGeom>
          <a:solidFill>
            <a:srgbClr val="FFB800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1874520"/>
            <a:ext cx="365760" cy="36576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309360" y="25603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Scale &amp; Compound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6537960" y="2926080"/>
            <a:ext cx="20116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4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Department-by-department rollout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4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Self-learning optimization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4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business reviews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4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ROI tracking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640080" y="4434840"/>
            <a:ext cx="7863840" cy="502920"/>
          </a:xfrm>
          <a:prstGeom prst="rect">
            <a:avLst/>
          </a:prstGeom>
          <a:solidFill>
            <a:srgbClr val="28A745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26" name="Text 21"/>
          <p:cNvSpPr/>
          <p:nvPr/>
        </p:nvSpPr>
        <p:spPr>
          <a:xfrm>
            <a:off x="640080" y="443484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Schedule Your 5-Day Proof of Value  -&gt;  ruvnet.com/pilot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1C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200400" cy="3200400"/>
          </a:xfrm>
          <a:prstGeom prst="ellipse">
            <a:avLst/>
          </a:prstGeom>
          <a:solidFill>
            <a:srgbClr val="1E2761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3200400"/>
            <a:ext cx="2743200" cy="2743200"/>
          </a:xfrm>
          <a:prstGeom prst="ellipse">
            <a:avLst/>
          </a:prstGeom>
          <a:solidFill>
            <a:srgbClr val="2A3578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828800" y="7315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B8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1371600" y="1463040"/>
            <a:ext cx="6400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Next 18 Months Will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Define the Next Decade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371600" y="274320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that unify their AI now will compound advantages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competitors can never catch.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286000" y="3657600"/>
            <a:ext cx="4572000" cy="54864"/>
          </a:xfrm>
          <a:prstGeom prst="rect">
            <a:avLst/>
          </a:prstGeom>
          <a:solidFill>
            <a:srgbClr val="FFB800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0" y="3931920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063240" y="39319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ruvnet.com</a:t>
            </a:r>
            <a:endParaRPr lang="en-US" sz="12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93192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49240" y="3931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hello@ruvnet.com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13" name="Text 9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1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RuvNet  |  The Enterprise AI Operating System  |  Powered by Ruflo v3.5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RuvNet: The Enterprise AI Operating System</dc:title>
  <dc:subject>PptxGenJS Presentation</dc:subject>
  <dc:creator>RuvNet</dc:creator>
  <cp:lastModifiedBy>RuvNet</cp:lastModifiedBy>
  <cp:revision>1</cp:revision>
  <dcterms:created xsi:type="dcterms:W3CDTF">2026-03-07T22:22:37Z</dcterms:created>
  <dcterms:modified xsi:type="dcterms:W3CDTF">2026-03-07T22:22:37Z</dcterms:modified>
</cp:coreProperties>
</file>