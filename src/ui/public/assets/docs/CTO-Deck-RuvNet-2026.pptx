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Relationship Id="rId4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Relationship Id="rId4" Type="http://schemas.openxmlformats.org/officeDocument/2006/relationships/image" Target="../media/image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pic>
        <p:nvPicPr>
          <p:cNvPr id="3" name="Image 0" descr="/Users/stuartkerr/Code/Ask-Ruvnet/Ask-Ruvnet/docs/presentations/images/01-architecture-overview.png">    </p:cNvPr>
          <p:cNvPicPr>
            <a:picLocks noChangeAspect="1"/>
          </p:cNvPicPr>
          <p:nvPr/>
        </p:nvPicPr>
        <p:blipFill>
          <a:blip r:embed="rId1">
            <a:alphaModFix amt="45000"/>
          </a:blip>
          <a:stretch>
            <a:fillRect/>
          </a:stretch>
        </p:blipFill>
        <p:spPr>
          <a:xfrm>
            <a:off x="5943600" y="731520"/>
            <a:ext cx="3017520" cy="2286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7315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6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RUVNET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731520" y="1371600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8FA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Technical Architecture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8FA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Deep Dive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731520" y="27432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148 capabilities across 14 modules. Production-grade agentic infrastructure.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731520" y="38404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80+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731520" y="42062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Rust Crates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2743200" y="38404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290+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2743200" y="42062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Functions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4754880" y="38404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39</a:t>
            </a:r>
            <a:endParaRPr lang="en-US" sz="2400" dirty="0"/>
          </a:p>
        </p:txBody>
      </p:sp>
      <p:sp>
        <p:nvSpPr>
          <p:cNvPr id="12" name="Text 9"/>
          <p:cNvSpPr/>
          <p:nvPr/>
        </p:nvSpPr>
        <p:spPr>
          <a:xfrm>
            <a:off x="4754880" y="42062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 Mechanisms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6766560" y="38404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265K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6766560" y="42062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Lines of Code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731520" y="47091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 License  |  ruvnet.com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31520" y="3200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Providers Actually Ship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ship the inference endpoint. You build the other 11 layers.</a:t>
            </a:r>
            <a:endParaRPr lang="en-US" sz="14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188720"/>
          <a:ext cx="76809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005840"/>
                <a:gridCol w="1005840"/>
                <a:gridCol w="1005840"/>
                <a:gridCol w="914400"/>
                <a:gridCol w="146304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6B6D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Capability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94A3B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OpenAI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94A3B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Anthropic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94A3B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Google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94A3B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AWS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6B6D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RuvNet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A2E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 API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A2E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Multi-Agent (150+ types)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A2E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Persistent Memory (4 types)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A2E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Vector Search (&lt;100µs)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A2E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Security Middleware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A2E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Offline / Air-Gapped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A2E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Self-Learning (&lt;1ms)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A2E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WASM Runtime (7.2KB)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A2E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Anti-Hallucination (formal)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A2E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Graph Analytics (GNN)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A2E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MCP Protocol (96 tools)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○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A2E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Sovereignty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○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A2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31520" y="2743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Architecture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685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modules. Unified data plane. Security envelope.</a:t>
            </a:r>
            <a:endParaRPr lang="en-US" sz="1300" dirty="0"/>
          </a:p>
        </p:txBody>
      </p:sp>
      <p:pic>
        <p:nvPicPr>
          <p:cNvPr id="5" name="Image 0" descr="/Users/stuartkerr/Code/Ask-Ruvnet/Ask-Ruvnet/docs/presentations/images/01-architecture-overview.png">    </p:cNvPr>
          <p:cNvPicPr>
            <a:picLocks noChangeAspect="1"/>
          </p:cNvPicPr>
          <p:nvPr/>
        </p:nvPicPr>
        <p:blipFill>
          <a:blip r:embed="rId1">
            <a:alphaModFix amt="10000"/>
          </a:blip>
          <a:stretch>
            <a:fillRect/>
          </a:stretch>
        </p:blipFill>
        <p:spPr>
          <a:xfrm>
            <a:off x="914400" y="914400"/>
            <a:ext cx="7315200" cy="36576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097280"/>
            <a:ext cx="731520" cy="77724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457200" y="1097280"/>
            <a:ext cx="731520" cy="36576"/>
          </a:xfrm>
          <a:prstGeom prst="rect">
            <a:avLst/>
          </a:prstGeom>
          <a:solidFill>
            <a:srgbClr val="94A3B8"/>
          </a:solidFill>
          <a:ln/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502920" y="118872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88720" y="109728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463040" y="1097280"/>
            <a:ext cx="1097280" cy="77724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1463040" y="1097280"/>
            <a:ext cx="1097280" cy="36576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1508760" y="118872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AIMDS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1508760" y="141732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0.06ms scan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2560320" y="109728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2834640" y="1097280"/>
            <a:ext cx="1188720" cy="77724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16" name="Shape 13"/>
          <p:cNvSpPr/>
          <p:nvPr/>
        </p:nvSpPr>
        <p:spPr>
          <a:xfrm>
            <a:off x="2834640" y="1097280"/>
            <a:ext cx="1188720" cy="36576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2880360" y="118872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Ruflo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2880360" y="14173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150+ agents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topologies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4023360" y="109728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297680" y="1097280"/>
            <a:ext cx="1097280" cy="77724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21" name="Shape 18"/>
          <p:cNvSpPr/>
          <p:nvPr/>
        </p:nvSpPr>
        <p:spPr>
          <a:xfrm>
            <a:off x="4297680" y="1097280"/>
            <a:ext cx="1097280" cy="36576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4343400" y="118872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A5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RuVector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4343400" y="141732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61µs search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5394960" y="109728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5669280" y="1097280"/>
            <a:ext cx="1097280" cy="77724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26" name="Shape 23"/>
          <p:cNvSpPr/>
          <p:nvPr/>
        </p:nvSpPr>
        <p:spPr>
          <a:xfrm>
            <a:off x="5669280" y="1097280"/>
            <a:ext cx="1097280" cy="36576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p/>
        </p:txBody>
      </p:sp>
      <p:sp>
        <p:nvSpPr>
          <p:cNvPr id="27" name="Text 24"/>
          <p:cNvSpPr/>
          <p:nvPr/>
        </p:nvSpPr>
        <p:spPr>
          <a:xfrm>
            <a:off x="5715000" y="118872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AgentDB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5715000" y="141732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memory types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6766560" y="109728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7040880" y="1097280"/>
            <a:ext cx="1005840" cy="77724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31" name="Shape 28"/>
          <p:cNvSpPr/>
          <p:nvPr/>
        </p:nvSpPr>
        <p:spPr>
          <a:xfrm>
            <a:off x="7040880" y="1097280"/>
            <a:ext cx="1005840" cy="36576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32" name="Text 29"/>
          <p:cNvSpPr/>
          <p:nvPr/>
        </p:nvSpPr>
        <p:spPr>
          <a:xfrm>
            <a:off x="7086600" y="11887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SONA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7086600" y="1417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RL algorithms</a:t>
            </a:r>
            <a:endParaRPr lang="en-US" sz="800" dirty="0"/>
          </a:p>
        </p:txBody>
      </p:sp>
      <p:sp>
        <p:nvSpPr>
          <p:cNvPr id="34" name="Text 31"/>
          <p:cNvSpPr/>
          <p:nvPr/>
        </p:nvSpPr>
        <p:spPr>
          <a:xfrm>
            <a:off x="8046720" y="109728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8321040" y="1097280"/>
            <a:ext cx="731520" cy="77724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36" name="Shape 33"/>
          <p:cNvSpPr/>
          <p:nvPr/>
        </p:nvSpPr>
        <p:spPr>
          <a:xfrm>
            <a:off x="8321040" y="1097280"/>
            <a:ext cx="731520" cy="36576"/>
          </a:xfrm>
          <a:prstGeom prst="rect">
            <a:avLst/>
          </a:prstGeom>
          <a:solidFill>
            <a:srgbClr val="94A3B8"/>
          </a:solidFill>
          <a:ln/>
        </p:spPr>
        <p:txBody>
          <a:bodyPr/>
          <a:p/>
        </p:txBody>
      </p:sp>
      <p:sp>
        <p:nvSpPr>
          <p:cNvPr id="37" name="Text 34"/>
          <p:cNvSpPr/>
          <p:nvPr/>
        </p:nvSpPr>
        <p:spPr>
          <a:xfrm>
            <a:off x="8366760" y="118872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</a:t>
            </a:r>
            <a:endParaRPr lang="en-US" sz="1000" dirty="0"/>
          </a:p>
        </p:txBody>
      </p:sp>
      <p:sp>
        <p:nvSpPr>
          <p:cNvPr id="38" name="Shape 35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solidFill>
            <a:srgbClr val="1A2230"/>
          </a:solidFill>
          <a:ln/>
        </p:spPr>
        <p:txBody>
          <a:bodyPr/>
          <a:p/>
        </p:txBody>
      </p:sp>
      <p:sp>
        <p:nvSpPr>
          <p:cNvPr id="39" name="Text 36"/>
          <p:cNvSpPr/>
          <p:nvPr/>
        </p:nvSpPr>
        <p:spPr>
          <a:xfrm>
            <a:off x="594360" y="214884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RVF: 3-Tier Compute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594360" y="237744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WASM (5.5KB)  |  eBPF (kernel bypass)  |  Unikernel (125ms Linux boot)</a:t>
            </a:r>
            <a:endParaRPr lang="en-US" sz="900" dirty="0"/>
          </a:p>
        </p:txBody>
      </p:sp>
      <p:sp>
        <p:nvSpPr>
          <p:cNvPr id="41" name="Text 38"/>
          <p:cNvSpPr/>
          <p:nvPr/>
        </p:nvSpPr>
        <p:spPr>
          <a:xfrm>
            <a:off x="4754880" y="21488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Nervous System: 5 Bio-Inspired Layers</a:t>
            </a:r>
            <a:endParaRPr lang="en-US" sz="1000" dirty="0"/>
          </a:p>
        </p:txBody>
      </p:sp>
      <p:sp>
        <p:nvSpPr>
          <p:cNvPr id="42" name="Text 39"/>
          <p:cNvSpPr/>
          <p:nvPr/>
        </p:nvSpPr>
        <p:spPr>
          <a:xfrm>
            <a:off x="4754880" y="2377440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Sensing (&lt;100ns)  |  Reflex (&lt;1µs)  |  Memory (10³⁰ cap)  |  Learning  |  Coherence</a:t>
            </a:r>
            <a:endParaRPr lang="en-US" sz="850" dirty="0"/>
          </a:p>
        </p:txBody>
      </p:sp>
      <p:sp>
        <p:nvSpPr>
          <p:cNvPr id="43" name="Shape 40"/>
          <p:cNvSpPr/>
          <p:nvPr/>
        </p:nvSpPr>
        <p:spPr>
          <a:xfrm>
            <a:off x="457200" y="3017520"/>
            <a:ext cx="8229600" cy="457200"/>
          </a:xfrm>
          <a:prstGeom prst="rect">
            <a:avLst/>
          </a:prstGeom>
          <a:solidFill>
            <a:srgbClr val="0D2A2E"/>
          </a:solidFill>
          <a:ln/>
        </p:spPr>
        <p:txBody>
          <a:bodyPr/>
          <a:p/>
        </p:txBody>
      </p:sp>
      <p:sp>
        <p:nvSpPr>
          <p:cNvPr id="44" name="Text 41"/>
          <p:cNvSpPr/>
          <p:nvPr/>
        </p:nvSpPr>
        <p:spPr>
          <a:xfrm>
            <a:off x="594360" y="301752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Unified Data Plane — 290+ SQL Functions  |  HNSW Indexing  |  RuVector Extension  |  Drop-in pgvector replacement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>
            <a:off x="457200" y="3657600"/>
            <a:ext cx="8229600" cy="457200"/>
          </a:xfrm>
          <a:prstGeom prst="rect">
            <a:avLst/>
          </a:prstGeom>
          <a:solidFill>
            <a:srgbClr val="1A1520"/>
          </a:solidFill>
          <a:ln/>
        </p:spPr>
        <p:txBody>
          <a:bodyPr/>
          <a:p/>
        </p:txBody>
      </p:sp>
      <p:sp>
        <p:nvSpPr>
          <p:cNvPr id="46" name="Text 43"/>
          <p:cNvSpPr/>
          <p:nvPr/>
        </p:nvSpPr>
        <p:spPr>
          <a:xfrm>
            <a:off x="594360" y="365760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Envelope — Witness Chains (ML-DSA-65 Post-Quantum)  |  TEE Attestations  |  PII Redaction  |  DNA Lineage Tracking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457200" y="42976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96 MCP Tools</a:t>
            </a:r>
            <a:endParaRPr lang="en-US" sz="1000" dirty="0"/>
          </a:p>
        </p:txBody>
      </p:sp>
      <p:sp>
        <p:nvSpPr>
          <p:cNvPr id="48" name="Text 45"/>
          <p:cNvSpPr/>
          <p:nvPr/>
        </p:nvSpPr>
        <p:spPr>
          <a:xfrm>
            <a:off x="2103120" y="42976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80+ Rust Crates</a:t>
            </a:r>
            <a:endParaRPr lang="en-US" sz="1000" dirty="0"/>
          </a:p>
        </p:txBody>
      </p:sp>
      <p:sp>
        <p:nvSpPr>
          <p:cNvPr id="49" name="Text 46"/>
          <p:cNvSpPr/>
          <p:nvPr/>
        </p:nvSpPr>
        <p:spPr>
          <a:xfrm>
            <a:off x="3749040" y="42976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49+ npm Packages</a:t>
            </a:r>
            <a:endParaRPr lang="en-US" sz="1000" dirty="0"/>
          </a:p>
        </p:txBody>
      </p:sp>
      <p:sp>
        <p:nvSpPr>
          <p:cNvPr id="50" name="Text 47"/>
          <p:cNvSpPr/>
          <p:nvPr/>
        </p:nvSpPr>
        <p:spPr>
          <a:xfrm>
            <a:off x="5394960" y="42976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25+ ADRs</a:t>
            </a:r>
            <a:endParaRPr lang="en-US" sz="1000" dirty="0"/>
          </a:p>
        </p:txBody>
      </p:sp>
      <p:sp>
        <p:nvSpPr>
          <p:cNvPr id="51" name="Text 48"/>
          <p:cNvSpPr/>
          <p:nvPr/>
        </p:nvSpPr>
        <p:spPr>
          <a:xfrm>
            <a:off x="7040880" y="42976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Modules</a:t>
            </a:r>
            <a:endParaRPr lang="en-US" sz="1000" dirty="0"/>
          </a:p>
        </p:txBody>
      </p:sp>
      <p:pic>
        <p:nvPicPr>
          <p:cNvPr id="52" name="Picture 51" descr="deck-speed-compari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1371600"/>
            <a:ext cx="3840480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31520" y="3200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Philosophy: Algorithms Beat GPUs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industry throws hardware at problems. We throw mathematics.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1280160"/>
            <a:ext cx="3749040" cy="2560320"/>
          </a:xfrm>
          <a:prstGeom prst="rect">
            <a:avLst/>
          </a:prstGeom>
          <a:solidFill>
            <a:srgbClr val="1A1520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731520" y="1280160"/>
            <a:ext cx="3749040" cy="36576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914400" y="13716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Brute Force Approach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16916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$100M+/year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914400" y="2148840"/>
            <a:ext cx="33832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Massive GPU clusters required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$30M/month operational costs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scaling with data volume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lock-in to cloud providers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Environmental impact: enormous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63440" y="1280160"/>
            <a:ext cx="3749040" cy="2560320"/>
          </a:xfrm>
          <a:prstGeom prst="rect">
            <a:avLst/>
          </a:prstGeom>
          <a:solidFill>
            <a:srgbClr val="0D2A2E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663440" y="1280160"/>
            <a:ext cx="3749040" cy="36576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846320" y="13716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Algorithmic Efficiency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846320" y="16916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$1.7M/month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4846320" y="2148840"/>
            <a:ext cx="33832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MinCut-Gated: 50-90% compute skip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Coherence Transformer optimization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on commodity hardware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Sub-linear scaling with HNSW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5.5KB WASM runtime, zero GPUs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31520" y="4114800"/>
            <a:ext cx="7680960" cy="640080"/>
          </a:xfrm>
          <a:prstGeom prst="rect">
            <a:avLst/>
          </a:prstGeom>
          <a:solidFill>
            <a:srgbClr val="1A2744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1097280" y="4160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$30M/month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200400" y="411480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3840480" y="4160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$1.7M/month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126480" y="4114800"/>
            <a:ext cx="274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492240" y="4160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94% cost reduction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097280" y="4462272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capabilities. Better results. A fraction of the cost.</a:t>
            </a:r>
            <a:endParaRPr lang="en-US" sz="1100" dirty="0"/>
          </a:p>
        </p:txBody>
      </p:sp>
      <p:pic>
        <p:nvPicPr>
          <p:cNvPr id="22" name="Picture 21" descr="deck-speed-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371600"/>
            <a:ext cx="3840480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31520" y="3200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Pi: Decentralized Collective Intelligence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collective intelligence network where AI agents contribute knowledge alongside humans.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31520" y="1234440"/>
            <a:ext cx="7680960" cy="59436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731520" y="1234440"/>
            <a:ext cx="7680960" cy="36576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914400" y="128016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Decentralized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Nodes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468880" y="128016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834640" y="128016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Vector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Embeddings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389120" y="128016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754880" y="128016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Cryptographic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Verification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309360" y="128016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675120" y="128016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Consensus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Protocol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" y="2011680"/>
            <a:ext cx="1828800" cy="320040"/>
          </a:xfrm>
          <a:prstGeom prst="rect">
            <a:avLst/>
          </a:prstGeom>
          <a:solidFill>
            <a:srgbClr val="1A1032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" y="20116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π.ruv.io — LIVE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31520" y="2514600"/>
            <a:ext cx="3749040" cy="201168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731520" y="2514600"/>
            <a:ext cx="54864" cy="2011680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1005840" y="2578608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Technical Specifications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005840" y="2880360"/>
            <a:ext cx="32918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384-dimension vectors (all-MiniLM-L6-v2)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Cryptographic verification of all contributions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Decentralized contribution from AI + humans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 integration (pi-brain tools)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persistence across sessions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663440" y="2514600"/>
            <a:ext cx="3749040" cy="201168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4663440" y="2514600"/>
            <a:ext cx="54864" cy="201168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4937760" y="2578608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 Makes It Different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937760" y="2880360"/>
            <a:ext cx="32918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RAG — true collective intelligence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compounds across all participants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embeddings for semantic storage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central authority — fully decentralized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RuVector + RVF infrastructure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31520" y="4663440"/>
            <a:ext cx="7680960" cy="365760"/>
          </a:xfrm>
          <a:prstGeom prst="rect">
            <a:avLst/>
          </a:prstGeom>
          <a:solidFill>
            <a:srgbClr val="1A1032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914400" y="46634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Intelligence that grows with every participant. AI agents and humans contributing to the same knowledge graph.</a:t>
            </a:r>
            <a:endParaRPr lang="en-US" sz="1100" dirty="0"/>
          </a:p>
        </p:txBody>
      </p:sp>
      <p:pic>
        <p:nvPicPr>
          <p:cNvPr id="26" name="Picture 25" descr="card-ruvect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371600"/>
            <a:ext cx="3840480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31520" y="3200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RVF: The Executable Knowledge Unit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24-segment binary format. Not a database file — an executable that contains intelligence.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31520" y="1234440"/>
            <a:ext cx="2468880" cy="100584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731520" y="1234440"/>
            <a:ext cx="2468880" cy="36576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41248" y="132588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Core Data (3)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41248" y="160020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Vectors, Metadata, Indexes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83280" y="1234440"/>
            <a:ext cx="2468880" cy="100584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3383280" y="1234440"/>
            <a:ext cx="2468880" cy="36576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3493008" y="132588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A5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/ Model (3)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493008" y="160020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LoRA deltas, GGUF weights, Inference config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35040" y="1234440"/>
            <a:ext cx="2468880" cy="100584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6035040" y="1234440"/>
            <a:ext cx="2468880" cy="36576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144768" y="132588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COW Branching (4)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144768" y="160020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Git-like versioning (200x savings)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31520" y="2468880"/>
            <a:ext cx="2468880" cy="100584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731520" y="2468880"/>
            <a:ext cx="2468880" cy="36576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841248" y="256032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Security (2)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41248" y="28346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Witness chains (ML-DSA-65), TEE attestations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383280" y="2468880"/>
            <a:ext cx="2468880" cy="100584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3383280" y="2468880"/>
            <a:ext cx="2468880" cy="36576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3493008" y="256032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Compute (3+)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493008" y="28346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WASM (5.5KB) | eBPF | Unikernel (125ms)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035040" y="2468880"/>
            <a:ext cx="2468880" cy="100584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6035040" y="2468880"/>
            <a:ext cx="2468880" cy="36576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6144768" y="256032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AGI Container (9)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144768" y="28346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+ tools + authority + evaluation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31520" y="3886200"/>
            <a:ext cx="7680960" cy="640080"/>
          </a:xfrm>
          <a:prstGeom prst="rect">
            <a:avLst/>
          </a:prstGeom>
          <a:solidFill>
            <a:srgbClr val="1A2744"/>
          </a:solidFill>
          <a:ln/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914400" y="393192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image: 50-500 MB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3474720" y="393192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 container: 5-50 MB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035040" y="393192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RVF WASM runtime: 5.5 KB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14400" y="420624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images are megabytes. An RVF WASM runtime is 5.5 kilobytes.</a:t>
            </a:r>
            <a:endParaRPr lang="en-US" sz="1100" dirty="0"/>
          </a:p>
        </p:txBody>
      </p:sp>
      <p:pic>
        <p:nvPicPr>
          <p:cNvPr id="34" name="Picture 33" descr="deck-compress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371600"/>
            <a:ext cx="3840480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31520" y="3200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Three-Tier Compute Architecture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binary format. Three execution environments. Deploy anywhere.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31520" y="1234440"/>
            <a:ext cx="7680960" cy="77724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731520" y="1234440"/>
            <a:ext cx="54864" cy="77724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005840" y="128016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Tier 1: WASM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200400" y="12801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5.5-46KB  |  &lt;1ms boot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217920" y="128016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Browser, IoT, phone, edge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005840" y="1581912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vector search + agent runtime in a file smaller than a favicon. Zero installation. Runs in any browser tab.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31520" y="2194560"/>
            <a:ext cx="7680960" cy="77724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731520" y="2194560"/>
            <a:ext cx="54864" cy="777240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005840" y="224028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A5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Tier 2: eBPF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200400" y="22402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EA5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10-50KB  |  &lt;20ms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217920" y="224028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 bypass, XDP, 10Gbps+ wire speed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005840" y="2542032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Network-level intelligence. Packet inspection at wire speed. No context switches. No user-space overhead.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31520" y="3154680"/>
            <a:ext cx="7680960" cy="77724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731520" y="3154680"/>
            <a:ext cx="54864" cy="77724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1005840" y="320040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Tier 3: Unikernel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200400" y="32004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Full Linux  |  125ms boot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217920" y="320040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Bare metal, production, VM isolation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005840" y="3502152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Linux environment. Production-grade isolation. From cold start to serving in 125 milliseconds.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731520" y="4160520"/>
            <a:ext cx="3749040" cy="77724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731520" y="4160520"/>
            <a:ext cx="3749040" cy="36576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914400" y="4233672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Progressive Indexing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14400" y="4434840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L0 Brute Force → L1 HNSW → L2 LSH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914400" y="4645152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Auto-promotes as data grows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663440" y="4160520"/>
            <a:ext cx="3749040" cy="77724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4663440" y="4160520"/>
            <a:ext cx="3749040" cy="36576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4846320" y="4233672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Temperature-Tiered Quantization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846320" y="4434840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Hot fp32 → Warm fp16 → Cold int8/binary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846320" y="4645152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data lifecycle management</a:t>
            </a:r>
            <a:endParaRPr lang="en-US" sz="1000" dirty="0"/>
          </a:p>
        </p:txBody>
      </p:sp>
      <p:pic>
        <p:nvPicPr>
          <p:cNvPr id="33" name="Picture 32" descr="deck-speed-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371600"/>
            <a:ext cx="3840480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31520" y="3200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Bio-Inspired Nervous System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metaphor — implemented computational neuroscience. 22.9K lines, 359 tests.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31520" y="1234440"/>
            <a:ext cx="7680960" cy="530352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731520" y="1234440"/>
            <a:ext cx="54864" cy="530352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005840" y="128016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Layer 1: SENSING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108960" y="1280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&lt;100ns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05840" y="1508760"/>
            <a:ext cx="7132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Lock-free ring buffers, 10K+ events/ms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731520" y="1892808"/>
            <a:ext cx="7680960" cy="530352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731520" y="1892808"/>
            <a:ext cx="54864" cy="530352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005840" y="1938528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A5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Layer 2: REFLEX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108960" y="1938528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A5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&lt;1µs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005840" y="2167128"/>
            <a:ext cx="7132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K-Winner-Take-All, dendritic coincidence detection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31520" y="2551176"/>
            <a:ext cx="7680960" cy="530352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731520" y="2551176"/>
            <a:ext cx="54864" cy="530352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1005840" y="2596896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Layer 3: MEMORY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108960" y="2596896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10³⁰ cap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005840" y="2825496"/>
            <a:ext cx="7132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Hyperdimensional Computing, XOR binding &lt;50ns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31520" y="3209544"/>
            <a:ext cx="7680960" cy="530352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731520" y="3209544"/>
            <a:ext cx="54864" cy="53035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1005840" y="3255264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Layer 4: LEARNING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108960" y="3255264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O(1)/synapse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005840" y="3483864"/>
            <a:ext cx="7132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BTSP one-shot, E-prop online, EWC++ anti-forgetting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731520" y="3867912"/>
            <a:ext cx="7680960" cy="530352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731520" y="3867912"/>
            <a:ext cx="54864" cy="530352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1005840" y="3913632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Layer 5: COHERENCE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108960" y="391363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40Hz gamma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005840" y="4142232"/>
            <a:ext cx="7132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Kuramoto oscillators, global workspace, predictive coding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731520" y="4526280"/>
            <a:ext cx="7680960" cy="365760"/>
          </a:xfrm>
          <a:prstGeom prst="rect">
            <a:avLst/>
          </a:prstGeom>
          <a:solidFill>
            <a:srgbClr val="1A2744"/>
          </a:solidFill>
          <a:ln/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914400" y="4526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Circadian Controller: 5-50x compute savings during quiet periods — the system sleeps when you do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31520" y="3200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 Composable Attention Mechanisms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Mix, compose, and stack. Every mechanism is a building block.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31520" y="1097280"/>
            <a:ext cx="2560320" cy="356616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731520" y="1097280"/>
            <a:ext cx="2560320" cy="36576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41248" y="1207008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Flash (2.49-7.47x)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841248" y="1467612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Multi-Head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28216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Multi-Query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41248" y="1988820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Grouped-Query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41248" y="2249424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Cross-Attention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41248" y="2510028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Self-Attention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41248" y="2770632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Causal / Masked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41248" y="3031236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Sliding Window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841248" y="3291840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Dilated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41248" y="3552444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Axial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41248" y="3813048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Linear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41248" y="4073652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Sparse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41248" y="4334256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Local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4720" y="1097280"/>
            <a:ext cx="2560320" cy="356616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3474720" y="1097280"/>
            <a:ext cx="2560320" cy="36576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3584448" y="1207008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A5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MinCut-Gated (50-90%)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3584448" y="1467612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A5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Hyperbolic (Poincaré)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3584448" y="1728216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A5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MoE Attention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584448" y="1988820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A5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NSA (Nvidia)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3584448" y="2249424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Longformer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584448" y="2510028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BigBird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584448" y="2770632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Performer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3584448" y="3031236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Reformer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584448" y="3291840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Linformer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584448" y="3552444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FNet (FFT)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3584448" y="3813048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Nyström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3584448" y="4073652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Random Feature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3584448" y="4334256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Routing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217920" y="1097280"/>
            <a:ext cx="2560320" cy="356616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36" name="Shape 34"/>
          <p:cNvSpPr/>
          <p:nvPr/>
        </p:nvSpPr>
        <p:spPr>
          <a:xfrm>
            <a:off x="6217920" y="1097280"/>
            <a:ext cx="2560320" cy="36576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6327648" y="1207008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GraphRoPE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6327648" y="1467612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Relative Position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327648" y="1728216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ALiBi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6327648" y="1988820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RoPE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6327648" y="2249424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Perceiver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327648" y="2510028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 Transformer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327648" y="2770632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Block-Sparse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327648" y="3031236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Low-Rank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6327648" y="3291840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Factored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327648" y="3552444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Memory-Augmented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6327648" y="3813048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Temporal Fusion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327648" y="4073652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Retentive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6327648" y="4334256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Differential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31520" y="4709160"/>
            <a:ext cx="7680960" cy="320040"/>
          </a:xfrm>
          <a:prstGeom prst="rect">
            <a:avLst/>
          </a:prstGeom>
          <a:solidFill>
            <a:srgbClr val="1A2744"/>
          </a:solidFill>
          <a:ln/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914400" y="47091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GraphRoPE: hop-distance-aware position embeddings for graph-structured data — a RuvNet original.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31520" y="3200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Prime Radiant: Formal Verification for AI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scores can be wrong. Mathematical proofs cannot.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1280160"/>
            <a:ext cx="2468880" cy="18288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731520" y="1280160"/>
            <a:ext cx="2468880" cy="36576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41248" y="13716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Cohomology Engine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64592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Sheaf Laplacian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41248" y="196596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statement consistency across knowledge domains. Detects contradictions invisible to statistical methods.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383280" y="1280160"/>
            <a:ext cx="2468880" cy="18288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3383280" y="1280160"/>
            <a:ext cx="2468880" cy="36576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493008" y="13716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A5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Spectral Engine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493008" y="164592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EA5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Eigenvalue Analysis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493008" y="196596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Decomposes reasoning chains into frequency components. Anomalous eigenvalues flag unsupported logical jumps.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035040" y="1280160"/>
            <a:ext cx="2468880" cy="18288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6035040" y="1280160"/>
            <a:ext cx="2468880" cy="36576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144768" y="13716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Causal Engine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144768" y="164592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Pearl's do-calculus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144768" y="196596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Distinguishes correlation from causation. Validates counterfactual reasoning using formal causal graphs.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31520" y="3337560"/>
            <a:ext cx="7680960" cy="822960"/>
          </a:xfrm>
          <a:prstGeom prst="rect">
            <a:avLst/>
          </a:prstGeom>
          <a:solidFill>
            <a:srgbClr val="1A1520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914400" y="33832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any engine disagrees → output flagged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14400" y="370332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independent mathematical frameworks must reach consensus before any output is marked as verified. This is formal verification, not confidence scoring. A 99.9% confidence score still hallucinates 1 in 1,000 times. Mathematical proof does not.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731520" y="43434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12-agent swarm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200400" y="43434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~35K LOC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212080" y="43434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verification engines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31520" y="47091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Deployed: production-grade anti-hallucination infrastructure.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31520" y="3200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AIMDS: Security via Chaos Theory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3-layer pipeline. Lyapunov chaos detection. Mathematical certainty, not heuristics.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31520" y="1234440"/>
            <a:ext cx="2468880" cy="201168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731520" y="1234440"/>
            <a:ext cx="2468880" cy="36576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41248" y="132588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LAYER 1: DETECTION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41248" y="16002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0.06ms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41248" y="2011680"/>
            <a:ext cx="2286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50+ detection patterns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Aho-Corasick matching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stream processing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83280" y="1234440"/>
            <a:ext cx="2468880" cy="201168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3383280" y="1234440"/>
            <a:ext cx="2468880" cy="36576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493008" y="132588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LAYER 2: ANALYSIS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493008" y="16002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80ms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3493008" y="2011680"/>
            <a:ext cx="2286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Lyapunov chaos detection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LTL policy verification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Behavioral divergence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35040" y="1234440"/>
            <a:ext cx="2468880" cy="201168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6035040" y="1234440"/>
            <a:ext cx="2468880" cy="36576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144768" y="132588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LAYER 3: RESPONSE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144768" y="16002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&lt;50ms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6144768" y="2011680"/>
            <a:ext cx="2286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adaptive strategies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25-level strange-loop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mitigation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3474720"/>
            <a:ext cx="7680960" cy="822960"/>
          </a:xfrm>
          <a:prstGeom prst="rect">
            <a:avLst/>
          </a:prstGeom>
          <a:solidFill>
            <a:srgbClr val="1A1520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914400" y="35204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Lyapunov Chaos Detection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14400" y="37947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Lyapunov exponent = system diverging from expected behavior = adversarial. Same mathematics that predicts weather chaos. Detects novel attacks without pattern libraries.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731520" y="44348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782KB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731520" y="470916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Size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2834640" y="44348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&gt;12K/s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2834640" y="470916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Requests/Sec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937760" y="44348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&lt;5%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4937760" y="470916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Positive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040880" y="44348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0.06ms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7040880" y="470916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Time</a:t>
            </a:r>
            <a:endParaRPr lang="en-US" sz="900" dirty="0"/>
          </a:p>
        </p:txBody>
      </p:sp>
      <p:pic>
        <p:nvPicPr>
          <p:cNvPr id="31" name="Picture 30" descr="card-aim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371600"/>
            <a:ext cx="3840480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31520" y="3200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SONA + ReasoningBank: Real-Time Learning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decision makes the system smarter. Automatically. &lt;1ms. $0.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1234440"/>
            <a:ext cx="3749040" cy="1463040"/>
          </a:xfrm>
          <a:prstGeom prst="rect">
            <a:avLst/>
          </a:prstGeom>
          <a:solidFill>
            <a:srgbClr val="0D2A2E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731520" y="1234440"/>
            <a:ext cx="3749040" cy="36576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914400" y="132588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SONA: Two-Tier LoRA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14400" y="1600200"/>
            <a:ext cx="3383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MicroLoRA (rank-2, ~45µs): instant reactions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BaseLoRA (rank-16, ~500µs): deep learning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 cost, &lt;1ms latency, zero downtime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EWC++ prevents catastrophic forgetting (45% less)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663440" y="1234440"/>
            <a:ext cx="3749040" cy="1463040"/>
          </a:xfrm>
          <a:prstGeom prst="rect">
            <a:avLst/>
          </a:prstGeom>
          <a:solidFill>
            <a:srgbClr val="1A1520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749040" cy="36576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846320" y="132588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Traditional Fine-Tuning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46320" y="1600200"/>
            <a:ext cx="3383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to weeks of training time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$1K-$100K per fine-tune cycle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scheduled downtime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Catastrophic forgetting on new domains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31520" y="2926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ReasoningBank 4-Step Pipeline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31520" y="3291840"/>
            <a:ext cx="1874520" cy="64008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822960" y="3319272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RETRIEVE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22960" y="356616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HNSW search for similar past decisions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2606040" y="3291840"/>
            <a:ext cx="182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▶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788920" y="3291840"/>
            <a:ext cx="1874520" cy="64008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2880360" y="3319272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JUDGE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880360" y="356616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verdicts based on outcomes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663440" y="3291840"/>
            <a:ext cx="182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▶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846320" y="3291840"/>
            <a:ext cx="1874520" cy="64008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4937760" y="3319272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DISTILL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937760" y="356616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Micro-LoRA pattern extraction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6720840" y="3291840"/>
            <a:ext cx="182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▶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903720" y="3291840"/>
            <a:ext cx="1874520" cy="64008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6995160" y="3319272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 CONSOLIDATE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995160" y="356616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EWC++ prevents forgetting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731520" y="41605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300x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731520" y="448056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Retrieval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2834640" y="41605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2,211/s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2834640" y="448056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SIMD Ops/Sec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937760" y="41605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+55%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4937760" y="448056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Improvement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040880" y="41605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$0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7040880" y="448056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Cost</a:t>
            </a:r>
            <a:endParaRPr lang="en-US" sz="1000" dirty="0"/>
          </a:p>
        </p:txBody>
      </p:sp>
      <p:pic>
        <p:nvPicPr>
          <p:cNvPr id="37" name="Picture 36" descr="deck-speed-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371600"/>
            <a:ext cx="3840480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31520" y="3200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RuVector: PostgreSQL-Native Vector Search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separate vector database. A PostgreSQL extension. ACID transactions on vector operations.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31520" y="1234440"/>
            <a:ext cx="3749040" cy="22860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731520" y="1234440"/>
            <a:ext cx="3749040" cy="36576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914400" y="132588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A5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Core Capabilities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4400" y="1691640"/>
            <a:ext cx="33832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290+ SQL functions in-process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HNSW indexing (61µs search latency)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Drop-in pgvector replacement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ACID transactions on vector ops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Joins vectors with relational data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80+ Rust crates for extensions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Progressive indexing (L0/L1/L2)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663440" y="1234440"/>
            <a:ext cx="3749040" cy="22860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749040" cy="36576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846320" y="132588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RVCOW: Multi-Tenant Economics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846320" y="169164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512MB parent + 1,000 tenants = ~2.5MB/tenant</a:t>
            </a:r>
            <a:endParaRPr lang="en-US" sz="11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46320" y="2103120"/>
          <a:ext cx="338328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97280"/>
                <a:gridCol w="1188720"/>
              </a:tblGrid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6B6D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Approach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6B6D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Storage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6B6D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Cost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Copy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512GB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$51,200/mo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RVCOW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~2.5GB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$250/mo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Savings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14" name="Text 11"/>
          <p:cNvSpPr/>
          <p:nvPr/>
        </p:nvSpPr>
        <p:spPr>
          <a:xfrm>
            <a:off x="4846320" y="320040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COW branch creation: </a:t>
            </a:r>
            <a:pPr indent="0" marL="0">
              <a:buNone/>
            </a:pPr>
            <a:r>
              <a:rPr lang="en-US" sz="1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2.6ms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CowMap cluster lookup: </a:t>
            </a:r>
            <a:pPr indent="0" marL="0">
              <a:buNone/>
            </a:pPr>
            <a:r>
              <a:rPr lang="en-US" sz="1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28ns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731520" y="37947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61µs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731520" y="406908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HNSW Search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2834640" y="37947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8,000x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2834640" y="406908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Pinecone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4937760" y="37947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290+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4937760" y="406908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Functions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7040880" y="37947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200x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7040880" y="406908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COW Savings</a:t>
            </a:r>
            <a:endParaRPr lang="en-US" sz="1000" dirty="0"/>
          </a:p>
        </p:txBody>
      </p:sp>
      <p:pic>
        <p:nvPicPr>
          <p:cNvPr id="23" name="Picture 22" descr="deck-speed-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371600"/>
            <a:ext cx="3840480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31520" y="3200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Graph Analytics: MinCut + GNN + HNSW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Stoer-Wagner algorithm. 448+ tests. Production graph intelligence.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31520" y="1234440"/>
            <a:ext cx="3749040" cy="210312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731520" y="1234440"/>
            <a:ext cx="3749040" cy="36576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914400" y="132588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MinCut Applications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14400" y="1645920"/>
            <a:ext cx="33832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architectural bottlenecks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Identifying weak points in distributed systems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Detecting natural module boundaries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Measuring attack surface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Swarm topology optimization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Anti-pattern detection via absence analysis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663440" y="1234440"/>
            <a:ext cx="3749040" cy="210312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749040" cy="36576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846320" y="132588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A5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GNN on HNSW Topology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46320" y="1645920"/>
            <a:ext cx="33832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GCN, GAT, GraphSAGE implementations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GraphRoPE: hop-distance-aware embeddings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Louvain community detection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Spectral clustering (K-way)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Bridge/articulation point detection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MinCut for real-time health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31520" y="3566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Industry Proof Points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31520" y="3886200"/>
            <a:ext cx="2468880" cy="640080"/>
          </a:xfrm>
          <a:prstGeom prst="rect">
            <a:avLst/>
          </a:prstGeom>
          <a:solidFill>
            <a:srgbClr val="1A2744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822960" y="391363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Pinterest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22960" y="409651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150% hit-rate improvement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22960" y="427939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Graph-based recommendation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383280" y="3886200"/>
            <a:ext cx="2468880" cy="640080"/>
          </a:xfrm>
          <a:prstGeom prst="rect">
            <a:avLst/>
          </a:prstGeom>
          <a:solidFill>
            <a:srgbClr val="1A2744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3474720" y="391363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Google Maps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474720" y="409651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 better ETA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474720" y="427939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routing optimization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035040" y="3886200"/>
            <a:ext cx="2468880" cy="640080"/>
          </a:xfrm>
          <a:prstGeom prst="rect">
            <a:avLst/>
          </a:prstGeom>
          <a:solidFill>
            <a:srgbClr val="1A2744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126480" y="391363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Uber Eats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126480" y="409651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20%+ engagement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126480" y="427939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Graph-ranked discovery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31520" y="46634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448+ tests</a:t>
            </a:r>
            <a:endParaRPr lang="en-US" sz="1200" dirty="0"/>
          </a:p>
        </p:txBody>
      </p:sp>
      <p:pic>
        <p:nvPicPr>
          <p:cNvPr id="27" name="Picture 26" descr="deck-speed-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371600"/>
            <a:ext cx="3840480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pic>
        <p:nvPicPr>
          <p:cNvPr id="3" name="Image 0" descr="/Users/stuartkerr/Code/Ask-Ruvnet/Ask-Ruvnet/docs/presentations/images/04-code-terminal.pn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2743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Ship It In 5 Lines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731520" y="685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multi-agent swarms. Self-learning. Self-healing. One require statement.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051560"/>
            <a:ext cx="8046720" cy="3337560"/>
          </a:xfrm>
          <a:prstGeom prst="rect">
            <a:avLst/>
          </a:prstGeom>
          <a:solidFill>
            <a:srgbClr val="151E2E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548640" y="1051560"/>
            <a:ext cx="8046720" cy="36576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822960" y="1143000"/>
            <a:ext cx="7498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</a:t>
            </a:r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ruflo = </a:t>
            </a:r>
            <a:pPr indent="0" marL="0">
              <a:buNone/>
            </a:pPr>
            <a:r>
              <a:rPr lang="en-US" sz="10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require</a:t>
            </a:r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'ruflo'</a:t>
            </a:r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822960" y="1417320"/>
            <a:ext cx="7498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Initialize a self-healing agent swarm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822960" y="1600200"/>
            <a:ext cx="7498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</a:t>
            </a:r>
            <a:pPr indent="0" marL="0">
              <a:buNone/>
            </a:pPr>
            <a:r>
              <a:rPr lang="en-US" sz="1000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swarm</a:t>
            </a:r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ruflo.swarm.</a:t>
            </a:r>
            <a:pPr indent="0" marL="0">
              <a:buNone/>
            </a:pPr>
            <a:r>
              <a:rPr lang="en-US" sz="10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init</a:t>
            </a:r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({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22960" y="1783080"/>
            <a:ext cx="7498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topology: </a:t>
            </a:r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'hierarchical'</a:t>
            </a:r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agents: </a:t>
            </a:r>
            <a:pPr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strategy: </a:t>
            </a:r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'specialized'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822960" y="1965960"/>
            <a:ext cx="7498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});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822960" y="2212848"/>
            <a:ext cx="7498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Deploy 51 autonomous agents in one command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822960" y="2395728"/>
            <a:ext cx="7498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</a:t>
            </a:r>
            <a:pPr indent="0" marL="0">
              <a:buNone/>
            </a:pPr>
            <a:r>
              <a:rPr lang="en-US" sz="1000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fleet</a:t>
            </a:r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swarm.</a:t>
            </a:r>
            <a:pPr indent="0" marL="0">
              <a:buNone/>
            </a:pPr>
            <a:r>
              <a:rPr lang="en-US" sz="10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deploy</a:t>
            </a:r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({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22960" y="2578608"/>
            <a:ext cx="7498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domains: [</a:t>
            </a:r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'billing'</a:t>
            </a:r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'compliance'</a:t>
            </a:r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'support'</a:t>
            </a:r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],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822960" y="2761488"/>
            <a:ext cx="7498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memory: </a:t>
            </a:r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'persistent'</a:t>
            </a:r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      </a:t>
            </a:r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AgentDB - agents remember everything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822960" y="2944368"/>
            <a:ext cx="7498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security: </a:t>
            </a:r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'aimds'</a:t>
            </a:r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         </a:t>
            </a:r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Chaos theory threat detection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822960" y="3127248"/>
            <a:ext cx="7498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runtime: </a:t>
            </a:r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'rvf-wasm'</a:t>
            </a:r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5.5KB - runs anywhere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822960" y="3310128"/>
            <a:ext cx="7498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});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822960" y="3538728"/>
            <a:ext cx="7498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fleet</a:t>
            </a:r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</a:t>
            </a:r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'resolution'</a:t>
            </a:r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(</a:t>
            </a:r>
            <a:pPr indent="0" marL="0">
              <a:buNone/>
            </a:pPr>
            <a:r>
              <a:rPr lang="en-US" sz="1000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</a:t>
            </a:r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=&gt; {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822960" y="3721608"/>
            <a:ext cx="7498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SONA generates LoRA adapters automatically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822960" y="3858768"/>
            <a:ext cx="7498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Your AI gets smarter. Zero cost. Zero effort.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822960" y="4041648"/>
            <a:ext cx="7498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});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548640" y="4297680"/>
            <a:ext cx="8046720" cy="457200"/>
          </a:xfrm>
          <a:prstGeom prst="rect">
            <a:avLst/>
          </a:prstGeom>
          <a:solidFill>
            <a:srgbClr val="1A2744"/>
          </a:solidFill>
          <a:ln/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731520" y="42976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shipped sub-agents in March 2026. Ruflo shipped this in August 2025. 8 months earlier.</a:t>
            </a:r>
            <a:endParaRPr lang="en-US" sz="1300" dirty="0"/>
          </a:p>
        </p:txBody>
      </p:sp>
      <p:pic>
        <p:nvPicPr>
          <p:cNvPr id="26" name="Picture 25" descr="card-rufl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1371600"/>
            <a:ext cx="3840480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31520" y="3200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Performance Benchmarks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results against best-in-class competitors.</a:t>
            </a:r>
            <a:endParaRPr lang="en-US" sz="1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234440"/>
          <a:ext cx="76809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645920"/>
                <a:gridCol w="2194560"/>
                <a:gridCol w="182880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6B6D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Metric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6B6D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RuvNet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94A3B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Best Competitor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59E0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Advantage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HNSW Search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6B6D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61µs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500ms+ (Pinecone)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59E0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8,000x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Fox Flow QPS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6B6D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12.8M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3K (Redis)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59E0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4,000x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Detection Time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6B6D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0.06ms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~10ms (rule-based)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59E0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167x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WASM Runtime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6B6D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5.5KB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100MB+ (containers)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59E0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18,000x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Learning Latency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6B6D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&lt;1ms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Days-weeks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59E0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&gt;86Mx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Scale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6B6D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100K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~10-50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59E0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2,000x+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SWE-Bench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6B6D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84.8%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33.2% (GPT-4o)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59E0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2.5x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31520" y="38404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8,000x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731520" y="416052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Search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2834640" y="38404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4,000x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2834640" y="416052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 Processing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4937760" y="38404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167x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4937760" y="416052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 Detection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7040880" y="38404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18,000x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7040880" y="416052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Smaller Runtime</a:t>
            </a:r>
            <a:endParaRPr lang="en-US" sz="1000" dirty="0"/>
          </a:p>
        </p:txBody>
      </p:sp>
      <p:pic>
        <p:nvPicPr>
          <p:cNvPr id="18" name="Picture 17" descr="deck-speed-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371600"/>
            <a:ext cx="3840480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31520" y="3200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Integration Architecture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protocol. PostgreSQL-native. Drop-in pgvector replacement.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31520" y="1188720"/>
            <a:ext cx="3749040" cy="164592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731520" y="1188720"/>
            <a:ext cx="3749040" cy="36576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914400" y="128016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MCP Protocol: 96 Tools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14400" y="1600200"/>
            <a:ext cx="3383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Deferred loading for performance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orchestration + memory + search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management + workflow engine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scanning + graph analytics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663440" y="1188720"/>
            <a:ext cx="3749040" cy="164592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4663440" y="1188720"/>
            <a:ext cx="3749040" cy="36576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846320" y="128016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A5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PostgreSQL-Native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46320" y="1600200"/>
            <a:ext cx="3383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separate vector database deployment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290+ SQL functions in-process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ACID transactions on vector ops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Drop-in pgvector migration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31520" y="31089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APIs, SDKs &amp; Integration Points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31520" y="3474720"/>
            <a:ext cx="2468880" cy="411480"/>
          </a:xfrm>
          <a:prstGeom prst="rect">
            <a:avLst/>
          </a:prstGeom>
          <a:solidFill>
            <a:srgbClr val="1A2744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822960" y="352044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REST API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011680" y="35204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HTTP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383280" y="3474720"/>
            <a:ext cx="2468880" cy="411480"/>
          </a:xfrm>
          <a:prstGeom prst="rect">
            <a:avLst/>
          </a:prstGeom>
          <a:solidFill>
            <a:srgbClr val="1A2744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3474720" y="352044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gRPC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663440" y="35204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High-perf binary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035040" y="3474720"/>
            <a:ext cx="2468880" cy="411480"/>
          </a:xfrm>
          <a:prstGeom prst="rect">
            <a:avLst/>
          </a:prstGeom>
          <a:solidFill>
            <a:srgbClr val="1A2744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126480" y="352044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TypeScript SDK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315200" y="35204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type safety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31520" y="4023360"/>
            <a:ext cx="2468880" cy="411480"/>
          </a:xfrm>
          <a:prstGeom prst="rect">
            <a:avLst/>
          </a:prstGeom>
          <a:solidFill>
            <a:srgbClr val="1A2744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822960" y="406908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SDK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011680" y="40690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pipelines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383280" y="4023360"/>
            <a:ext cx="2468880" cy="411480"/>
          </a:xfrm>
          <a:prstGeom prst="rect">
            <a:avLst/>
          </a:prstGeom>
          <a:solidFill>
            <a:srgbClr val="1A2744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3474720" y="406908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WASM SDK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663440" y="40690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Client-side search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035040" y="4023360"/>
            <a:ext cx="2468880" cy="411480"/>
          </a:xfrm>
          <a:prstGeom prst="rect">
            <a:avLst/>
          </a:prstGeom>
          <a:solidFill>
            <a:srgbClr val="1A2744"/>
          </a:solidFill>
          <a:ln/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6126480" y="406908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Webhooks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7315200" y="40690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Event-driven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31520" y="4617720"/>
            <a:ext cx="7680960" cy="365760"/>
          </a:xfrm>
          <a:prstGeom prst="rect">
            <a:avLst/>
          </a:prstGeom>
          <a:solidFill>
            <a:srgbClr val="0D2A2E"/>
          </a:solidFill>
          <a:ln/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914400" y="4617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96 MCP Tools  |  290+ SQL Functions  |  Drop-in pgvector  |  49+ npm Packages</a:t>
            </a:r>
            <a:endParaRPr lang="en-US" sz="1100" dirty="0"/>
          </a:p>
        </p:txBody>
      </p:sp>
      <p:pic>
        <p:nvPicPr>
          <p:cNvPr id="34" name="Picture 33" descr="card-aim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371600"/>
            <a:ext cx="3840480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31520" y="3200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Implementation Roadmap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zero to production in 3 months. Incremental value at every phase.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1234440"/>
            <a:ext cx="1874520" cy="292608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731520" y="1234440"/>
            <a:ext cx="1874520" cy="36576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22960" y="132588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1: Foundation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22960" y="1600200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1-2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22960" y="1920240"/>
            <a:ext cx="16916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RuVector PostgreSQL extension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AIMDS security middleware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agent deployment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HNSW index configuration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788920" y="1234440"/>
            <a:ext cx="1874520" cy="292608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2788920" y="1234440"/>
            <a:ext cx="1874520" cy="36576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2880360" y="132588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A5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2: Intelligence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880360" y="1600200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3-4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880360" y="1920240"/>
            <a:ext cx="16916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AgentDB memory (4 types)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ReasoningBank + SONA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Ruflo orchestration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tool integration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846320" y="1234440"/>
            <a:ext cx="1874520" cy="292608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4846320" y="1234440"/>
            <a:ext cx="1874520" cy="36576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937760" y="132588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3: Customize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937760" y="1600200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2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937760" y="1920240"/>
            <a:ext cx="16916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agent development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Domain-specific LoRA training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analytics deployment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tuning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903720" y="1234440"/>
            <a:ext cx="1874520" cy="292608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6903720" y="1234440"/>
            <a:ext cx="1874520" cy="36576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6995160" y="132588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4: Scale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995160" y="1600200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3+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995160" y="1920240"/>
            <a:ext cx="16916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scaling + monitoring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WASM edge deployment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 RVCOW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swarm topologies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731520" y="4343400"/>
            <a:ext cx="7680960" cy="411480"/>
          </a:xfrm>
          <a:prstGeom prst="rect">
            <a:avLst/>
          </a:prstGeom>
          <a:solidFill>
            <a:srgbClr val="1A2744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914400" y="434340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phase delivers standalone value. No big-bang migration required.</a:t>
            </a:r>
            <a:endParaRPr lang="en-US" sz="1200" dirty="0"/>
          </a:p>
        </p:txBody>
      </p:sp>
      <p:pic>
        <p:nvPicPr>
          <p:cNvPr id="27" name="Picture 26" descr="deck-speed-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371600"/>
            <a:ext cx="3840480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31520" y="9144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6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RUVNET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8FA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Schedule a 30-Minute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8FA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 Review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31520" y="30175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148+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333756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Capabilities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743200" y="30175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2743200" y="333756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754880" y="30175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80+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754880" y="333756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Rust Crates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766560" y="30175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290+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6766560" y="333756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Functions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31520" y="37033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A5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39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31520" y="397764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 Mechanisms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743200" y="37033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A5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2743200" y="397764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 Algorithms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754880" y="37033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A5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4754880" y="397764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Bio-Inspired Layers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766560" y="37033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A5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6766560" y="397764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RVF Segment Types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31520" y="429768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standard deviations beyond state of the art. Open source. Free.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31520" y="47091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ruvnet.com  |  hello@ruvnet.com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RuvNet CTO Architecture Deep Dive</dc:title>
  <dc:subject>PptxGenJS Presentation</dc:subject>
  <dc:creator>RuvNet</dc:creator>
  <cp:lastModifiedBy>RuvNet</cp:lastModifiedBy>
  <cp:revision>1</cp:revision>
  <dcterms:created xsi:type="dcterms:W3CDTF">2026-03-13T20:39:36Z</dcterms:created>
  <dcterms:modified xsi:type="dcterms:W3CDTF">2026-03-13T20:39:36Z</dcterms:modified>
</cp:coreProperties>
</file>