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6B6D4"/>
          </a:solidFill>
          <a:ln/>
        </p:spPr>
      </p:sp>
      <p:sp>
        <p:nvSpPr>
          <p:cNvPr id="3" name="Text 1"/>
          <p:cNvSpPr/>
          <p:nvPr/>
        </p:nvSpPr>
        <p:spPr>
          <a:xfrm>
            <a:off x="731520" y="731520"/>
            <a:ext cx="7680960" cy="457200"/>
          </a:xfrm>
          <a:prstGeom prst="rect">
            <a:avLst/>
          </a:prstGeom>
          <a:noFill/>
          <a:ln/>
        </p:spPr>
        <p:txBody>
          <a:bodyPr wrap="square" lIns="0" tIns="0" rIns="0" bIns="0" rtlCol="0" anchor="ctr"/>
          <a:lstStyle/>
          <a:p>
            <a:pPr indent="0" marL="0">
              <a:buNone/>
            </a:pPr>
            <a:r>
              <a:rPr lang="en-US" sz="1600" spc="600" kern="0" dirty="0">
                <a:solidFill>
                  <a:srgbClr val="06B6D4"/>
                </a:solidFill>
                <a:latin typeface="Consolas" pitchFamily="34" charset="0"/>
                <a:ea typeface="Consolas" pitchFamily="34" charset="-122"/>
                <a:cs typeface="Consolas" pitchFamily="34" charset="-120"/>
              </a:rPr>
              <a:t>RUVNET</a:t>
            </a:r>
            <a:endParaRPr lang="en-US" sz="1600" dirty="0"/>
          </a:p>
        </p:txBody>
      </p:sp>
      <p:sp>
        <p:nvSpPr>
          <p:cNvPr id="4" name="Text 2"/>
          <p:cNvSpPr/>
          <p:nvPr/>
        </p:nvSpPr>
        <p:spPr>
          <a:xfrm>
            <a:off x="731520" y="1371600"/>
            <a:ext cx="7680960" cy="1280160"/>
          </a:xfrm>
          <a:prstGeom prst="rect">
            <a:avLst/>
          </a:prstGeom>
          <a:noFill/>
          <a:ln/>
        </p:spPr>
        <p:txBody>
          <a:bodyPr wrap="square" lIns="0" tIns="0" rIns="0" bIns="0" rtlCol="0" anchor="ctr"/>
          <a:lstStyle/>
          <a:p>
            <a:pPr indent="0" marL="0">
              <a:buNone/>
            </a:pPr>
            <a:r>
              <a:rPr lang="en-US" sz="4400" b="1" dirty="0">
                <a:solidFill>
                  <a:srgbClr val="F8FAFC"/>
                </a:solidFill>
                <a:latin typeface="Cambria" pitchFamily="34" charset="0"/>
                <a:ea typeface="Cambria" pitchFamily="34" charset="-122"/>
                <a:cs typeface="Cambria" pitchFamily="34" charset="-120"/>
              </a:rPr>
              <a:t>Technical Architecture</a:t>
            </a:r>
            <a:endParaRPr lang="en-US" sz="4400" dirty="0"/>
          </a:p>
          <a:p>
            <a:pPr indent="0" marL="0">
              <a:buNone/>
            </a:pPr>
            <a:r>
              <a:rPr lang="en-US" sz="4400" b="1" dirty="0">
                <a:solidFill>
                  <a:srgbClr val="F8FAFC"/>
                </a:solidFill>
                <a:latin typeface="Cambria" pitchFamily="34" charset="0"/>
                <a:ea typeface="Cambria" pitchFamily="34" charset="-122"/>
                <a:cs typeface="Cambria" pitchFamily="34" charset="-120"/>
              </a:rPr>
              <a:t>Deep Dive</a:t>
            </a:r>
            <a:endParaRPr lang="en-US" sz="4400" dirty="0"/>
          </a:p>
        </p:txBody>
      </p:sp>
      <p:sp>
        <p:nvSpPr>
          <p:cNvPr id="5" name="Text 3"/>
          <p:cNvSpPr/>
          <p:nvPr/>
        </p:nvSpPr>
        <p:spPr>
          <a:xfrm>
            <a:off x="731520" y="2743200"/>
            <a:ext cx="6400800" cy="457200"/>
          </a:xfrm>
          <a:prstGeom prst="rect">
            <a:avLst/>
          </a:prstGeom>
          <a:noFill/>
          <a:ln/>
        </p:spPr>
        <p:txBody>
          <a:bodyPr wrap="square" lIns="0" tIns="0" rIns="0" bIns="0" rtlCol="0" anchor="ctr"/>
          <a:lstStyle/>
          <a:p>
            <a:pPr indent="0" marL="0">
              <a:buNone/>
            </a:pPr>
            <a:r>
              <a:rPr lang="en-US" sz="1600" dirty="0">
                <a:solidFill>
                  <a:srgbClr val="94A3B8"/>
                </a:solidFill>
                <a:latin typeface="Calibri" pitchFamily="34" charset="0"/>
                <a:ea typeface="Calibri" pitchFamily="34" charset="-122"/>
                <a:cs typeface="Calibri" pitchFamily="34" charset="-120"/>
              </a:rPr>
              <a:t>148 capabilities across 14 modules. Production-grade agentic infrastructure.</a:t>
            </a:r>
            <a:endParaRPr lang="en-US" sz="1600" dirty="0"/>
          </a:p>
        </p:txBody>
      </p:sp>
      <p:sp>
        <p:nvSpPr>
          <p:cNvPr id="6" name="Text 4"/>
          <p:cNvSpPr/>
          <p:nvPr/>
        </p:nvSpPr>
        <p:spPr>
          <a:xfrm>
            <a:off x="731520" y="3840480"/>
            <a:ext cx="1828800" cy="411480"/>
          </a:xfrm>
          <a:prstGeom prst="rect">
            <a:avLst/>
          </a:prstGeom>
          <a:noFill/>
          <a:ln/>
        </p:spPr>
        <p:txBody>
          <a:bodyPr wrap="square" lIns="0" tIns="0" rIns="0" bIns="0" rtlCol="0" anchor="ctr"/>
          <a:lstStyle/>
          <a:p>
            <a:pPr indent="0" marL="0">
              <a:buNone/>
            </a:pPr>
            <a:r>
              <a:rPr lang="en-US" sz="2400" b="1" dirty="0">
                <a:solidFill>
                  <a:srgbClr val="06B6D4"/>
                </a:solidFill>
                <a:latin typeface="Consolas" pitchFamily="34" charset="0"/>
                <a:ea typeface="Consolas" pitchFamily="34" charset="-122"/>
                <a:cs typeface="Consolas" pitchFamily="34" charset="-120"/>
              </a:rPr>
              <a:t>80+</a:t>
            </a:r>
            <a:endParaRPr lang="en-US" sz="2400" dirty="0"/>
          </a:p>
        </p:txBody>
      </p:sp>
      <p:sp>
        <p:nvSpPr>
          <p:cNvPr id="7" name="Text 5"/>
          <p:cNvSpPr/>
          <p:nvPr/>
        </p:nvSpPr>
        <p:spPr>
          <a:xfrm>
            <a:off x="731520" y="4206240"/>
            <a:ext cx="1828800" cy="228600"/>
          </a:xfrm>
          <a:prstGeom prst="rect">
            <a:avLst/>
          </a:prstGeom>
          <a:noFill/>
          <a:ln/>
        </p:spPr>
        <p:txBody>
          <a:bodyPr wrap="square" lIns="0" tIns="0" rIns="0" bIns="0" rtlCol="0" anchor="ctr"/>
          <a:lstStyle/>
          <a:p>
            <a:pPr indent="0" marL="0">
              <a:buNone/>
            </a:pPr>
            <a:r>
              <a:rPr lang="en-US" sz="1000" dirty="0">
                <a:solidFill>
                  <a:srgbClr val="94A3B8"/>
                </a:solidFill>
                <a:latin typeface="Calibri" pitchFamily="34" charset="0"/>
                <a:ea typeface="Calibri" pitchFamily="34" charset="-122"/>
                <a:cs typeface="Calibri" pitchFamily="34" charset="-120"/>
              </a:rPr>
              <a:t>Rust Crates</a:t>
            </a:r>
            <a:endParaRPr lang="en-US" sz="1000" dirty="0"/>
          </a:p>
        </p:txBody>
      </p:sp>
      <p:sp>
        <p:nvSpPr>
          <p:cNvPr id="8" name="Text 6"/>
          <p:cNvSpPr/>
          <p:nvPr/>
        </p:nvSpPr>
        <p:spPr>
          <a:xfrm>
            <a:off x="2743200" y="3840480"/>
            <a:ext cx="1828800" cy="411480"/>
          </a:xfrm>
          <a:prstGeom prst="rect">
            <a:avLst/>
          </a:prstGeom>
          <a:noFill/>
          <a:ln/>
        </p:spPr>
        <p:txBody>
          <a:bodyPr wrap="square" lIns="0" tIns="0" rIns="0" bIns="0" rtlCol="0" anchor="ctr"/>
          <a:lstStyle/>
          <a:p>
            <a:pPr indent="0" marL="0">
              <a:buNone/>
            </a:pPr>
            <a:r>
              <a:rPr lang="en-US" sz="2400" b="1" dirty="0">
                <a:solidFill>
                  <a:srgbClr val="06B6D4"/>
                </a:solidFill>
                <a:latin typeface="Consolas" pitchFamily="34" charset="0"/>
                <a:ea typeface="Consolas" pitchFamily="34" charset="-122"/>
                <a:cs typeface="Consolas" pitchFamily="34" charset="-120"/>
              </a:rPr>
              <a:t>290+</a:t>
            </a:r>
            <a:endParaRPr lang="en-US" sz="2400" dirty="0"/>
          </a:p>
        </p:txBody>
      </p:sp>
      <p:sp>
        <p:nvSpPr>
          <p:cNvPr id="9" name="Text 7"/>
          <p:cNvSpPr/>
          <p:nvPr/>
        </p:nvSpPr>
        <p:spPr>
          <a:xfrm>
            <a:off x="2743200" y="4206240"/>
            <a:ext cx="1828800" cy="228600"/>
          </a:xfrm>
          <a:prstGeom prst="rect">
            <a:avLst/>
          </a:prstGeom>
          <a:noFill/>
          <a:ln/>
        </p:spPr>
        <p:txBody>
          <a:bodyPr wrap="square" lIns="0" tIns="0" rIns="0" bIns="0" rtlCol="0" anchor="ctr"/>
          <a:lstStyle/>
          <a:p>
            <a:pPr indent="0" marL="0">
              <a:buNone/>
            </a:pPr>
            <a:r>
              <a:rPr lang="en-US" sz="1000" dirty="0">
                <a:solidFill>
                  <a:srgbClr val="94A3B8"/>
                </a:solidFill>
                <a:latin typeface="Calibri" pitchFamily="34" charset="0"/>
                <a:ea typeface="Calibri" pitchFamily="34" charset="-122"/>
                <a:cs typeface="Calibri" pitchFamily="34" charset="-120"/>
              </a:rPr>
              <a:t>SQL Functions</a:t>
            </a:r>
            <a:endParaRPr lang="en-US" sz="1000" dirty="0"/>
          </a:p>
        </p:txBody>
      </p:sp>
      <p:sp>
        <p:nvSpPr>
          <p:cNvPr id="10" name="Text 8"/>
          <p:cNvSpPr/>
          <p:nvPr/>
        </p:nvSpPr>
        <p:spPr>
          <a:xfrm>
            <a:off x="4754880" y="3840480"/>
            <a:ext cx="1828800" cy="411480"/>
          </a:xfrm>
          <a:prstGeom prst="rect">
            <a:avLst/>
          </a:prstGeom>
          <a:noFill/>
          <a:ln/>
        </p:spPr>
        <p:txBody>
          <a:bodyPr wrap="square" lIns="0" tIns="0" rIns="0" bIns="0" rtlCol="0" anchor="ctr"/>
          <a:lstStyle/>
          <a:p>
            <a:pPr indent="0" marL="0">
              <a:buNone/>
            </a:pPr>
            <a:r>
              <a:rPr lang="en-US" sz="2400" b="1" dirty="0">
                <a:solidFill>
                  <a:srgbClr val="06B6D4"/>
                </a:solidFill>
                <a:latin typeface="Consolas" pitchFamily="34" charset="0"/>
                <a:ea typeface="Consolas" pitchFamily="34" charset="-122"/>
                <a:cs typeface="Consolas" pitchFamily="34" charset="-120"/>
              </a:rPr>
              <a:t>39</a:t>
            </a:r>
            <a:endParaRPr lang="en-US" sz="2400" dirty="0"/>
          </a:p>
        </p:txBody>
      </p:sp>
      <p:sp>
        <p:nvSpPr>
          <p:cNvPr id="11" name="Text 9"/>
          <p:cNvSpPr/>
          <p:nvPr/>
        </p:nvSpPr>
        <p:spPr>
          <a:xfrm>
            <a:off x="4754880" y="4206240"/>
            <a:ext cx="1828800" cy="228600"/>
          </a:xfrm>
          <a:prstGeom prst="rect">
            <a:avLst/>
          </a:prstGeom>
          <a:noFill/>
          <a:ln/>
        </p:spPr>
        <p:txBody>
          <a:bodyPr wrap="square" lIns="0" tIns="0" rIns="0" bIns="0" rtlCol="0" anchor="ctr"/>
          <a:lstStyle/>
          <a:p>
            <a:pPr indent="0" marL="0">
              <a:buNone/>
            </a:pPr>
            <a:r>
              <a:rPr lang="en-US" sz="1000" dirty="0">
                <a:solidFill>
                  <a:srgbClr val="94A3B8"/>
                </a:solidFill>
                <a:latin typeface="Calibri" pitchFamily="34" charset="0"/>
                <a:ea typeface="Calibri" pitchFamily="34" charset="-122"/>
                <a:cs typeface="Calibri" pitchFamily="34" charset="-120"/>
              </a:rPr>
              <a:t>Attention Mechanisms</a:t>
            </a:r>
            <a:endParaRPr lang="en-US" sz="1000" dirty="0"/>
          </a:p>
        </p:txBody>
      </p:sp>
      <p:sp>
        <p:nvSpPr>
          <p:cNvPr id="12" name="Text 10"/>
          <p:cNvSpPr/>
          <p:nvPr/>
        </p:nvSpPr>
        <p:spPr>
          <a:xfrm>
            <a:off x="6766560" y="3840480"/>
            <a:ext cx="1828800" cy="411480"/>
          </a:xfrm>
          <a:prstGeom prst="rect">
            <a:avLst/>
          </a:prstGeom>
          <a:noFill/>
          <a:ln/>
        </p:spPr>
        <p:txBody>
          <a:bodyPr wrap="square" lIns="0" tIns="0" rIns="0" bIns="0" rtlCol="0" anchor="ctr"/>
          <a:lstStyle/>
          <a:p>
            <a:pPr indent="0" marL="0">
              <a:buNone/>
            </a:pPr>
            <a:r>
              <a:rPr lang="en-US" sz="2400" b="1" dirty="0">
                <a:solidFill>
                  <a:srgbClr val="06B6D4"/>
                </a:solidFill>
                <a:latin typeface="Consolas" pitchFamily="34" charset="0"/>
                <a:ea typeface="Consolas" pitchFamily="34" charset="-122"/>
                <a:cs typeface="Consolas" pitchFamily="34" charset="-120"/>
              </a:rPr>
              <a:t>265K</a:t>
            </a:r>
            <a:endParaRPr lang="en-US" sz="2400" dirty="0"/>
          </a:p>
        </p:txBody>
      </p:sp>
      <p:sp>
        <p:nvSpPr>
          <p:cNvPr id="13" name="Text 11"/>
          <p:cNvSpPr/>
          <p:nvPr/>
        </p:nvSpPr>
        <p:spPr>
          <a:xfrm>
            <a:off x="6766560" y="4206240"/>
            <a:ext cx="1828800" cy="228600"/>
          </a:xfrm>
          <a:prstGeom prst="rect">
            <a:avLst/>
          </a:prstGeom>
          <a:noFill/>
          <a:ln/>
        </p:spPr>
        <p:txBody>
          <a:bodyPr wrap="square" lIns="0" tIns="0" rIns="0" bIns="0" rtlCol="0" anchor="ctr"/>
          <a:lstStyle/>
          <a:p>
            <a:pPr indent="0" marL="0">
              <a:buNone/>
            </a:pPr>
            <a:r>
              <a:rPr lang="en-US" sz="1000" dirty="0">
                <a:solidFill>
                  <a:srgbClr val="94A3B8"/>
                </a:solidFill>
                <a:latin typeface="Calibri" pitchFamily="34" charset="0"/>
                <a:ea typeface="Calibri" pitchFamily="34" charset="-122"/>
                <a:cs typeface="Calibri" pitchFamily="34" charset="-120"/>
              </a:rPr>
              <a:t>Lines of Code</a:t>
            </a:r>
            <a:endParaRPr lang="en-US" sz="1000" dirty="0"/>
          </a:p>
        </p:txBody>
      </p:sp>
      <p:sp>
        <p:nvSpPr>
          <p:cNvPr id="14" name="Text 12"/>
          <p:cNvSpPr/>
          <p:nvPr/>
        </p:nvSpPr>
        <p:spPr>
          <a:xfrm>
            <a:off x="731520" y="4709160"/>
            <a:ext cx="7315200" cy="228600"/>
          </a:xfrm>
          <a:prstGeom prst="rect">
            <a:avLst/>
          </a:prstGeom>
          <a:noFill/>
          <a:ln/>
        </p:spPr>
        <p:txBody>
          <a:bodyPr wrap="square" lIns="0" tIns="0" rIns="0" bIns="0" rtlCol="0" anchor="ctr"/>
          <a:lstStyle/>
          <a:p>
            <a:pPr indent="0" marL="0">
              <a:buNone/>
            </a:pPr>
            <a:r>
              <a:rPr lang="en-US" sz="1000" dirty="0">
                <a:solidFill>
                  <a:srgbClr val="94A3B8"/>
                </a:solidFill>
                <a:latin typeface="Calibri" pitchFamily="34" charset="0"/>
                <a:ea typeface="Calibri" pitchFamily="34" charset="-122"/>
                <a:cs typeface="Calibri" pitchFamily="34" charset="-120"/>
              </a:rPr>
              <a:t>MIT License  |  ruvnet.com</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6B6D4"/>
          </a:solidFill>
          <a:ln/>
        </p:spPr>
      </p:sp>
      <p:sp>
        <p:nvSpPr>
          <p:cNvPr id="3" name="Text 1"/>
          <p:cNvSpPr/>
          <p:nvPr/>
        </p:nvSpPr>
        <p:spPr>
          <a:xfrm>
            <a:off x="731520" y="320040"/>
            <a:ext cx="7315200" cy="457200"/>
          </a:xfrm>
          <a:prstGeom prst="rect">
            <a:avLst/>
          </a:prstGeom>
          <a:noFill/>
          <a:ln/>
        </p:spPr>
        <p:txBody>
          <a:bodyPr wrap="square" lIns="0" tIns="0" rIns="0" bIns="0" rtlCol="0" anchor="ctr"/>
          <a:lstStyle/>
          <a:p>
            <a:pPr indent="0" marL="0">
              <a:buNone/>
            </a:pPr>
            <a:r>
              <a:rPr lang="en-US" sz="2800" b="1" dirty="0">
                <a:solidFill>
                  <a:srgbClr val="F8FAFC"/>
                </a:solidFill>
                <a:latin typeface="Cambria" pitchFamily="34" charset="0"/>
                <a:ea typeface="Cambria" pitchFamily="34" charset="-122"/>
                <a:cs typeface="Cambria" pitchFamily="34" charset="-120"/>
              </a:rPr>
              <a:t>What Providers Actually Ship</a:t>
            </a:r>
            <a:endParaRPr lang="en-US" sz="2800" dirty="0"/>
          </a:p>
        </p:txBody>
      </p:sp>
      <p:sp>
        <p:nvSpPr>
          <p:cNvPr id="4" name="Text 2"/>
          <p:cNvSpPr/>
          <p:nvPr/>
        </p:nvSpPr>
        <p:spPr>
          <a:xfrm>
            <a:off x="731520" y="777240"/>
            <a:ext cx="7315200" cy="274320"/>
          </a:xfrm>
          <a:prstGeom prst="rect">
            <a:avLst/>
          </a:prstGeom>
          <a:noFill/>
          <a:ln/>
        </p:spPr>
        <p:txBody>
          <a:bodyPr wrap="square" lIns="0" tIns="0" rIns="0" bIns="0" rtlCol="0" anchor="ctr"/>
          <a:lstStyle/>
          <a:p>
            <a:pPr indent="0" marL="0">
              <a:buNone/>
            </a:pPr>
            <a:r>
              <a:rPr lang="en-US" sz="1400" dirty="0">
                <a:solidFill>
                  <a:srgbClr val="94A3B8"/>
                </a:solidFill>
                <a:latin typeface="Calibri" pitchFamily="34" charset="0"/>
                <a:ea typeface="Calibri" pitchFamily="34" charset="-122"/>
                <a:cs typeface="Calibri" pitchFamily="34" charset="-120"/>
              </a:rPr>
              <a:t>They ship the inference endpoint. You build the other 11 layers.</a:t>
            </a:r>
            <a:endParaRPr lang="en-US" sz="14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731520" y="1188720"/>
          <a:ext cx="7680960" cy="914400"/>
        </p:xfrm>
        <a:graphic>
          <a:graphicData uri="http://schemas.openxmlformats.org/drawingml/2006/table">
            <a:tbl>
              <a:tblPr/>
              <a:tblGrid>
                <a:gridCol w="2286000"/>
                <a:gridCol w="1005840"/>
                <a:gridCol w="1005840"/>
                <a:gridCol w="1005840"/>
                <a:gridCol w="914400"/>
                <a:gridCol w="1463040"/>
              </a:tblGrid>
              <a:tr h="274320">
                <a:tc>
                  <a:txBody>
                    <a:bodyPr/>
                    <a:lstStyle/>
                    <a:p>
                      <a:pPr indent="0" marL="0">
                        <a:buNone/>
                      </a:pPr>
                      <a:r>
                        <a:rPr lang="en-US" sz="1000" b="1" dirty="0">
                          <a:solidFill>
                            <a:srgbClr val="06B6D4"/>
                          </a:solidFill>
                          <a:latin typeface="Consolas" pitchFamily="34" charset="0"/>
                          <a:ea typeface="Consolas" pitchFamily="34" charset="-122"/>
                          <a:cs typeface="Consolas" pitchFamily="34" charset="-120"/>
                        </a:rPr>
                        <a:t>Capability</a:t>
                      </a:r>
                      <a:endParaRPr lang="en-US" sz="1000" dirty="0">
                        <a:latin typeface="Consolas" charset="0"/>
                        <a:ea typeface="Consolas" charset="0"/>
                        <a:cs typeface="Consolas"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94A3B8"/>
                          </a:solidFill>
                          <a:latin typeface="Consolas" pitchFamily="34" charset="0"/>
                          <a:ea typeface="Consolas" pitchFamily="34" charset="-122"/>
                          <a:cs typeface="Consolas" pitchFamily="34" charset="-120"/>
                        </a:rPr>
                        <a:t>OpenAI</a:t>
                      </a:r>
                      <a:endParaRPr lang="en-US" sz="1000" dirty="0">
                        <a:latin typeface="Consolas" charset="0"/>
                        <a:ea typeface="Consolas" charset="0"/>
                        <a:cs typeface="Consolas"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94A3B8"/>
                          </a:solidFill>
                          <a:latin typeface="Consolas" pitchFamily="34" charset="0"/>
                          <a:ea typeface="Consolas" pitchFamily="34" charset="-122"/>
                          <a:cs typeface="Consolas" pitchFamily="34" charset="-120"/>
                        </a:rPr>
                        <a:t>Anthropic</a:t>
                      </a:r>
                      <a:endParaRPr lang="en-US" sz="1000" dirty="0">
                        <a:latin typeface="Consolas" charset="0"/>
                        <a:ea typeface="Consolas" charset="0"/>
                        <a:cs typeface="Consolas"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94A3B8"/>
                          </a:solidFill>
                          <a:latin typeface="Consolas" pitchFamily="34" charset="0"/>
                          <a:ea typeface="Consolas" pitchFamily="34" charset="-122"/>
                          <a:cs typeface="Consolas" pitchFamily="34" charset="-120"/>
                        </a:rPr>
                        <a:t>Google</a:t>
                      </a:r>
                      <a:endParaRPr lang="en-US" sz="1000" dirty="0">
                        <a:latin typeface="Consolas" charset="0"/>
                        <a:ea typeface="Consolas" charset="0"/>
                        <a:cs typeface="Consolas"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94A3B8"/>
                          </a:solidFill>
                          <a:latin typeface="Consolas" pitchFamily="34" charset="0"/>
                          <a:ea typeface="Consolas" pitchFamily="34" charset="-122"/>
                          <a:cs typeface="Consolas" pitchFamily="34" charset="-120"/>
                        </a:rPr>
                        <a:t>AWS</a:t>
                      </a:r>
                      <a:endParaRPr lang="en-US" sz="1000" dirty="0">
                        <a:latin typeface="Consolas" charset="0"/>
                        <a:ea typeface="Consolas" charset="0"/>
                        <a:cs typeface="Consolas"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06B6D4"/>
                          </a:solidFill>
                          <a:latin typeface="Consolas" pitchFamily="34" charset="0"/>
                          <a:ea typeface="Consolas" pitchFamily="34" charset="-122"/>
                          <a:cs typeface="Consolas" pitchFamily="34" charset="-120"/>
                        </a:rPr>
                        <a:t>RuvNet</a:t>
                      </a:r>
                      <a:endParaRPr lang="en-US" sz="1000" dirty="0">
                        <a:latin typeface="Consolas" charset="0"/>
                        <a:ea typeface="Consolas" charset="0"/>
                        <a:cs typeface="Consolas"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0D2A2E"/>
                    </a:solidFill>
                  </a:tcPr>
                </a:tc>
              </a:tr>
              <a:tr h="246888">
                <a:tc>
                  <a:txBody>
                    <a:bodyPr/>
                    <a:lstStyle/>
                    <a:p>
                      <a:pPr indent="0" marL="0">
                        <a:buNone/>
                      </a:pPr>
                      <a:r>
                        <a:rPr lang="en-US" sz="1000" dirty="0">
                          <a:solidFill>
                            <a:srgbClr val="CBD5E1"/>
                          </a:solidFill>
                          <a:latin typeface="Calibri" pitchFamily="34" charset="0"/>
                          <a:ea typeface="Calibri" pitchFamily="34" charset="-122"/>
                          <a:cs typeface="Calibri" pitchFamily="34" charset="-120"/>
                        </a:rPr>
                        <a:t>LLM API</a:t>
                      </a:r>
                      <a:endParaRPr lang="en-US" sz="1000" dirty="0">
                        <a:latin typeface="Calibri" charset="0"/>
                        <a:ea typeface="Calibri" charset="0"/>
                        <a:cs typeface="Calibri"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E293B"/>
                    </a:solidFill>
                  </a:tcPr>
                </a:tc>
                <a:tc>
                  <a:txBody>
                    <a:bodyPr/>
                    <a:lstStyle/>
                    <a:p>
                      <a:pPr algn="ctr" indent="0" marL="0">
                        <a:buNone/>
                      </a:pPr>
                      <a:r>
                        <a:rPr lang="en-US" sz="1000" dirty="0">
                          <a:solidFill>
                            <a:srgbClr val="10B981"/>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E293B"/>
                    </a:solidFill>
                  </a:tcPr>
                </a:tc>
                <a:tc>
                  <a:txBody>
                    <a:bodyPr/>
                    <a:lstStyle/>
                    <a:p>
                      <a:pPr algn="ctr" indent="0" marL="0">
                        <a:buNone/>
                      </a:pPr>
                      <a:r>
                        <a:rPr lang="en-US" sz="1000" dirty="0">
                          <a:solidFill>
                            <a:srgbClr val="10B981"/>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E293B"/>
                    </a:solidFill>
                  </a:tcPr>
                </a:tc>
                <a:tc>
                  <a:txBody>
                    <a:bodyPr/>
                    <a:lstStyle/>
                    <a:p>
                      <a:pPr algn="ctr" indent="0" marL="0">
                        <a:buNone/>
                      </a:pPr>
                      <a:r>
                        <a:rPr lang="en-US" sz="1000" dirty="0">
                          <a:solidFill>
                            <a:srgbClr val="10B981"/>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E293B"/>
                    </a:solidFill>
                  </a:tcPr>
                </a:tc>
                <a:tc>
                  <a:txBody>
                    <a:bodyPr/>
                    <a:lstStyle/>
                    <a:p>
                      <a:pPr algn="ctr" indent="0" marL="0">
                        <a:buNone/>
                      </a:pPr>
                      <a:r>
                        <a:rPr lang="en-US" sz="1000" dirty="0">
                          <a:solidFill>
                            <a:srgbClr val="10B981"/>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E293B"/>
                    </a:solidFill>
                  </a:tcPr>
                </a:tc>
                <a:tc>
                  <a:txBody>
                    <a:bodyPr/>
                    <a:lstStyle/>
                    <a:p>
                      <a:pPr algn="ctr" indent="0" marL="0">
                        <a:buNone/>
                      </a:pPr>
                      <a:r>
                        <a:rPr lang="en-US" sz="1000" b="1" dirty="0">
                          <a:solidFill>
                            <a:srgbClr val="10B981"/>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0D2A2E"/>
                    </a:solidFill>
                  </a:tcPr>
                </a:tc>
              </a:tr>
              <a:tr h="246888">
                <a:tc>
                  <a:txBody>
                    <a:bodyPr/>
                    <a:lstStyle/>
                    <a:p>
                      <a:pPr indent="0" marL="0">
                        <a:buNone/>
                      </a:pPr>
                      <a:r>
                        <a:rPr lang="en-US" sz="1000" dirty="0">
                          <a:solidFill>
                            <a:srgbClr val="CBD5E1"/>
                          </a:solidFill>
                          <a:latin typeface="Calibri" pitchFamily="34" charset="0"/>
                          <a:ea typeface="Calibri" pitchFamily="34" charset="-122"/>
                          <a:cs typeface="Calibri" pitchFamily="34" charset="-120"/>
                        </a:rPr>
                        <a:t>Multi-Agent (150+ types)</a:t>
                      </a:r>
                      <a:endParaRPr lang="en-US" sz="1000" dirty="0">
                        <a:latin typeface="Calibri" charset="0"/>
                        <a:ea typeface="Calibri" charset="0"/>
                        <a:cs typeface="Calibri"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E293B"/>
                    </a:solidFill>
                  </a:tcPr>
                </a:tc>
                <a:tc>
                  <a:txBody>
                    <a:bodyPr/>
                    <a:lstStyle/>
                    <a:p>
                      <a:pPr algn="ctr" indent="0" marL="0">
                        <a:buNone/>
                      </a:pPr>
                      <a:r>
                        <a:rPr lang="en-US" sz="1000" dirty="0">
                          <a:solidFill>
                            <a:srgbClr val="EF4444"/>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E293B"/>
                    </a:solidFill>
                  </a:tcPr>
                </a:tc>
                <a:tc>
                  <a:txBody>
                    <a:bodyPr/>
                    <a:lstStyle/>
                    <a:p>
                      <a:pPr algn="ctr" indent="0" marL="0">
                        <a:buNone/>
                      </a:pPr>
                      <a:r>
                        <a:rPr lang="en-US" sz="1000" dirty="0">
                          <a:solidFill>
                            <a:srgbClr val="EF4444"/>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E293B"/>
                    </a:solidFill>
                  </a:tcPr>
                </a:tc>
                <a:tc>
                  <a:txBody>
                    <a:bodyPr/>
                    <a:lstStyle/>
                    <a:p>
                      <a:pPr algn="ctr" indent="0" marL="0">
                        <a:buNone/>
                      </a:pPr>
                      <a:r>
                        <a:rPr lang="en-US" sz="1000" dirty="0">
                          <a:solidFill>
                            <a:srgbClr val="EF4444"/>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E293B"/>
                    </a:solidFill>
                  </a:tcPr>
                </a:tc>
                <a:tc>
                  <a:txBody>
                    <a:bodyPr/>
                    <a:lstStyle/>
                    <a:p>
                      <a:pPr algn="ctr" indent="0" marL="0">
                        <a:buNone/>
                      </a:pPr>
                      <a:r>
                        <a:rPr lang="en-US" sz="1000" dirty="0">
                          <a:solidFill>
                            <a:srgbClr val="EF4444"/>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E293B"/>
                    </a:solidFill>
                  </a:tcPr>
                </a:tc>
                <a:tc>
                  <a:txBody>
                    <a:bodyPr/>
                    <a:lstStyle/>
                    <a:p>
                      <a:pPr algn="ctr" indent="0" marL="0">
                        <a:buNone/>
                      </a:pPr>
                      <a:r>
                        <a:rPr lang="en-US" sz="1000" b="1" dirty="0">
                          <a:solidFill>
                            <a:srgbClr val="10B981"/>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0D2A2E"/>
                    </a:solidFill>
                  </a:tcPr>
                </a:tc>
              </a:tr>
              <a:tr h="246888">
                <a:tc>
                  <a:txBody>
                    <a:bodyPr/>
                    <a:lstStyle/>
                    <a:p>
                      <a:pPr indent="0" marL="0">
                        <a:buNone/>
                      </a:pPr>
                      <a:r>
                        <a:rPr lang="en-US" sz="1000" dirty="0">
                          <a:solidFill>
                            <a:srgbClr val="CBD5E1"/>
                          </a:solidFill>
                          <a:latin typeface="Calibri" pitchFamily="34" charset="0"/>
                          <a:ea typeface="Calibri" pitchFamily="34" charset="-122"/>
                          <a:cs typeface="Calibri" pitchFamily="34" charset="-120"/>
                        </a:rPr>
                        <a:t>Persistent Memory (4 types)</a:t>
                      </a:r>
                      <a:endParaRPr lang="en-US" sz="1000" dirty="0">
                        <a:latin typeface="Calibri" charset="0"/>
                        <a:ea typeface="Calibri" charset="0"/>
                        <a:cs typeface="Calibri"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E293B"/>
                    </a:solidFill>
                  </a:tcPr>
                </a:tc>
                <a:tc>
                  <a:txBody>
                    <a:bodyPr/>
                    <a:lstStyle/>
                    <a:p>
                      <a:pPr algn="ctr" indent="0" marL="0">
                        <a:buNone/>
                      </a:pPr>
                      <a:r>
                        <a:rPr lang="en-US" sz="1000" dirty="0">
                          <a:solidFill>
                            <a:srgbClr val="EF4444"/>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E293B"/>
                    </a:solidFill>
                  </a:tcPr>
                </a:tc>
                <a:tc>
                  <a:txBody>
                    <a:bodyPr/>
                    <a:lstStyle/>
                    <a:p>
                      <a:pPr algn="ctr" indent="0" marL="0">
                        <a:buNone/>
                      </a:pPr>
                      <a:r>
                        <a:rPr lang="en-US" sz="1000" dirty="0">
                          <a:solidFill>
                            <a:srgbClr val="EF4444"/>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E293B"/>
                    </a:solidFill>
                  </a:tcPr>
                </a:tc>
                <a:tc>
                  <a:txBody>
                    <a:bodyPr/>
                    <a:lstStyle/>
                    <a:p>
                      <a:pPr algn="ctr" indent="0" marL="0">
                        <a:buNone/>
                      </a:pPr>
                      <a:r>
                        <a:rPr lang="en-US" sz="1000" dirty="0">
                          <a:solidFill>
                            <a:srgbClr val="EF4444"/>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E293B"/>
                    </a:solidFill>
                  </a:tcPr>
                </a:tc>
                <a:tc>
                  <a:txBody>
                    <a:bodyPr/>
                    <a:lstStyle/>
                    <a:p>
                      <a:pPr algn="ctr" indent="0" marL="0">
                        <a:buNone/>
                      </a:pPr>
                      <a:r>
                        <a:rPr lang="en-US" sz="1000" dirty="0">
                          <a:solidFill>
                            <a:srgbClr val="EF4444"/>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E293B"/>
                    </a:solidFill>
                  </a:tcPr>
                </a:tc>
                <a:tc>
                  <a:txBody>
                    <a:bodyPr/>
                    <a:lstStyle/>
                    <a:p>
                      <a:pPr algn="ctr" indent="0" marL="0">
                        <a:buNone/>
                      </a:pPr>
                      <a:r>
                        <a:rPr lang="en-US" sz="1000" b="1" dirty="0">
                          <a:solidFill>
                            <a:srgbClr val="10B981"/>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0D2A2E"/>
                    </a:solidFill>
                  </a:tcPr>
                </a:tc>
              </a:tr>
              <a:tr h="246888">
                <a:tc>
                  <a:txBody>
                    <a:bodyPr/>
                    <a:lstStyle/>
                    <a:p>
                      <a:pPr indent="0" marL="0">
                        <a:buNone/>
                      </a:pPr>
                      <a:r>
                        <a:rPr lang="en-US" sz="1000" dirty="0">
                          <a:solidFill>
                            <a:srgbClr val="CBD5E1"/>
                          </a:solidFill>
                          <a:latin typeface="Calibri" pitchFamily="34" charset="0"/>
                          <a:ea typeface="Calibri" pitchFamily="34" charset="-122"/>
                          <a:cs typeface="Calibri" pitchFamily="34" charset="-120"/>
                        </a:rPr>
                        <a:t>Vector Search (&lt;100µs)</a:t>
                      </a:r>
                      <a:endParaRPr lang="en-US" sz="1000" dirty="0">
                        <a:latin typeface="Calibri" charset="0"/>
                        <a:ea typeface="Calibri" charset="0"/>
                        <a:cs typeface="Calibri"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E293B"/>
                    </a:solidFill>
                  </a:tcPr>
                </a:tc>
                <a:tc>
                  <a:txBody>
                    <a:bodyPr/>
                    <a:lstStyle/>
                    <a:p>
                      <a:pPr algn="ctr" indent="0" marL="0">
                        <a:buNone/>
                      </a:pPr>
                      <a:r>
                        <a:rPr lang="en-US" sz="1000" dirty="0">
                          <a:solidFill>
                            <a:srgbClr val="EF4444"/>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E293B"/>
                    </a:solidFill>
                  </a:tcPr>
                </a:tc>
                <a:tc>
                  <a:txBody>
                    <a:bodyPr/>
                    <a:lstStyle/>
                    <a:p>
                      <a:pPr algn="ctr" indent="0" marL="0">
                        <a:buNone/>
                      </a:pPr>
                      <a:r>
                        <a:rPr lang="en-US" sz="1000" dirty="0">
                          <a:solidFill>
                            <a:srgbClr val="EF4444"/>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E293B"/>
                    </a:solidFill>
                  </a:tcPr>
                </a:tc>
                <a:tc>
                  <a:txBody>
                    <a:bodyPr/>
                    <a:lstStyle/>
                    <a:p>
                      <a:pPr algn="ctr" indent="0" marL="0">
                        <a:buNone/>
                      </a:pPr>
                      <a:r>
                        <a:rPr lang="en-US" sz="1000" dirty="0">
                          <a:solidFill>
                            <a:srgbClr val="EF4444"/>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E293B"/>
                    </a:solidFill>
                  </a:tcPr>
                </a:tc>
                <a:tc>
                  <a:txBody>
                    <a:bodyPr/>
                    <a:lstStyle/>
                    <a:p>
                      <a:pPr algn="ctr" indent="0" marL="0">
                        <a:buNone/>
                      </a:pPr>
                      <a:r>
                        <a:rPr lang="en-US" sz="1000" dirty="0">
                          <a:solidFill>
                            <a:srgbClr val="EF4444"/>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E293B"/>
                    </a:solidFill>
                  </a:tcPr>
                </a:tc>
                <a:tc>
                  <a:txBody>
                    <a:bodyPr/>
                    <a:lstStyle/>
                    <a:p>
                      <a:pPr algn="ctr" indent="0" marL="0">
                        <a:buNone/>
                      </a:pPr>
                      <a:r>
                        <a:rPr lang="en-US" sz="1000" b="1" dirty="0">
                          <a:solidFill>
                            <a:srgbClr val="10B981"/>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0D2A2E"/>
                    </a:solidFill>
                  </a:tcPr>
                </a:tc>
              </a:tr>
              <a:tr h="246888">
                <a:tc>
                  <a:txBody>
                    <a:bodyPr/>
                    <a:lstStyle/>
                    <a:p>
                      <a:pPr indent="0" marL="0">
                        <a:buNone/>
                      </a:pPr>
                      <a:r>
                        <a:rPr lang="en-US" sz="1000" dirty="0">
                          <a:solidFill>
                            <a:srgbClr val="CBD5E1"/>
                          </a:solidFill>
                          <a:latin typeface="Calibri" pitchFamily="34" charset="0"/>
                          <a:ea typeface="Calibri" pitchFamily="34" charset="-122"/>
                          <a:cs typeface="Calibri" pitchFamily="34" charset="-120"/>
                        </a:rPr>
                        <a:t>Security Middleware</a:t>
                      </a:r>
                      <a:endParaRPr lang="en-US" sz="1000" dirty="0">
                        <a:latin typeface="Calibri" charset="0"/>
                        <a:ea typeface="Calibri" charset="0"/>
                        <a:cs typeface="Calibri"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E293B"/>
                    </a:solidFill>
                  </a:tcPr>
                </a:tc>
                <a:tc>
                  <a:txBody>
                    <a:bodyPr/>
                    <a:lstStyle/>
                    <a:p>
                      <a:pPr algn="ctr" indent="0" marL="0">
                        <a:buNone/>
                      </a:pPr>
                      <a:r>
                        <a:rPr lang="en-US" sz="1000" dirty="0">
                          <a:solidFill>
                            <a:srgbClr val="EF4444"/>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E293B"/>
                    </a:solidFill>
                  </a:tcPr>
                </a:tc>
                <a:tc>
                  <a:txBody>
                    <a:bodyPr/>
                    <a:lstStyle/>
                    <a:p>
                      <a:pPr algn="ctr" indent="0" marL="0">
                        <a:buNone/>
                      </a:pPr>
                      <a:r>
                        <a:rPr lang="en-US" sz="1000" dirty="0">
                          <a:solidFill>
                            <a:srgbClr val="EF4444"/>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E293B"/>
                    </a:solidFill>
                  </a:tcPr>
                </a:tc>
                <a:tc>
                  <a:txBody>
                    <a:bodyPr/>
                    <a:lstStyle/>
                    <a:p>
                      <a:pPr algn="ctr" indent="0" marL="0">
                        <a:buNone/>
                      </a:pPr>
                      <a:r>
                        <a:rPr lang="en-US" sz="1000" dirty="0">
                          <a:solidFill>
                            <a:srgbClr val="EF4444"/>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E293B"/>
                    </a:solidFill>
                  </a:tcPr>
                </a:tc>
                <a:tc>
                  <a:txBody>
                    <a:bodyPr/>
                    <a:lstStyle/>
                    <a:p>
                      <a:pPr algn="ctr" indent="0" marL="0">
                        <a:buNone/>
                      </a:pPr>
                      <a:r>
                        <a:rPr lang="en-US" sz="1000" dirty="0">
                          <a:solidFill>
                            <a:srgbClr val="EF4444"/>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E293B"/>
                    </a:solidFill>
                  </a:tcPr>
                </a:tc>
                <a:tc>
                  <a:txBody>
                    <a:bodyPr/>
                    <a:lstStyle/>
                    <a:p>
                      <a:pPr algn="ctr" indent="0" marL="0">
                        <a:buNone/>
                      </a:pPr>
                      <a:r>
                        <a:rPr lang="en-US" sz="1000" b="1" dirty="0">
                          <a:solidFill>
                            <a:srgbClr val="10B981"/>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0D2A2E"/>
                    </a:solidFill>
                  </a:tcPr>
                </a:tc>
              </a:tr>
              <a:tr h="246888">
                <a:tc>
                  <a:txBody>
                    <a:bodyPr/>
                    <a:lstStyle/>
                    <a:p>
                      <a:pPr indent="0" marL="0">
                        <a:buNone/>
                      </a:pPr>
                      <a:r>
                        <a:rPr lang="en-US" sz="1000" dirty="0">
                          <a:solidFill>
                            <a:srgbClr val="CBD5E1"/>
                          </a:solidFill>
                          <a:latin typeface="Calibri" pitchFamily="34" charset="0"/>
                          <a:ea typeface="Calibri" pitchFamily="34" charset="-122"/>
                          <a:cs typeface="Calibri" pitchFamily="34" charset="-120"/>
                        </a:rPr>
                        <a:t>Offline / Air-Gapped</a:t>
                      </a:r>
                      <a:endParaRPr lang="en-US" sz="1000" dirty="0">
                        <a:latin typeface="Calibri" charset="0"/>
                        <a:ea typeface="Calibri" charset="0"/>
                        <a:cs typeface="Calibri"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E293B"/>
                    </a:solidFill>
                  </a:tcPr>
                </a:tc>
                <a:tc>
                  <a:txBody>
                    <a:bodyPr/>
                    <a:lstStyle/>
                    <a:p>
                      <a:pPr algn="ctr" indent="0" marL="0">
                        <a:buNone/>
                      </a:pPr>
                      <a:r>
                        <a:rPr lang="en-US" sz="1000" dirty="0">
                          <a:solidFill>
                            <a:srgbClr val="EF4444"/>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E293B"/>
                    </a:solidFill>
                  </a:tcPr>
                </a:tc>
                <a:tc>
                  <a:txBody>
                    <a:bodyPr/>
                    <a:lstStyle/>
                    <a:p>
                      <a:pPr algn="ctr" indent="0" marL="0">
                        <a:buNone/>
                      </a:pPr>
                      <a:r>
                        <a:rPr lang="en-US" sz="1000" dirty="0">
                          <a:solidFill>
                            <a:srgbClr val="EF4444"/>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E293B"/>
                    </a:solidFill>
                  </a:tcPr>
                </a:tc>
                <a:tc>
                  <a:txBody>
                    <a:bodyPr/>
                    <a:lstStyle/>
                    <a:p>
                      <a:pPr algn="ctr" indent="0" marL="0">
                        <a:buNone/>
                      </a:pPr>
                      <a:r>
                        <a:rPr lang="en-US" sz="1000" dirty="0">
                          <a:solidFill>
                            <a:srgbClr val="EF4444"/>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E293B"/>
                    </a:solidFill>
                  </a:tcPr>
                </a:tc>
                <a:tc>
                  <a:txBody>
                    <a:bodyPr/>
                    <a:lstStyle/>
                    <a:p>
                      <a:pPr algn="ctr" indent="0" marL="0">
                        <a:buNone/>
                      </a:pPr>
                      <a:r>
                        <a:rPr lang="en-US" sz="1000" dirty="0">
                          <a:solidFill>
                            <a:srgbClr val="EF4444"/>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E293B"/>
                    </a:solidFill>
                  </a:tcPr>
                </a:tc>
                <a:tc>
                  <a:txBody>
                    <a:bodyPr/>
                    <a:lstStyle/>
                    <a:p>
                      <a:pPr algn="ctr" indent="0" marL="0">
                        <a:buNone/>
                      </a:pPr>
                      <a:r>
                        <a:rPr lang="en-US" sz="1000" b="1" dirty="0">
                          <a:solidFill>
                            <a:srgbClr val="10B981"/>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0D2A2E"/>
                    </a:solidFill>
                  </a:tcPr>
                </a:tc>
              </a:tr>
              <a:tr h="246888">
                <a:tc>
                  <a:txBody>
                    <a:bodyPr/>
                    <a:lstStyle/>
                    <a:p>
                      <a:pPr indent="0" marL="0">
                        <a:buNone/>
                      </a:pPr>
                      <a:r>
                        <a:rPr lang="en-US" sz="1000" dirty="0">
                          <a:solidFill>
                            <a:srgbClr val="CBD5E1"/>
                          </a:solidFill>
                          <a:latin typeface="Calibri" pitchFamily="34" charset="0"/>
                          <a:ea typeface="Calibri" pitchFamily="34" charset="-122"/>
                          <a:cs typeface="Calibri" pitchFamily="34" charset="-120"/>
                        </a:rPr>
                        <a:t>Self-Learning (&lt;1ms)</a:t>
                      </a:r>
                      <a:endParaRPr lang="en-US" sz="1000" dirty="0">
                        <a:latin typeface="Calibri" charset="0"/>
                        <a:ea typeface="Calibri" charset="0"/>
                        <a:cs typeface="Calibri"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E293B"/>
                    </a:solidFill>
                  </a:tcPr>
                </a:tc>
                <a:tc>
                  <a:txBody>
                    <a:bodyPr/>
                    <a:lstStyle/>
                    <a:p>
                      <a:pPr algn="ctr" indent="0" marL="0">
                        <a:buNone/>
                      </a:pPr>
                      <a:r>
                        <a:rPr lang="en-US" sz="1000" dirty="0">
                          <a:solidFill>
                            <a:srgbClr val="EF4444"/>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E293B"/>
                    </a:solidFill>
                  </a:tcPr>
                </a:tc>
                <a:tc>
                  <a:txBody>
                    <a:bodyPr/>
                    <a:lstStyle/>
                    <a:p>
                      <a:pPr algn="ctr" indent="0" marL="0">
                        <a:buNone/>
                      </a:pPr>
                      <a:r>
                        <a:rPr lang="en-US" sz="1000" dirty="0">
                          <a:solidFill>
                            <a:srgbClr val="EF4444"/>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E293B"/>
                    </a:solidFill>
                  </a:tcPr>
                </a:tc>
                <a:tc>
                  <a:txBody>
                    <a:bodyPr/>
                    <a:lstStyle/>
                    <a:p>
                      <a:pPr algn="ctr" indent="0" marL="0">
                        <a:buNone/>
                      </a:pPr>
                      <a:r>
                        <a:rPr lang="en-US" sz="1000" dirty="0">
                          <a:solidFill>
                            <a:srgbClr val="EF4444"/>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E293B"/>
                    </a:solidFill>
                  </a:tcPr>
                </a:tc>
                <a:tc>
                  <a:txBody>
                    <a:bodyPr/>
                    <a:lstStyle/>
                    <a:p>
                      <a:pPr algn="ctr" indent="0" marL="0">
                        <a:buNone/>
                      </a:pPr>
                      <a:r>
                        <a:rPr lang="en-US" sz="1000" dirty="0">
                          <a:solidFill>
                            <a:srgbClr val="EF4444"/>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E293B"/>
                    </a:solidFill>
                  </a:tcPr>
                </a:tc>
                <a:tc>
                  <a:txBody>
                    <a:bodyPr/>
                    <a:lstStyle/>
                    <a:p>
                      <a:pPr algn="ctr" indent="0" marL="0">
                        <a:buNone/>
                      </a:pPr>
                      <a:r>
                        <a:rPr lang="en-US" sz="1000" b="1" dirty="0">
                          <a:solidFill>
                            <a:srgbClr val="10B981"/>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0D2A2E"/>
                    </a:solidFill>
                  </a:tcPr>
                </a:tc>
              </a:tr>
              <a:tr h="246888">
                <a:tc>
                  <a:txBody>
                    <a:bodyPr/>
                    <a:lstStyle/>
                    <a:p>
                      <a:pPr indent="0" marL="0">
                        <a:buNone/>
                      </a:pPr>
                      <a:r>
                        <a:rPr lang="en-US" sz="1000" dirty="0">
                          <a:solidFill>
                            <a:srgbClr val="CBD5E1"/>
                          </a:solidFill>
                          <a:latin typeface="Calibri" pitchFamily="34" charset="0"/>
                          <a:ea typeface="Calibri" pitchFamily="34" charset="-122"/>
                          <a:cs typeface="Calibri" pitchFamily="34" charset="-120"/>
                        </a:rPr>
                        <a:t>WASM Runtime (7.2KB)</a:t>
                      </a:r>
                      <a:endParaRPr lang="en-US" sz="1000" dirty="0">
                        <a:latin typeface="Calibri" charset="0"/>
                        <a:ea typeface="Calibri" charset="0"/>
                        <a:cs typeface="Calibri"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E293B"/>
                    </a:solidFill>
                  </a:tcPr>
                </a:tc>
                <a:tc>
                  <a:txBody>
                    <a:bodyPr/>
                    <a:lstStyle/>
                    <a:p>
                      <a:pPr algn="ctr" indent="0" marL="0">
                        <a:buNone/>
                      </a:pPr>
                      <a:r>
                        <a:rPr lang="en-US" sz="1000" dirty="0">
                          <a:solidFill>
                            <a:srgbClr val="EF4444"/>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E293B"/>
                    </a:solidFill>
                  </a:tcPr>
                </a:tc>
                <a:tc>
                  <a:txBody>
                    <a:bodyPr/>
                    <a:lstStyle/>
                    <a:p>
                      <a:pPr algn="ctr" indent="0" marL="0">
                        <a:buNone/>
                      </a:pPr>
                      <a:r>
                        <a:rPr lang="en-US" sz="1000" dirty="0">
                          <a:solidFill>
                            <a:srgbClr val="EF4444"/>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E293B"/>
                    </a:solidFill>
                  </a:tcPr>
                </a:tc>
                <a:tc>
                  <a:txBody>
                    <a:bodyPr/>
                    <a:lstStyle/>
                    <a:p>
                      <a:pPr algn="ctr" indent="0" marL="0">
                        <a:buNone/>
                      </a:pPr>
                      <a:r>
                        <a:rPr lang="en-US" sz="1000" dirty="0">
                          <a:solidFill>
                            <a:srgbClr val="EF4444"/>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E293B"/>
                    </a:solidFill>
                  </a:tcPr>
                </a:tc>
                <a:tc>
                  <a:txBody>
                    <a:bodyPr/>
                    <a:lstStyle/>
                    <a:p>
                      <a:pPr algn="ctr" indent="0" marL="0">
                        <a:buNone/>
                      </a:pPr>
                      <a:r>
                        <a:rPr lang="en-US" sz="1000" dirty="0">
                          <a:solidFill>
                            <a:srgbClr val="EF4444"/>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E293B"/>
                    </a:solidFill>
                  </a:tcPr>
                </a:tc>
                <a:tc>
                  <a:txBody>
                    <a:bodyPr/>
                    <a:lstStyle/>
                    <a:p>
                      <a:pPr algn="ctr" indent="0" marL="0">
                        <a:buNone/>
                      </a:pPr>
                      <a:r>
                        <a:rPr lang="en-US" sz="1000" b="1" dirty="0">
                          <a:solidFill>
                            <a:srgbClr val="10B981"/>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0D2A2E"/>
                    </a:solidFill>
                  </a:tcPr>
                </a:tc>
              </a:tr>
              <a:tr h="246888">
                <a:tc>
                  <a:txBody>
                    <a:bodyPr/>
                    <a:lstStyle/>
                    <a:p>
                      <a:pPr indent="0" marL="0">
                        <a:buNone/>
                      </a:pPr>
                      <a:r>
                        <a:rPr lang="en-US" sz="1000" dirty="0">
                          <a:solidFill>
                            <a:srgbClr val="CBD5E1"/>
                          </a:solidFill>
                          <a:latin typeface="Calibri" pitchFamily="34" charset="0"/>
                          <a:ea typeface="Calibri" pitchFamily="34" charset="-122"/>
                          <a:cs typeface="Calibri" pitchFamily="34" charset="-120"/>
                        </a:rPr>
                        <a:t>Anti-Hallucination (formal)</a:t>
                      </a:r>
                      <a:endParaRPr lang="en-US" sz="1000" dirty="0">
                        <a:latin typeface="Calibri" charset="0"/>
                        <a:ea typeface="Calibri" charset="0"/>
                        <a:cs typeface="Calibri"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E293B"/>
                    </a:solidFill>
                  </a:tcPr>
                </a:tc>
                <a:tc>
                  <a:txBody>
                    <a:bodyPr/>
                    <a:lstStyle/>
                    <a:p>
                      <a:pPr algn="ctr" indent="0" marL="0">
                        <a:buNone/>
                      </a:pPr>
                      <a:r>
                        <a:rPr lang="en-US" sz="1000" dirty="0">
                          <a:solidFill>
                            <a:srgbClr val="EF4444"/>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E293B"/>
                    </a:solidFill>
                  </a:tcPr>
                </a:tc>
                <a:tc>
                  <a:txBody>
                    <a:bodyPr/>
                    <a:lstStyle/>
                    <a:p>
                      <a:pPr algn="ctr" indent="0" marL="0">
                        <a:buNone/>
                      </a:pPr>
                      <a:r>
                        <a:rPr lang="en-US" sz="1000" dirty="0">
                          <a:solidFill>
                            <a:srgbClr val="EF4444"/>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E293B"/>
                    </a:solidFill>
                  </a:tcPr>
                </a:tc>
                <a:tc>
                  <a:txBody>
                    <a:bodyPr/>
                    <a:lstStyle/>
                    <a:p>
                      <a:pPr algn="ctr" indent="0" marL="0">
                        <a:buNone/>
                      </a:pPr>
                      <a:r>
                        <a:rPr lang="en-US" sz="1000" dirty="0">
                          <a:solidFill>
                            <a:srgbClr val="EF4444"/>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E293B"/>
                    </a:solidFill>
                  </a:tcPr>
                </a:tc>
                <a:tc>
                  <a:txBody>
                    <a:bodyPr/>
                    <a:lstStyle/>
                    <a:p>
                      <a:pPr algn="ctr" indent="0" marL="0">
                        <a:buNone/>
                      </a:pPr>
                      <a:r>
                        <a:rPr lang="en-US" sz="1000" dirty="0">
                          <a:solidFill>
                            <a:srgbClr val="EF4444"/>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E293B"/>
                    </a:solidFill>
                  </a:tcPr>
                </a:tc>
                <a:tc>
                  <a:txBody>
                    <a:bodyPr/>
                    <a:lstStyle/>
                    <a:p>
                      <a:pPr algn="ctr" indent="0" marL="0">
                        <a:buNone/>
                      </a:pPr>
                      <a:r>
                        <a:rPr lang="en-US" sz="1000" b="1" dirty="0">
                          <a:solidFill>
                            <a:srgbClr val="10B981"/>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0D2A2E"/>
                    </a:solidFill>
                  </a:tcPr>
                </a:tc>
              </a:tr>
              <a:tr h="246888">
                <a:tc>
                  <a:txBody>
                    <a:bodyPr/>
                    <a:lstStyle/>
                    <a:p>
                      <a:pPr indent="0" marL="0">
                        <a:buNone/>
                      </a:pPr>
                      <a:r>
                        <a:rPr lang="en-US" sz="1000" dirty="0">
                          <a:solidFill>
                            <a:srgbClr val="CBD5E1"/>
                          </a:solidFill>
                          <a:latin typeface="Calibri" pitchFamily="34" charset="0"/>
                          <a:ea typeface="Calibri" pitchFamily="34" charset="-122"/>
                          <a:cs typeface="Calibri" pitchFamily="34" charset="-120"/>
                        </a:rPr>
                        <a:t>Graph Analytics (GNN)</a:t>
                      </a:r>
                      <a:endParaRPr lang="en-US" sz="1000" dirty="0">
                        <a:latin typeface="Calibri" charset="0"/>
                        <a:ea typeface="Calibri" charset="0"/>
                        <a:cs typeface="Calibri"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E293B"/>
                    </a:solidFill>
                  </a:tcPr>
                </a:tc>
                <a:tc>
                  <a:txBody>
                    <a:bodyPr/>
                    <a:lstStyle/>
                    <a:p>
                      <a:pPr algn="ctr" indent="0" marL="0">
                        <a:buNone/>
                      </a:pPr>
                      <a:r>
                        <a:rPr lang="en-US" sz="1000" dirty="0">
                          <a:solidFill>
                            <a:srgbClr val="EF4444"/>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E293B"/>
                    </a:solidFill>
                  </a:tcPr>
                </a:tc>
                <a:tc>
                  <a:txBody>
                    <a:bodyPr/>
                    <a:lstStyle/>
                    <a:p>
                      <a:pPr algn="ctr" indent="0" marL="0">
                        <a:buNone/>
                      </a:pPr>
                      <a:r>
                        <a:rPr lang="en-US" sz="1000" dirty="0">
                          <a:solidFill>
                            <a:srgbClr val="EF4444"/>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E293B"/>
                    </a:solidFill>
                  </a:tcPr>
                </a:tc>
                <a:tc>
                  <a:txBody>
                    <a:bodyPr/>
                    <a:lstStyle/>
                    <a:p>
                      <a:pPr algn="ctr" indent="0" marL="0">
                        <a:buNone/>
                      </a:pPr>
                      <a:r>
                        <a:rPr lang="en-US" sz="1000" dirty="0">
                          <a:solidFill>
                            <a:srgbClr val="EF4444"/>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E293B"/>
                    </a:solidFill>
                  </a:tcPr>
                </a:tc>
                <a:tc>
                  <a:txBody>
                    <a:bodyPr/>
                    <a:lstStyle/>
                    <a:p>
                      <a:pPr algn="ctr" indent="0" marL="0">
                        <a:buNone/>
                      </a:pPr>
                      <a:r>
                        <a:rPr lang="en-US" sz="1000" dirty="0">
                          <a:solidFill>
                            <a:srgbClr val="EF4444"/>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E293B"/>
                    </a:solidFill>
                  </a:tcPr>
                </a:tc>
                <a:tc>
                  <a:txBody>
                    <a:bodyPr/>
                    <a:lstStyle/>
                    <a:p>
                      <a:pPr algn="ctr" indent="0" marL="0">
                        <a:buNone/>
                      </a:pPr>
                      <a:r>
                        <a:rPr lang="en-US" sz="1000" b="1" dirty="0">
                          <a:solidFill>
                            <a:srgbClr val="10B981"/>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0D2A2E"/>
                    </a:solidFill>
                  </a:tcPr>
                </a:tc>
              </a:tr>
              <a:tr h="246888">
                <a:tc>
                  <a:txBody>
                    <a:bodyPr/>
                    <a:lstStyle/>
                    <a:p>
                      <a:pPr indent="0" marL="0">
                        <a:buNone/>
                      </a:pPr>
                      <a:r>
                        <a:rPr lang="en-US" sz="1000" dirty="0">
                          <a:solidFill>
                            <a:srgbClr val="CBD5E1"/>
                          </a:solidFill>
                          <a:latin typeface="Calibri" pitchFamily="34" charset="0"/>
                          <a:ea typeface="Calibri" pitchFamily="34" charset="-122"/>
                          <a:cs typeface="Calibri" pitchFamily="34" charset="-120"/>
                        </a:rPr>
                        <a:t>MCP Protocol (96 tools)</a:t>
                      </a:r>
                      <a:endParaRPr lang="en-US" sz="1000" dirty="0">
                        <a:latin typeface="Calibri" charset="0"/>
                        <a:ea typeface="Calibri" charset="0"/>
                        <a:cs typeface="Calibri"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E293B"/>
                    </a:solidFill>
                  </a:tcPr>
                </a:tc>
                <a:tc>
                  <a:txBody>
                    <a:bodyPr/>
                    <a:lstStyle/>
                    <a:p>
                      <a:pPr algn="ctr" indent="0" marL="0">
                        <a:buNone/>
                      </a:pPr>
                      <a:r>
                        <a:rPr lang="en-US" sz="1000" dirty="0">
                          <a:solidFill>
                            <a:srgbClr val="EF4444"/>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E293B"/>
                    </a:solidFill>
                  </a:tcPr>
                </a:tc>
                <a:tc>
                  <a:txBody>
                    <a:bodyPr/>
                    <a:lstStyle/>
                    <a:p>
                      <a:pPr algn="ctr" indent="0" marL="0">
                        <a:buNone/>
                      </a:pPr>
                      <a:r>
                        <a:rPr lang="en-US" sz="1000" dirty="0">
                          <a:solidFill>
                            <a:srgbClr val="94A3B8"/>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E293B"/>
                    </a:solidFill>
                  </a:tcPr>
                </a:tc>
                <a:tc>
                  <a:txBody>
                    <a:bodyPr/>
                    <a:lstStyle/>
                    <a:p>
                      <a:pPr algn="ctr" indent="0" marL="0">
                        <a:buNone/>
                      </a:pPr>
                      <a:r>
                        <a:rPr lang="en-US" sz="1000" dirty="0">
                          <a:solidFill>
                            <a:srgbClr val="EF4444"/>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E293B"/>
                    </a:solidFill>
                  </a:tcPr>
                </a:tc>
                <a:tc>
                  <a:txBody>
                    <a:bodyPr/>
                    <a:lstStyle/>
                    <a:p>
                      <a:pPr algn="ctr" indent="0" marL="0">
                        <a:buNone/>
                      </a:pPr>
                      <a:r>
                        <a:rPr lang="en-US" sz="1000" dirty="0">
                          <a:solidFill>
                            <a:srgbClr val="EF4444"/>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E293B"/>
                    </a:solidFill>
                  </a:tcPr>
                </a:tc>
                <a:tc>
                  <a:txBody>
                    <a:bodyPr/>
                    <a:lstStyle/>
                    <a:p>
                      <a:pPr algn="ctr" indent="0" marL="0">
                        <a:buNone/>
                      </a:pPr>
                      <a:r>
                        <a:rPr lang="en-US" sz="1000" b="1" dirty="0">
                          <a:solidFill>
                            <a:srgbClr val="10B981"/>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0D2A2E"/>
                    </a:solidFill>
                  </a:tcPr>
                </a:tc>
              </a:tr>
              <a:tr h="246888">
                <a:tc>
                  <a:txBody>
                    <a:bodyPr/>
                    <a:lstStyle/>
                    <a:p>
                      <a:pPr indent="0" marL="0">
                        <a:buNone/>
                      </a:pPr>
                      <a:r>
                        <a:rPr lang="en-US" sz="1000" dirty="0">
                          <a:solidFill>
                            <a:srgbClr val="CBD5E1"/>
                          </a:solidFill>
                          <a:latin typeface="Calibri" pitchFamily="34" charset="0"/>
                          <a:ea typeface="Calibri" pitchFamily="34" charset="-122"/>
                          <a:cs typeface="Calibri" pitchFamily="34" charset="-120"/>
                        </a:rPr>
                        <a:t>Data Sovereignty</a:t>
                      </a:r>
                      <a:endParaRPr lang="en-US" sz="1000" dirty="0">
                        <a:latin typeface="Calibri" charset="0"/>
                        <a:ea typeface="Calibri" charset="0"/>
                        <a:cs typeface="Calibri"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E293B"/>
                    </a:solidFill>
                  </a:tcPr>
                </a:tc>
                <a:tc>
                  <a:txBody>
                    <a:bodyPr/>
                    <a:lstStyle/>
                    <a:p>
                      <a:pPr algn="ctr" indent="0" marL="0">
                        <a:buNone/>
                      </a:pPr>
                      <a:r>
                        <a:rPr lang="en-US" sz="1000" dirty="0">
                          <a:solidFill>
                            <a:srgbClr val="EF4444"/>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E293B"/>
                    </a:solidFill>
                  </a:tcPr>
                </a:tc>
                <a:tc>
                  <a:txBody>
                    <a:bodyPr/>
                    <a:lstStyle/>
                    <a:p>
                      <a:pPr algn="ctr" indent="0" marL="0">
                        <a:buNone/>
                      </a:pPr>
                      <a:r>
                        <a:rPr lang="en-US" sz="1000" dirty="0">
                          <a:solidFill>
                            <a:srgbClr val="EF4444"/>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E293B"/>
                    </a:solidFill>
                  </a:tcPr>
                </a:tc>
                <a:tc>
                  <a:txBody>
                    <a:bodyPr/>
                    <a:lstStyle/>
                    <a:p>
                      <a:pPr algn="ctr" indent="0" marL="0">
                        <a:buNone/>
                      </a:pPr>
                      <a:r>
                        <a:rPr lang="en-US" sz="1000" dirty="0">
                          <a:solidFill>
                            <a:srgbClr val="EF4444"/>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E293B"/>
                    </a:solidFill>
                  </a:tcPr>
                </a:tc>
                <a:tc>
                  <a:txBody>
                    <a:bodyPr/>
                    <a:lstStyle/>
                    <a:p>
                      <a:pPr algn="ctr" indent="0" marL="0">
                        <a:buNone/>
                      </a:pPr>
                      <a:r>
                        <a:rPr lang="en-US" sz="1000" dirty="0">
                          <a:solidFill>
                            <a:srgbClr val="94A3B8"/>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E293B"/>
                    </a:solidFill>
                  </a:tcPr>
                </a:tc>
                <a:tc>
                  <a:txBody>
                    <a:bodyPr/>
                    <a:lstStyle/>
                    <a:p>
                      <a:pPr algn="ctr" indent="0" marL="0">
                        <a:buNone/>
                      </a:pPr>
                      <a:r>
                        <a:rPr lang="en-US" sz="1000" b="1" dirty="0">
                          <a:solidFill>
                            <a:srgbClr val="10B981"/>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0D2A2E"/>
                    </a:solidFill>
                  </a:tcPr>
                </a:tc>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6B6D4"/>
          </a:solidFill>
          <a:ln/>
        </p:spPr>
      </p:sp>
      <p:sp>
        <p:nvSpPr>
          <p:cNvPr id="3" name="Text 1"/>
          <p:cNvSpPr/>
          <p:nvPr/>
        </p:nvSpPr>
        <p:spPr>
          <a:xfrm>
            <a:off x="731520" y="274320"/>
            <a:ext cx="7315200" cy="457200"/>
          </a:xfrm>
          <a:prstGeom prst="rect">
            <a:avLst/>
          </a:prstGeom>
          <a:noFill/>
          <a:ln/>
        </p:spPr>
        <p:txBody>
          <a:bodyPr wrap="square" lIns="0" tIns="0" rIns="0" bIns="0" rtlCol="0" anchor="ctr"/>
          <a:lstStyle/>
          <a:p>
            <a:pPr indent="0" marL="0">
              <a:buNone/>
            </a:pPr>
            <a:r>
              <a:rPr lang="en-US" sz="2800" b="1" dirty="0">
                <a:solidFill>
                  <a:srgbClr val="F8FAFC"/>
                </a:solidFill>
                <a:latin typeface="Cambria" pitchFamily="34" charset="0"/>
                <a:ea typeface="Cambria" pitchFamily="34" charset="-122"/>
                <a:cs typeface="Cambria" pitchFamily="34" charset="-120"/>
              </a:rPr>
              <a:t>System Architecture</a:t>
            </a:r>
            <a:endParaRPr lang="en-US" sz="2800" dirty="0"/>
          </a:p>
        </p:txBody>
      </p:sp>
      <p:sp>
        <p:nvSpPr>
          <p:cNvPr id="4" name="Text 2"/>
          <p:cNvSpPr/>
          <p:nvPr/>
        </p:nvSpPr>
        <p:spPr>
          <a:xfrm>
            <a:off x="731520" y="685800"/>
            <a:ext cx="7315200" cy="228600"/>
          </a:xfrm>
          <a:prstGeom prst="rect">
            <a:avLst/>
          </a:prstGeom>
          <a:noFill/>
          <a:ln/>
        </p:spPr>
        <p:txBody>
          <a:bodyPr wrap="square" lIns="0" tIns="0" rIns="0" bIns="0" rtlCol="0" anchor="ctr"/>
          <a:lstStyle/>
          <a:p>
            <a:pPr indent="0" marL="0">
              <a:buNone/>
            </a:pPr>
            <a:r>
              <a:rPr lang="en-US" sz="1300" dirty="0">
                <a:solidFill>
                  <a:srgbClr val="94A3B8"/>
                </a:solidFill>
                <a:latin typeface="Calibri" pitchFamily="34" charset="0"/>
                <a:ea typeface="Calibri" pitchFamily="34" charset="-122"/>
                <a:cs typeface="Calibri" pitchFamily="34" charset="-120"/>
              </a:rPr>
              <a:t>14 modules. Unified data plane. Security envelope.</a:t>
            </a:r>
            <a:endParaRPr lang="en-US" sz="1300" dirty="0"/>
          </a:p>
        </p:txBody>
      </p:sp>
      <p:sp>
        <p:nvSpPr>
          <p:cNvPr id="5" name="Shape 3"/>
          <p:cNvSpPr/>
          <p:nvPr/>
        </p:nvSpPr>
        <p:spPr>
          <a:xfrm>
            <a:off x="457200" y="1097280"/>
            <a:ext cx="731520" cy="777240"/>
          </a:xfrm>
          <a:prstGeom prst="rect">
            <a:avLst/>
          </a:prstGeom>
          <a:solidFill>
            <a:srgbClr val="1E293B"/>
          </a:solidFill>
          <a:ln/>
          <a:effectLst>
            <a:outerShdw sx="100000" sy="100000" kx="0" ky="0" algn="bl" rotWithShape="0" blurRad="76200" dist="25400" dir="8100000">
              <a:srgbClr val="000000">
                <a:alpha val="25000"/>
              </a:srgbClr>
            </a:outerShdw>
          </a:effectLst>
        </p:spPr>
      </p:sp>
      <p:sp>
        <p:nvSpPr>
          <p:cNvPr id="6" name="Shape 4"/>
          <p:cNvSpPr/>
          <p:nvPr/>
        </p:nvSpPr>
        <p:spPr>
          <a:xfrm>
            <a:off x="457200" y="1097280"/>
            <a:ext cx="731520" cy="36576"/>
          </a:xfrm>
          <a:prstGeom prst="rect">
            <a:avLst/>
          </a:prstGeom>
          <a:solidFill>
            <a:srgbClr val="94A3B8"/>
          </a:solidFill>
          <a:ln/>
        </p:spPr>
      </p:sp>
      <p:sp>
        <p:nvSpPr>
          <p:cNvPr id="7" name="Text 5"/>
          <p:cNvSpPr/>
          <p:nvPr/>
        </p:nvSpPr>
        <p:spPr>
          <a:xfrm>
            <a:off x="502920" y="1188720"/>
            <a:ext cx="640080" cy="228600"/>
          </a:xfrm>
          <a:prstGeom prst="rect">
            <a:avLst/>
          </a:prstGeom>
          <a:noFill/>
          <a:ln/>
        </p:spPr>
        <p:txBody>
          <a:bodyPr wrap="square" lIns="0" tIns="0" rIns="0" bIns="0" rtlCol="0" anchor="ctr"/>
          <a:lstStyle/>
          <a:p>
            <a:pPr algn="ctr" indent="0" marL="0">
              <a:buNone/>
            </a:pPr>
            <a:r>
              <a:rPr lang="en-US" sz="1000" b="1" dirty="0">
                <a:solidFill>
                  <a:srgbClr val="94A3B8"/>
                </a:solidFill>
                <a:latin typeface="Consolas" pitchFamily="34" charset="0"/>
                <a:ea typeface="Consolas" pitchFamily="34" charset="-122"/>
                <a:cs typeface="Consolas" pitchFamily="34" charset="-120"/>
              </a:rPr>
              <a:t>Input</a:t>
            </a:r>
            <a:endParaRPr lang="en-US" sz="1000" dirty="0"/>
          </a:p>
        </p:txBody>
      </p:sp>
      <p:sp>
        <p:nvSpPr>
          <p:cNvPr id="8" name="Text 6"/>
          <p:cNvSpPr/>
          <p:nvPr/>
        </p:nvSpPr>
        <p:spPr>
          <a:xfrm>
            <a:off x="1188720" y="1097280"/>
            <a:ext cx="274320" cy="777240"/>
          </a:xfrm>
          <a:prstGeom prst="rect">
            <a:avLst/>
          </a:prstGeom>
          <a:noFill/>
          <a:ln/>
        </p:spPr>
        <p:txBody>
          <a:bodyPr wrap="square" lIns="0" tIns="0" rIns="0" bIns="0" rtlCol="0" anchor="ctr"/>
          <a:lstStyle/>
          <a:p>
            <a:pPr algn="ctr" indent="0" marL="0">
              <a:buNone/>
            </a:pPr>
            <a:r>
              <a:rPr lang="en-US" sz="1200" dirty="0">
                <a:solidFill>
                  <a:srgbClr val="94A3B8"/>
                </a:solidFill>
                <a:latin typeface="Arial" pitchFamily="34" charset="0"/>
                <a:ea typeface="Arial" pitchFamily="34" charset="-122"/>
                <a:cs typeface="Arial" pitchFamily="34" charset="-120"/>
              </a:rPr>
              <a:t>▶</a:t>
            </a:r>
            <a:endParaRPr lang="en-US" sz="1200" dirty="0"/>
          </a:p>
        </p:txBody>
      </p:sp>
      <p:sp>
        <p:nvSpPr>
          <p:cNvPr id="9" name="Shape 7"/>
          <p:cNvSpPr/>
          <p:nvPr/>
        </p:nvSpPr>
        <p:spPr>
          <a:xfrm>
            <a:off x="1463040" y="1097280"/>
            <a:ext cx="1097280" cy="777240"/>
          </a:xfrm>
          <a:prstGeom prst="rect">
            <a:avLst/>
          </a:prstGeom>
          <a:solidFill>
            <a:srgbClr val="1E293B"/>
          </a:solidFill>
          <a:ln/>
          <a:effectLst>
            <a:outerShdw sx="100000" sy="100000" kx="0" ky="0" algn="bl" rotWithShape="0" blurRad="76200" dist="25400" dir="8100000">
              <a:srgbClr val="000000">
                <a:alpha val="25000"/>
              </a:srgbClr>
            </a:outerShdw>
          </a:effectLst>
        </p:spPr>
      </p:sp>
      <p:sp>
        <p:nvSpPr>
          <p:cNvPr id="10" name="Shape 8"/>
          <p:cNvSpPr/>
          <p:nvPr/>
        </p:nvSpPr>
        <p:spPr>
          <a:xfrm>
            <a:off x="1463040" y="1097280"/>
            <a:ext cx="1097280" cy="36576"/>
          </a:xfrm>
          <a:prstGeom prst="rect">
            <a:avLst/>
          </a:prstGeom>
          <a:solidFill>
            <a:srgbClr val="EF4444"/>
          </a:solidFill>
          <a:ln/>
        </p:spPr>
      </p:sp>
      <p:sp>
        <p:nvSpPr>
          <p:cNvPr id="11" name="Text 9"/>
          <p:cNvSpPr/>
          <p:nvPr/>
        </p:nvSpPr>
        <p:spPr>
          <a:xfrm>
            <a:off x="1508760" y="1188720"/>
            <a:ext cx="1005840" cy="228600"/>
          </a:xfrm>
          <a:prstGeom prst="rect">
            <a:avLst/>
          </a:prstGeom>
          <a:noFill/>
          <a:ln/>
        </p:spPr>
        <p:txBody>
          <a:bodyPr wrap="square" lIns="0" tIns="0" rIns="0" bIns="0" rtlCol="0" anchor="ctr"/>
          <a:lstStyle/>
          <a:p>
            <a:pPr algn="ctr" indent="0" marL="0">
              <a:buNone/>
            </a:pPr>
            <a:r>
              <a:rPr lang="en-US" sz="1000" b="1" dirty="0">
                <a:solidFill>
                  <a:srgbClr val="EF4444"/>
                </a:solidFill>
                <a:latin typeface="Consolas" pitchFamily="34" charset="0"/>
                <a:ea typeface="Consolas" pitchFamily="34" charset="-122"/>
                <a:cs typeface="Consolas" pitchFamily="34" charset="-120"/>
              </a:rPr>
              <a:t>AIMDS</a:t>
            </a:r>
            <a:endParaRPr lang="en-US" sz="1000" dirty="0"/>
          </a:p>
        </p:txBody>
      </p:sp>
      <p:sp>
        <p:nvSpPr>
          <p:cNvPr id="12" name="Text 10"/>
          <p:cNvSpPr/>
          <p:nvPr/>
        </p:nvSpPr>
        <p:spPr>
          <a:xfrm>
            <a:off x="1508760" y="1417320"/>
            <a:ext cx="1005840" cy="365760"/>
          </a:xfrm>
          <a:prstGeom prst="rect">
            <a:avLst/>
          </a:prstGeom>
          <a:noFill/>
          <a:ln/>
        </p:spPr>
        <p:txBody>
          <a:bodyPr wrap="square" lIns="0" tIns="0" rIns="0" bIns="0" rtlCol="0" anchor="ctr"/>
          <a:lstStyle/>
          <a:p>
            <a:pPr algn="ctr" indent="0" marL="0">
              <a:buNone/>
            </a:pPr>
            <a:r>
              <a:rPr lang="en-US" sz="800" dirty="0">
                <a:solidFill>
                  <a:srgbClr val="94A3B8"/>
                </a:solidFill>
                <a:latin typeface="Calibri" pitchFamily="34" charset="0"/>
                <a:ea typeface="Calibri" pitchFamily="34" charset="-122"/>
                <a:cs typeface="Calibri" pitchFamily="34" charset="-120"/>
              </a:rPr>
              <a:t>0.06ms scan</a:t>
            </a:r>
            <a:endParaRPr lang="en-US" sz="800" dirty="0"/>
          </a:p>
        </p:txBody>
      </p:sp>
      <p:sp>
        <p:nvSpPr>
          <p:cNvPr id="13" name="Text 11"/>
          <p:cNvSpPr/>
          <p:nvPr/>
        </p:nvSpPr>
        <p:spPr>
          <a:xfrm>
            <a:off x="2560320" y="1097280"/>
            <a:ext cx="274320" cy="777240"/>
          </a:xfrm>
          <a:prstGeom prst="rect">
            <a:avLst/>
          </a:prstGeom>
          <a:noFill/>
          <a:ln/>
        </p:spPr>
        <p:txBody>
          <a:bodyPr wrap="square" lIns="0" tIns="0" rIns="0" bIns="0" rtlCol="0" anchor="ctr"/>
          <a:lstStyle/>
          <a:p>
            <a:pPr algn="ctr" indent="0" marL="0">
              <a:buNone/>
            </a:pPr>
            <a:r>
              <a:rPr lang="en-US" sz="1200" dirty="0">
                <a:solidFill>
                  <a:srgbClr val="94A3B8"/>
                </a:solidFill>
                <a:latin typeface="Arial" pitchFamily="34" charset="0"/>
                <a:ea typeface="Arial" pitchFamily="34" charset="-122"/>
                <a:cs typeface="Arial" pitchFamily="34" charset="-120"/>
              </a:rPr>
              <a:t>▶</a:t>
            </a:r>
            <a:endParaRPr lang="en-US" sz="1200" dirty="0"/>
          </a:p>
        </p:txBody>
      </p:sp>
      <p:sp>
        <p:nvSpPr>
          <p:cNvPr id="14" name="Shape 12"/>
          <p:cNvSpPr/>
          <p:nvPr/>
        </p:nvSpPr>
        <p:spPr>
          <a:xfrm>
            <a:off x="2834640" y="1097280"/>
            <a:ext cx="1188720" cy="777240"/>
          </a:xfrm>
          <a:prstGeom prst="rect">
            <a:avLst/>
          </a:prstGeom>
          <a:solidFill>
            <a:srgbClr val="1E293B"/>
          </a:solidFill>
          <a:ln/>
          <a:effectLst>
            <a:outerShdw sx="100000" sy="100000" kx="0" ky="0" algn="bl" rotWithShape="0" blurRad="76200" dist="25400" dir="8100000">
              <a:srgbClr val="000000">
                <a:alpha val="25000"/>
              </a:srgbClr>
            </a:outerShdw>
          </a:effectLst>
        </p:spPr>
      </p:sp>
      <p:sp>
        <p:nvSpPr>
          <p:cNvPr id="15" name="Shape 13"/>
          <p:cNvSpPr/>
          <p:nvPr/>
        </p:nvSpPr>
        <p:spPr>
          <a:xfrm>
            <a:off x="2834640" y="1097280"/>
            <a:ext cx="1188720" cy="36576"/>
          </a:xfrm>
          <a:prstGeom prst="rect">
            <a:avLst/>
          </a:prstGeom>
          <a:solidFill>
            <a:srgbClr val="06B6D4"/>
          </a:solidFill>
          <a:ln/>
        </p:spPr>
      </p:sp>
      <p:sp>
        <p:nvSpPr>
          <p:cNvPr id="16" name="Text 14"/>
          <p:cNvSpPr/>
          <p:nvPr/>
        </p:nvSpPr>
        <p:spPr>
          <a:xfrm>
            <a:off x="2880360" y="1188720"/>
            <a:ext cx="1097280" cy="228600"/>
          </a:xfrm>
          <a:prstGeom prst="rect">
            <a:avLst/>
          </a:prstGeom>
          <a:noFill/>
          <a:ln/>
        </p:spPr>
        <p:txBody>
          <a:bodyPr wrap="square" lIns="0" tIns="0" rIns="0" bIns="0" rtlCol="0" anchor="ctr"/>
          <a:lstStyle/>
          <a:p>
            <a:pPr algn="ctr" indent="0" marL="0">
              <a:buNone/>
            </a:pPr>
            <a:r>
              <a:rPr lang="en-US" sz="1000" b="1" dirty="0">
                <a:solidFill>
                  <a:srgbClr val="06B6D4"/>
                </a:solidFill>
                <a:latin typeface="Consolas" pitchFamily="34" charset="0"/>
                <a:ea typeface="Consolas" pitchFamily="34" charset="-122"/>
                <a:cs typeface="Consolas" pitchFamily="34" charset="-120"/>
              </a:rPr>
              <a:t>Ruflo</a:t>
            </a:r>
            <a:endParaRPr lang="en-US" sz="1000" dirty="0"/>
          </a:p>
        </p:txBody>
      </p:sp>
      <p:sp>
        <p:nvSpPr>
          <p:cNvPr id="17" name="Text 15"/>
          <p:cNvSpPr/>
          <p:nvPr/>
        </p:nvSpPr>
        <p:spPr>
          <a:xfrm>
            <a:off x="2880360" y="1417320"/>
            <a:ext cx="1097280" cy="365760"/>
          </a:xfrm>
          <a:prstGeom prst="rect">
            <a:avLst/>
          </a:prstGeom>
          <a:noFill/>
          <a:ln/>
        </p:spPr>
        <p:txBody>
          <a:bodyPr wrap="square" lIns="0" tIns="0" rIns="0" bIns="0" rtlCol="0" anchor="ctr"/>
          <a:lstStyle/>
          <a:p>
            <a:pPr algn="ctr" indent="0" marL="0">
              <a:buNone/>
            </a:pPr>
            <a:r>
              <a:rPr lang="en-US" sz="800" dirty="0">
                <a:solidFill>
                  <a:srgbClr val="94A3B8"/>
                </a:solidFill>
                <a:latin typeface="Calibri" pitchFamily="34" charset="0"/>
                <a:ea typeface="Calibri" pitchFamily="34" charset="-122"/>
                <a:cs typeface="Calibri" pitchFamily="34" charset="-120"/>
              </a:rPr>
              <a:t>150+ agents</a:t>
            </a:r>
            <a:endParaRPr lang="en-US" sz="800" dirty="0"/>
          </a:p>
          <a:p>
            <a:pPr algn="ctr" indent="0" marL="0">
              <a:buNone/>
            </a:pPr>
            <a:r>
              <a:rPr lang="en-US" sz="800" dirty="0">
                <a:solidFill>
                  <a:srgbClr val="94A3B8"/>
                </a:solidFill>
                <a:latin typeface="Calibri" pitchFamily="34" charset="0"/>
                <a:ea typeface="Calibri" pitchFamily="34" charset="-122"/>
                <a:cs typeface="Calibri" pitchFamily="34" charset="-120"/>
              </a:rPr>
              <a:t>5 topologies</a:t>
            </a:r>
            <a:endParaRPr lang="en-US" sz="800" dirty="0"/>
          </a:p>
        </p:txBody>
      </p:sp>
      <p:sp>
        <p:nvSpPr>
          <p:cNvPr id="18" name="Text 16"/>
          <p:cNvSpPr/>
          <p:nvPr/>
        </p:nvSpPr>
        <p:spPr>
          <a:xfrm>
            <a:off x="4023360" y="1097280"/>
            <a:ext cx="274320" cy="777240"/>
          </a:xfrm>
          <a:prstGeom prst="rect">
            <a:avLst/>
          </a:prstGeom>
          <a:noFill/>
          <a:ln/>
        </p:spPr>
        <p:txBody>
          <a:bodyPr wrap="square" lIns="0" tIns="0" rIns="0" bIns="0" rtlCol="0" anchor="ctr"/>
          <a:lstStyle/>
          <a:p>
            <a:pPr algn="ctr" indent="0" marL="0">
              <a:buNone/>
            </a:pPr>
            <a:r>
              <a:rPr lang="en-US" sz="1200" dirty="0">
                <a:solidFill>
                  <a:srgbClr val="94A3B8"/>
                </a:solidFill>
                <a:latin typeface="Arial" pitchFamily="34" charset="0"/>
                <a:ea typeface="Arial" pitchFamily="34" charset="-122"/>
                <a:cs typeface="Arial" pitchFamily="34" charset="-120"/>
              </a:rPr>
              <a:t>▶</a:t>
            </a:r>
            <a:endParaRPr lang="en-US" sz="1200" dirty="0"/>
          </a:p>
        </p:txBody>
      </p:sp>
      <p:sp>
        <p:nvSpPr>
          <p:cNvPr id="19" name="Shape 17"/>
          <p:cNvSpPr/>
          <p:nvPr/>
        </p:nvSpPr>
        <p:spPr>
          <a:xfrm>
            <a:off x="4297680" y="1097280"/>
            <a:ext cx="1097280" cy="777240"/>
          </a:xfrm>
          <a:prstGeom prst="rect">
            <a:avLst/>
          </a:prstGeom>
          <a:solidFill>
            <a:srgbClr val="1E293B"/>
          </a:solidFill>
          <a:ln/>
          <a:effectLst>
            <a:outerShdw sx="100000" sy="100000" kx="0" ky="0" algn="bl" rotWithShape="0" blurRad="76200" dist="25400" dir="8100000">
              <a:srgbClr val="000000">
                <a:alpha val="25000"/>
              </a:srgbClr>
            </a:outerShdw>
          </a:effectLst>
        </p:spPr>
      </p:sp>
      <p:sp>
        <p:nvSpPr>
          <p:cNvPr id="20" name="Shape 18"/>
          <p:cNvSpPr/>
          <p:nvPr/>
        </p:nvSpPr>
        <p:spPr>
          <a:xfrm>
            <a:off x="4297680" y="1097280"/>
            <a:ext cx="1097280" cy="36576"/>
          </a:xfrm>
          <a:prstGeom prst="rect">
            <a:avLst/>
          </a:prstGeom>
          <a:solidFill>
            <a:srgbClr val="0EA5E9"/>
          </a:solidFill>
          <a:ln/>
        </p:spPr>
      </p:sp>
      <p:sp>
        <p:nvSpPr>
          <p:cNvPr id="21" name="Text 19"/>
          <p:cNvSpPr/>
          <p:nvPr/>
        </p:nvSpPr>
        <p:spPr>
          <a:xfrm>
            <a:off x="4343400" y="1188720"/>
            <a:ext cx="1005840" cy="228600"/>
          </a:xfrm>
          <a:prstGeom prst="rect">
            <a:avLst/>
          </a:prstGeom>
          <a:noFill/>
          <a:ln/>
        </p:spPr>
        <p:txBody>
          <a:bodyPr wrap="square" lIns="0" tIns="0" rIns="0" bIns="0" rtlCol="0" anchor="ctr"/>
          <a:lstStyle/>
          <a:p>
            <a:pPr algn="ctr" indent="0" marL="0">
              <a:buNone/>
            </a:pPr>
            <a:r>
              <a:rPr lang="en-US" sz="1000" b="1" dirty="0">
                <a:solidFill>
                  <a:srgbClr val="0EA5E9"/>
                </a:solidFill>
                <a:latin typeface="Consolas" pitchFamily="34" charset="0"/>
                <a:ea typeface="Consolas" pitchFamily="34" charset="-122"/>
                <a:cs typeface="Consolas" pitchFamily="34" charset="-120"/>
              </a:rPr>
              <a:t>RuVector</a:t>
            </a:r>
            <a:endParaRPr lang="en-US" sz="1000" dirty="0"/>
          </a:p>
        </p:txBody>
      </p:sp>
      <p:sp>
        <p:nvSpPr>
          <p:cNvPr id="22" name="Text 20"/>
          <p:cNvSpPr/>
          <p:nvPr/>
        </p:nvSpPr>
        <p:spPr>
          <a:xfrm>
            <a:off x="4343400" y="1417320"/>
            <a:ext cx="1005840" cy="365760"/>
          </a:xfrm>
          <a:prstGeom prst="rect">
            <a:avLst/>
          </a:prstGeom>
          <a:noFill/>
          <a:ln/>
        </p:spPr>
        <p:txBody>
          <a:bodyPr wrap="square" lIns="0" tIns="0" rIns="0" bIns="0" rtlCol="0" anchor="ctr"/>
          <a:lstStyle/>
          <a:p>
            <a:pPr algn="ctr" indent="0" marL="0">
              <a:buNone/>
            </a:pPr>
            <a:r>
              <a:rPr lang="en-US" sz="800" dirty="0">
                <a:solidFill>
                  <a:srgbClr val="94A3B8"/>
                </a:solidFill>
                <a:latin typeface="Calibri" pitchFamily="34" charset="0"/>
                <a:ea typeface="Calibri" pitchFamily="34" charset="-122"/>
                <a:cs typeface="Calibri" pitchFamily="34" charset="-120"/>
              </a:rPr>
              <a:t>61µs search</a:t>
            </a:r>
            <a:endParaRPr lang="en-US" sz="800" dirty="0"/>
          </a:p>
        </p:txBody>
      </p:sp>
      <p:sp>
        <p:nvSpPr>
          <p:cNvPr id="23" name="Text 21"/>
          <p:cNvSpPr/>
          <p:nvPr/>
        </p:nvSpPr>
        <p:spPr>
          <a:xfrm>
            <a:off x="5394960" y="1097280"/>
            <a:ext cx="274320" cy="777240"/>
          </a:xfrm>
          <a:prstGeom prst="rect">
            <a:avLst/>
          </a:prstGeom>
          <a:noFill/>
          <a:ln/>
        </p:spPr>
        <p:txBody>
          <a:bodyPr wrap="square" lIns="0" tIns="0" rIns="0" bIns="0" rtlCol="0" anchor="ctr"/>
          <a:lstStyle/>
          <a:p>
            <a:pPr algn="ctr" indent="0" marL="0">
              <a:buNone/>
            </a:pPr>
            <a:r>
              <a:rPr lang="en-US" sz="1200" dirty="0">
                <a:solidFill>
                  <a:srgbClr val="94A3B8"/>
                </a:solidFill>
                <a:latin typeface="Arial" pitchFamily="34" charset="0"/>
                <a:ea typeface="Arial" pitchFamily="34" charset="-122"/>
                <a:cs typeface="Arial" pitchFamily="34" charset="-120"/>
              </a:rPr>
              <a:t>▶</a:t>
            </a:r>
            <a:endParaRPr lang="en-US" sz="1200" dirty="0"/>
          </a:p>
        </p:txBody>
      </p:sp>
      <p:sp>
        <p:nvSpPr>
          <p:cNvPr id="24" name="Shape 22"/>
          <p:cNvSpPr/>
          <p:nvPr/>
        </p:nvSpPr>
        <p:spPr>
          <a:xfrm>
            <a:off x="5669280" y="1097280"/>
            <a:ext cx="1097280" cy="777240"/>
          </a:xfrm>
          <a:prstGeom prst="rect">
            <a:avLst/>
          </a:prstGeom>
          <a:solidFill>
            <a:srgbClr val="1E293B"/>
          </a:solidFill>
          <a:ln/>
          <a:effectLst>
            <a:outerShdw sx="100000" sy="100000" kx="0" ky="0" algn="bl" rotWithShape="0" blurRad="76200" dist="25400" dir="8100000">
              <a:srgbClr val="000000">
                <a:alpha val="25000"/>
              </a:srgbClr>
            </a:outerShdw>
          </a:effectLst>
        </p:spPr>
      </p:sp>
      <p:sp>
        <p:nvSpPr>
          <p:cNvPr id="25" name="Shape 23"/>
          <p:cNvSpPr/>
          <p:nvPr/>
        </p:nvSpPr>
        <p:spPr>
          <a:xfrm>
            <a:off x="5669280" y="1097280"/>
            <a:ext cx="1097280" cy="36576"/>
          </a:xfrm>
          <a:prstGeom prst="rect">
            <a:avLst/>
          </a:prstGeom>
          <a:solidFill>
            <a:srgbClr val="8B5CF6"/>
          </a:solidFill>
          <a:ln/>
        </p:spPr>
      </p:sp>
      <p:sp>
        <p:nvSpPr>
          <p:cNvPr id="26" name="Text 24"/>
          <p:cNvSpPr/>
          <p:nvPr/>
        </p:nvSpPr>
        <p:spPr>
          <a:xfrm>
            <a:off x="5715000" y="1188720"/>
            <a:ext cx="1005840" cy="228600"/>
          </a:xfrm>
          <a:prstGeom prst="rect">
            <a:avLst/>
          </a:prstGeom>
          <a:noFill/>
          <a:ln/>
        </p:spPr>
        <p:txBody>
          <a:bodyPr wrap="square" lIns="0" tIns="0" rIns="0" bIns="0" rtlCol="0" anchor="ctr"/>
          <a:lstStyle/>
          <a:p>
            <a:pPr algn="ctr" indent="0" marL="0">
              <a:buNone/>
            </a:pPr>
            <a:r>
              <a:rPr lang="en-US" sz="1000" b="1" dirty="0">
                <a:solidFill>
                  <a:srgbClr val="8B5CF6"/>
                </a:solidFill>
                <a:latin typeface="Consolas" pitchFamily="34" charset="0"/>
                <a:ea typeface="Consolas" pitchFamily="34" charset="-122"/>
                <a:cs typeface="Consolas" pitchFamily="34" charset="-120"/>
              </a:rPr>
              <a:t>AgentDB</a:t>
            </a:r>
            <a:endParaRPr lang="en-US" sz="1000" dirty="0"/>
          </a:p>
        </p:txBody>
      </p:sp>
      <p:sp>
        <p:nvSpPr>
          <p:cNvPr id="27" name="Text 25"/>
          <p:cNvSpPr/>
          <p:nvPr/>
        </p:nvSpPr>
        <p:spPr>
          <a:xfrm>
            <a:off x="5715000" y="1417320"/>
            <a:ext cx="1005840" cy="365760"/>
          </a:xfrm>
          <a:prstGeom prst="rect">
            <a:avLst/>
          </a:prstGeom>
          <a:noFill/>
          <a:ln/>
        </p:spPr>
        <p:txBody>
          <a:bodyPr wrap="square" lIns="0" tIns="0" rIns="0" bIns="0" rtlCol="0" anchor="ctr"/>
          <a:lstStyle/>
          <a:p>
            <a:pPr algn="ctr" indent="0" marL="0">
              <a:buNone/>
            </a:pPr>
            <a:r>
              <a:rPr lang="en-US" sz="800" dirty="0">
                <a:solidFill>
                  <a:srgbClr val="94A3B8"/>
                </a:solidFill>
                <a:latin typeface="Calibri" pitchFamily="34" charset="0"/>
                <a:ea typeface="Calibri" pitchFamily="34" charset="-122"/>
                <a:cs typeface="Calibri" pitchFamily="34" charset="-120"/>
              </a:rPr>
              <a:t>4 memory types</a:t>
            </a:r>
            <a:endParaRPr lang="en-US" sz="800" dirty="0"/>
          </a:p>
        </p:txBody>
      </p:sp>
      <p:sp>
        <p:nvSpPr>
          <p:cNvPr id="28" name="Text 26"/>
          <p:cNvSpPr/>
          <p:nvPr/>
        </p:nvSpPr>
        <p:spPr>
          <a:xfrm>
            <a:off x="6766560" y="1097280"/>
            <a:ext cx="274320" cy="777240"/>
          </a:xfrm>
          <a:prstGeom prst="rect">
            <a:avLst/>
          </a:prstGeom>
          <a:noFill/>
          <a:ln/>
        </p:spPr>
        <p:txBody>
          <a:bodyPr wrap="square" lIns="0" tIns="0" rIns="0" bIns="0" rtlCol="0" anchor="ctr"/>
          <a:lstStyle/>
          <a:p>
            <a:pPr algn="ctr" indent="0" marL="0">
              <a:buNone/>
            </a:pPr>
            <a:r>
              <a:rPr lang="en-US" sz="1200" dirty="0">
                <a:solidFill>
                  <a:srgbClr val="94A3B8"/>
                </a:solidFill>
                <a:latin typeface="Arial" pitchFamily="34" charset="0"/>
                <a:ea typeface="Arial" pitchFamily="34" charset="-122"/>
                <a:cs typeface="Arial" pitchFamily="34" charset="-120"/>
              </a:rPr>
              <a:t>▶</a:t>
            </a:r>
            <a:endParaRPr lang="en-US" sz="1200" dirty="0"/>
          </a:p>
        </p:txBody>
      </p:sp>
      <p:sp>
        <p:nvSpPr>
          <p:cNvPr id="29" name="Shape 27"/>
          <p:cNvSpPr/>
          <p:nvPr/>
        </p:nvSpPr>
        <p:spPr>
          <a:xfrm>
            <a:off x="7040880" y="1097280"/>
            <a:ext cx="1005840" cy="777240"/>
          </a:xfrm>
          <a:prstGeom prst="rect">
            <a:avLst/>
          </a:prstGeom>
          <a:solidFill>
            <a:srgbClr val="1E293B"/>
          </a:solidFill>
          <a:ln/>
          <a:effectLst>
            <a:outerShdw sx="100000" sy="100000" kx="0" ky="0" algn="bl" rotWithShape="0" blurRad="76200" dist="25400" dir="8100000">
              <a:srgbClr val="000000">
                <a:alpha val="25000"/>
              </a:srgbClr>
            </a:outerShdw>
          </a:effectLst>
        </p:spPr>
      </p:sp>
      <p:sp>
        <p:nvSpPr>
          <p:cNvPr id="30" name="Shape 28"/>
          <p:cNvSpPr/>
          <p:nvPr/>
        </p:nvSpPr>
        <p:spPr>
          <a:xfrm>
            <a:off x="7040880" y="1097280"/>
            <a:ext cx="1005840" cy="36576"/>
          </a:xfrm>
          <a:prstGeom prst="rect">
            <a:avLst/>
          </a:prstGeom>
          <a:solidFill>
            <a:srgbClr val="F59E0B"/>
          </a:solidFill>
          <a:ln/>
        </p:spPr>
      </p:sp>
      <p:sp>
        <p:nvSpPr>
          <p:cNvPr id="31" name="Text 29"/>
          <p:cNvSpPr/>
          <p:nvPr/>
        </p:nvSpPr>
        <p:spPr>
          <a:xfrm>
            <a:off x="7086600" y="1188720"/>
            <a:ext cx="914400" cy="228600"/>
          </a:xfrm>
          <a:prstGeom prst="rect">
            <a:avLst/>
          </a:prstGeom>
          <a:noFill/>
          <a:ln/>
        </p:spPr>
        <p:txBody>
          <a:bodyPr wrap="square" lIns="0" tIns="0" rIns="0" bIns="0" rtlCol="0" anchor="ctr"/>
          <a:lstStyle/>
          <a:p>
            <a:pPr algn="ctr" indent="0" marL="0">
              <a:buNone/>
            </a:pPr>
            <a:r>
              <a:rPr lang="en-US" sz="1000" b="1" dirty="0">
                <a:solidFill>
                  <a:srgbClr val="F59E0B"/>
                </a:solidFill>
                <a:latin typeface="Consolas" pitchFamily="34" charset="0"/>
                <a:ea typeface="Consolas" pitchFamily="34" charset="-122"/>
                <a:cs typeface="Consolas" pitchFamily="34" charset="-120"/>
              </a:rPr>
              <a:t>SONA</a:t>
            </a:r>
            <a:endParaRPr lang="en-US" sz="1000" dirty="0"/>
          </a:p>
        </p:txBody>
      </p:sp>
      <p:sp>
        <p:nvSpPr>
          <p:cNvPr id="32" name="Text 30"/>
          <p:cNvSpPr/>
          <p:nvPr/>
        </p:nvSpPr>
        <p:spPr>
          <a:xfrm>
            <a:off x="7086600" y="1417320"/>
            <a:ext cx="914400" cy="365760"/>
          </a:xfrm>
          <a:prstGeom prst="rect">
            <a:avLst/>
          </a:prstGeom>
          <a:noFill/>
          <a:ln/>
        </p:spPr>
        <p:txBody>
          <a:bodyPr wrap="square" lIns="0" tIns="0" rIns="0" bIns="0" rtlCol="0" anchor="ctr"/>
          <a:lstStyle/>
          <a:p>
            <a:pPr algn="ctr" indent="0" marL="0">
              <a:buNone/>
            </a:pPr>
            <a:r>
              <a:rPr lang="en-US" sz="800" dirty="0">
                <a:solidFill>
                  <a:srgbClr val="94A3B8"/>
                </a:solidFill>
                <a:latin typeface="Calibri" pitchFamily="34" charset="0"/>
                <a:ea typeface="Calibri" pitchFamily="34" charset="-122"/>
                <a:cs typeface="Calibri" pitchFamily="34" charset="-120"/>
              </a:rPr>
              <a:t>9 RL algorithms</a:t>
            </a:r>
            <a:endParaRPr lang="en-US" sz="800" dirty="0"/>
          </a:p>
        </p:txBody>
      </p:sp>
      <p:sp>
        <p:nvSpPr>
          <p:cNvPr id="33" name="Text 31"/>
          <p:cNvSpPr/>
          <p:nvPr/>
        </p:nvSpPr>
        <p:spPr>
          <a:xfrm>
            <a:off x="8046720" y="1097280"/>
            <a:ext cx="274320" cy="777240"/>
          </a:xfrm>
          <a:prstGeom prst="rect">
            <a:avLst/>
          </a:prstGeom>
          <a:noFill/>
          <a:ln/>
        </p:spPr>
        <p:txBody>
          <a:bodyPr wrap="square" lIns="0" tIns="0" rIns="0" bIns="0" rtlCol="0" anchor="ctr"/>
          <a:lstStyle/>
          <a:p>
            <a:pPr algn="ctr" indent="0" marL="0">
              <a:buNone/>
            </a:pPr>
            <a:r>
              <a:rPr lang="en-US" sz="1200" dirty="0">
                <a:solidFill>
                  <a:srgbClr val="94A3B8"/>
                </a:solidFill>
                <a:latin typeface="Arial" pitchFamily="34" charset="0"/>
                <a:ea typeface="Arial" pitchFamily="34" charset="-122"/>
                <a:cs typeface="Arial" pitchFamily="34" charset="-120"/>
              </a:rPr>
              <a:t>▶</a:t>
            </a:r>
            <a:endParaRPr lang="en-US" sz="1200" dirty="0"/>
          </a:p>
        </p:txBody>
      </p:sp>
      <p:sp>
        <p:nvSpPr>
          <p:cNvPr id="34" name="Shape 32"/>
          <p:cNvSpPr/>
          <p:nvPr/>
        </p:nvSpPr>
        <p:spPr>
          <a:xfrm>
            <a:off x="8321040" y="1097280"/>
            <a:ext cx="731520" cy="777240"/>
          </a:xfrm>
          <a:prstGeom prst="rect">
            <a:avLst/>
          </a:prstGeom>
          <a:solidFill>
            <a:srgbClr val="1E293B"/>
          </a:solidFill>
          <a:ln/>
          <a:effectLst>
            <a:outerShdw sx="100000" sy="100000" kx="0" ky="0" algn="bl" rotWithShape="0" blurRad="76200" dist="25400" dir="8100000">
              <a:srgbClr val="000000">
                <a:alpha val="25000"/>
              </a:srgbClr>
            </a:outerShdw>
          </a:effectLst>
        </p:spPr>
      </p:sp>
      <p:sp>
        <p:nvSpPr>
          <p:cNvPr id="35" name="Shape 33"/>
          <p:cNvSpPr/>
          <p:nvPr/>
        </p:nvSpPr>
        <p:spPr>
          <a:xfrm>
            <a:off x="8321040" y="1097280"/>
            <a:ext cx="731520" cy="36576"/>
          </a:xfrm>
          <a:prstGeom prst="rect">
            <a:avLst/>
          </a:prstGeom>
          <a:solidFill>
            <a:srgbClr val="94A3B8"/>
          </a:solidFill>
          <a:ln/>
        </p:spPr>
      </p:sp>
      <p:sp>
        <p:nvSpPr>
          <p:cNvPr id="36" name="Text 34"/>
          <p:cNvSpPr/>
          <p:nvPr/>
        </p:nvSpPr>
        <p:spPr>
          <a:xfrm>
            <a:off x="8366760" y="1188720"/>
            <a:ext cx="640080" cy="228600"/>
          </a:xfrm>
          <a:prstGeom prst="rect">
            <a:avLst/>
          </a:prstGeom>
          <a:noFill/>
          <a:ln/>
        </p:spPr>
        <p:txBody>
          <a:bodyPr wrap="square" lIns="0" tIns="0" rIns="0" bIns="0" rtlCol="0" anchor="ctr"/>
          <a:lstStyle/>
          <a:p>
            <a:pPr algn="ctr" indent="0" marL="0">
              <a:buNone/>
            </a:pPr>
            <a:r>
              <a:rPr lang="en-US" sz="1000" b="1" dirty="0">
                <a:solidFill>
                  <a:srgbClr val="94A3B8"/>
                </a:solidFill>
                <a:latin typeface="Consolas" pitchFamily="34" charset="0"/>
                <a:ea typeface="Consolas" pitchFamily="34" charset="-122"/>
                <a:cs typeface="Consolas" pitchFamily="34" charset="-120"/>
              </a:rPr>
              <a:t>Output</a:t>
            </a:r>
            <a:endParaRPr lang="en-US" sz="1000" dirty="0"/>
          </a:p>
        </p:txBody>
      </p:sp>
      <p:sp>
        <p:nvSpPr>
          <p:cNvPr id="37" name="Shape 35"/>
          <p:cNvSpPr/>
          <p:nvPr/>
        </p:nvSpPr>
        <p:spPr>
          <a:xfrm>
            <a:off x="457200" y="2103120"/>
            <a:ext cx="8229600" cy="731520"/>
          </a:xfrm>
          <a:prstGeom prst="rect">
            <a:avLst/>
          </a:prstGeom>
          <a:solidFill>
            <a:srgbClr val="1A2230"/>
          </a:solidFill>
          <a:ln/>
        </p:spPr>
      </p:sp>
      <p:sp>
        <p:nvSpPr>
          <p:cNvPr id="38" name="Text 36"/>
          <p:cNvSpPr/>
          <p:nvPr/>
        </p:nvSpPr>
        <p:spPr>
          <a:xfrm>
            <a:off x="594360" y="2148840"/>
            <a:ext cx="2286000" cy="228600"/>
          </a:xfrm>
          <a:prstGeom prst="rect">
            <a:avLst/>
          </a:prstGeom>
          <a:noFill/>
          <a:ln/>
        </p:spPr>
        <p:txBody>
          <a:bodyPr wrap="square" lIns="0" tIns="0" rIns="0" bIns="0" rtlCol="0" anchor="ctr"/>
          <a:lstStyle/>
          <a:p>
            <a:pPr indent="0" marL="0">
              <a:buNone/>
            </a:pPr>
            <a:r>
              <a:rPr lang="en-US" sz="1000" b="1" dirty="0">
                <a:solidFill>
                  <a:srgbClr val="F59E0B"/>
                </a:solidFill>
                <a:latin typeface="Consolas" pitchFamily="34" charset="0"/>
                <a:ea typeface="Consolas" pitchFamily="34" charset="-122"/>
                <a:cs typeface="Consolas" pitchFamily="34" charset="-120"/>
              </a:rPr>
              <a:t>RVF: 3-Tier Compute</a:t>
            </a:r>
            <a:endParaRPr lang="en-US" sz="1000" dirty="0"/>
          </a:p>
        </p:txBody>
      </p:sp>
      <p:sp>
        <p:nvSpPr>
          <p:cNvPr id="39" name="Text 37"/>
          <p:cNvSpPr/>
          <p:nvPr/>
        </p:nvSpPr>
        <p:spPr>
          <a:xfrm>
            <a:off x="594360" y="2377440"/>
            <a:ext cx="4114800" cy="182880"/>
          </a:xfrm>
          <a:prstGeom prst="rect">
            <a:avLst/>
          </a:prstGeom>
          <a:noFill/>
          <a:ln/>
        </p:spPr>
        <p:txBody>
          <a:bodyPr wrap="square" lIns="0" tIns="0" rIns="0" bIns="0" rtlCol="0" anchor="ctr"/>
          <a:lstStyle/>
          <a:p>
            <a:pPr indent="0" marL="0">
              <a:buNone/>
            </a:pPr>
            <a:r>
              <a:rPr lang="en-US" sz="900" dirty="0">
                <a:solidFill>
                  <a:srgbClr val="94A3B8"/>
                </a:solidFill>
                <a:latin typeface="Calibri" pitchFamily="34" charset="0"/>
                <a:ea typeface="Calibri" pitchFamily="34" charset="-122"/>
                <a:cs typeface="Calibri" pitchFamily="34" charset="-120"/>
              </a:rPr>
              <a:t>WASM (5.5KB)  |  eBPF (kernel bypass)  |  Unikernel (125ms Linux boot)</a:t>
            </a:r>
            <a:endParaRPr lang="en-US" sz="900" dirty="0"/>
          </a:p>
        </p:txBody>
      </p:sp>
      <p:sp>
        <p:nvSpPr>
          <p:cNvPr id="40" name="Text 38"/>
          <p:cNvSpPr/>
          <p:nvPr/>
        </p:nvSpPr>
        <p:spPr>
          <a:xfrm>
            <a:off x="4754880" y="2148840"/>
            <a:ext cx="3657600" cy="228600"/>
          </a:xfrm>
          <a:prstGeom prst="rect">
            <a:avLst/>
          </a:prstGeom>
          <a:noFill/>
          <a:ln/>
        </p:spPr>
        <p:txBody>
          <a:bodyPr wrap="square" lIns="0" tIns="0" rIns="0" bIns="0" rtlCol="0" anchor="ctr"/>
          <a:lstStyle/>
          <a:p>
            <a:pPr indent="0" marL="0">
              <a:buNone/>
            </a:pPr>
            <a:r>
              <a:rPr lang="en-US" sz="1000" b="1" dirty="0">
                <a:solidFill>
                  <a:srgbClr val="10B981"/>
                </a:solidFill>
                <a:latin typeface="Consolas" pitchFamily="34" charset="0"/>
                <a:ea typeface="Consolas" pitchFamily="34" charset="-122"/>
                <a:cs typeface="Consolas" pitchFamily="34" charset="-120"/>
              </a:rPr>
              <a:t>Nervous System: 5 Bio-Inspired Layers</a:t>
            </a:r>
            <a:endParaRPr lang="en-US" sz="1000" dirty="0"/>
          </a:p>
        </p:txBody>
      </p:sp>
      <p:sp>
        <p:nvSpPr>
          <p:cNvPr id="41" name="Text 39"/>
          <p:cNvSpPr/>
          <p:nvPr/>
        </p:nvSpPr>
        <p:spPr>
          <a:xfrm>
            <a:off x="4754880" y="2377440"/>
            <a:ext cx="3840480" cy="182880"/>
          </a:xfrm>
          <a:prstGeom prst="rect">
            <a:avLst/>
          </a:prstGeom>
          <a:noFill/>
          <a:ln/>
        </p:spPr>
        <p:txBody>
          <a:bodyPr wrap="square" lIns="0" tIns="0" rIns="0" bIns="0" rtlCol="0" anchor="ctr"/>
          <a:lstStyle/>
          <a:p>
            <a:pPr indent="0" marL="0">
              <a:buNone/>
            </a:pPr>
            <a:r>
              <a:rPr lang="en-US" sz="850" dirty="0">
                <a:solidFill>
                  <a:srgbClr val="94A3B8"/>
                </a:solidFill>
                <a:latin typeface="Calibri" pitchFamily="34" charset="0"/>
                <a:ea typeface="Calibri" pitchFamily="34" charset="-122"/>
                <a:cs typeface="Calibri" pitchFamily="34" charset="-120"/>
              </a:rPr>
              <a:t>Sensing (&lt;100ns)  |  Reflex (&lt;1µs)  |  Memory (10³⁰ cap)  |  Learning  |  Coherence</a:t>
            </a:r>
            <a:endParaRPr lang="en-US" sz="850" dirty="0"/>
          </a:p>
        </p:txBody>
      </p:sp>
      <p:sp>
        <p:nvSpPr>
          <p:cNvPr id="42" name="Shape 40"/>
          <p:cNvSpPr/>
          <p:nvPr/>
        </p:nvSpPr>
        <p:spPr>
          <a:xfrm>
            <a:off x="457200" y="3017520"/>
            <a:ext cx="8229600" cy="457200"/>
          </a:xfrm>
          <a:prstGeom prst="rect">
            <a:avLst/>
          </a:prstGeom>
          <a:solidFill>
            <a:srgbClr val="0D2A2E"/>
          </a:solidFill>
          <a:ln/>
        </p:spPr>
      </p:sp>
      <p:sp>
        <p:nvSpPr>
          <p:cNvPr id="43" name="Text 41"/>
          <p:cNvSpPr/>
          <p:nvPr/>
        </p:nvSpPr>
        <p:spPr>
          <a:xfrm>
            <a:off x="594360" y="3017520"/>
            <a:ext cx="7955280" cy="457200"/>
          </a:xfrm>
          <a:prstGeom prst="rect">
            <a:avLst/>
          </a:prstGeom>
          <a:noFill/>
          <a:ln/>
        </p:spPr>
        <p:txBody>
          <a:bodyPr wrap="square" lIns="0" tIns="0" rIns="0" bIns="0" rtlCol="0" anchor="ctr"/>
          <a:lstStyle/>
          <a:p>
            <a:pPr indent="0" marL="0">
              <a:buNone/>
            </a:pPr>
            <a:r>
              <a:rPr lang="en-US" sz="1000" dirty="0">
                <a:solidFill>
                  <a:srgbClr val="06B6D4"/>
                </a:solidFill>
                <a:latin typeface="Calibri" pitchFamily="34" charset="0"/>
                <a:ea typeface="Calibri" pitchFamily="34" charset="-122"/>
                <a:cs typeface="Calibri" pitchFamily="34" charset="-120"/>
              </a:rPr>
              <a:t>PostgreSQL Unified Data Plane — 290+ SQL Functions  |  HNSW Indexing  |  RuVector Extension  |  Drop-in pgvector replacement</a:t>
            </a:r>
            <a:endParaRPr lang="en-US" sz="1000" dirty="0"/>
          </a:p>
        </p:txBody>
      </p:sp>
      <p:sp>
        <p:nvSpPr>
          <p:cNvPr id="44" name="Shape 42"/>
          <p:cNvSpPr/>
          <p:nvPr/>
        </p:nvSpPr>
        <p:spPr>
          <a:xfrm>
            <a:off x="457200" y="3657600"/>
            <a:ext cx="8229600" cy="457200"/>
          </a:xfrm>
          <a:prstGeom prst="rect">
            <a:avLst/>
          </a:prstGeom>
          <a:solidFill>
            <a:srgbClr val="1A1520"/>
          </a:solidFill>
          <a:ln/>
        </p:spPr>
      </p:sp>
      <p:sp>
        <p:nvSpPr>
          <p:cNvPr id="45" name="Text 43"/>
          <p:cNvSpPr/>
          <p:nvPr/>
        </p:nvSpPr>
        <p:spPr>
          <a:xfrm>
            <a:off x="594360" y="3657600"/>
            <a:ext cx="7955280" cy="457200"/>
          </a:xfrm>
          <a:prstGeom prst="rect">
            <a:avLst/>
          </a:prstGeom>
          <a:noFill/>
          <a:ln/>
        </p:spPr>
        <p:txBody>
          <a:bodyPr wrap="square" lIns="0" tIns="0" rIns="0" bIns="0" rtlCol="0" anchor="ctr"/>
          <a:lstStyle/>
          <a:p>
            <a:pPr indent="0" marL="0">
              <a:buNone/>
            </a:pPr>
            <a:r>
              <a:rPr lang="en-US" sz="1000" dirty="0">
                <a:solidFill>
                  <a:srgbClr val="EF4444"/>
                </a:solidFill>
                <a:latin typeface="Calibri" pitchFamily="34" charset="0"/>
                <a:ea typeface="Calibri" pitchFamily="34" charset="-122"/>
                <a:cs typeface="Calibri" pitchFamily="34" charset="-120"/>
              </a:rPr>
              <a:t>Security Envelope — Witness Chains (ML-DSA-65 Post-Quantum)  |  TEE Attestations  |  PII Redaction  |  DNA Lineage Tracking</a:t>
            </a:r>
            <a:endParaRPr lang="en-US" sz="1000" dirty="0"/>
          </a:p>
        </p:txBody>
      </p:sp>
      <p:sp>
        <p:nvSpPr>
          <p:cNvPr id="46" name="Text 44"/>
          <p:cNvSpPr/>
          <p:nvPr/>
        </p:nvSpPr>
        <p:spPr>
          <a:xfrm>
            <a:off x="457200" y="4343400"/>
            <a:ext cx="1554480" cy="274320"/>
          </a:xfrm>
          <a:prstGeom prst="rect">
            <a:avLst/>
          </a:prstGeom>
          <a:noFill/>
          <a:ln/>
        </p:spPr>
        <p:txBody>
          <a:bodyPr wrap="square" lIns="0" tIns="0" rIns="0" bIns="0" rtlCol="0" anchor="ctr"/>
          <a:lstStyle/>
          <a:p>
            <a:pPr algn="ctr" indent="0" marL="0">
              <a:buNone/>
            </a:pPr>
            <a:r>
              <a:rPr lang="en-US" sz="1000" dirty="0">
                <a:solidFill>
                  <a:srgbClr val="06B6D4"/>
                </a:solidFill>
                <a:latin typeface="Consolas" pitchFamily="34" charset="0"/>
                <a:ea typeface="Consolas" pitchFamily="34" charset="-122"/>
                <a:cs typeface="Consolas" pitchFamily="34" charset="-120"/>
              </a:rPr>
              <a:t>96 MCP Tools</a:t>
            </a:r>
            <a:endParaRPr lang="en-US" sz="1000" dirty="0"/>
          </a:p>
        </p:txBody>
      </p:sp>
      <p:sp>
        <p:nvSpPr>
          <p:cNvPr id="47" name="Text 45"/>
          <p:cNvSpPr/>
          <p:nvPr/>
        </p:nvSpPr>
        <p:spPr>
          <a:xfrm>
            <a:off x="2103120" y="4343400"/>
            <a:ext cx="1554480" cy="274320"/>
          </a:xfrm>
          <a:prstGeom prst="rect">
            <a:avLst/>
          </a:prstGeom>
          <a:noFill/>
          <a:ln/>
        </p:spPr>
        <p:txBody>
          <a:bodyPr wrap="square" lIns="0" tIns="0" rIns="0" bIns="0" rtlCol="0" anchor="ctr"/>
          <a:lstStyle/>
          <a:p>
            <a:pPr algn="ctr" indent="0" marL="0">
              <a:buNone/>
            </a:pPr>
            <a:r>
              <a:rPr lang="en-US" sz="1000" dirty="0">
                <a:solidFill>
                  <a:srgbClr val="06B6D4"/>
                </a:solidFill>
                <a:latin typeface="Consolas" pitchFamily="34" charset="0"/>
                <a:ea typeface="Consolas" pitchFamily="34" charset="-122"/>
                <a:cs typeface="Consolas" pitchFamily="34" charset="-120"/>
              </a:rPr>
              <a:t>80+ Rust Crates</a:t>
            </a:r>
            <a:endParaRPr lang="en-US" sz="1000" dirty="0"/>
          </a:p>
        </p:txBody>
      </p:sp>
      <p:sp>
        <p:nvSpPr>
          <p:cNvPr id="48" name="Text 46"/>
          <p:cNvSpPr/>
          <p:nvPr/>
        </p:nvSpPr>
        <p:spPr>
          <a:xfrm>
            <a:off x="3749040" y="4343400"/>
            <a:ext cx="1554480" cy="274320"/>
          </a:xfrm>
          <a:prstGeom prst="rect">
            <a:avLst/>
          </a:prstGeom>
          <a:noFill/>
          <a:ln/>
        </p:spPr>
        <p:txBody>
          <a:bodyPr wrap="square" lIns="0" tIns="0" rIns="0" bIns="0" rtlCol="0" anchor="ctr"/>
          <a:lstStyle/>
          <a:p>
            <a:pPr algn="ctr" indent="0" marL="0">
              <a:buNone/>
            </a:pPr>
            <a:r>
              <a:rPr lang="en-US" sz="1000" dirty="0">
                <a:solidFill>
                  <a:srgbClr val="06B6D4"/>
                </a:solidFill>
                <a:latin typeface="Consolas" pitchFamily="34" charset="0"/>
                <a:ea typeface="Consolas" pitchFamily="34" charset="-122"/>
                <a:cs typeface="Consolas" pitchFamily="34" charset="-120"/>
              </a:rPr>
              <a:t>49+ npm Packages</a:t>
            </a:r>
            <a:endParaRPr lang="en-US" sz="1000" dirty="0"/>
          </a:p>
        </p:txBody>
      </p:sp>
      <p:sp>
        <p:nvSpPr>
          <p:cNvPr id="49" name="Text 47"/>
          <p:cNvSpPr/>
          <p:nvPr/>
        </p:nvSpPr>
        <p:spPr>
          <a:xfrm>
            <a:off x="5394960" y="4343400"/>
            <a:ext cx="1554480" cy="274320"/>
          </a:xfrm>
          <a:prstGeom prst="rect">
            <a:avLst/>
          </a:prstGeom>
          <a:noFill/>
          <a:ln/>
        </p:spPr>
        <p:txBody>
          <a:bodyPr wrap="square" lIns="0" tIns="0" rIns="0" bIns="0" rtlCol="0" anchor="ctr"/>
          <a:lstStyle/>
          <a:p>
            <a:pPr algn="ctr" indent="0" marL="0">
              <a:buNone/>
            </a:pPr>
            <a:r>
              <a:rPr lang="en-US" sz="1000" dirty="0">
                <a:solidFill>
                  <a:srgbClr val="06B6D4"/>
                </a:solidFill>
                <a:latin typeface="Consolas" pitchFamily="34" charset="0"/>
                <a:ea typeface="Consolas" pitchFamily="34" charset="-122"/>
                <a:cs typeface="Consolas" pitchFamily="34" charset="-120"/>
              </a:rPr>
              <a:t>25+ ADRs</a:t>
            </a:r>
            <a:endParaRPr lang="en-US" sz="1000" dirty="0"/>
          </a:p>
        </p:txBody>
      </p:sp>
      <p:sp>
        <p:nvSpPr>
          <p:cNvPr id="50" name="Text 48"/>
          <p:cNvSpPr/>
          <p:nvPr/>
        </p:nvSpPr>
        <p:spPr>
          <a:xfrm>
            <a:off x="7040880" y="4343400"/>
            <a:ext cx="1554480" cy="274320"/>
          </a:xfrm>
          <a:prstGeom prst="rect">
            <a:avLst/>
          </a:prstGeom>
          <a:noFill/>
          <a:ln/>
        </p:spPr>
        <p:txBody>
          <a:bodyPr wrap="square" lIns="0" tIns="0" rIns="0" bIns="0" rtlCol="0" anchor="ctr"/>
          <a:lstStyle/>
          <a:p>
            <a:pPr algn="ctr" indent="0" marL="0">
              <a:buNone/>
            </a:pPr>
            <a:r>
              <a:rPr lang="en-US" sz="1000" dirty="0">
                <a:solidFill>
                  <a:srgbClr val="06B6D4"/>
                </a:solidFill>
                <a:latin typeface="Consolas" pitchFamily="34" charset="0"/>
                <a:ea typeface="Consolas" pitchFamily="34" charset="-122"/>
                <a:cs typeface="Consolas" pitchFamily="34" charset="-120"/>
              </a:rPr>
              <a:t>14 Modules</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6B6D4"/>
          </a:solidFill>
          <a:ln/>
        </p:spPr>
      </p:sp>
      <p:sp>
        <p:nvSpPr>
          <p:cNvPr id="3" name="Text 1"/>
          <p:cNvSpPr/>
          <p:nvPr/>
        </p:nvSpPr>
        <p:spPr>
          <a:xfrm>
            <a:off x="731520" y="274320"/>
            <a:ext cx="3657600" cy="228600"/>
          </a:xfrm>
          <a:prstGeom prst="rect">
            <a:avLst/>
          </a:prstGeom>
          <a:noFill/>
          <a:ln/>
        </p:spPr>
        <p:txBody>
          <a:bodyPr wrap="square" lIns="0" tIns="0" rIns="0" bIns="0" rtlCol="0" anchor="ctr"/>
          <a:lstStyle/>
          <a:p>
            <a:pPr indent="0" marL="0">
              <a:buNone/>
            </a:pPr>
            <a:r>
              <a:rPr lang="en-US" sz="1100" b="1" spc="300" kern="0" dirty="0">
                <a:solidFill>
                  <a:srgbClr val="F59E0B"/>
                </a:solidFill>
                <a:latin typeface="Consolas" pitchFamily="34" charset="0"/>
                <a:ea typeface="Consolas" pitchFamily="34" charset="-122"/>
                <a:cs typeface="Consolas" pitchFamily="34" charset="-120"/>
              </a:rPr>
              <a:t>ONLY POSSIBLE WITH RUVNET</a:t>
            </a:r>
            <a:endParaRPr lang="en-US" sz="1100" dirty="0"/>
          </a:p>
        </p:txBody>
      </p:sp>
      <p:sp>
        <p:nvSpPr>
          <p:cNvPr id="4" name="Text 2"/>
          <p:cNvSpPr/>
          <p:nvPr/>
        </p:nvSpPr>
        <p:spPr>
          <a:xfrm>
            <a:off x="731520" y="502920"/>
            <a:ext cx="7680960" cy="457200"/>
          </a:xfrm>
          <a:prstGeom prst="rect">
            <a:avLst/>
          </a:prstGeom>
          <a:noFill/>
          <a:ln/>
        </p:spPr>
        <p:txBody>
          <a:bodyPr wrap="square" lIns="0" tIns="0" rIns="0" bIns="0" rtlCol="0" anchor="ctr"/>
          <a:lstStyle/>
          <a:p>
            <a:pPr indent="0" marL="0">
              <a:buNone/>
            </a:pPr>
            <a:r>
              <a:rPr lang="en-US" sz="2600" b="1" dirty="0">
                <a:solidFill>
                  <a:srgbClr val="F8FAFC"/>
                </a:solidFill>
                <a:latin typeface="Cambria" pitchFamily="34" charset="0"/>
                <a:ea typeface="Cambria" pitchFamily="34" charset="-122"/>
                <a:cs typeface="Cambria" pitchFamily="34" charset="-120"/>
              </a:rPr>
              <a:t>Enterprise AI Without Data Leakage</a:t>
            </a:r>
            <a:endParaRPr lang="en-US" sz="2600" dirty="0"/>
          </a:p>
        </p:txBody>
      </p:sp>
      <p:sp>
        <p:nvSpPr>
          <p:cNvPr id="5" name="Text 3"/>
          <p:cNvSpPr/>
          <p:nvPr/>
        </p:nvSpPr>
        <p:spPr>
          <a:xfrm>
            <a:off x="731520" y="960120"/>
            <a:ext cx="7680960" cy="274320"/>
          </a:xfrm>
          <a:prstGeom prst="rect">
            <a:avLst/>
          </a:prstGeom>
          <a:noFill/>
          <a:ln/>
        </p:spPr>
        <p:txBody>
          <a:bodyPr wrap="square" lIns="0" tIns="0" rIns="0" bIns="0" rtlCol="0" anchor="ctr"/>
          <a:lstStyle/>
          <a:p>
            <a:pPr indent="0" marL="0">
              <a:buNone/>
            </a:pPr>
            <a:r>
              <a:rPr lang="en-US" sz="1300" dirty="0">
                <a:solidFill>
                  <a:srgbClr val="94A3B8"/>
                </a:solidFill>
                <a:latin typeface="Calibri" pitchFamily="34" charset="0"/>
                <a:ea typeface="Calibri" pitchFamily="34" charset="-122"/>
                <a:cs typeface="Calibri" pitchFamily="34" charset="-120"/>
              </a:rPr>
              <a:t>Every AI API sends your data to someone else's servers. RuVector runs inside your PostgreSQL.</a:t>
            </a:r>
            <a:endParaRPr lang="en-US" sz="1300" dirty="0"/>
          </a:p>
        </p:txBody>
      </p:sp>
      <p:sp>
        <p:nvSpPr>
          <p:cNvPr id="6" name="Shape 4"/>
          <p:cNvSpPr/>
          <p:nvPr/>
        </p:nvSpPr>
        <p:spPr>
          <a:xfrm>
            <a:off x="731520" y="1417320"/>
            <a:ext cx="3749040" cy="1645920"/>
          </a:xfrm>
          <a:prstGeom prst="rect">
            <a:avLst/>
          </a:prstGeom>
          <a:solidFill>
            <a:srgbClr val="1A1520"/>
          </a:solidFill>
          <a:ln/>
          <a:effectLst>
            <a:outerShdw sx="100000" sy="100000" kx="0" ky="0" algn="bl" rotWithShape="0" blurRad="76200" dist="25400" dir="8100000">
              <a:srgbClr val="000000">
                <a:alpha val="25000"/>
              </a:srgbClr>
            </a:outerShdw>
          </a:effectLst>
        </p:spPr>
      </p:sp>
      <p:sp>
        <p:nvSpPr>
          <p:cNvPr id="7" name="Shape 5"/>
          <p:cNvSpPr/>
          <p:nvPr/>
        </p:nvSpPr>
        <p:spPr>
          <a:xfrm>
            <a:off x="731520" y="1417320"/>
            <a:ext cx="3749040" cy="36576"/>
          </a:xfrm>
          <a:prstGeom prst="rect">
            <a:avLst/>
          </a:prstGeom>
          <a:solidFill>
            <a:srgbClr val="EF4444"/>
          </a:solidFill>
          <a:ln/>
        </p:spPr>
      </p:sp>
      <p:sp>
        <p:nvSpPr>
          <p:cNvPr id="8" name="Text 6"/>
          <p:cNvSpPr/>
          <p:nvPr/>
        </p:nvSpPr>
        <p:spPr>
          <a:xfrm>
            <a:off x="914400" y="1508760"/>
            <a:ext cx="3383280" cy="228600"/>
          </a:xfrm>
          <a:prstGeom prst="rect">
            <a:avLst/>
          </a:prstGeom>
          <a:noFill/>
          <a:ln/>
        </p:spPr>
        <p:txBody>
          <a:bodyPr wrap="square" lIns="0" tIns="0" rIns="0" bIns="0" rtlCol="0" anchor="ctr"/>
          <a:lstStyle/>
          <a:p>
            <a:pPr indent="0" marL="0">
              <a:buNone/>
            </a:pPr>
            <a:r>
              <a:rPr lang="en-US" sz="1100" b="1" dirty="0">
                <a:solidFill>
                  <a:srgbClr val="EF4444"/>
                </a:solidFill>
                <a:latin typeface="Consolas" pitchFamily="34" charset="0"/>
                <a:ea typeface="Consolas" pitchFamily="34" charset="-122"/>
                <a:cs typeface="Consolas" pitchFamily="34" charset="-120"/>
              </a:rPr>
              <a:t>Standard AI Architecture</a:t>
            </a:r>
            <a:endParaRPr lang="en-US" sz="1100" dirty="0"/>
          </a:p>
        </p:txBody>
      </p:sp>
      <p:sp>
        <p:nvSpPr>
          <p:cNvPr id="9" name="Text 7"/>
          <p:cNvSpPr/>
          <p:nvPr/>
        </p:nvSpPr>
        <p:spPr>
          <a:xfrm>
            <a:off x="914400" y="1783080"/>
            <a:ext cx="3383280" cy="228600"/>
          </a:xfrm>
          <a:prstGeom prst="rect">
            <a:avLst/>
          </a:prstGeom>
          <a:noFill/>
          <a:ln/>
        </p:spPr>
        <p:txBody>
          <a:bodyPr wrap="square" lIns="0" tIns="0" rIns="0" bIns="0" rtlCol="0" anchor="ctr"/>
          <a:lstStyle/>
          <a:p>
            <a:pPr indent="0" marL="0">
              <a:buNone/>
            </a:pPr>
            <a:r>
              <a:rPr lang="en-US" sz="1000" dirty="0">
                <a:solidFill>
                  <a:srgbClr val="94A3B8"/>
                </a:solidFill>
                <a:latin typeface="Consolas" pitchFamily="34" charset="0"/>
                <a:ea typeface="Consolas" pitchFamily="34" charset="-122"/>
                <a:cs typeface="Consolas" pitchFamily="34" charset="-120"/>
              </a:rPr>
              <a:t>Your Data → Internet → OpenAI/Google Servers → Response</a:t>
            </a:r>
            <a:endParaRPr lang="en-US" sz="1000" dirty="0"/>
          </a:p>
        </p:txBody>
      </p:sp>
      <p:sp>
        <p:nvSpPr>
          <p:cNvPr id="10" name="Text 8"/>
          <p:cNvSpPr/>
          <p:nvPr/>
        </p:nvSpPr>
        <p:spPr>
          <a:xfrm>
            <a:off x="914400" y="2057400"/>
            <a:ext cx="3383280" cy="914400"/>
          </a:xfrm>
          <a:prstGeom prst="rect">
            <a:avLst/>
          </a:prstGeom>
          <a:noFill/>
          <a:ln/>
        </p:spPr>
        <p:txBody>
          <a:bodyPr wrap="square" rtlCol="0" anchor="ctr"/>
          <a:lstStyle/>
          <a:p>
            <a:pPr marL="342900" indent="-342900">
              <a:spcAft>
                <a:spcPts val="300"/>
              </a:spcAft>
              <a:buSzPct val="100000"/>
              <a:buChar char="•"/>
            </a:pPr>
            <a:r>
              <a:rPr lang="en-US" sz="1000" dirty="0">
                <a:solidFill>
                  <a:srgbClr val="94A3B8"/>
                </a:solidFill>
                <a:latin typeface="Calibri" pitchFamily="34" charset="0"/>
                <a:ea typeface="Calibri" pitchFamily="34" charset="-122"/>
                <a:cs typeface="Calibri" pitchFamily="34" charset="-120"/>
              </a:rPr>
              <a:t>Data transmitted to third-party infrastructure</a:t>
            </a:r>
            <a:endParaRPr lang="en-US" sz="1000" dirty="0"/>
          </a:p>
          <a:p>
            <a:pPr marL="342900" indent="-342900">
              <a:spcAft>
                <a:spcPts val="300"/>
              </a:spcAft>
              <a:buSzPct val="100000"/>
              <a:buChar char="•"/>
            </a:pPr>
            <a:r>
              <a:rPr lang="en-US" sz="1000" dirty="0">
                <a:solidFill>
                  <a:srgbClr val="94A3B8"/>
                </a:solidFill>
                <a:latin typeface="Calibri" pitchFamily="34" charset="0"/>
                <a:ea typeface="Calibri" pitchFamily="34" charset="-122"/>
                <a:cs typeface="Calibri" pitchFamily="34" charset="-120"/>
              </a:rPr>
              <a:t>No audit trail of what happens to your data</a:t>
            </a:r>
            <a:endParaRPr lang="en-US" sz="1000" dirty="0"/>
          </a:p>
          <a:p>
            <a:pPr marL="342900" indent="-342900">
              <a:spcAft>
                <a:spcPts val="300"/>
              </a:spcAft>
              <a:buSzPct val="100000"/>
              <a:buChar char="•"/>
            </a:pPr>
            <a:r>
              <a:rPr lang="en-US" sz="1000" dirty="0">
                <a:solidFill>
                  <a:srgbClr val="94A3B8"/>
                </a:solidFill>
                <a:latin typeface="Calibri" pitchFamily="34" charset="0"/>
                <a:ea typeface="Calibri" pitchFamily="34" charset="-122"/>
                <a:cs typeface="Calibri" pitchFamily="34" charset="-120"/>
              </a:rPr>
              <a:t>Compliance teams block adoption</a:t>
            </a:r>
            <a:endParaRPr lang="en-US" sz="1000" dirty="0"/>
          </a:p>
          <a:p>
            <a:pPr marL="342900" indent="-342900">
              <a:spcAft>
                <a:spcPts val="300"/>
              </a:spcAft>
              <a:buSzPct val="100000"/>
              <a:buChar char="•"/>
            </a:pPr>
            <a:r>
              <a:rPr lang="en-US" sz="1000" dirty="0">
                <a:solidFill>
                  <a:srgbClr val="94A3B8"/>
                </a:solidFill>
                <a:latin typeface="Calibri" pitchFamily="34" charset="0"/>
                <a:ea typeface="Calibri" pitchFamily="34" charset="-122"/>
                <a:cs typeface="Calibri" pitchFamily="34" charset="-120"/>
              </a:rPr>
              <a:t>Network dependency = single point of failure</a:t>
            </a:r>
            <a:endParaRPr lang="en-US" sz="1000" dirty="0"/>
          </a:p>
        </p:txBody>
      </p:sp>
      <p:sp>
        <p:nvSpPr>
          <p:cNvPr id="11" name="Shape 9"/>
          <p:cNvSpPr/>
          <p:nvPr/>
        </p:nvSpPr>
        <p:spPr>
          <a:xfrm>
            <a:off x="4663440" y="1417320"/>
            <a:ext cx="3749040" cy="1645920"/>
          </a:xfrm>
          <a:prstGeom prst="rect">
            <a:avLst/>
          </a:prstGeom>
          <a:solidFill>
            <a:srgbClr val="0D2A2E"/>
          </a:solidFill>
          <a:ln/>
          <a:effectLst>
            <a:outerShdw sx="100000" sy="100000" kx="0" ky="0" algn="bl" rotWithShape="0" blurRad="76200" dist="25400" dir="8100000">
              <a:srgbClr val="000000">
                <a:alpha val="25000"/>
              </a:srgbClr>
            </a:outerShdw>
          </a:effectLst>
        </p:spPr>
      </p:sp>
      <p:sp>
        <p:nvSpPr>
          <p:cNvPr id="12" name="Shape 10"/>
          <p:cNvSpPr/>
          <p:nvPr/>
        </p:nvSpPr>
        <p:spPr>
          <a:xfrm>
            <a:off x="4663440" y="1417320"/>
            <a:ext cx="3749040" cy="36576"/>
          </a:xfrm>
          <a:prstGeom prst="rect">
            <a:avLst/>
          </a:prstGeom>
          <a:solidFill>
            <a:srgbClr val="06B6D4"/>
          </a:solidFill>
          <a:ln/>
        </p:spPr>
      </p:sp>
      <p:sp>
        <p:nvSpPr>
          <p:cNvPr id="13" name="Text 11"/>
          <p:cNvSpPr/>
          <p:nvPr/>
        </p:nvSpPr>
        <p:spPr>
          <a:xfrm>
            <a:off x="4846320" y="1508760"/>
            <a:ext cx="3383280" cy="228600"/>
          </a:xfrm>
          <a:prstGeom prst="rect">
            <a:avLst/>
          </a:prstGeom>
          <a:noFill/>
          <a:ln/>
        </p:spPr>
        <p:txBody>
          <a:bodyPr wrap="square" lIns="0" tIns="0" rIns="0" bIns="0" rtlCol="0" anchor="ctr"/>
          <a:lstStyle/>
          <a:p>
            <a:pPr indent="0" marL="0">
              <a:buNone/>
            </a:pPr>
            <a:r>
              <a:rPr lang="en-US" sz="1100" b="1" dirty="0">
                <a:solidFill>
                  <a:srgbClr val="06B6D4"/>
                </a:solidFill>
                <a:latin typeface="Consolas" pitchFamily="34" charset="0"/>
                <a:ea typeface="Consolas" pitchFamily="34" charset="-122"/>
                <a:cs typeface="Consolas" pitchFamily="34" charset="-120"/>
              </a:rPr>
              <a:t>RuvNet Architecture</a:t>
            </a:r>
            <a:endParaRPr lang="en-US" sz="1100" dirty="0"/>
          </a:p>
        </p:txBody>
      </p:sp>
      <p:sp>
        <p:nvSpPr>
          <p:cNvPr id="14" name="Text 12"/>
          <p:cNvSpPr/>
          <p:nvPr/>
        </p:nvSpPr>
        <p:spPr>
          <a:xfrm>
            <a:off x="4846320" y="1783080"/>
            <a:ext cx="3383280" cy="228600"/>
          </a:xfrm>
          <a:prstGeom prst="rect">
            <a:avLst/>
          </a:prstGeom>
          <a:noFill/>
          <a:ln/>
        </p:spPr>
        <p:txBody>
          <a:bodyPr wrap="square" lIns="0" tIns="0" rIns="0" bIns="0" rtlCol="0" anchor="ctr"/>
          <a:lstStyle/>
          <a:p>
            <a:pPr indent="0" marL="0">
              <a:buNone/>
            </a:pPr>
            <a:r>
              <a:rPr lang="en-US" sz="1000" dirty="0">
                <a:solidFill>
                  <a:srgbClr val="06B6D4"/>
                </a:solidFill>
                <a:latin typeface="Consolas" pitchFamily="34" charset="0"/>
                <a:ea typeface="Consolas" pitchFamily="34" charset="-122"/>
                <a:cs typeface="Consolas" pitchFamily="34" charset="-120"/>
              </a:rPr>
              <a:t>Your Data → Your PostgreSQL → RuVector (in-process) → Response</a:t>
            </a:r>
            <a:endParaRPr lang="en-US" sz="1000" dirty="0"/>
          </a:p>
        </p:txBody>
      </p:sp>
      <p:sp>
        <p:nvSpPr>
          <p:cNvPr id="15" name="Text 13"/>
          <p:cNvSpPr/>
          <p:nvPr/>
        </p:nvSpPr>
        <p:spPr>
          <a:xfrm>
            <a:off x="4846320" y="2057400"/>
            <a:ext cx="3383280" cy="914400"/>
          </a:xfrm>
          <a:prstGeom prst="rect">
            <a:avLst/>
          </a:prstGeom>
          <a:noFill/>
          <a:ln/>
        </p:spPr>
        <p:txBody>
          <a:bodyPr wrap="square" rtlCol="0" anchor="ctr"/>
          <a:lstStyle/>
          <a:p>
            <a:pPr marL="342900" indent="-342900">
              <a:spcAft>
                <a:spcPts val="300"/>
              </a:spcAft>
              <a:buSzPct val="100000"/>
              <a:buChar char="•"/>
            </a:pPr>
            <a:r>
              <a:rPr lang="en-US" sz="1000" dirty="0">
                <a:solidFill>
                  <a:srgbClr val="CBD5E1"/>
                </a:solidFill>
                <a:latin typeface="Calibri" pitchFamily="34" charset="0"/>
                <a:ea typeface="Calibri" pitchFamily="34" charset="-122"/>
                <a:cs typeface="Calibri" pitchFamily="34" charset="-120"/>
              </a:rPr>
              <a:t>290+ SQL functions run in your DB process</a:t>
            </a:r>
            <a:endParaRPr lang="en-US" sz="1000" dirty="0"/>
          </a:p>
          <a:p>
            <a:pPr marL="342900" indent="-342900">
              <a:spcAft>
                <a:spcPts val="300"/>
              </a:spcAft>
              <a:buSzPct val="100000"/>
              <a:buChar char="•"/>
            </a:pPr>
            <a:r>
              <a:rPr lang="en-US" sz="1000" dirty="0">
                <a:solidFill>
                  <a:srgbClr val="CBD5E1"/>
                </a:solidFill>
                <a:latin typeface="Calibri" pitchFamily="34" charset="0"/>
                <a:ea typeface="Calibri" pitchFamily="34" charset="-122"/>
                <a:cs typeface="Calibri" pitchFamily="34" charset="-120"/>
              </a:rPr>
              <a:t>AIMDS scans inbound AND outbound for leaks</a:t>
            </a:r>
            <a:endParaRPr lang="en-US" sz="1000" dirty="0"/>
          </a:p>
          <a:p>
            <a:pPr marL="342900" indent="-342900">
              <a:spcAft>
                <a:spcPts val="300"/>
              </a:spcAft>
              <a:buSzPct val="100000"/>
              <a:buChar char="•"/>
            </a:pPr>
            <a:r>
              <a:rPr lang="en-US" sz="1000" dirty="0">
                <a:solidFill>
                  <a:srgbClr val="CBD5E1"/>
                </a:solidFill>
                <a:latin typeface="Calibri" pitchFamily="34" charset="0"/>
                <a:ea typeface="Calibri" pitchFamily="34" charset="-122"/>
                <a:cs typeface="Calibri" pitchFamily="34" charset="-120"/>
              </a:rPr>
              <a:t>Witness chains: cryptographic audit of every op</a:t>
            </a:r>
            <a:endParaRPr lang="en-US" sz="1000" dirty="0"/>
          </a:p>
          <a:p>
            <a:pPr marL="342900" indent="-342900">
              <a:spcAft>
                <a:spcPts val="300"/>
              </a:spcAft>
              <a:buSzPct val="100000"/>
              <a:buChar char="•"/>
            </a:pPr>
            <a:r>
              <a:rPr lang="en-US" sz="1000" dirty="0">
                <a:solidFill>
                  <a:srgbClr val="CBD5E1"/>
                </a:solidFill>
                <a:latin typeface="Calibri" pitchFamily="34" charset="0"/>
                <a:ea typeface="Calibri" pitchFamily="34" charset="-122"/>
                <a:cs typeface="Calibri" pitchFamily="34" charset="-120"/>
              </a:rPr>
              <a:t>Air-gap with RVF containers — zero network code</a:t>
            </a:r>
            <a:endParaRPr lang="en-US" sz="1000" dirty="0"/>
          </a:p>
        </p:txBody>
      </p:sp>
      <p:sp>
        <p:nvSpPr>
          <p:cNvPr id="16" name="Shape 14"/>
          <p:cNvSpPr/>
          <p:nvPr/>
        </p:nvSpPr>
        <p:spPr>
          <a:xfrm>
            <a:off x="731520" y="3291840"/>
            <a:ext cx="7680960" cy="914400"/>
          </a:xfrm>
          <a:prstGeom prst="rect">
            <a:avLst/>
          </a:prstGeom>
          <a:solidFill>
            <a:srgbClr val="1A2744"/>
          </a:solidFill>
          <a:ln/>
        </p:spPr>
      </p:sp>
      <p:sp>
        <p:nvSpPr>
          <p:cNvPr id="17" name="Text 15"/>
          <p:cNvSpPr/>
          <p:nvPr/>
        </p:nvSpPr>
        <p:spPr>
          <a:xfrm>
            <a:off x="914400" y="3337560"/>
            <a:ext cx="3657600" cy="228600"/>
          </a:xfrm>
          <a:prstGeom prst="rect">
            <a:avLst/>
          </a:prstGeom>
          <a:noFill/>
          <a:ln/>
        </p:spPr>
        <p:txBody>
          <a:bodyPr wrap="square" lIns="0" tIns="0" rIns="0" bIns="0" rtlCol="0" anchor="ctr"/>
          <a:lstStyle/>
          <a:p>
            <a:pPr indent="0" marL="0">
              <a:buNone/>
            </a:pPr>
            <a:r>
              <a:rPr lang="en-US" sz="1100" b="1" dirty="0">
                <a:solidFill>
                  <a:srgbClr val="F59E0B"/>
                </a:solidFill>
                <a:latin typeface="Consolas" pitchFamily="34" charset="0"/>
                <a:ea typeface="Consolas" pitchFamily="34" charset="-122"/>
                <a:cs typeface="Consolas" pitchFamily="34" charset="-120"/>
              </a:rPr>
              <a:t>EXAMPLE: Bank Loan Portfolio Analysis</a:t>
            </a:r>
            <a:endParaRPr lang="en-US" sz="1100" dirty="0"/>
          </a:p>
        </p:txBody>
      </p:sp>
      <p:sp>
        <p:nvSpPr>
          <p:cNvPr id="18" name="Text 16"/>
          <p:cNvSpPr/>
          <p:nvPr/>
        </p:nvSpPr>
        <p:spPr>
          <a:xfrm>
            <a:off x="914400" y="3611880"/>
            <a:ext cx="7315200" cy="548640"/>
          </a:xfrm>
          <a:prstGeom prst="rect">
            <a:avLst/>
          </a:prstGeom>
          <a:noFill/>
          <a:ln/>
        </p:spPr>
        <p:txBody>
          <a:bodyPr wrap="square" lIns="0" tIns="0" rIns="0" bIns="0" rtlCol="0" anchor="ctr"/>
          <a:lstStyle/>
          <a:p>
            <a:pPr indent="0" marL="0">
              <a:buNone/>
            </a:pPr>
            <a:r>
              <a:rPr lang="en-US" sz="1000" dirty="0">
                <a:solidFill>
                  <a:srgbClr val="94A3B8"/>
                </a:solidFill>
                <a:latin typeface="Calibri" pitchFamily="34" charset="0"/>
                <a:ea typeface="Calibri" pitchFamily="34" charset="-122"/>
                <a:cs typeface="Calibri" pitchFamily="34" charset="-120"/>
              </a:rPr>
              <a:t>10 years of loan performance data. Millions of records. With standard AI: compliance blocks the project because data would leave the network. With RuVector: deploy as a PostgreSQL extension on your existing DB. AIMDS enforces PII redaction. AI analyzes everything in-place. HNSW finds similar historical patterns in 61µs. Compliance signs off day one because zero data leaves the building.</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6B6D4"/>
          </a:solidFill>
          <a:ln/>
        </p:spPr>
      </p:sp>
      <p:sp>
        <p:nvSpPr>
          <p:cNvPr id="3" name="Text 1"/>
          <p:cNvSpPr/>
          <p:nvPr/>
        </p:nvSpPr>
        <p:spPr>
          <a:xfrm>
            <a:off x="731520" y="274320"/>
            <a:ext cx="3657600" cy="228600"/>
          </a:xfrm>
          <a:prstGeom prst="rect">
            <a:avLst/>
          </a:prstGeom>
          <a:noFill/>
          <a:ln/>
        </p:spPr>
        <p:txBody>
          <a:bodyPr wrap="square" lIns="0" tIns="0" rIns="0" bIns="0" rtlCol="0" anchor="ctr"/>
          <a:lstStyle/>
          <a:p>
            <a:pPr indent="0" marL="0">
              <a:buNone/>
            </a:pPr>
            <a:r>
              <a:rPr lang="en-US" sz="1100" b="1" spc="300" kern="0" dirty="0">
                <a:solidFill>
                  <a:srgbClr val="F59E0B"/>
                </a:solidFill>
                <a:latin typeface="Consolas" pitchFamily="34" charset="0"/>
                <a:ea typeface="Consolas" pitchFamily="34" charset="-122"/>
                <a:cs typeface="Consolas" pitchFamily="34" charset="-120"/>
              </a:rPr>
              <a:t>ONLY POSSIBLE WITH RUVNET</a:t>
            </a:r>
            <a:endParaRPr lang="en-US" sz="1100" dirty="0"/>
          </a:p>
        </p:txBody>
      </p:sp>
      <p:sp>
        <p:nvSpPr>
          <p:cNvPr id="4" name="Text 2"/>
          <p:cNvSpPr/>
          <p:nvPr/>
        </p:nvSpPr>
        <p:spPr>
          <a:xfrm>
            <a:off x="731520" y="502920"/>
            <a:ext cx="7680960" cy="457200"/>
          </a:xfrm>
          <a:prstGeom prst="rect">
            <a:avLst/>
          </a:prstGeom>
          <a:noFill/>
          <a:ln/>
        </p:spPr>
        <p:txBody>
          <a:bodyPr wrap="square" lIns="0" tIns="0" rIns="0" bIns="0" rtlCol="0" anchor="ctr"/>
          <a:lstStyle/>
          <a:p>
            <a:pPr indent="0" marL="0">
              <a:buNone/>
            </a:pPr>
            <a:r>
              <a:rPr lang="en-US" sz="2800" b="1" dirty="0">
                <a:solidFill>
                  <a:srgbClr val="F8FAFC"/>
                </a:solidFill>
                <a:latin typeface="Cambria" pitchFamily="34" charset="0"/>
                <a:ea typeface="Cambria" pitchFamily="34" charset="-122"/>
                <a:cs typeface="Cambria" pitchFamily="34" charset="-120"/>
              </a:rPr>
              <a:t>Ship AI in 5.5 Kilobytes</a:t>
            </a:r>
            <a:endParaRPr lang="en-US" sz="2800" dirty="0"/>
          </a:p>
        </p:txBody>
      </p:sp>
      <p:sp>
        <p:nvSpPr>
          <p:cNvPr id="5" name="Text 3"/>
          <p:cNvSpPr/>
          <p:nvPr/>
        </p:nvSpPr>
        <p:spPr>
          <a:xfrm>
            <a:off x="731520" y="960120"/>
            <a:ext cx="7680960" cy="457200"/>
          </a:xfrm>
          <a:prstGeom prst="rect">
            <a:avLst/>
          </a:prstGeom>
          <a:noFill/>
          <a:ln/>
        </p:spPr>
        <p:txBody>
          <a:bodyPr wrap="square" lIns="0" tIns="0" rIns="0" bIns="0" rtlCol="0" anchor="ctr"/>
          <a:lstStyle/>
          <a:p>
            <a:pPr indent="0" marL="0">
              <a:buNone/>
            </a:pPr>
            <a:r>
              <a:rPr lang="en-US" sz="1300" dirty="0">
                <a:solidFill>
                  <a:srgbClr val="94A3B8"/>
                </a:solidFill>
                <a:latin typeface="Calibri" pitchFamily="34" charset="0"/>
                <a:ea typeface="Calibri" pitchFamily="34" charset="-122"/>
                <a:cs typeface="Calibri" pitchFamily="34" charset="-120"/>
              </a:rPr>
              <a:t>RVF containers pack model + logic + vector search + memory + security into one file.</a:t>
            </a:r>
            <a:endParaRPr lang="en-US" sz="1300" dirty="0"/>
          </a:p>
          <a:p>
            <a:pPr indent="0" marL="0">
              <a:buNone/>
            </a:pPr>
            <a:r>
              <a:rPr lang="en-US" sz="1300" dirty="0">
                <a:solidFill>
                  <a:srgbClr val="94A3B8"/>
                </a:solidFill>
                <a:latin typeface="Calibri" pitchFamily="34" charset="0"/>
                <a:ea typeface="Calibri" pitchFamily="34" charset="-122"/>
                <a:cs typeface="Calibri" pitchFamily="34" charset="-120"/>
              </a:rPr>
              <a:t>The WASM runtime is 5.5KB. That's smaller than this sentence in most fonts.</a:t>
            </a:r>
            <a:endParaRPr lang="en-US" sz="1300" dirty="0"/>
          </a:p>
        </p:txBody>
      </p:sp>
      <p:sp>
        <p:nvSpPr>
          <p:cNvPr id="6" name="Shape 4"/>
          <p:cNvSpPr/>
          <p:nvPr/>
        </p:nvSpPr>
        <p:spPr>
          <a:xfrm>
            <a:off x="731520" y="1600200"/>
            <a:ext cx="7680960" cy="822960"/>
          </a:xfrm>
          <a:prstGeom prst="rect">
            <a:avLst/>
          </a:prstGeom>
          <a:solidFill>
            <a:srgbClr val="1E293B"/>
          </a:solidFill>
          <a:ln/>
          <a:effectLst>
            <a:outerShdw sx="100000" sy="100000" kx="0" ky="0" algn="bl" rotWithShape="0" blurRad="76200" dist="25400" dir="8100000">
              <a:srgbClr val="000000">
                <a:alpha val="25000"/>
              </a:srgbClr>
            </a:outerShdw>
          </a:effectLst>
        </p:spPr>
      </p:sp>
      <p:sp>
        <p:nvSpPr>
          <p:cNvPr id="7" name="Shape 5"/>
          <p:cNvSpPr/>
          <p:nvPr/>
        </p:nvSpPr>
        <p:spPr>
          <a:xfrm>
            <a:off x="731520" y="1600200"/>
            <a:ext cx="54864" cy="822960"/>
          </a:xfrm>
          <a:prstGeom prst="rect">
            <a:avLst/>
          </a:prstGeom>
          <a:solidFill>
            <a:srgbClr val="06B6D4"/>
          </a:solidFill>
          <a:ln/>
        </p:spPr>
      </p:sp>
      <p:sp>
        <p:nvSpPr>
          <p:cNvPr id="8" name="Text 6"/>
          <p:cNvSpPr/>
          <p:nvPr/>
        </p:nvSpPr>
        <p:spPr>
          <a:xfrm>
            <a:off x="1005840" y="1645920"/>
            <a:ext cx="3657600" cy="228600"/>
          </a:xfrm>
          <a:prstGeom prst="rect">
            <a:avLst/>
          </a:prstGeom>
          <a:noFill/>
          <a:ln/>
        </p:spPr>
        <p:txBody>
          <a:bodyPr wrap="square" lIns="0" tIns="0" rIns="0" bIns="0" rtlCol="0" anchor="ctr"/>
          <a:lstStyle/>
          <a:p>
            <a:pPr indent="0" marL="0">
              <a:buNone/>
            </a:pPr>
            <a:r>
              <a:rPr lang="en-US" sz="1300" b="1" dirty="0">
                <a:solidFill>
                  <a:srgbClr val="06B6D4"/>
                </a:solidFill>
                <a:latin typeface="Consolas" pitchFamily="34" charset="0"/>
                <a:ea typeface="Consolas" pitchFamily="34" charset="-122"/>
                <a:cs typeface="Consolas" pitchFamily="34" charset="-120"/>
              </a:rPr>
              <a:t>rvDNA: Genomics on a Phone</a:t>
            </a:r>
            <a:endParaRPr lang="en-US" sz="1300" dirty="0"/>
          </a:p>
        </p:txBody>
      </p:sp>
      <p:sp>
        <p:nvSpPr>
          <p:cNvPr id="9" name="Text 7"/>
          <p:cNvSpPr/>
          <p:nvPr/>
        </p:nvSpPr>
        <p:spPr>
          <a:xfrm>
            <a:off x="5029200" y="1645920"/>
            <a:ext cx="3200400" cy="228600"/>
          </a:xfrm>
          <a:prstGeom prst="rect">
            <a:avLst/>
          </a:prstGeom>
          <a:noFill/>
          <a:ln/>
        </p:spPr>
        <p:txBody>
          <a:bodyPr wrap="square" lIns="0" tIns="0" rIns="0" bIns="0" rtlCol="0" anchor="ctr"/>
          <a:lstStyle/>
          <a:p>
            <a:pPr algn="r" indent="0" marL="0">
              <a:buNone/>
            </a:pPr>
            <a:r>
              <a:rPr lang="en-US" sz="1000" dirty="0">
                <a:solidFill>
                  <a:srgbClr val="06B6D4"/>
                </a:solidFill>
                <a:latin typeface="Consolas" pitchFamily="34" charset="0"/>
                <a:ea typeface="Consolas" pitchFamily="34" charset="-122"/>
                <a:cs typeface="Consolas" pitchFamily="34" charset="-120"/>
              </a:rPr>
              <a:t>3B base pairs | &lt;100ms | 7.2KB WASM</a:t>
            </a:r>
            <a:endParaRPr lang="en-US" sz="1000" dirty="0"/>
          </a:p>
        </p:txBody>
      </p:sp>
      <p:sp>
        <p:nvSpPr>
          <p:cNvPr id="10" name="Text 8"/>
          <p:cNvSpPr/>
          <p:nvPr/>
        </p:nvSpPr>
        <p:spPr>
          <a:xfrm>
            <a:off x="1005840" y="1920240"/>
            <a:ext cx="7132320" cy="457200"/>
          </a:xfrm>
          <a:prstGeom prst="rect">
            <a:avLst/>
          </a:prstGeom>
          <a:noFill/>
          <a:ln/>
        </p:spPr>
        <p:txBody>
          <a:bodyPr wrap="square" lIns="0" tIns="0" rIns="0" bIns="0" rtlCol="0" anchor="ctr"/>
          <a:lstStyle/>
          <a:p>
            <a:pPr indent="0" marL="0">
              <a:buNone/>
            </a:pPr>
            <a:r>
              <a:rPr lang="en-US" sz="1050" dirty="0">
                <a:solidFill>
                  <a:srgbClr val="94A3B8"/>
                </a:solidFill>
                <a:latin typeface="Calibri" pitchFamily="34" charset="0"/>
                <a:ea typeface="Calibri" pitchFamily="34" charset="-122"/>
                <a:cs typeface="Calibri" pitchFamily="34" charset="-120"/>
              </a:rPr>
              <a:t>3 BILLION DNA base pairs processed in &lt;100ms. Variant calling at 155 ns/SNP. Horvath Clock biological age analysis. Pharmacogenomics drug dosing. All in a browser tab. A $50 phone becomes a genomics lab.</a:t>
            </a:r>
            <a:endParaRPr lang="en-US" sz="1050" dirty="0"/>
          </a:p>
        </p:txBody>
      </p:sp>
      <p:sp>
        <p:nvSpPr>
          <p:cNvPr id="11" name="Shape 9"/>
          <p:cNvSpPr/>
          <p:nvPr/>
        </p:nvSpPr>
        <p:spPr>
          <a:xfrm>
            <a:off x="731520" y="2606040"/>
            <a:ext cx="7680960" cy="822960"/>
          </a:xfrm>
          <a:prstGeom prst="rect">
            <a:avLst/>
          </a:prstGeom>
          <a:solidFill>
            <a:srgbClr val="1E293B"/>
          </a:solidFill>
          <a:ln/>
          <a:effectLst>
            <a:outerShdw sx="100000" sy="100000" kx="0" ky="0" algn="bl" rotWithShape="0" blurRad="76200" dist="25400" dir="8100000">
              <a:srgbClr val="000000">
                <a:alpha val="25000"/>
              </a:srgbClr>
            </a:outerShdw>
          </a:effectLst>
        </p:spPr>
      </p:sp>
      <p:sp>
        <p:nvSpPr>
          <p:cNvPr id="12" name="Shape 10"/>
          <p:cNvSpPr/>
          <p:nvPr/>
        </p:nvSpPr>
        <p:spPr>
          <a:xfrm>
            <a:off x="731520" y="2606040"/>
            <a:ext cx="54864" cy="822960"/>
          </a:xfrm>
          <a:prstGeom prst="rect">
            <a:avLst/>
          </a:prstGeom>
          <a:solidFill>
            <a:srgbClr val="0EA5E9"/>
          </a:solidFill>
          <a:ln/>
        </p:spPr>
      </p:sp>
      <p:sp>
        <p:nvSpPr>
          <p:cNvPr id="13" name="Text 11"/>
          <p:cNvSpPr/>
          <p:nvPr/>
        </p:nvSpPr>
        <p:spPr>
          <a:xfrm>
            <a:off x="1005840" y="2651760"/>
            <a:ext cx="3657600" cy="228600"/>
          </a:xfrm>
          <a:prstGeom prst="rect">
            <a:avLst/>
          </a:prstGeom>
          <a:noFill/>
          <a:ln/>
        </p:spPr>
        <p:txBody>
          <a:bodyPr wrap="square" lIns="0" tIns="0" rIns="0" bIns="0" rtlCol="0" anchor="ctr"/>
          <a:lstStyle/>
          <a:p>
            <a:pPr indent="0" marL="0">
              <a:buNone/>
            </a:pPr>
            <a:r>
              <a:rPr lang="en-US" sz="1300" b="1" dirty="0">
                <a:solidFill>
                  <a:srgbClr val="0EA5E9"/>
                </a:solidFill>
                <a:latin typeface="Consolas" pitchFamily="34" charset="0"/>
                <a:ea typeface="Consolas" pitchFamily="34" charset="-122"/>
                <a:cs typeface="Consolas" pitchFamily="34" charset="-120"/>
              </a:rPr>
              <a:t>Offline Field Intelligence</a:t>
            </a:r>
            <a:endParaRPr lang="en-US" sz="1300" dirty="0"/>
          </a:p>
        </p:txBody>
      </p:sp>
      <p:sp>
        <p:nvSpPr>
          <p:cNvPr id="14" name="Text 12"/>
          <p:cNvSpPr/>
          <p:nvPr/>
        </p:nvSpPr>
        <p:spPr>
          <a:xfrm>
            <a:off x="5029200" y="2651760"/>
            <a:ext cx="3200400" cy="228600"/>
          </a:xfrm>
          <a:prstGeom prst="rect">
            <a:avLst/>
          </a:prstGeom>
          <a:noFill/>
          <a:ln/>
        </p:spPr>
        <p:txBody>
          <a:bodyPr wrap="square" lIns="0" tIns="0" rIns="0" bIns="0" rtlCol="0" anchor="ctr"/>
          <a:lstStyle/>
          <a:p>
            <a:pPr algn="r" indent="0" marL="0">
              <a:buNone/>
            </a:pPr>
            <a:r>
              <a:rPr lang="en-US" sz="1000" dirty="0">
                <a:solidFill>
                  <a:srgbClr val="0EA5E9"/>
                </a:solidFill>
                <a:latin typeface="Consolas" pitchFamily="34" charset="0"/>
                <a:ea typeface="Consolas" pitchFamily="34" charset="-122"/>
                <a:cs typeface="Consolas" pitchFamily="34" charset="-120"/>
              </a:rPr>
              <a:t>Zero backend | Zero latency | Full AI</a:t>
            </a:r>
            <a:endParaRPr lang="en-US" sz="1000" dirty="0"/>
          </a:p>
        </p:txBody>
      </p:sp>
      <p:sp>
        <p:nvSpPr>
          <p:cNvPr id="15" name="Text 13"/>
          <p:cNvSpPr/>
          <p:nvPr/>
        </p:nvSpPr>
        <p:spPr>
          <a:xfrm>
            <a:off x="1005840" y="2926080"/>
            <a:ext cx="7132320" cy="457200"/>
          </a:xfrm>
          <a:prstGeom prst="rect">
            <a:avLst/>
          </a:prstGeom>
          <a:noFill/>
          <a:ln/>
        </p:spPr>
        <p:txBody>
          <a:bodyPr wrap="square" lIns="0" tIns="0" rIns="0" bIns="0" rtlCol="0" anchor="ctr"/>
          <a:lstStyle/>
          <a:p>
            <a:pPr indent="0" marL="0">
              <a:buNone/>
            </a:pPr>
            <a:r>
              <a:rPr lang="en-US" sz="1050" dirty="0">
                <a:solidFill>
                  <a:srgbClr val="94A3B8"/>
                </a:solidFill>
                <a:latin typeface="Calibri" pitchFamily="34" charset="0"/>
                <a:ea typeface="Calibri" pitchFamily="34" charset="-122"/>
                <a:cs typeface="Calibri" pitchFamily="34" charset="-120"/>
              </a:rPr>
              <a:t>Entire equipment manual + troubleshooting history + diagnostic AI in one .rvf file. The file IS the server. Works underground, underwater, in a mine shaft. Agent carries full organizational knowledge without connectivity.</a:t>
            </a:r>
            <a:endParaRPr lang="en-US" sz="1050" dirty="0"/>
          </a:p>
        </p:txBody>
      </p:sp>
      <p:sp>
        <p:nvSpPr>
          <p:cNvPr id="16" name="Shape 14"/>
          <p:cNvSpPr/>
          <p:nvPr/>
        </p:nvSpPr>
        <p:spPr>
          <a:xfrm>
            <a:off x="731520" y="3611880"/>
            <a:ext cx="7680960" cy="822960"/>
          </a:xfrm>
          <a:prstGeom prst="rect">
            <a:avLst/>
          </a:prstGeom>
          <a:solidFill>
            <a:srgbClr val="1E293B"/>
          </a:solidFill>
          <a:ln/>
          <a:effectLst>
            <a:outerShdw sx="100000" sy="100000" kx="0" ky="0" algn="bl" rotWithShape="0" blurRad="76200" dist="25400" dir="8100000">
              <a:srgbClr val="000000">
                <a:alpha val="25000"/>
              </a:srgbClr>
            </a:outerShdw>
          </a:effectLst>
        </p:spPr>
      </p:sp>
      <p:sp>
        <p:nvSpPr>
          <p:cNvPr id="17" name="Shape 15"/>
          <p:cNvSpPr/>
          <p:nvPr/>
        </p:nvSpPr>
        <p:spPr>
          <a:xfrm>
            <a:off x="731520" y="3611880"/>
            <a:ext cx="54864" cy="822960"/>
          </a:xfrm>
          <a:prstGeom prst="rect">
            <a:avLst/>
          </a:prstGeom>
          <a:solidFill>
            <a:srgbClr val="8B5CF6"/>
          </a:solidFill>
          <a:ln/>
        </p:spPr>
      </p:sp>
      <p:sp>
        <p:nvSpPr>
          <p:cNvPr id="18" name="Text 16"/>
          <p:cNvSpPr/>
          <p:nvPr/>
        </p:nvSpPr>
        <p:spPr>
          <a:xfrm>
            <a:off x="1005840" y="3657600"/>
            <a:ext cx="3657600" cy="228600"/>
          </a:xfrm>
          <a:prstGeom prst="rect">
            <a:avLst/>
          </a:prstGeom>
          <a:noFill/>
          <a:ln/>
        </p:spPr>
        <p:txBody>
          <a:bodyPr wrap="square" lIns="0" tIns="0" rIns="0" bIns="0" rtlCol="0" anchor="ctr"/>
          <a:lstStyle/>
          <a:p>
            <a:pPr indent="0" marL="0">
              <a:buNone/>
            </a:pPr>
            <a:r>
              <a:rPr lang="en-US" sz="1300" b="1" dirty="0">
                <a:solidFill>
                  <a:srgbClr val="8B5CF6"/>
                </a:solidFill>
                <a:latin typeface="Consolas" pitchFamily="34" charset="0"/>
                <a:ea typeface="Consolas" pitchFamily="34" charset="-122"/>
                <a:cs typeface="Consolas" pitchFamily="34" charset="-120"/>
              </a:rPr>
              <a:t>Browser-Native Enterprise Search</a:t>
            </a:r>
            <a:endParaRPr lang="en-US" sz="1300" dirty="0"/>
          </a:p>
        </p:txBody>
      </p:sp>
      <p:sp>
        <p:nvSpPr>
          <p:cNvPr id="19" name="Text 17"/>
          <p:cNvSpPr/>
          <p:nvPr/>
        </p:nvSpPr>
        <p:spPr>
          <a:xfrm>
            <a:off x="5029200" y="3657600"/>
            <a:ext cx="3200400" cy="228600"/>
          </a:xfrm>
          <a:prstGeom prst="rect">
            <a:avLst/>
          </a:prstGeom>
          <a:noFill/>
          <a:ln/>
        </p:spPr>
        <p:txBody>
          <a:bodyPr wrap="square" lIns="0" tIns="0" rIns="0" bIns="0" rtlCol="0" anchor="ctr"/>
          <a:lstStyle/>
          <a:p>
            <a:pPr algn="r" indent="0" marL="0">
              <a:buNone/>
            </a:pPr>
            <a:r>
              <a:rPr lang="en-US" sz="1000" dirty="0">
                <a:solidFill>
                  <a:srgbClr val="8B5CF6"/>
                </a:solidFill>
                <a:latin typeface="Consolas" pitchFamily="34" charset="0"/>
                <a:ea typeface="Consolas" pitchFamily="34" charset="-122"/>
                <a:cs typeface="Consolas" pitchFamily="34" charset="-120"/>
              </a:rPr>
              <a:t>7.2KB engine | Client-side | Zero infra</a:t>
            </a:r>
            <a:endParaRPr lang="en-US" sz="1000" dirty="0"/>
          </a:p>
        </p:txBody>
      </p:sp>
      <p:sp>
        <p:nvSpPr>
          <p:cNvPr id="20" name="Text 18"/>
          <p:cNvSpPr/>
          <p:nvPr/>
        </p:nvSpPr>
        <p:spPr>
          <a:xfrm>
            <a:off x="1005840" y="3931920"/>
            <a:ext cx="7132320" cy="457200"/>
          </a:xfrm>
          <a:prstGeom prst="rect">
            <a:avLst/>
          </a:prstGeom>
          <a:noFill/>
          <a:ln/>
        </p:spPr>
        <p:txBody>
          <a:bodyPr wrap="square" lIns="0" tIns="0" rIns="0" bIns="0" rtlCol="0" anchor="ctr"/>
          <a:lstStyle/>
          <a:p>
            <a:pPr indent="0" marL="0">
              <a:buNone/>
            </a:pPr>
            <a:r>
              <a:rPr lang="en-US" sz="1050" dirty="0">
                <a:solidFill>
                  <a:srgbClr val="94A3B8"/>
                </a:solidFill>
                <a:latin typeface="Calibri" pitchFamily="34" charset="0"/>
                <a:ea typeface="Calibri" pitchFamily="34" charset="-122"/>
                <a:cs typeface="Calibri" pitchFamily="34" charset="-120"/>
              </a:rPr>
              <a:t>Micro-HNSW runs the complete vector search engine client-side. User opens a web page — no installation, no server, no API keys. Search 100K+ documents semantically in the browser. IT deploys nothing.</a:t>
            </a:r>
            <a:endParaRPr lang="en-US" sz="1050" dirty="0"/>
          </a:p>
        </p:txBody>
      </p:sp>
      <p:sp>
        <p:nvSpPr>
          <p:cNvPr id="21" name="Shape 19"/>
          <p:cNvSpPr/>
          <p:nvPr/>
        </p:nvSpPr>
        <p:spPr>
          <a:xfrm>
            <a:off x="731520" y="4663440"/>
            <a:ext cx="7680960" cy="365760"/>
          </a:xfrm>
          <a:prstGeom prst="rect">
            <a:avLst/>
          </a:prstGeom>
          <a:solidFill>
            <a:srgbClr val="1A2744"/>
          </a:solidFill>
          <a:ln/>
        </p:spPr>
      </p:sp>
      <p:sp>
        <p:nvSpPr>
          <p:cNvPr id="22" name="Text 20"/>
          <p:cNvSpPr/>
          <p:nvPr/>
        </p:nvSpPr>
        <p:spPr>
          <a:xfrm>
            <a:off x="914400" y="4663440"/>
            <a:ext cx="7315200" cy="365760"/>
          </a:xfrm>
          <a:prstGeom prst="rect">
            <a:avLst/>
          </a:prstGeom>
          <a:noFill/>
          <a:ln/>
        </p:spPr>
        <p:txBody>
          <a:bodyPr wrap="square" lIns="0" tIns="0" rIns="0" bIns="0" rtlCol="0" anchor="ctr"/>
          <a:lstStyle/>
          <a:p>
            <a:pPr indent="0" marL="0">
              <a:buNone/>
            </a:pPr>
            <a:r>
              <a:rPr lang="en-US" sz="1050" dirty="0">
                <a:solidFill>
                  <a:srgbClr val="06B6D4"/>
                </a:solidFill>
                <a:latin typeface="Calibri" pitchFamily="34" charset="0"/>
                <a:ea typeface="Calibri" pitchFamily="34" charset="-122"/>
                <a:cs typeface="Calibri" pitchFamily="34" charset="-120"/>
              </a:rPr>
              <a:t>Three compute tiers: WASM (5.5KB, browser) → eBPF (kernel bypass, 10Gbps+) → Unikernel (125ms Linux boot, bare metal)</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6B6D4"/>
          </a:solidFill>
          <a:ln/>
        </p:spPr>
      </p:sp>
      <p:sp>
        <p:nvSpPr>
          <p:cNvPr id="3" name="Text 1"/>
          <p:cNvSpPr/>
          <p:nvPr/>
        </p:nvSpPr>
        <p:spPr>
          <a:xfrm>
            <a:off x="731520" y="274320"/>
            <a:ext cx="3657600" cy="228600"/>
          </a:xfrm>
          <a:prstGeom prst="rect">
            <a:avLst/>
          </a:prstGeom>
          <a:noFill/>
          <a:ln/>
        </p:spPr>
        <p:txBody>
          <a:bodyPr wrap="square" lIns="0" tIns="0" rIns="0" bIns="0" rtlCol="0" anchor="ctr"/>
          <a:lstStyle/>
          <a:p>
            <a:pPr indent="0" marL="0">
              <a:buNone/>
            </a:pPr>
            <a:r>
              <a:rPr lang="en-US" sz="1100" b="1" spc="300" kern="0" dirty="0">
                <a:solidFill>
                  <a:srgbClr val="F59E0B"/>
                </a:solidFill>
                <a:latin typeface="Consolas" pitchFamily="34" charset="0"/>
                <a:ea typeface="Consolas" pitchFamily="34" charset="-122"/>
                <a:cs typeface="Consolas" pitchFamily="34" charset="-120"/>
              </a:rPr>
              <a:t>ONLY POSSIBLE WITH RUVNET</a:t>
            </a:r>
            <a:endParaRPr lang="en-US" sz="1100" dirty="0"/>
          </a:p>
        </p:txBody>
      </p:sp>
      <p:sp>
        <p:nvSpPr>
          <p:cNvPr id="4" name="Text 2"/>
          <p:cNvSpPr/>
          <p:nvPr/>
        </p:nvSpPr>
        <p:spPr>
          <a:xfrm>
            <a:off x="731520" y="502920"/>
            <a:ext cx="7680960" cy="457200"/>
          </a:xfrm>
          <a:prstGeom prst="rect">
            <a:avLst/>
          </a:prstGeom>
          <a:noFill/>
          <a:ln/>
        </p:spPr>
        <p:txBody>
          <a:bodyPr wrap="square" lIns="0" tIns="0" rIns="0" bIns="0" rtlCol="0" anchor="ctr"/>
          <a:lstStyle/>
          <a:p>
            <a:pPr indent="0" marL="0">
              <a:buNone/>
            </a:pPr>
            <a:r>
              <a:rPr lang="en-US" sz="2600" b="1" dirty="0">
                <a:solidFill>
                  <a:srgbClr val="F8FAFC"/>
                </a:solidFill>
                <a:latin typeface="Cambria" pitchFamily="34" charset="0"/>
                <a:ea typeface="Cambria" pitchFamily="34" charset="-122"/>
                <a:cs typeface="Cambria" pitchFamily="34" charset="-120"/>
              </a:rPr>
              <a:t>Integrate at the Knowledge Level, Not SQL</a:t>
            </a:r>
            <a:endParaRPr lang="en-US" sz="2600" dirty="0"/>
          </a:p>
        </p:txBody>
      </p:sp>
      <p:sp>
        <p:nvSpPr>
          <p:cNvPr id="5" name="Shape 3"/>
          <p:cNvSpPr/>
          <p:nvPr/>
        </p:nvSpPr>
        <p:spPr>
          <a:xfrm>
            <a:off x="731520" y="1143000"/>
            <a:ext cx="3749040" cy="1371600"/>
          </a:xfrm>
          <a:prstGeom prst="rect">
            <a:avLst/>
          </a:prstGeom>
          <a:solidFill>
            <a:srgbClr val="1A1520"/>
          </a:solidFill>
          <a:ln/>
          <a:effectLst>
            <a:outerShdw sx="100000" sy="100000" kx="0" ky="0" algn="bl" rotWithShape="0" blurRad="76200" dist="25400" dir="8100000">
              <a:srgbClr val="000000">
                <a:alpha val="25000"/>
              </a:srgbClr>
            </a:outerShdw>
          </a:effectLst>
        </p:spPr>
      </p:sp>
      <p:sp>
        <p:nvSpPr>
          <p:cNvPr id="6" name="Shape 4"/>
          <p:cNvSpPr/>
          <p:nvPr/>
        </p:nvSpPr>
        <p:spPr>
          <a:xfrm>
            <a:off x="731520" y="1143000"/>
            <a:ext cx="3749040" cy="36576"/>
          </a:xfrm>
          <a:prstGeom prst="rect">
            <a:avLst/>
          </a:prstGeom>
          <a:solidFill>
            <a:srgbClr val="EF4444"/>
          </a:solidFill>
          <a:ln/>
        </p:spPr>
      </p:sp>
      <p:sp>
        <p:nvSpPr>
          <p:cNvPr id="7" name="Text 5"/>
          <p:cNvSpPr/>
          <p:nvPr/>
        </p:nvSpPr>
        <p:spPr>
          <a:xfrm>
            <a:off x="914400" y="1234440"/>
            <a:ext cx="3383280" cy="228600"/>
          </a:xfrm>
          <a:prstGeom prst="rect">
            <a:avLst/>
          </a:prstGeom>
          <a:noFill/>
          <a:ln/>
        </p:spPr>
        <p:txBody>
          <a:bodyPr wrap="square" lIns="0" tIns="0" rIns="0" bIns="0" rtlCol="0" anchor="ctr"/>
          <a:lstStyle/>
          <a:p>
            <a:pPr indent="0" marL="0">
              <a:buNone/>
            </a:pPr>
            <a:r>
              <a:rPr lang="en-US" sz="1100" b="1" dirty="0">
                <a:solidFill>
                  <a:srgbClr val="EF4444"/>
                </a:solidFill>
                <a:latin typeface="Consolas" pitchFamily="34" charset="0"/>
                <a:ea typeface="Consolas" pitchFamily="34" charset="-122"/>
                <a:cs typeface="Consolas" pitchFamily="34" charset="-120"/>
              </a:rPr>
              <a:t>SQL-Level Integration (Traditional)</a:t>
            </a:r>
            <a:endParaRPr lang="en-US" sz="1100" dirty="0"/>
          </a:p>
        </p:txBody>
      </p:sp>
      <p:sp>
        <p:nvSpPr>
          <p:cNvPr id="8" name="Text 6"/>
          <p:cNvSpPr/>
          <p:nvPr/>
        </p:nvSpPr>
        <p:spPr>
          <a:xfrm>
            <a:off x="914400" y="1508760"/>
            <a:ext cx="3383280" cy="914400"/>
          </a:xfrm>
          <a:prstGeom prst="rect">
            <a:avLst/>
          </a:prstGeom>
          <a:noFill/>
          <a:ln/>
        </p:spPr>
        <p:txBody>
          <a:bodyPr wrap="square" rtlCol="0" anchor="ctr"/>
          <a:lstStyle/>
          <a:p>
            <a:pPr marL="342900" indent="-342900">
              <a:spcAft>
                <a:spcPts val="300"/>
              </a:spcAft>
              <a:buSzPct val="100000"/>
              <a:buChar char="•"/>
            </a:pPr>
            <a:r>
              <a:rPr lang="en-US" sz="1050" dirty="0">
                <a:solidFill>
                  <a:srgbClr val="94A3B8"/>
                </a:solidFill>
                <a:latin typeface="Calibri" pitchFamily="34" charset="0"/>
                <a:ea typeface="Calibri" pitchFamily="34" charset="-122"/>
                <a:cs typeface="Calibri" pitchFamily="34" charset="-120"/>
              </a:rPr>
              <a:t>Months of ETL pipeline development</a:t>
            </a:r>
            <a:endParaRPr lang="en-US" sz="1050" dirty="0"/>
          </a:p>
          <a:p>
            <a:pPr marL="342900" indent="-342900">
              <a:spcAft>
                <a:spcPts val="300"/>
              </a:spcAft>
              <a:buSzPct val="100000"/>
              <a:buChar char="•"/>
            </a:pPr>
            <a:r>
              <a:rPr lang="en-US" sz="1050" dirty="0">
                <a:solidFill>
                  <a:srgbClr val="94A3B8"/>
                </a:solidFill>
                <a:latin typeface="Calibri" pitchFamily="34" charset="0"/>
                <a:ea typeface="Calibri" pitchFamily="34" charset="-122"/>
                <a:cs typeface="Calibri" pitchFamily="34" charset="-120"/>
              </a:rPr>
              <a:t>Breaks when source schemas change</a:t>
            </a:r>
            <a:endParaRPr lang="en-US" sz="1050" dirty="0"/>
          </a:p>
          <a:p>
            <a:pPr marL="342900" indent="-342900">
              <a:spcAft>
                <a:spcPts val="300"/>
              </a:spcAft>
              <a:buSzPct val="100000"/>
              <a:buChar char="•"/>
            </a:pPr>
            <a:r>
              <a:rPr lang="en-US" sz="1050" dirty="0">
                <a:solidFill>
                  <a:srgbClr val="94A3B8"/>
                </a:solidFill>
                <a:latin typeface="Calibri" pitchFamily="34" charset="0"/>
                <a:ea typeface="Calibri" pitchFamily="34" charset="-122"/>
                <a:cs typeface="Calibri" pitchFamily="34" charset="-120"/>
              </a:rPr>
              <a:t>Can't join unstructured data (PDFs, Slack, email)</a:t>
            </a:r>
            <a:endParaRPr lang="en-US" sz="1050" dirty="0"/>
          </a:p>
          <a:p>
            <a:pPr marL="342900" indent="-342900">
              <a:spcAft>
                <a:spcPts val="300"/>
              </a:spcAft>
              <a:buSzPct val="100000"/>
              <a:buChar char="•"/>
            </a:pPr>
            <a:r>
              <a:rPr lang="en-US" sz="1050" dirty="0">
                <a:solidFill>
                  <a:srgbClr val="EF4444"/>
                </a:solidFill>
                <a:latin typeface="Calibri" pitchFamily="34" charset="0"/>
                <a:ea typeface="Calibri" pitchFamily="34" charset="-122"/>
                <a:cs typeface="Calibri" pitchFamily="34" charset="-120"/>
              </a:rPr>
              <a:t>$500K-$2M projects, 6-12 months delivery</a:t>
            </a:r>
            <a:endParaRPr lang="en-US" sz="1050" dirty="0"/>
          </a:p>
        </p:txBody>
      </p:sp>
      <p:sp>
        <p:nvSpPr>
          <p:cNvPr id="9" name="Shape 7"/>
          <p:cNvSpPr/>
          <p:nvPr/>
        </p:nvSpPr>
        <p:spPr>
          <a:xfrm>
            <a:off x="4663440" y="1143000"/>
            <a:ext cx="3749040" cy="1371600"/>
          </a:xfrm>
          <a:prstGeom prst="rect">
            <a:avLst/>
          </a:prstGeom>
          <a:solidFill>
            <a:srgbClr val="0D2A2E"/>
          </a:solidFill>
          <a:ln/>
          <a:effectLst>
            <a:outerShdw sx="100000" sy="100000" kx="0" ky="0" algn="bl" rotWithShape="0" blurRad="76200" dist="25400" dir="8100000">
              <a:srgbClr val="000000">
                <a:alpha val="25000"/>
              </a:srgbClr>
            </a:outerShdw>
          </a:effectLst>
        </p:spPr>
      </p:sp>
      <p:sp>
        <p:nvSpPr>
          <p:cNvPr id="10" name="Shape 8"/>
          <p:cNvSpPr/>
          <p:nvPr/>
        </p:nvSpPr>
        <p:spPr>
          <a:xfrm>
            <a:off x="4663440" y="1143000"/>
            <a:ext cx="3749040" cy="36576"/>
          </a:xfrm>
          <a:prstGeom prst="rect">
            <a:avLst/>
          </a:prstGeom>
          <a:solidFill>
            <a:srgbClr val="06B6D4"/>
          </a:solidFill>
          <a:ln/>
        </p:spPr>
      </p:sp>
      <p:sp>
        <p:nvSpPr>
          <p:cNvPr id="11" name="Text 9"/>
          <p:cNvSpPr/>
          <p:nvPr/>
        </p:nvSpPr>
        <p:spPr>
          <a:xfrm>
            <a:off x="4846320" y="1234440"/>
            <a:ext cx="3383280" cy="228600"/>
          </a:xfrm>
          <a:prstGeom prst="rect">
            <a:avLst/>
          </a:prstGeom>
          <a:noFill/>
          <a:ln/>
        </p:spPr>
        <p:txBody>
          <a:bodyPr wrap="square" lIns="0" tIns="0" rIns="0" bIns="0" rtlCol="0" anchor="ctr"/>
          <a:lstStyle/>
          <a:p>
            <a:pPr indent="0" marL="0">
              <a:buNone/>
            </a:pPr>
            <a:r>
              <a:rPr lang="en-US" sz="1100" b="1" dirty="0">
                <a:solidFill>
                  <a:srgbClr val="06B6D4"/>
                </a:solidFill>
                <a:latin typeface="Consolas" pitchFamily="34" charset="0"/>
                <a:ea typeface="Consolas" pitchFamily="34" charset="-122"/>
                <a:cs typeface="Consolas" pitchFamily="34" charset="-120"/>
              </a:rPr>
              <a:t>Knowledge-Level Integration (RuvNet)</a:t>
            </a:r>
            <a:endParaRPr lang="en-US" sz="1100" dirty="0"/>
          </a:p>
        </p:txBody>
      </p:sp>
      <p:sp>
        <p:nvSpPr>
          <p:cNvPr id="12" name="Text 10"/>
          <p:cNvSpPr/>
          <p:nvPr/>
        </p:nvSpPr>
        <p:spPr>
          <a:xfrm>
            <a:off x="4846320" y="1508760"/>
            <a:ext cx="3383280" cy="914400"/>
          </a:xfrm>
          <a:prstGeom prst="rect">
            <a:avLst/>
          </a:prstGeom>
          <a:noFill/>
          <a:ln/>
        </p:spPr>
        <p:txBody>
          <a:bodyPr wrap="square" rtlCol="0" anchor="ctr"/>
          <a:lstStyle/>
          <a:p>
            <a:pPr marL="342900" indent="-342900">
              <a:spcAft>
                <a:spcPts val="300"/>
              </a:spcAft>
              <a:buSzPct val="100000"/>
              <a:buChar char="•"/>
            </a:pPr>
            <a:r>
              <a:rPr lang="en-US" sz="1050" dirty="0">
                <a:solidFill>
                  <a:srgbClr val="CBD5E1"/>
                </a:solidFill>
                <a:latin typeface="Calibri" pitchFamily="34" charset="0"/>
                <a:ea typeface="Calibri" pitchFamily="34" charset="-122"/>
                <a:cs typeface="Calibri" pitchFamily="34" charset="-120"/>
              </a:rPr>
              <a:t>RuVector embeds everything into semantic space</a:t>
            </a:r>
            <a:endParaRPr lang="en-US" sz="1050" dirty="0"/>
          </a:p>
          <a:p>
            <a:pPr marL="342900" indent="-342900">
              <a:spcAft>
                <a:spcPts val="300"/>
              </a:spcAft>
              <a:buSzPct val="100000"/>
              <a:buChar char="•"/>
            </a:pPr>
            <a:r>
              <a:rPr lang="en-US" sz="1050" dirty="0">
                <a:solidFill>
                  <a:srgbClr val="CBD5E1"/>
                </a:solidFill>
                <a:latin typeface="Calibri" pitchFamily="34" charset="0"/>
                <a:ea typeface="Calibri" pitchFamily="34" charset="-122"/>
                <a:cs typeface="Calibri" pitchFamily="34" charset="-120"/>
              </a:rPr>
              <a:t>Self-healing: adapts automatically to changes</a:t>
            </a:r>
            <a:endParaRPr lang="en-US" sz="1050" dirty="0"/>
          </a:p>
          <a:p>
            <a:pPr marL="342900" indent="-342900">
              <a:spcAft>
                <a:spcPts val="300"/>
              </a:spcAft>
              <a:buSzPct val="100000"/>
              <a:buChar char="•"/>
            </a:pPr>
            <a:r>
              <a:rPr lang="en-US" sz="1050" dirty="0">
                <a:solidFill>
                  <a:srgbClr val="CBD5E1"/>
                </a:solidFill>
                <a:latin typeface="Calibri" pitchFamily="34" charset="0"/>
                <a:ea typeface="Calibri" pitchFamily="34" charset="-122"/>
                <a:cs typeface="Calibri" pitchFamily="34" charset="-120"/>
              </a:rPr>
              <a:t>Joins by meaning: PDFs + SQL + Slack + email</a:t>
            </a:r>
            <a:endParaRPr lang="en-US" sz="1050" dirty="0"/>
          </a:p>
          <a:p>
            <a:pPr marL="342900" indent="-342900">
              <a:spcAft>
                <a:spcPts val="300"/>
              </a:spcAft>
              <a:buSzPct val="100000"/>
              <a:buChar char="•"/>
            </a:pPr>
            <a:r>
              <a:rPr lang="en-US" sz="1050" dirty="0">
                <a:solidFill>
                  <a:srgbClr val="06B6D4"/>
                </a:solidFill>
                <a:latin typeface="Calibri" pitchFamily="34" charset="0"/>
                <a:ea typeface="Calibri" pitchFamily="34" charset="-122"/>
                <a:cs typeface="Calibri" pitchFamily="34" charset="-120"/>
              </a:rPr>
              <a:t>Weeks, not months. Knowledge graphs, not ETL.</a:t>
            </a:r>
            <a:endParaRPr lang="en-US" sz="1050" dirty="0"/>
          </a:p>
        </p:txBody>
      </p:sp>
      <p:sp>
        <p:nvSpPr>
          <p:cNvPr id="13" name="Text 11"/>
          <p:cNvSpPr/>
          <p:nvPr/>
        </p:nvSpPr>
        <p:spPr>
          <a:xfrm>
            <a:off x="731520" y="2743200"/>
            <a:ext cx="3657600" cy="274320"/>
          </a:xfrm>
          <a:prstGeom prst="rect">
            <a:avLst/>
          </a:prstGeom>
          <a:noFill/>
          <a:ln/>
        </p:spPr>
        <p:txBody>
          <a:bodyPr wrap="square" lIns="0" tIns="0" rIns="0" bIns="0" rtlCol="0" anchor="ctr"/>
          <a:lstStyle/>
          <a:p>
            <a:pPr indent="0" marL="0">
              <a:buNone/>
            </a:pPr>
            <a:r>
              <a:rPr lang="en-US" sz="1300" b="1" dirty="0">
                <a:solidFill>
                  <a:srgbClr val="F59E0B"/>
                </a:solidFill>
                <a:latin typeface="Consolas" pitchFamily="34" charset="0"/>
                <a:ea typeface="Consolas" pitchFamily="34" charset="-122"/>
                <a:cs typeface="Consolas" pitchFamily="34" charset="-120"/>
              </a:rPr>
              <a:t>What This Enables</a:t>
            </a:r>
            <a:endParaRPr lang="en-US" sz="1300" dirty="0"/>
          </a:p>
        </p:txBody>
      </p:sp>
      <p:sp>
        <p:nvSpPr>
          <p:cNvPr id="14" name="Shape 12"/>
          <p:cNvSpPr/>
          <p:nvPr/>
        </p:nvSpPr>
        <p:spPr>
          <a:xfrm>
            <a:off x="731520" y="3108960"/>
            <a:ext cx="7680960" cy="502920"/>
          </a:xfrm>
          <a:prstGeom prst="rect">
            <a:avLst/>
          </a:prstGeom>
          <a:solidFill>
            <a:srgbClr val="1E293B"/>
          </a:solidFill>
          <a:ln/>
        </p:spPr>
      </p:sp>
      <p:sp>
        <p:nvSpPr>
          <p:cNvPr id="15" name="Shape 13"/>
          <p:cNvSpPr/>
          <p:nvPr/>
        </p:nvSpPr>
        <p:spPr>
          <a:xfrm>
            <a:off x="731520" y="3108960"/>
            <a:ext cx="54864" cy="502920"/>
          </a:xfrm>
          <a:prstGeom prst="rect">
            <a:avLst/>
          </a:prstGeom>
          <a:solidFill>
            <a:srgbClr val="06B6D4"/>
          </a:solidFill>
          <a:ln/>
        </p:spPr>
      </p:sp>
      <p:sp>
        <p:nvSpPr>
          <p:cNvPr id="16" name="Text 14"/>
          <p:cNvSpPr/>
          <p:nvPr/>
        </p:nvSpPr>
        <p:spPr>
          <a:xfrm>
            <a:off x="1005840" y="3136392"/>
            <a:ext cx="1828800" cy="182880"/>
          </a:xfrm>
          <a:prstGeom prst="rect">
            <a:avLst/>
          </a:prstGeom>
          <a:noFill/>
          <a:ln/>
        </p:spPr>
        <p:txBody>
          <a:bodyPr wrap="square" lIns="0" tIns="0" rIns="0" bIns="0" rtlCol="0" anchor="ctr"/>
          <a:lstStyle/>
          <a:p>
            <a:pPr indent="0" marL="0">
              <a:buNone/>
            </a:pPr>
            <a:r>
              <a:rPr lang="en-US" sz="1050" b="1" dirty="0">
                <a:solidFill>
                  <a:srgbClr val="06B6D4"/>
                </a:solidFill>
                <a:latin typeface="Consolas" pitchFamily="34" charset="0"/>
                <a:ea typeface="Consolas" pitchFamily="34" charset="-122"/>
                <a:cs typeface="Consolas" pitchFamily="34" charset="-120"/>
              </a:rPr>
              <a:t>Microbiome Discovery</a:t>
            </a:r>
            <a:endParaRPr lang="en-US" sz="1050" dirty="0"/>
          </a:p>
        </p:txBody>
      </p:sp>
      <p:sp>
        <p:nvSpPr>
          <p:cNvPr id="17" name="Text 15"/>
          <p:cNvSpPr/>
          <p:nvPr/>
        </p:nvSpPr>
        <p:spPr>
          <a:xfrm>
            <a:off x="1005840" y="3319272"/>
            <a:ext cx="7132320" cy="274320"/>
          </a:xfrm>
          <a:prstGeom prst="rect">
            <a:avLst/>
          </a:prstGeom>
          <a:noFill/>
          <a:ln/>
        </p:spPr>
        <p:txBody>
          <a:bodyPr wrap="square" lIns="0" tIns="0" rIns="0" bIns="0" rtlCol="0" anchor="ctr"/>
          <a:lstStyle/>
          <a:p>
            <a:pPr indent="0" marL="0">
              <a:buNone/>
            </a:pPr>
            <a:r>
              <a:rPr lang="en-US" sz="950" dirty="0">
                <a:solidFill>
                  <a:srgbClr val="94A3B8"/>
                </a:solidFill>
                <a:latin typeface="Calibri" pitchFamily="34" charset="0"/>
                <a:ea typeface="Calibri" pitchFamily="34" charset="-122"/>
                <a:cs typeface="Calibri" pitchFamily="34" charset="-120"/>
              </a:rPr>
              <a:t>250M agents analyzed 40GB across 8,000 biological samples. GNN + HNSW discovered Huntington's disease ↔ gut microbiome correlations that human researchers hadn't identified. 187M interactions/sec. The AI was the researcher.</a:t>
            </a:r>
            <a:endParaRPr lang="en-US" sz="950" dirty="0"/>
          </a:p>
        </p:txBody>
      </p:sp>
      <p:sp>
        <p:nvSpPr>
          <p:cNvPr id="18" name="Shape 16"/>
          <p:cNvSpPr/>
          <p:nvPr/>
        </p:nvSpPr>
        <p:spPr>
          <a:xfrm>
            <a:off x="731520" y="3749040"/>
            <a:ext cx="7680960" cy="502920"/>
          </a:xfrm>
          <a:prstGeom prst="rect">
            <a:avLst/>
          </a:prstGeom>
          <a:solidFill>
            <a:srgbClr val="1E293B"/>
          </a:solidFill>
          <a:ln/>
        </p:spPr>
      </p:sp>
      <p:sp>
        <p:nvSpPr>
          <p:cNvPr id="19" name="Shape 17"/>
          <p:cNvSpPr/>
          <p:nvPr/>
        </p:nvSpPr>
        <p:spPr>
          <a:xfrm>
            <a:off x="731520" y="3749040"/>
            <a:ext cx="54864" cy="502920"/>
          </a:xfrm>
          <a:prstGeom prst="rect">
            <a:avLst/>
          </a:prstGeom>
          <a:solidFill>
            <a:srgbClr val="0EA5E9"/>
          </a:solidFill>
          <a:ln/>
        </p:spPr>
      </p:sp>
      <p:sp>
        <p:nvSpPr>
          <p:cNvPr id="20" name="Text 18"/>
          <p:cNvSpPr/>
          <p:nvPr/>
        </p:nvSpPr>
        <p:spPr>
          <a:xfrm>
            <a:off x="1005840" y="3776472"/>
            <a:ext cx="1828800" cy="182880"/>
          </a:xfrm>
          <a:prstGeom prst="rect">
            <a:avLst/>
          </a:prstGeom>
          <a:noFill/>
          <a:ln/>
        </p:spPr>
        <p:txBody>
          <a:bodyPr wrap="square" lIns="0" tIns="0" rIns="0" bIns="0" rtlCol="0" anchor="ctr"/>
          <a:lstStyle/>
          <a:p>
            <a:pPr indent="0" marL="0">
              <a:buNone/>
            </a:pPr>
            <a:r>
              <a:rPr lang="en-US" sz="1050" b="1" dirty="0">
                <a:solidFill>
                  <a:srgbClr val="0EA5E9"/>
                </a:solidFill>
                <a:latin typeface="Consolas" pitchFamily="34" charset="0"/>
                <a:ea typeface="Consolas" pitchFamily="34" charset="-122"/>
                <a:cs typeface="Consolas" pitchFamily="34" charset="-120"/>
              </a:rPr>
              <a:t>Enterprise-Wide Search</a:t>
            </a:r>
            <a:endParaRPr lang="en-US" sz="1050" dirty="0"/>
          </a:p>
        </p:txBody>
      </p:sp>
      <p:sp>
        <p:nvSpPr>
          <p:cNvPr id="21" name="Text 19"/>
          <p:cNvSpPr/>
          <p:nvPr/>
        </p:nvSpPr>
        <p:spPr>
          <a:xfrm>
            <a:off x="1005840" y="3959352"/>
            <a:ext cx="7132320" cy="274320"/>
          </a:xfrm>
          <a:prstGeom prst="rect">
            <a:avLst/>
          </a:prstGeom>
          <a:noFill/>
          <a:ln/>
        </p:spPr>
        <p:txBody>
          <a:bodyPr wrap="square" lIns="0" tIns="0" rIns="0" bIns="0" rtlCol="0" anchor="ctr"/>
          <a:lstStyle/>
          <a:p>
            <a:pPr indent="0" marL="0">
              <a:buNone/>
            </a:pPr>
            <a:r>
              <a:rPr lang="en-US" sz="950" dirty="0">
                <a:solidFill>
                  <a:srgbClr val="94A3B8"/>
                </a:solidFill>
                <a:latin typeface="Calibri" pitchFamily="34" charset="0"/>
                <a:ea typeface="Calibri" pitchFamily="34" charset="-122"/>
                <a:cs typeface="Calibri" pitchFamily="34" charset="-120"/>
              </a:rPr>
              <a:t>"Show me everything about the Acme deal" searches Salesforce, Jira, Confluence, Slack, email, and PDFs — by meaning, not keywords. One HNSW query, 61µs, every system. No connectors, no schema mapping.</a:t>
            </a:r>
            <a:endParaRPr lang="en-US" sz="950" dirty="0"/>
          </a:p>
        </p:txBody>
      </p:sp>
      <p:sp>
        <p:nvSpPr>
          <p:cNvPr id="22" name="Shape 20"/>
          <p:cNvSpPr/>
          <p:nvPr/>
        </p:nvSpPr>
        <p:spPr>
          <a:xfrm>
            <a:off x="731520" y="4389120"/>
            <a:ext cx="7680960" cy="502920"/>
          </a:xfrm>
          <a:prstGeom prst="rect">
            <a:avLst/>
          </a:prstGeom>
          <a:solidFill>
            <a:srgbClr val="1E293B"/>
          </a:solidFill>
          <a:ln/>
        </p:spPr>
      </p:sp>
      <p:sp>
        <p:nvSpPr>
          <p:cNvPr id="23" name="Shape 21"/>
          <p:cNvSpPr/>
          <p:nvPr/>
        </p:nvSpPr>
        <p:spPr>
          <a:xfrm>
            <a:off x="731520" y="4389120"/>
            <a:ext cx="54864" cy="502920"/>
          </a:xfrm>
          <a:prstGeom prst="rect">
            <a:avLst/>
          </a:prstGeom>
          <a:solidFill>
            <a:srgbClr val="8B5CF6"/>
          </a:solidFill>
          <a:ln/>
        </p:spPr>
      </p:sp>
      <p:sp>
        <p:nvSpPr>
          <p:cNvPr id="24" name="Text 22"/>
          <p:cNvSpPr/>
          <p:nvPr/>
        </p:nvSpPr>
        <p:spPr>
          <a:xfrm>
            <a:off x="1005840" y="4416552"/>
            <a:ext cx="1828800" cy="182880"/>
          </a:xfrm>
          <a:prstGeom prst="rect">
            <a:avLst/>
          </a:prstGeom>
          <a:noFill/>
          <a:ln/>
        </p:spPr>
        <p:txBody>
          <a:bodyPr wrap="square" lIns="0" tIns="0" rIns="0" bIns="0" rtlCol="0" anchor="ctr"/>
          <a:lstStyle/>
          <a:p>
            <a:pPr indent="0" marL="0">
              <a:buNone/>
            </a:pPr>
            <a:r>
              <a:rPr lang="en-US" sz="1050" b="1" dirty="0">
                <a:solidFill>
                  <a:srgbClr val="8B5CF6"/>
                </a:solidFill>
                <a:latin typeface="Consolas" pitchFamily="34" charset="0"/>
                <a:ea typeface="Consolas" pitchFamily="34" charset="-122"/>
                <a:cs typeface="Consolas" pitchFamily="34" charset="-120"/>
              </a:rPr>
              <a:t>Legacy COBOL Bridge</a:t>
            </a:r>
            <a:endParaRPr lang="en-US" sz="1050" dirty="0"/>
          </a:p>
        </p:txBody>
      </p:sp>
      <p:sp>
        <p:nvSpPr>
          <p:cNvPr id="25" name="Text 23"/>
          <p:cNvSpPr/>
          <p:nvPr/>
        </p:nvSpPr>
        <p:spPr>
          <a:xfrm>
            <a:off x="1005840" y="4599432"/>
            <a:ext cx="7132320" cy="274320"/>
          </a:xfrm>
          <a:prstGeom prst="rect">
            <a:avLst/>
          </a:prstGeom>
          <a:noFill/>
          <a:ln/>
        </p:spPr>
        <p:txBody>
          <a:bodyPr wrap="square" lIns="0" tIns="0" rIns="0" bIns="0" rtlCol="0" anchor="ctr"/>
          <a:lstStyle/>
          <a:p>
            <a:pPr indent="0" marL="0">
              <a:buNone/>
            </a:pPr>
            <a:r>
              <a:rPr lang="en-US" sz="950" dirty="0">
                <a:solidFill>
                  <a:srgbClr val="94A3B8"/>
                </a:solidFill>
                <a:latin typeface="Calibri" pitchFamily="34" charset="0"/>
                <a:ea typeface="Calibri" pitchFamily="34" charset="-122"/>
                <a:cs typeface="Calibri" pitchFamily="34" charset="-120"/>
              </a:rPr>
              <a:t>COBOL systems from the 1990s connected to modern REST APIs via knowledge embeddings in one afternoon. No rewrite. No translation layer. The vector embeddings understand both COBOL copybooks and JSON schemas.</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6B6D4"/>
          </a:solidFill>
          <a:ln/>
        </p:spPr>
      </p:sp>
      <p:sp>
        <p:nvSpPr>
          <p:cNvPr id="3" name="Text 1"/>
          <p:cNvSpPr/>
          <p:nvPr/>
        </p:nvSpPr>
        <p:spPr>
          <a:xfrm>
            <a:off x="731520" y="320040"/>
            <a:ext cx="7315200" cy="457200"/>
          </a:xfrm>
          <a:prstGeom prst="rect">
            <a:avLst/>
          </a:prstGeom>
          <a:noFill/>
          <a:ln/>
        </p:spPr>
        <p:txBody>
          <a:bodyPr wrap="square" lIns="0" tIns="0" rIns="0" bIns="0" rtlCol="0" anchor="ctr"/>
          <a:lstStyle/>
          <a:p>
            <a:pPr indent="0" marL="0">
              <a:buNone/>
            </a:pPr>
            <a:r>
              <a:rPr lang="en-US" sz="2800" b="1" dirty="0">
                <a:solidFill>
                  <a:srgbClr val="F8FAFC"/>
                </a:solidFill>
                <a:latin typeface="Cambria" pitchFamily="34" charset="0"/>
                <a:ea typeface="Cambria" pitchFamily="34" charset="-122"/>
                <a:cs typeface="Cambria" pitchFamily="34" charset="-120"/>
              </a:rPr>
              <a:t>Ruflo: Multi-Agent Orchestration</a:t>
            </a:r>
            <a:endParaRPr lang="en-US" sz="2800" dirty="0"/>
          </a:p>
        </p:txBody>
      </p:sp>
      <p:sp>
        <p:nvSpPr>
          <p:cNvPr id="4" name="Text 2"/>
          <p:cNvSpPr/>
          <p:nvPr/>
        </p:nvSpPr>
        <p:spPr>
          <a:xfrm>
            <a:off x="731520" y="777240"/>
            <a:ext cx="7315200" cy="274320"/>
          </a:xfrm>
          <a:prstGeom prst="rect">
            <a:avLst/>
          </a:prstGeom>
          <a:noFill/>
          <a:ln/>
        </p:spPr>
        <p:txBody>
          <a:bodyPr wrap="square" lIns="0" tIns="0" rIns="0" bIns="0" rtlCol="0" anchor="ctr"/>
          <a:lstStyle/>
          <a:p>
            <a:pPr indent="0" marL="0">
              <a:buNone/>
            </a:pPr>
            <a:r>
              <a:rPr lang="en-US" sz="1400" dirty="0">
                <a:solidFill>
                  <a:srgbClr val="94A3B8"/>
                </a:solidFill>
                <a:latin typeface="Calibri" pitchFamily="34" charset="0"/>
                <a:ea typeface="Calibri" pitchFamily="34" charset="-122"/>
                <a:cs typeface="Calibri" pitchFamily="34" charset="-120"/>
              </a:rPr>
              <a:t>The brain that coordinates 150+ agent types across 5 network topologies.</a:t>
            </a:r>
            <a:endParaRPr lang="en-US" sz="1400" dirty="0"/>
          </a:p>
        </p:txBody>
      </p:sp>
      <p:sp>
        <p:nvSpPr>
          <p:cNvPr id="5" name="Text 3"/>
          <p:cNvSpPr/>
          <p:nvPr/>
        </p:nvSpPr>
        <p:spPr>
          <a:xfrm>
            <a:off x="731520" y="1234440"/>
            <a:ext cx="3657600" cy="274320"/>
          </a:xfrm>
          <a:prstGeom prst="rect">
            <a:avLst/>
          </a:prstGeom>
          <a:noFill/>
          <a:ln/>
        </p:spPr>
        <p:txBody>
          <a:bodyPr wrap="square" lIns="0" tIns="0" rIns="0" bIns="0" rtlCol="0" anchor="ctr"/>
          <a:lstStyle/>
          <a:p>
            <a:pPr indent="0" marL="0">
              <a:buNone/>
            </a:pPr>
            <a:r>
              <a:rPr lang="en-US" sz="1400" b="1" dirty="0">
                <a:solidFill>
                  <a:srgbClr val="06B6D4"/>
                </a:solidFill>
                <a:latin typeface="Consolas" pitchFamily="34" charset="0"/>
                <a:ea typeface="Consolas" pitchFamily="34" charset="-122"/>
                <a:cs typeface="Consolas" pitchFamily="34" charset="-120"/>
              </a:rPr>
              <a:t>Swarm Topologies</a:t>
            </a:r>
            <a:endParaRPr lang="en-US" sz="1400" dirty="0"/>
          </a:p>
        </p:txBody>
      </p:sp>
      <p:sp>
        <p:nvSpPr>
          <p:cNvPr id="6" name="Text 4"/>
          <p:cNvSpPr/>
          <p:nvPr/>
        </p:nvSpPr>
        <p:spPr>
          <a:xfrm>
            <a:off x="731520" y="1600200"/>
            <a:ext cx="1371600" cy="292608"/>
          </a:xfrm>
          <a:prstGeom prst="rect">
            <a:avLst/>
          </a:prstGeom>
          <a:noFill/>
          <a:ln/>
        </p:spPr>
        <p:txBody>
          <a:bodyPr wrap="square" lIns="0" tIns="0" rIns="0" bIns="0" rtlCol="0" anchor="ctr"/>
          <a:lstStyle/>
          <a:p>
            <a:pPr indent="0" marL="0">
              <a:buNone/>
            </a:pPr>
            <a:r>
              <a:rPr lang="en-US" sz="1100" b="1" dirty="0">
                <a:solidFill>
                  <a:srgbClr val="06B6D4"/>
                </a:solidFill>
                <a:latin typeface="Consolas" pitchFamily="34" charset="0"/>
                <a:ea typeface="Consolas" pitchFamily="34" charset="-122"/>
                <a:cs typeface="Consolas" pitchFamily="34" charset="-120"/>
              </a:rPr>
              <a:t>Hierarchical</a:t>
            </a:r>
            <a:endParaRPr lang="en-US" sz="1100" dirty="0"/>
          </a:p>
        </p:txBody>
      </p:sp>
      <p:sp>
        <p:nvSpPr>
          <p:cNvPr id="7" name="Text 5"/>
          <p:cNvSpPr/>
          <p:nvPr/>
        </p:nvSpPr>
        <p:spPr>
          <a:xfrm>
            <a:off x="2194560" y="1600200"/>
            <a:ext cx="2377440" cy="292608"/>
          </a:xfrm>
          <a:prstGeom prst="rect">
            <a:avLst/>
          </a:prstGeom>
          <a:noFill/>
          <a:ln/>
        </p:spPr>
        <p:txBody>
          <a:bodyPr wrap="square" lIns="0" tIns="0" rIns="0" bIns="0" rtlCol="0" anchor="ctr"/>
          <a:lstStyle/>
          <a:p>
            <a:pPr indent="0" marL="0">
              <a:buNone/>
            </a:pPr>
            <a:r>
              <a:rPr lang="en-US" sz="1050" dirty="0">
                <a:solidFill>
                  <a:srgbClr val="94A3B8"/>
                </a:solidFill>
                <a:latin typeface="Calibri" pitchFamily="34" charset="0"/>
                <a:ea typeface="Calibri" pitchFamily="34" charset="-122"/>
                <a:cs typeface="Calibri" pitchFamily="34" charset="-120"/>
              </a:rPr>
              <a:t>Queen-led with anti-drift detection</a:t>
            </a:r>
            <a:endParaRPr lang="en-US" sz="1050" dirty="0"/>
          </a:p>
        </p:txBody>
      </p:sp>
      <p:sp>
        <p:nvSpPr>
          <p:cNvPr id="8" name="Text 6"/>
          <p:cNvSpPr/>
          <p:nvPr/>
        </p:nvSpPr>
        <p:spPr>
          <a:xfrm>
            <a:off x="731520" y="1947672"/>
            <a:ext cx="1371600" cy="292608"/>
          </a:xfrm>
          <a:prstGeom prst="rect">
            <a:avLst/>
          </a:prstGeom>
          <a:noFill/>
          <a:ln/>
        </p:spPr>
        <p:txBody>
          <a:bodyPr wrap="square" lIns="0" tIns="0" rIns="0" bIns="0" rtlCol="0" anchor="ctr"/>
          <a:lstStyle/>
          <a:p>
            <a:pPr indent="0" marL="0">
              <a:buNone/>
            </a:pPr>
            <a:r>
              <a:rPr lang="en-US" sz="1100" b="1" dirty="0">
                <a:solidFill>
                  <a:srgbClr val="06B6D4"/>
                </a:solidFill>
                <a:latin typeface="Consolas" pitchFamily="34" charset="0"/>
                <a:ea typeface="Consolas" pitchFamily="34" charset="-122"/>
                <a:cs typeface="Consolas" pitchFamily="34" charset="-120"/>
              </a:rPr>
              <a:t>Mesh</a:t>
            </a:r>
            <a:endParaRPr lang="en-US" sz="1100" dirty="0"/>
          </a:p>
        </p:txBody>
      </p:sp>
      <p:sp>
        <p:nvSpPr>
          <p:cNvPr id="9" name="Text 7"/>
          <p:cNvSpPr/>
          <p:nvPr/>
        </p:nvSpPr>
        <p:spPr>
          <a:xfrm>
            <a:off x="2194560" y="1947672"/>
            <a:ext cx="2377440" cy="292608"/>
          </a:xfrm>
          <a:prstGeom prst="rect">
            <a:avLst/>
          </a:prstGeom>
          <a:noFill/>
          <a:ln/>
        </p:spPr>
        <p:txBody>
          <a:bodyPr wrap="square" lIns="0" tIns="0" rIns="0" bIns="0" rtlCol="0" anchor="ctr"/>
          <a:lstStyle/>
          <a:p>
            <a:pPr indent="0" marL="0">
              <a:buNone/>
            </a:pPr>
            <a:r>
              <a:rPr lang="en-US" sz="1050" dirty="0">
                <a:solidFill>
                  <a:srgbClr val="94A3B8"/>
                </a:solidFill>
                <a:latin typeface="Calibri" pitchFamily="34" charset="0"/>
                <a:ea typeface="Calibri" pitchFamily="34" charset="-122"/>
                <a:cs typeface="Calibri" pitchFamily="34" charset="-120"/>
              </a:rPr>
              <a:t>Peer-to-peer, Byzantine fault tolerant</a:t>
            </a:r>
            <a:endParaRPr lang="en-US" sz="1050" dirty="0"/>
          </a:p>
        </p:txBody>
      </p:sp>
      <p:sp>
        <p:nvSpPr>
          <p:cNvPr id="10" name="Text 8"/>
          <p:cNvSpPr/>
          <p:nvPr/>
        </p:nvSpPr>
        <p:spPr>
          <a:xfrm>
            <a:off x="731520" y="2295144"/>
            <a:ext cx="1371600" cy="292608"/>
          </a:xfrm>
          <a:prstGeom prst="rect">
            <a:avLst/>
          </a:prstGeom>
          <a:noFill/>
          <a:ln/>
        </p:spPr>
        <p:txBody>
          <a:bodyPr wrap="square" lIns="0" tIns="0" rIns="0" bIns="0" rtlCol="0" anchor="ctr"/>
          <a:lstStyle/>
          <a:p>
            <a:pPr indent="0" marL="0">
              <a:buNone/>
            </a:pPr>
            <a:r>
              <a:rPr lang="en-US" sz="1100" b="1" dirty="0">
                <a:solidFill>
                  <a:srgbClr val="06B6D4"/>
                </a:solidFill>
                <a:latin typeface="Consolas" pitchFamily="34" charset="0"/>
                <a:ea typeface="Consolas" pitchFamily="34" charset="-122"/>
                <a:cs typeface="Consolas" pitchFamily="34" charset="-120"/>
              </a:rPr>
              <a:t>Ring</a:t>
            </a:r>
            <a:endParaRPr lang="en-US" sz="1100" dirty="0"/>
          </a:p>
        </p:txBody>
      </p:sp>
      <p:sp>
        <p:nvSpPr>
          <p:cNvPr id="11" name="Text 9"/>
          <p:cNvSpPr/>
          <p:nvPr/>
        </p:nvSpPr>
        <p:spPr>
          <a:xfrm>
            <a:off x="2194560" y="2295144"/>
            <a:ext cx="2377440" cy="292608"/>
          </a:xfrm>
          <a:prstGeom prst="rect">
            <a:avLst/>
          </a:prstGeom>
          <a:noFill/>
          <a:ln/>
        </p:spPr>
        <p:txBody>
          <a:bodyPr wrap="square" lIns="0" tIns="0" rIns="0" bIns="0" rtlCol="0" anchor="ctr"/>
          <a:lstStyle/>
          <a:p>
            <a:pPr indent="0" marL="0">
              <a:buNone/>
            </a:pPr>
            <a:r>
              <a:rPr lang="en-US" sz="1050" dirty="0">
                <a:solidFill>
                  <a:srgbClr val="94A3B8"/>
                </a:solidFill>
                <a:latin typeface="Calibri" pitchFamily="34" charset="0"/>
                <a:ea typeface="Calibri" pitchFamily="34" charset="-122"/>
                <a:cs typeface="Calibri" pitchFamily="34" charset="-120"/>
              </a:rPr>
              <a:t>Token-passing coordination</a:t>
            </a:r>
            <a:endParaRPr lang="en-US" sz="1050" dirty="0"/>
          </a:p>
        </p:txBody>
      </p:sp>
      <p:sp>
        <p:nvSpPr>
          <p:cNvPr id="12" name="Text 10"/>
          <p:cNvSpPr/>
          <p:nvPr/>
        </p:nvSpPr>
        <p:spPr>
          <a:xfrm>
            <a:off x="731520" y="2642616"/>
            <a:ext cx="1371600" cy="292608"/>
          </a:xfrm>
          <a:prstGeom prst="rect">
            <a:avLst/>
          </a:prstGeom>
          <a:noFill/>
          <a:ln/>
        </p:spPr>
        <p:txBody>
          <a:bodyPr wrap="square" lIns="0" tIns="0" rIns="0" bIns="0" rtlCol="0" anchor="ctr"/>
          <a:lstStyle/>
          <a:p>
            <a:pPr indent="0" marL="0">
              <a:buNone/>
            </a:pPr>
            <a:r>
              <a:rPr lang="en-US" sz="1100" b="1" dirty="0">
                <a:solidFill>
                  <a:srgbClr val="06B6D4"/>
                </a:solidFill>
                <a:latin typeface="Consolas" pitchFamily="34" charset="0"/>
                <a:ea typeface="Consolas" pitchFamily="34" charset="-122"/>
                <a:cs typeface="Consolas" pitchFamily="34" charset="-120"/>
              </a:rPr>
              <a:t>Star</a:t>
            </a:r>
            <a:endParaRPr lang="en-US" sz="1100" dirty="0"/>
          </a:p>
        </p:txBody>
      </p:sp>
      <p:sp>
        <p:nvSpPr>
          <p:cNvPr id="13" name="Text 11"/>
          <p:cNvSpPr/>
          <p:nvPr/>
        </p:nvSpPr>
        <p:spPr>
          <a:xfrm>
            <a:off x="2194560" y="2642616"/>
            <a:ext cx="2377440" cy="292608"/>
          </a:xfrm>
          <a:prstGeom prst="rect">
            <a:avLst/>
          </a:prstGeom>
          <a:noFill/>
          <a:ln/>
        </p:spPr>
        <p:txBody>
          <a:bodyPr wrap="square" lIns="0" tIns="0" rIns="0" bIns="0" rtlCol="0" anchor="ctr"/>
          <a:lstStyle/>
          <a:p>
            <a:pPr indent="0" marL="0">
              <a:buNone/>
            </a:pPr>
            <a:r>
              <a:rPr lang="en-US" sz="1050" dirty="0">
                <a:solidFill>
                  <a:srgbClr val="94A3B8"/>
                </a:solidFill>
                <a:latin typeface="Calibri" pitchFamily="34" charset="0"/>
                <a:ea typeface="Calibri" pitchFamily="34" charset="-122"/>
                <a:cs typeface="Calibri" pitchFamily="34" charset="-120"/>
              </a:rPr>
              <a:t>Central hub routing</a:t>
            </a:r>
            <a:endParaRPr lang="en-US" sz="1050" dirty="0"/>
          </a:p>
        </p:txBody>
      </p:sp>
      <p:sp>
        <p:nvSpPr>
          <p:cNvPr id="14" name="Text 12"/>
          <p:cNvSpPr/>
          <p:nvPr/>
        </p:nvSpPr>
        <p:spPr>
          <a:xfrm>
            <a:off x="731520" y="2990088"/>
            <a:ext cx="1371600" cy="292608"/>
          </a:xfrm>
          <a:prstGeom prst="rect">
            <a:avLst/>
          </a:prstGeom>
          <a:noFill/>
          <a:ln/>
        </p:spPr>
        <p:txBody>
          <a:bodyPr wrap="square" lIns="0" tIns="0" rIns="0" bIns="0" rtlCol="0" anchor="ctr"/>
          <a:lstStyle/>
          <a:p>
            <a:pPr indent="0" marL="0">
              <a:buNone/>
            </a:pPr>
            <a:r>
              <a:rPr lang="en-US" sz="1100" b="1" dirty="0">
                <a:solidFill>
                  <a:srgbClr val="06B6D4"/>
                </a:solidFill>
                <a:latin typeface="Consolas" pitchFamily="34" charset="0"/>
                <a:ea typeface="Consolas" pitchFamily="34" charset="-122"/>
                <a:cs typeface="Consolas" pitchFamily="34" charset="-120"/>
              </a:rPr>
              <a:t>Adaptive</a:t>
            </a:r>
            <a:endParaRPr lang="en-US" sz="1100" dirty="0"/>
          </a:p>
        </p:txBody>
      </p:sp>
      <p:sp>
        <p:nvSpPr>
          <p:cNvPr id="15" name="Text 13"/>
          <p:cNvSpPr/>
          <p:nvPr/>
        </p:nvSpPr>
        <p:spPr>
          <a:xfrm>
            <a:off x="2194560" y="2990088"/>
            <a:ext cx="2377440" cy="292608"/>
          </a:xfrm>
          <a:prstGeom prst="rect">
            <a:avLst/>
          </a:prstGeom>
          <a:noFill/>
          <a:ln/>
        </p:spPr>
        <p:txBody>
          <a:bodyPr wrap="square" lIns="0" tIns="0" rIns="0" bIns="0" rtlCol="0" anchor="ctr"/>
          <a:lstStyle/>
          <a:p>
            <a:pPr indent="0" marL="0">
              <a:buNone/>
            </a:pPr>
            <a:r>
              <a:rPr lang="en-US" sz="1050" dirty="0">
                <a:solidFill>
                  <a:srgbClr val="94A3B8"/>
                </a:solidFill>
                <a:latin typeface="Calibri" pitchFamily="34" charset="0"/>
                <a:ea typeface="Calibri" pitchFamily="34" charset="-122"/>
                <a:cs typeface="Calibri" pitchFamily="34" charset="-120"/>
              </a:rPr>
              <a:t>Topology shifts under load</a:t>
            </a:r>
            <a:endParaRPr lang="en-US" sz="1050" dirty="0"/>
          </a:p>
        </p:txBody>
      </p:sp>
      <p:sp>
        <p:nvSpPr>
          <p:cNvPr id="16" name="Text 14"/>
          <p:cNvSpPr/>
          <p:nvPr/>
        </p:nvSpPr>
        <p:spPr>
          <a:xfrm>
            <a:off x="5029200" y="1234440"/>
            <a:ext cx="3657600" cy="274320"/>
          </a:xfrm>
          <a:prstGeom prst="rect">
            <a:avLst/>
          </a:prstGeom>
          <a:noFill/>
          <a:ln/>
        </p:spPr>
        <p:txBody>
          <a:bodyPr wrap="square" lIns="0" tIns="0" rIns="0" bIns="0" rtlCol="0" anchor="ctr"/>
          <a:lstStyle/>
          <a:p>
            <a:pPr indent="0" marL="0">
              <a:buNone/>
            </a:pPr>
            <a:r>
              <a:rPr lang="en-US" sz="1400" b="1" dirty="0">
                <a:solidFill>
                  <a:srgbClr val="0EA5E9"/>
                </a:solidFill>
                <a:latin typeface="Consolas" pitchFamily="34" charset="0"/>
                <a:ea typeface="Consolas" pitchFamily="34" charset="-122"/>
                <a:cs typeface="Consolas" pitchFamily="34" charset="-120"/>
              </a:rPr>
              <a:t>Scale &amp; Coordination</a:t>
            </a:r>
            <a:endParaRPr lang="en-US" sz="1400" dirty="0"/>
          </a:p>
        </p:txBody>
      </p:sp>
      <p:sp>
        <p:nvSpPr>
          <p:cNvPr id="17" name="Text 15"/>
          <p:cNvSpPr/>
          <p:nvPr/>
        </p:nvSpPr>
        <p:spPr>
          <a:xfrm>
            <a:off x="5029200" y="1600200"/>
            <a:ext cx="1828800" cy="228600"/>
          </a:xfrm>
          <a:prstGeom prst="rect">
            <a:avLst/>
          </a:prstGeom>
          <a:noFill/>
          <a:ln/>
        </p:spPr>
        <p:txBody>
          <a:bodyPr wrap="square" lIns="0" tIns="0" rIns="0" bIns="0" rtlCol="0" anchor="ctr"/>
          <a:lstStyle/>
          <a:p>
            <a:pPr indent="0" marL="0">
              <a:buNone/>
            </a:pPr>
            <a:r>
              <a:rPr lang="en-US" sz="1100" b="1" dirty="0">
                <a:solidFill>
                  <a:srgbClr val="0EA5E9"/>
                </a:solidFill>
                <a:latin typeface="Consolas" pitchFamily="34" charset="0"/>
                <a:ea typeface="Consolas" pitchFamily="34" charset="-122"/>
                <a:cs typeface="Consolas" pitchFamily="34" charset="-120"/>
              </a:rPr>
              <a:t>Hive Mind</a:t>
            </a:r>
            <a:endParaRPr lang="en-US" sz="1100" dirty="0"/>
          </a:p>
        </p:txBody>
      </p:sp>
      <p:sp>
        <p:nvSpPr>
          <p:cNvPr id="18" name="Text 16"/>
          <p:cNvSpPr/>
          <p:nvPr/>
        </p:nvSpPr>
        <p:spPr>
          <a:xfrm>
            <a:off x="5029200" y="1801368"/>
            <a:ext cx="3657600" cy="274320"/>
          </a:xfrm>
          <a:prstGeom prst="rect">
            <a:avLst/>
          </a:prstGeom>
          <a:noFill/>
          <a:ln/>
        </p:spPr>
        <p:txBody>
          <a:bodyPr wrap="square" lIns="0" tIns="0" rIns="0" bIns="0" rtlCol="0" anchor="ctr"/>
          <a:lstStyle/>
          <a:p>
            <a:pPr indent="0" marL="0">
              <a:buNone/>
            </a:pPr>
            <a:r>
              <a:rPr lang="en-US" sz="1000" dirty="0">
                <a:solidFill>
                  <a:srgbClr val="94A3B8"/>
                </a:solidFill>
                <a:latin typeface="Calibri" pitchFamily="34" charset="0"/>
                <a:ea typeface="Calibri" pitchFamily="34" charset="-122"/>
                <a:cs typeface="Calibri" pitchFamily="34" charset="-120"/>
              </a:rPr>
              <a:t>1,000+ agents with sub-ms shared memory via PostgreSQL advisory locks</a:t>
            </a:r>
            <a:endParaRPr lang="en-US" sz="1000" dirty="0"/>
          </a:p>
        </p:txBody>
      </p:sp>
      <p:sp>
        <p:nvSpPr>
          <p:cNvPr id="19" name="Text 17"/>
          <p:cNvSpPr/>
          <p:nvPr/>
        </p:nvSpPr>
        <p:spPr>
          <a:xfrm>
            <a:off x="5029200" y="2103120"/>
            <a:ext cx="1828800" cy="228600"/>
          </a:xfrm>
          <a:prstGeom prst="rect">
            <a:avLst/>
          </a:prstGeom>
          <a:noFill/>
          <a:ln/>
        </p:spPr>
        <p:txBody>
          <a:bodyPr wrap="square" lIns="0" tIns="0" rIns="0" bIns="0" rtlCol="0" anchor="ctr"/>
          <a:lstStyle/>
          <a:p>
            <a:pPr indent="0" marL="0">
              <a:buNone/>
            </a:pPr>
            <a:r>
              <a:rPr lang="en-US" sz="1100" b="1" dirty="0">
                <a:solidFill>
                  <a:srgbClr val="0EA5E9"/>
                </a:solidFill>
                <a:latin typeface="Consolas" pitchFamily="34" charset="0"/>
                <a:ea typeface="Consolas" pitchFamily="34" charset="-122"/>
                <a:cs typeface="Consolas" pitchFamily="34" charset="-120"/>
              </a:rPr>
              <a:t>Emily OS</a:t>
            </a:r>
            <a:endParaRPr lang="en-US" sz="1100" dirty="0"/>
          </a:p>
        </p:txBody>
      </p:sp>
      <p:sp>
        <p:nvSpPr>
          <p:cNvPr id="20" name="Text 18"/>
          <p:cNvSpPr/>
          <p:nvPr/>
        </p:nvSpPr>
        <p:spPr>
          <a:xfrm>
            <a:off x="5029200" y="2304288"/>
            <a:ext cx="3657600" cy="274320"/>
          </a:xfrm>
          <a:prstGeom prst="rect">
            <a:avLst/>
          </a:prstGeom>
          <a:noFill/>
          <a:ln/>
        </p:spPr>
        <p:txBody>
          <a:bodyPr wrap="square" lIns="0" tIns="0" rIns="0" bIns="0" rtlCol="0" anchor="ctr"/>
          <a:lstStyle/>
          <a:p>
            <a:pPr indent="0" marL="0">
              <a:buNone/>
            </a:pPr>
            <a:r>
              <a:rPr lang="en-US" sz="1000" dirty="0">
                <a:solidFill>
                  <a:srgbClr val="94A3B8"/>
                </a:solidFill>
                <a:latin typeface="Calibri" pitchFamily="34" charset="0"/>
                <a:ea typeface="Calibri" pitchFamily="34" charset="-122"/>
                <a:cs typeface="Calibri" pitchFamily="34" charset="-120"/>
              </a:rPr>
              <a:t>2 to 100,000 agents, LLM-agnostic, horizontal scaling</a:t>
            </a:r>
            <a:endParaRPr lang="en-US" sz="1000" dirty="0"/>
          </a:p>
        </p:txBody>
      </p:sp>
      <p:sp>
        <p:nvSpPr>
          <p:cNvPr id="21" name="Text 19"/>
          <p:cNvSpPr/>
          <p:nvPr/>
        </p:nvSpPr>
        <p:spPr>
          <a:xfrm>
            <a:off x="5029200" y="2606040"/>
            <a:ext cx="1828800" cy="228600"/>
          </a:xfrm>
          <a:prstGeom prst="rect">
            <a:avLst/>
          </a:prstGeom>
          <a:noFill/>
          <a:ln/>
        </p:spPr>
        <p:txBody>
          <a:bodyPr wrap="square" lIns="0" tIns="0" rIns="0" bIns="0" rtlCol="0" anchor="ctr"/>
          <a:lstStyle/>
          <a:p>
            <a:pPr indent="0" marL="0">
              <a:buNone/>
            </a:pPr>
            <a:r>
              <a:rPr lang="en-US" sz="1100" b="1" dirty="0">
                <a:solidFill>
                  <a:srgbClr val="0EA5E9"/>
                </a:solidFill>
                <a:latin typeface="Consolas" pitchFamily="34" charset="0"/>
                <a:ea typeface="Consolas" pitchFamily="34" charset="-122"/>
                <a:cs typeface="Consolas" pitchFamily="34" charset="-120"/>
              </a:rPr>
              <a:t>Raft Consensus</a:t>
            </a:r>
            <a:endParaRPr lang="en-US" sz="1100" dirty="0"/>
          </a:p>
        </p:txBody>
      </p:sp>
      <p:sp>
        <p:nvSpPr>
          <p:cNvPr id="22" name="Text 20"/>
          <p:cNvSpPr/>
          <p:nvPr/>
        </p:nvSpPr>
        <p:spPr>
          <a:xfrm>
            <a:off x="5029200" y="2807208"/>
            <a:ext cx="3657600" cy="274320"/>
          </a:xfrm>
          <a:prstGeom prst="rect">
            <a:avLst/>
          </a:prstGeom>
          <a:noFill/>
          <a:ln/>
        </p:spPr>
        <p:txBody>
          <a:bodyPr wrap="square" lIns="0" tIns="0" rIns="0" bIns="0" rtlCol="0" anchor="ctr"/>
          <a:lstStyle/>
          <a:p>
            <a:pPr indent="0" marL="0">
              <a:buNone/>
            </a:pPr>
            <a:r>
              <a:rPr lang="en-US" sz="1000" dirty="0">
                <a:solidFill>
                  <a:srgbClr val="94A3B8"/>
                </a:solidFill>
                <a:latin typeface="Calibri" pitchFamily="34" charset="0"/>
                <a:ea typeface="Calibri" pitchFamily="34" charset="-122"/>
                <a:cs typeface="Calibri" pitchFamily="34" charset="-120"/>
              </a:rPr>
              <a:t>Leader election, multi-master replication with CRDT support</a:t>
            </a:r>
            <a:endParaRPr lang="en-US" sz="1000" dirty="0"/>
          </a:p>
        </p:txBody>
      </p:sp>
      <p:sp>
        <p:nvSpPr>
          <p:cNvPr id="23" name="Text 21"/>
          <p:cNvSpPr/>
          <p:nvPr/>
        </p:nvSpPr>
        <p:spPr>
          <a:xfrm>
            <a:off x="5029200" y="3108960"/>
            <a:ext cx="1828800" cy="228600"/>
          </a:xfrm>
          <a:prstGeom prst="rect">
            <a:avLst/>
          </a:prstGeom>
          <a:noFill/>
          <a:ln/>
        </p:spPr>
        <p:txBody>
          <a:bodyPr wrap="square" lIns="0" tIns="0" rIns="0" bIns="0" rtlCol="0" anchor="ctr"/>
          <a:lstStyle/>
          <a:p>
            <a:pPr indent="0" marL="0">
              <a:buNone/>
            </a:pPr>
            <a:r>
              <a:rPr lang="en-US" sz="1100" b="1" dirty="0">
                <a:solidFill>
                  <a:srgbClr val="0EA5E9"/>
                </a:solidFill>
                <a:latin typeface="Consolas" pitchFamily="34" charset="0"/>
                <a:ea typeface="Consolas" pitchFamily="34" charset="-122"/>
                <a:cs typeface="Consolas" pitchFamily="34" charset="-120"/>
              </a:rPr>
              <a:t>Gossip Protocol</a:t>
            </a:r>
            <a:endParaRPr lang="en-US" sz="1100" dirty="0"/>
          </a:p>
        </p:txBody>
      </p:sp>
      <p:sp>
        <p:nvSpPr>
          <p:cNvPr id="24" name="Text 22"/>
          <p:cNvSpPr/>
          <p:nvPr/>
        </p:nvSpPr>
        <p:spPr>
          <a:xfrm>
            <a:off x="5029200" y="3310128"/>
            <a:ext cx="3657600" cy="274320"/>
          </a:xfrm>
          <a:prstGeom prst="rect">
            <a:avLst/>
          </a:prstGeom>
          <a:noFill/>
          <a:ln/>
        </p:spPr>
        <p:txBody>
          <a:bodyPr wrap="square" lIns="0" tIns="0" rIns="0" bIns="0" rtlCol="0" anchor="ctr"/>
          <a:lstStyle/>
          <a:p>
            <a:pPr indent="0" marL="0">
              <a:buNone/>
            </a:pPr>
            <a:r>
              <a:rPr lang="en-US" sz="1000" dirty="0">
                <a:solidFill>
                  <a:srgbClr val="94A3B8"/>
                </a:solidFill>
                <a:latin typeface="Calibri" pitchFamily="34" charset="0"/>
                <a:ea typeface="Calibri" pitchFamily="34" charset="-122"/>
                <a:cs typeface="Calibri" pitchFamily="34" charset="-120"/>
              </a:rPr>
              <a:t>Drift detection, behavioral monitoring across agents</a:t>
            </a:r>
            <a:endParaRPr lang="en-US" sz="1000" dirty="0"/>
          </a:p>
        </p:txBody>
      </p:sp>
      <p:sp>
        <p:nvSpPr>
          <p:cNvPr id="25" name="Text 23"/>
          <p:cNvSpPr/>
          <p:nvPr/>
        </p:nvSpPr>
        <p:spPr>
          <a:xfrm>
            <a:off x="731520" y="3931920"/>
            <a:ext cx="1828800" cy="411480"/>
          </a:xfrm>
          <a:prstGeom prst="rect">
            <a:avLst/>
          </a:prstGeom>
          <a:noFill/>
          <a:ln/>
        </p:spPr>
        <p:txBody>
          <a:bodyPr wrap="square" lIns="0" tIns="0" rIns="0" bIns="0" rtlCol="0" anchor="ctr"/>
          <a:lstStyle/>
          <a:p>
            <a:pPr indent="0" marL="0">
              <a:buNone/>
            </a:pPr>
            <a:r>
              <a:rPr lang="en-US" sz="2600" b="1" dirty="0">
                <a:solidFill>
                  <a:srgbClr val="06B6D4"/>
                </a:solidFill>
                <a:latin typeface="Consolas" pitchFamily="34" charset="0"/>
                <a:ea typeface="Consolas" pitchFamily="34" charset="-122"/>
                <a:cs typeface="Consolas" pitchFamily="34" charset="-120"/>
              </a:rPr>
              <a:t>150+</a:t>
            </a:r>
            <a:endParaRPr lang="en-US" sz="2600" dirty="0"/>
          </a:p>
        </p:txBody>
      </p:sp>
      <p:sp>
        <p:nvSpPr>
          <p:cNvPr id="26" name="Text 24"/>
          <p:cNvSpPr/>
          <p:nvPr/>
        </p:nvSpPr>
        <p:spPr>
          <a:xfrm>
            <a:off x="731520" y="4297680"/>
            <a:ext cx="1828800" cy="228600"/>
          </a:xfrm>
          <a:prstGeom prst="rect">
            <a:avLst/>
          </a:prstGeom>
          <a:noFill/>
          <a:ln/>
        </p:spPr>
        <p:txBody>
          <a:bodyPr wrap="square" lIns="0" tIns="0" rIns="0" bIns="0" rtlCol="0" anchor="ctr"/>
          <a:lstStyle/>
          <a:p>
            <a:pPr indent="0" marL="0">
              <a:buNone/>
            </a:pPr>
            <a:r>
              <a:rPr lang="en-US" sz="1000" dirty="0">
                <a:solidFill>
                  <a:srgbClr val="94A3B8"/>
                </a:solidFill>
                <a:latin typeface="Calibri" pitchFamily="34" charset="0"/>
                <a:ea typeface="Calibri" pitchFamily="34" charset="-122"/>
                <a:cs typeface="Calibri" pitchFamily="34" charset="-120"/>
              </a:rPr>
              <a:t>Agent Types</a:t>
            </a:r>
            <a:endParaRPr lang="en-US" sz="1000" dirty="0"/>
          </a:p>
        </p:txBody>
      </p:sp>
      <p:sp>
        <p:nvSpPr>
          <p:cNvPr id="27" name="Text 25"/>
          <p:cNvSpPr/>
          <p:nvPr/>
        </p:nvSpPr>
        <p:spPr>
          <a:xfrm>
            <a:off x="2834640" y="3931920"/>
            <a:ext cx="1828800" cy="411480"/>
          </a:xfrm>
          <a:prstGeom prst="rect">
            <a:avLst/>
          </a:prstGeom>
          <a:noFill/>
          <a:ln/>
        </p:spPr>
        <p:txBody>
          <a:bodyPr wrap="square" lIns="0" tIns="0" rIns="0" bIns="0" rtlCol="0" anchor="ctr"/>
          <a:lstStyle/>
          <a:p>
            <a:pPr indent="0" marL="0">
              <a:buNone/>
            </a:pPr>
            <a:r>
              <a:rPr lang="en-US" sz="2600" b="1" dirty="0">
                <a:solidFill>
                  <a:srgbClr val="06B6D4"/>
                </a:solidFill>
                <a:latin typeface="Consolas" pitchFamily="34" charset="0"/>
                <a:ea typeface="Consolas" pitchFamily="34" charset="-122"/>
                <a:cs typeface="Consolas" pitchFamily="34" charset="-120"/>
              </a:rPr>
              <a:t>5</a:t>
            </a:r>
            <a:endParaRPr lang="en-US" sz="2600" dirty="0"/>
          </a:p>
        </p:txBody>
      </p:sp>
      <p:sp>
        <p:nvSpPr>
          <p:cNvPr id="28" name="Text 26"/>
          <p:cNvSpPr/>
          <p:nvPr/>
        </p:nvSpPr>
        <p:spPr>
          <a:xfrm>
            <a:off x="2834640" y="4297680"/>
            <a:ext cx="1828800" cy="228600"/>
          </a:xfrm>
          <a:prstGeom prst="rect">
            <a:avLst/>
          </a:prstGeom>
          <a:noFill/>
          <a:ln/>
        </p:spPr>
        <p:txBody>
          <a:bodyPr wrap="square" lIns="0" tIns="0" rIns="0" bIns="0" rtlCol="0" anchor="ctr"/>
          <a:lstStyle/>
          <a:p>
            <a:pPr indent="0" marL="0">
              <a:buNone/>
            </a:pPr>
            <a:r>
              <a:rPr lang="en-US" sz="1000" dirty="0">
                <a:solidFill>
                  <a:srgbClr val="94A3B8"/>
                </a:solidFill>
                <a:latin typeface="Calibri" pitchFamily="34" charset="0"/>
                <a:ea typeface="Calibri" pitchFamily="34" charset="-122"/>
                <a:cs typeface="Calibri" pitchFamily="34" charset="-120"/>
              </a:rPr>
              <a:t>Topologies</a:t>
            </a:r>
            <a:endParaRPr lang="en-US" sz="1000" dirty="0"/>
          </a:p>
        </p:txBody>
      </p:sp>
      <p:sp>
        <p:nvSpPr>
          <p:cNvPr id="29" name="Text 27"/>
          <p:cNvSpPr/>
          <p:nvPr/>
        </p:nvSpPr>
        <p:spPr>
          <a:xfrm>
            <a:off x="4937760" y="3931920"/>
            <a:ext cx="1828800" cy="411480"/>
          </a:xfrm>
          <a:prstGeom prst="rect">
            <a:avLst/>
          </a:prstGeom>
          <a:noFill/>
          <a:ln/>
        </p:spPr>
        <p:txBody>
          <a:bodyPr wrap="square" lIns="0" tIns="0" rIns="0" bIns="0" rtlCol="0" anchor="ctr"/>
          <a:lstStyle/>
          <a:p>
            <a:pPr indent="0" marL="0">
              <a:buNone/>
            </a:pPr>
            <a:r>
              <a:rPr lang="en-US" sz="2600" b="1" dirty="0">
                <a:solidFill>
                  <a:srgbClr val="06B6D4"/>
                </a:solidFill>
                <a:latin typeface="Consolas" pitchFamily="34" charset="0"/>
                <a:ea typeface="Consolas" pitchFamily="34" charset="-122"/>
                <a:cs typeface="Consolas" pitchFamily="34" charset="-120"/>
              </a:rPr>
              <a:t>100K</a:t>
            </a:r>
            <a:endParaRPr lang="en-US" sz="2600" dirty="0"/>
          </a:p>
        </p:txBody>
      </p:sp>
      <p:sp>
        <p:nvSpPr>
          <p:cNvPr id="30" name="Text 28"/>
          <p:cNvSpPr/>
          <p:nvPr/>
        </p:nvSpPr>
        <p:spPr>
          <a:xfrm>
            <a:off x="4937760" y="4297680"/>
            <a:ext cx="1828800" cy="228600"/>
          </a:xfrm>
          <a:prstGeom prst="rect">
            <a:avLst/>
          </a:prstGeom>
          <a:noFill/>
          <a:ln/>
        </p:spPr>
        <p:txBody>
          <a:bodyPr wrap="square" lIns="0" tIns="0" rIns="0" bIns="0" rtlCol="0" anchor="ctr"/>
          <a:lstStyle/>
          <a:p>
            <a:pPr indent="0" marL="0">
              <a:buNone/>
            </a:pPr>
            <a:r>
              <a:rPr lang="en-US" sz="1000" dirty="0">
                <a:solidFill>
                  <a:srgbClr val="94A3B8"/>
                </a:solidFill>
                <a:latin typeface="Calibri" pitchFamily="34" charset="0"/>
                <a:ea typeface="Calibri" pitchFamily="34" charset="-122"/>
                <a:cs typeface="Calibri" pitchFamily="34" charset="-120"/>
              </a:rPr>
              <a:t>Agent Scale</a:t>
            </a:r>
            <a:endParaRPr lang="en-US" sz="1000" dirty="0"/>
          </a:p>
        </p:txBody>
      </p:sp>
      <p:sp>
        <p:nvSpPr>
          <p:cNvPr id="31" name="Text 29"/>
          <p:cNvSpPr/>
          <p:nvPr/>
        </p:nvSpPr>
        <p:spPr>
          <a:xfrm>
            <a:off x="7040880" y="3931920"/>
            <a:ext cx="1828800" cy="411480"/>
          </a:xfrm>
          <a:prstGeom prst="rect">
            <a:avLst/>
          </a:prstGeom>
          <a:noFill/>
          <a:ln/>
        </p:spPr>
        <p:txBody>
          <a:bodyPr wrap="square" lIns="0" tIns="0" rIns="0" bIns="0" rtlCol="0" anchor="ctr"/>
          <a:lstStyle/>
          <a:p>
            <a:pPr indent="0" marL="0">
              <a:buNone/>
            </a:pPr>
            <a:r>
              <a:rPr lang="en-US" sz="2600" b="1" dirty="0">
                <a:solidFill>
                  <a:srgbClr val="06B6D4"/>
                </a:solidFill>
                <a:latin typeface="Consolas" pitchFamily="34" charset="0"/>
                <a:ea typeface="Consolas" pitchFamily="34" charset="-122"/>
                <a:cs typeface="Consolas" pitchFamily="34" charset="-120"/>
              </a:rPr>
              <a:t>&lt;1ms</a:t>
            </a:r>
            <a:endParaRPr lang="en-US" sz="2600" dirty="0"/>
          </a:p>
        </p:txBody>
      </p:sp>
      <p:sp>
        <p:nvSpPr>
          <p:cNvPr id="32" name="Text 30"/>
          <p:cNvSpPr/>
          <p:nvPr/>
        </p:nvSpPr>
        <p:spPr>
          <a:xfrm>
            <a:off x="7040880" y="4297680"/>
            <a:ext cx="1828800" cy="228600"/>
          </a:xfrm>
          <a:prstGeom prst="rect">
            <a:avLst/>
          </a:prstGeom>
          <a:noFill/>
          <a:ln/>
        </p:spPr>
        <p:txBody>
          <a:bodyPr wrap="square" lIns="0" tIns="0" rIns="0" bIns="0" rtlCol="0" anchor="ctr"/>
          <a:lstStyle/>
          <a:p>
            <a:pPr indent="0" marL="0">
              <a:buNone/>
            </a:pPr>
            <a:r>
              <a:rPr lang="en-US" sz="1000" dirty="0">
                <a:solidFill>
                  <a:srgbClr val="94A3B8"/>
                </a:solidFill>
                <a:latin typeface="Calibri" pitchFamily="34" charset="0"/>
                <a:ea typeface="Calibri" pitchFamily="34" charset="-122"/>
                <a:cs typeface="Calibri" pitchFamily="34" charset="-120"/>
              </a:rPr>
              <a:t>Shared Memory</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6B6D4"/>
          </a:solidFill>
          <a:ln/>
        </p:spPr>
      </p:sp>
      <p:sp>
        <p:nvSpPr>
          <p:cNvPr id="3" name="Text 1"/>
          <p:cNvSpPr/>
          <p:nvPr/>
        </p:nvSpPr>
        <p:spPr>
          <a:xfrm>
            <a:off x="731520" y="320040"/>
            <a:ext cx="7680960" cy="457200"/>
          </a:xfrm>
          <a:prstGeom prst="rect">
            <a:avLst/>
          </a:prstGeom>
          <a:noFill/>
          <a:ln/>
        </p:spPr>
        <p:txBody>
          <a:bodyPr wrap="square" lIns="0" tIns="0" rIns="0" bIns="0" rtlCol="0" anchor="ctr"/>
          <a:lstStyle/>
          <a:p>
            <a:pPr indent="0" marL="0">
              <a:buNone/>
            </a:pPr>
            <a:r>
              <a:rPr lang="en-US" sz="2600" b="1" dirty="0">
                <a:solidFill>
                  <a:srgbClr val="F8FAFC"/>
                </a:solidFill>
                <a:latin typeface="Cambria" pitchFamily="34" charset="0"/>
                <a:ea typeface="Cambria" pitchFamily="34" charset="-122"/>
                <a:cs typeface="Cambria" pitchFamily="34" charset="-120"/>
              </a:rPr>
              <a:t>RuVector: PostgreSQL-Native Vector Search</a:t>
            </a:r>
            <a:endParaRPr lang="en-US" sz="2600" dirty="0"/>
          </a:p>
        </p:txBody>
      </p:sp>
      <p:sp>
        <p:nvSpPr>
          <p:cNvPr id="4" name="Text 2"/>
          <p:cNvSpPr/>
          <p:nvPr/>
        </p:nvSpPr>
        <p:spPr>
          <a:xfrm>
            <a:off x="731520" y="777240"/>
            <a:ext cx="7315200" cy="274320"/>
          </a:xfrm>
          <a:prstGeom prst="rect">
            <a:avLst/>
          </a:prstGeom>
          <a:noFill/>
          <a:ln/>
        </p:spPr>
        <p:txBody>
          <a:bodyPr wrap="square" lIns="0" tIns="0" rIns="0" bIns="0" rtlCol="0" anchor="ctr"/>
          <a:lstStyle/>
          <a:p>
            <a:pPr indent="0" marL="0">
              <a:buNone/>
            </a:pPr>
            <a:r>
              <a:rPr lang="en-US" sz="1300" dirty="0">
                <a:solidFill>
                  <a:srgbClr val="94A3B8"/>
                </a:solidFill>
                <a:latin typeface="Calibri" pitchFamily="34" charset="0"/>
                <a:ea typeface="Calibri" pitchFamily="34" charset="-122"/>
                <a:cs typeface="Calibri" pitchFamily="34" charset="-120"/>
              </a:rPr>
              <a:t>Not a separate vector database. A PostgreSQL extension. ACID transactions on vector operations.</a:t>
            </a:r>
            <a:endParaRPr lang="en-US" sz="1300" dirty="0"/>
          </a:p>
        </p:txBody>
      </p:sp>
      <p:sp>
        <p:nvSpPr>
          <p:cNvPr id="5" name="Shape 3"/>
          <p:cNvSpPr/>
          <p:nvPr/>
        </p:nvSpPr>
        <p:spPr>
          <a:xfrm>
            <a:off x="731520" y="1234440"/>
            <a:ext cx="3749040" cy="2926080"/>
          </a:xfrm>
          <a:prstGeom prst="rect">
            <a:avLst/>
          </a:prstGeom>
          <a:solidFill>
            <a:srgbClr val="1E293B"/>
          </a:solidFill>
          <a:ln/>
          <a:effectLst>
            <a:outerShdw sx="100000" sy="100000" kx="0" ky="0" algn="bl" rotWithShape="0" blurRad="76200" dist="25400" dir="8100000">
              <a:srgbClr val="000000">
                <a:alpha val="25000"/>
              </a:srgbClr>
            </a:outerShdw>
          </a:effectLst>
        </p:spPr>
      </p:sp>
      <p:sp>
        <p:nvSpPr>
          <p:cNvPr id="6" name="Shape 4"/>
          <p:cNvSpPr/>
          <p:nvPr/>
        </p:nvSpPr>
        <p:spPr>
          <a:xfrm>
            <a:off x="731520" y="1234440"/>
            <a:ext cx="3749040" cy="36576"/>
          </a:xfrm>
          <a:prstGeom prst="rect">
            <a:avLst/>
          </a:prstGeom>
          <a:solidFill>
            <a:srgbClr val="0EA5E9"/>
          </a:solidFill>
          <a:ln/>
        </p:spPr>
      </p:sp>
      <p:sp>
        <p:nvSpPr>
          <p:cNvPr id="7" name="Text 5"/>
          <p:cNvSpPr/>
          <p:nvPr/>
        </p:nvSpPr>
        <p:spPr>
          <a:xfrm>
            <a:off x="914400" y="1325880"/>
            <a:ext cx="3383280" cy="274320"/>
          </a:xfrm>
          <a:prstGeom prst="rect">
            <a:avLst/>
          </a:prstGeom>
          <a:noFill/>
          <a:ln/>
        </p:spPr>
        <p:txBody>
          <a:bodyPr wrap="square" lIns="0" tIns="0" rIns="0" bIns="0" rtlCol="0" anchor="ctr"/>
          <a:lstStyle/>
          <a:p>
            <a:pPr indent="0" marL="0">
              <a:buNone/>
            </a:pPr>
            <a:r>
              <a:rPr lang="en-US" sz="1300" b="1" dirty="0">
                <a:solidFill>
                  <a:srgbClr val="0EA5E9"/>
                </a:solidFill>
                <a:latin typeface="Consolas" pitchFamily="34" charset="0"/>
                <a:ea typeface="Consolas" pitchFamily="34" charset="-122"/>
                <a:cs typeface="Consolas" pitchFamily="34" charset="-120"/>
              </a:rPr>
              <a:t>Core Capabilities</a:t>
            </a:r>
            <a:endParaRPr lang="en-US" sz="1300" dirty="0"/>
          </a:p>
        </p:txBody>
      </p:sp>
      <p:sp>
        <p:nvSpPr>
          <p:cNvPr id="8" name="Text 6"/>
          <p:cNvSpPr/>
          <p:nvPr/>
        </p:nvSpPr>
        <p:spPr>
          <a:xfrm>
            <a:off x="914400" y="1691640"/>
            <a:ext cx="3383280" cy="2286000"/>
          </a:xfrm>
          <a:prstGeom prst="rect">
            <a:avLst/>
          </a:prstGeom>
          <a:noFill/>
          <a:ln/>
        </p:spPr>
        <p:txBody>
          <a:bodyPr wrap="square" rtlCol="0" anchor="ctr"/>
          <a:lstStyle/>
          <a:p>
            <a:pPr marL="342900" indent="-342900">
              <a:spcAft>
                <a:spcPts val="500"/>
              </a:spcAft>
              <a:buSzPct val="100000"/>
              <a:buChar char="•"/>
            </a:pPr>
            <a:r>
              <a:rPr lang="en-US" sz="1050" dirty="0">
                <a:solidFill>
                  <a:srgbClr val="CBD5E1"/>
                </a:solidFill>
                <a:latin typeface="Calibri" pitchFamily="34" charset="0"/>
                <a:ea typeface="Calibri" pitchFamily="34" charset="-122"/>
                <a:cs typeface="Calibri" pitchFamily="34" charset="-120"/>
              </a:rPr>
              <a:t>290+ SQL functions in-process</a:t>
            </a:r>
            <a:endParaRPr lang="en-US" sz="1050" dirty="0"/>
          </a:p>
          <a:p>
            <a:pPr marL="342900" indent="-342900">
              <a:spcAft>
                <a:spcPts val="500"/>
              </a:spcAft>
              <a:buSzPct val="100000"/>
              <a:buChar char="•"/>
            </a:pPr>
            <a:r>
              <a:rPr lang="en-US" sz="1050" dirty="0">
                <a:solidFill>
                  <a:srgbClr val="CBD5E1"/>
                </a:solidFill>
                <a:latin typeface="Calibri" pitchFamily="34" charset="0"/>
                <a:ea typeface="Calibri" pitchFamily="34" charset="-122"/>
                <a:cs typeface="Calibri" pitchFamily="34" charset="-120"/>
              </a:rPr>
              <a:t>HNSW indexing (61µs search latency)</a:t>
            </a:r>
            <a:endParaRPr lang="en-US" sz="1050" dirty="0"/>
          </a:p>
          <a:p>
            <a:pPr marL="342900" indent="-342900">
              <a:spcAft>
                <a:spcPts val="500"/>
              </a:spcAft>
              <a:buSzPct val="100000"/>
              <a:buChar char="•"/>
            </a:pPr>
            <a:r>
              <a:rPr lang="en-US" sz="1050" dirty="0">
                <a:solidFill>
                  <a:srgbClr val="CBD5E1"/>
                </a:solidFill>
                <a:latin typeface="Calibri" pitchFamily="34" charset="0"/>
                <a:ea typeface="Calibri" pitchFamily="34" charset="-122"/>
                <a:cs typeface="Calibri" pitchFamily="34" charset="-120"/>
              </a:rPr>
              <a:t>Drop-in pgvector replacement</a:t>
            </a:r>
            <a:endParaRPr lang="en-US" sz="1050" dirty="0"/>
          </a:p>
          <a:p>
            <a:pPr marL="342900" indent="-342900">
              <a:spcAft>
                <a:spcPts val="500"/>
              </a:spcAft>
              <a:buSzPct val="100000"/>
              <a:buChar char="•"/>
            </a:pPr>
            <a:r>
              <a:rPr lang="en-US" sz="1050" dirty="0">
                <a:solidFill>
                  <a:srgbClr val="CBD5E1"/>
                </a:solidFill>
                <a:latin typeface="Calibri" pitchFamily="34" charset="0"/>
                <a:ea typeface="Calibri" pitchFamily="34" charset="-122"/>
                <a:cs typeface="Calibri" pitchFamily="34" charset="-120"/>
              </a:rPr>
              <a:t>ACID transactions on vector ops</a:t>
            </a:r>
            <a:endParaRPr lang="en-US" sz="1050" dirty="0"/>
          </a:p>
          <a:p>
            <a:pPr marL="342900" indent="-342900">
              <a:spcAft>
                <a:spcPts val="500"/>
              </a:spcAft>
              <a:buSzPct val="100000"/>
              <a:buChar char="•"/>
            </a:pPr>
            <a:r>
              <a:rPr lang="en-US" sz="1050" dirty="0">
                <a:solidFill>
                  <a:srgbClr val="CBD5E1"/>
                </a:solidFill>
                <a:latin typeface="Calibri" pitchFamily="34" charset="0"/>
                <a:ea typeface="Calibri" pitchFamily="34" charset="-122"/>
                <a:cs typeface="Calibri" pitchFamily="34" charset="-120"/>
              </a:rPr>
              <a:t>Joins vectors with relational data</a:t>
            </a:r>
            <a:endParaRPr lang="en-US" sz="1050" dirty="0"/>
          </a:p>
          <a:p>
            <a:pPr marL="342900" indent="-342900">
              <a:spcAft>
                <a:spcPts val="500"/>
              </a:spcAft>
              <a:buSzPct val="100000"/>
              <a:buChar char="•"/>
            </a:pPr>
            <a:r>
              <a:rPr lang="en-US" sz="1050" dirty="0">
                <a:solidFill>
                  <a:srgbClr val="CBD5E1"/>
                </a:solidFill>
                <a:latin typeface="Calibri" pitchFamily="34" charset="0"/>
                <a:ea typeface="Calibri" pitchFamily="34" charset="-122"/>
                <a:cs typeface="Calibri" pitchFamily="34" charset="-120"/>
              </a:rPr>
              <a:t>80+ Rust crates for extensions</a:t>
            </a:r>
            <a:endParaRPr lang="en-US" sz="1050" dirty="0"/>
          </a:p>
          <a:p>
            <a:pPr marL="342900" indent="-342900">
              <a:spcAft>
                <a:spcPts val="500"/>
              </a:spcAft>
              <a:buSzPct val="100000"/>
              <a:buChar char="•"/>
            </a:pPr>
            <a:r>
              <a:rPr lang="en-US" sz="1050" dirty="0">
                <a:solidFill>
                  <a:srgbClr val="CBD5E1"/>
                </a:solidFill>
                <a:latin typeface="Calibri" pitchFamily="34" charset="0"/>
                <a:ea typeface="Calibri" pitchFamily="34" charset="-122"/>
                <a:cs typeface="Calibri" pitchFamily="34" charset="-120"/>
              </a:rPr>
              <a:t>Progressive indexing (L0/L1/L2)</a:t>
            </a:r>
            <a:endParaRPr lang="en-US" sz="1050" dirty="0"/>
          </a:p>
          <a:p>
            <a:pPr marL="342900" indent="-342900">
              <a:spcAft>
                <a:spcPts val="500"/>
              </a:spcAft>
              <a:buSzPct val="100000"/>
              <a:buChar char="•"/>
            </a:pPr>
            <a:r>
              <a:rPr lang="en-US" sz="1050" dirty="0">
                <a:solidFill>
                  <a:srgbClr val="CBD5E1"/>
                </a:solidFill>
                <a:latin typeface="Calibri" pitchFamily="34" charset="0"/>
                <a:ea typeface="Calibri" pitchFamily="34" charset="-122"/>
                <a:cs typeface="Calibri" pitchFamily="34" charset="-120"/>
              </a:rPr>
              <a:t>Temperature-tiered quantization</a:t>
            </a:r>
            <a:endParaRPr lang="en-US" sz="1050" dirty="0"/>
          </a:p>
        </p:txBody>
      </p:sp>
      <p:sp>
        <p:nvSpPr>
          <p:cNvPr id="9" name="Shape 7"/>
          <p:cNvSpPr/>
          <p:nvPr/>
        </p:nvSpPr>
        <p:spPr>
          <a:xfrm>
            <a:off x="4663440" y="1234440"/>
            <a:ext cx="3749040" cy="2926080"/>
          </a:xfrm>
          <a:prstGeom prst="rect">
            <a:avLst/>
          </a:prstGeom>
          <a:solidFill>
            <a:srgbClr val="1E293B"/>
          </a:solidFill>
          <a:ln/>
          <a:effectLst>
            <a:outerShdw sx="100000" sy="100000" kx="0" ky="0" algn="bl" rotWithShape="0" blurRad="76200" dist="25400" dir="8100000">
              <a:srgbClr val="000000">
                <a:alpha val="25000"/>
              </a:srgbClr>
            </a:outerShdw>
          </a:effectLst>
        </p:spPr>
      </p:sp>
      <p:sp>
        <p:nvSpPr>
          <p:cNvPr id="10" name="Shape 8"/>
          <p:cNvSpPr/>
          <p:nvPr/>
        </p:nvSpPr>
        <p:spPr>
          <a:xfrm>
            <a:off x="4663440" y="1234440"/>
            <a:ext cx="3749040" cy="36576"/>
          </a:xfrm>
          <a:prstGeom prst="rect">
            <a:avLst/>
          </a:prstGeom>
          <a:solidFill>
            <a:srgbClr val="F59E0B"/>
          </a:solidFill>
          <a:ln/>
        </p:spPr>
      </p:sp>
      <p:sp>
        <p:nvSpPr>
          <p:cNvPr id="11" name="Text 9"/>
          <p:cNvSpPr/>
          <p:nvPr/>
        </p:nvSpPr>
        <p:spPr>
          <a:xfrm>
            <a:off x="4846320" y="1325880"/>
            <a:ext cx="3383280" cy="274320"/>
          </a:xfrm>
          <a:prstGeom prst="rect">
            <a:avLst/>
          </a:prstGeom>
          <a:noFill/>
          <a:ln/>
        </p:spPr>
        <p:txBody>
          <a:bodyPr wrap="square" lIns="0" tIns="0" rIns="0" bIns="0" rtlCol="0" anchor="ctr"/>
          <a:lstStyle/>
          <a:p>
            <a:pPr indent="0" marL="0">
              <a:buNone/>
            </a:pPr>
            <a:r>
              <a:rPr lang="en-US" sz="1300" b="1" dirty="0">
                <a:solidFill>
                  <a:srgbClr val="F59E0B"/>
                </a:solidFill>
                <a:latin typeface="Consolas" pitchFamily="34" charset="0"/>
                <a:ea typeface="Consolas" pitchFamily="34" charset="-122"/>
                <a:cs typeface="Consolas" pitchFamily="34" charset="-120"/>
              </a:rPr>
              <a:t>RVCOW: Multi-Tenant Economics</a:t>
            </a:r>
            <a:endParaRPr lang="en-US" sz="1300" dirty="0"/>
          </a:p>
        </p:txBody>
      </p:sp>
      <p:sp>
        <p:nvSpPr>
          <p:cNvPr id="12" name="Text 10"/>
          <p:cNvSpPr/>
          <p:nvPr/>
        </p:nvSpPr>
        <p:spPr>
          <a:xfrm>
            <a:off x="4846320" y="1691640"/>
            <a:ext cx="3383280" cy="274320"/>
          </a:xfrm>
          <a:prstGeom prst="rect">
            <a:avLst/>
          </a:prstGeom>
          <a:noFill/>
          <a:ln/>
        </p:spPr>
        <p:txBody>
          <a:bodyPr wrap="square" lIns="0" tIns="0" rIns="0" bIns="0" rtlCol="0" anchor="ctr"/>
          <a:lstStyle/>
          <a:p>
            <a:pPr indent="0" marL="0">
              <a:buNone/>
            </a:pPr>
            <a:r>
              <a:rPr lang="en-US" sz="1100" dirty="0">
                <a:solidFill>
                  <a:srgbClr val="CBD5E1"/>
                </a:solidFill>
                <a:latin typeface="Calibri" pitchFamily="34" charset="0"/>
                <a:ea typeface="Calibri" pitchFamily="34" charset="-122"/>
                <a:cs typeface="Calibri" pitchFamily="34" charset="-120"/>
              </a:rPr>
              <a:t>512MB parent + 1,000 tenants = ~2.5MB/tenant</a:t>
            </a:r>
            <a:endParaRPr lang="en-US" sz="11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846320" y="2103120"/>
          <a:ext cx="3383280" cy="914400"/>
        </p:xfrm>
        <a:graphic>
          <a:graphicData uri="http://schemas.openxmlformats.org/drawingml/2006/table">
            <a:tbl>
              <a:tblPr/>
              <a:tblGrid>
                <a:gridCol w="1097280"/>
                <a:gridCol w="1097280"/>
                <a:gridCol w="1188720"/>
              </a:tblGrid>
              <a:tr h="256032">
                <a:tc>
                  <a:txBody>
                    <a:bodyPr/>
                    <a:lstStyle/>
                    <a:p>
                      <a:pPr algn="l" indent="0" marL="0">
                        <a:buNone/>
                      </a:pPr>
                      <a:r>
                        <a:rPr lang="en-US" sz="1000" b="1" dirty="0">
                          <a:solidFill>
                            <a:srgbClr val="06B6D4"/>
                          </a:solidFill>
                          <a:latin typeface="Consolas" pitchFamily="34" charset="0"/>
                          <a:ea typeface="Consolas" pitchFamily="34" charset="-122"/>
                          <a:cs typeface="Consolas" pitchFamily="34" charset="-120"/>
                        </a:rPr>
                        <a:t>Approach</a:t>
                      </a:r>
                      <a:endParaRPr lang="en-US" sz="1000" dirty="0">
                        <a:latin typeface="Consolas" charset="0"/>
                        <a:ea typeface="Consolas" charset="0"/>
                        <a:cs typeface="Consolas"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A2744"/>
                    </a:solidFill>
                  </a:tcPr>
                </a:tc>
                <a:tc>
                  <a:txBody>
                    <a:bodyPr/>
                    <a:lstStyle/>
                    <a:p>
                      <a:pPr algn="l" indent="0" marL="0">
                        <a:buNone/>
                      </a:pPr>
                      <a:r>
                        <a:rPr lang="en-US" sz="1000" b="1" dirty="0">
                          <a:solidFill>
                            <a:srgbClr val="06B6D4"/>
                          </a:solidFill>
                          <a:latin typeface="Consolas" pitchFamily="34" charset="0"/>
                          <a:ea typeface="Consolas" pitchFamily="34" charset="-122"/>
                          <a:cs typeface="Consolas" pitchFamily="34" charset="-120"/>
                        </a:rPr>
                        <a:t>Storage</a:t>
                      </a:r>
                      <a:endParaRPr lang="en-US" sz="1000" dirty="0">
                        <a:latin typeface="Consolas" charset="0"/>
                        <a:ea typeface="Consolas" charset="0"/>
                        <a:cs typeface="Consolas"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A2744"/>
                    </a:solidFill>
                  </a:tcPr>
                </a:tc>
                <a:tc>
                  <a:txBody>
                    <a:bodyPr/>
                    <a:lstStyle/>
                    <a:p>
                      <a:pPr algn="l" indent="0" marL="0">
                        <a:buNone/>
                      </a:pPr>
                      <a:r>
                        <a:rPr lang="en-US" sz="1000" b="1" dirty="0">
                          <a:solidFill>
                            <a:srgbClr val="06B6D4"/>
                          </a:solidFill>
                          <a:latin typeface="Consolas" pitchFamily="34" charset="0"/>
                          <a:ea typeface="Consolas" pitchFamily="34" charset="-122"/>
                          <a:cs typeface="Consolas" pitchFamily="34" charset="-120"/>
                        </a:rPr>
                        <a:t>Cost</a:t>
                      </a:r>
                      <a:endParaRPr lang="en-US" sz="1000" dirty="0">
                        <a:latin typeface="Consolas" charset="0"/>
                        <a:ea typeface="Consolas" charset="0"/>
                        <a:cs typeface="Consolas"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A2744"/>
                    </a:solidFill>
                  </a:tcPr>
                </a:tc>
              </a:tr>
              <a:tr h="256032">
                <a:tc>
                  <a:txBody>
                    <a:bodyPr/>
                    <a:lstStyle/>
                    <a:p>
                      <a:pPr algn="ctr" indent="0" marL="0">
                        <a:buNone/>
                      </a:pPr>
                      <a:r>
                        <a:rPr lang="en-US" sz="1000" dirty="0">
                          <a:solidFill>
                            <a:srgbClr val="CBD5E1"/>
                          </a:solidFill>
                          <a:latin typeface="Calibri" pitchFamily="34" charset="0"/>
                          <a:ea typeface="Calibri" pitchFamily="34" charset="-122"/>
                          <a:cs typeface="Calibri" pitchFamily="34" charset="-120"/>
                        </a:rPr>
                        <a:t>Full Copy</a:t>
                      </a:r>
                      <a:endParaRPr lang="en-US" sz="1000" dirty="0">
                        <a:latin typeface="Calibri" charset="0"/>
                        <a:ea typeface="Calibri" charset="0"/>
                        <a:cs typeface="Calibri"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E293B"/>
                    </a:solidFill>
                  </a:tcPr>
                </a:tc>
                <a:tc>
                  <a:txBody>
                    <a:bodyPr/>
                    <a:lstStyle/>
                    <a:p>
                      <a:pPr algn="ctr" indent="0" marL="0">
                        <a:buNone/>
                      </a:pPr>
                      <a:r>
                        <a:rPr lang="en-US" sz="1000" dirty="0">
                          <a:solidFill>
                            <a:srgbClr val="CBD5E1"/>
                          </a:solidFill>
                          <a:latin typeface="Calibri" pitchFamily="34" charset="0"/>
                          <a:ea typeface="Calibri" pitchFamily="34" charset="-122"/>
                          <a:cs typeface="Calibri" pitchFamily="34" charset="-120"/>
                        </a:rPr>
                        <a:t>512GB</a:t>
                      </a:r>
                      <a:endParaRPr lang="en-US" sz="1000" dirty="0">
                        <a:latin typeface="Calibri" charset="0"/>
                        <a:ea typeface="Calibri" charset="0"/>
                        <a:cs typeface="Calibri"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E293B"/>
                    </a:solidFill>
                  </a:tcPr>
                </a:tc>
                <a:tc>
                  <a:txBody>
                    <a:bodyPr/>
                    <a:lstStyle/>
                    <a:p>
                      <a:pPr algn="ctr" indent="0" marL="0">
                        <a:buNone/>
                      </a:pPr>
                      <a:r>
                        <a:rPr lang="en-US" sz="1000" dirty="0">
                          <a:solidFill>
                            <a:srgbClr val="CBD5E1"/>
                          </a:solidFill>
                          <a:latin typeface="Calibri" pitchFamily="34" charset="0"/>
                          <a:ea typeface="Calibri" pitchFamily="34" charset="-122"/>
                          <a:cs typeface="Calibri" pitchFamily="34" charset="-120"/>
                        </a:rPr>
                        <a:t>$51,200/mo</a:t>
                      </a:r>
                      <a:endParaRPr lang="en-US" sz="1000" dirty="0">
                        <a:latin typeface="Calibri" charset="0"/>
                        <a:ea typeface="Calibri" charset="0"/>
                        <a:cs typeface="Calibri"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E293B"/>
                    </a:solidFill>
                  </a:tcPr>
                </a:tc>
              </a:tr>
              <a:tr h="256032">
                <a:tc>
                  <a:txBody>
                    <a:bodyPr/>
                    <a:lstStyle/>
                    <a:p>
                      <a:pPr algn="ctr" indent="0" marL="0">
                        <a:buNone/>
                      </a:pPr>
                      <a:r>
                        <a:rPr lang="en-US" sz="1000" dirty="0">
                          <a:solidFill>
                            <a:srgbClr val="CBD5E1"/>
                          </a:solidFill>
                          <a:latin typeface="Calibri" pitchFamily="34" charset="0"/>
                          <a:ea typeface="Calibri" pitchFamily="34" charset="-122"/>
                          <a:cs typeface="Calibri" pitchFamily="34" charset="-120"/>
                        </a:rPr>
                        <a:t>RVCOW</a:t>
                      </a:r>
                      <a:endParaRPr lang="en-US" sz="1000" dirty="0">
                        <a:latin typeface="Calibri" charset="0"/>
                        <a:ea typeface="Calibri" charset="0"/>
                        <a:cs typeface="Calibri"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E293B"/>
                    </a:solidFill>
                  </a:tcPr>
                </a:tc>
                <a:tc>
                  <a:txBody>
                    <a:bodyPr/>
                    <a:lstStyle/>
                    <a:p>
                      <a:pPr algn="ctr" indent="0" marL="0">
                        <a:buNone/>
                      </a:pPr>
                      <a:r>
                        <a:rPr lang="en-US" sz="1000" dirty="0">
                          <a:solidFill>
                            <a:srgbClr val="CBD5E1"/>
                          </a:solidFill>
                          <a:latin typeface="Calibri" pitchFamily="34" charset="0"/>
                          <a:ea typeface="Calibri" pitchFamily="34" charset="-122"/>
                          <a:cs typeface="Calibri" pitchFamily="34" charset="-120"/>
                        </a:rPr>
                        <a:t>~2.5GB</a:t>
                      </a:r>
                      <a:endParaRPr lang="en-US" sz="1000" dirty="0">
                        <a:latin typeface="Calibri" charset="0"/>
                        <a:ea typeface="Calibri" charset="0"/>
                        <a:cs typeface="Calibri"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E293B"/>
                    </a:solidFill>
                  </a:tcPr>
                </a:tc>
                <a:tc>
                  <a:txBody>
                    <a:bodyPr/>
                    <a:lstStyle/>
                    <a:p>
                      <a:pPr algn="ctr" indent="0" marL="0">
                        <a:buNone/>
                      </a:pPr>
                      <a:r>
                        <a:rPr lang="en-US" sz="1000" dirty="0">
                          <a:solidFill>
                            <a:srgbClr val="CBD5E1"/>
                          </a:solidFill>
                          <a:latin typeface="Calibri" pitchFamily="34" charset="0"/>
                          <a:ea typeface="Calibri" pitchFamily="34" charset="-122"/>
                          <a:cs typeface="Calibri" pitchFamily="34" charset="-120"/>
                        </a:rPr>
                        <a:t>$250/mo</a:t>
                      </a:r>
                      <a:endParaRPr lang="en-US" sz="1000" dirty="0">
                        <a:latin typeface="Calibri" charset="0"/>
                        <a:ea typeface="Calibri" charset="0"/>
                        <a:cs typeface="Calibri"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E293B"/>
                    </a:solidFill>
                  </a:tcPr>
                </a:tc>
              </a:tr>
              <a:tr h="256032">
                <a:tc>
                  <a:txBody>
                    <a:bodyPr/>
                    <a:lstStyle/>
                    <a:p>
                      <a:pPr algn="ctr" indent="0" marL="0">
                        <a:buNone/>
                      </a:pPr>
                      <a:r>
                        <a:rPr lang="en-US" sz="1000" b="1" dirty="0">
                          <a:solidFill>
                            <a:srgbClr val="10B981"/>
                          </a:solidFill>
                          <a:latin typeface="Calibri" pitchFamily="34" charset="0"/>
                          <a:ea typeface="Calibri" pitchFamily="34" charset="-122"/>
                          <a:cs typeface="Calibri" pitchFamily="34" charset="-120"/>
                        </a:rPr>
                        <a:t>Savings</a:t>
                      </a:r>
                      <a:endParaRPr lang="en-US" sz="1000" dirty="0">
                        <a:latin typeface="Calibri" charset="0"/>
                        <a:ea typeface="Calibri" charset="0"/>
                        <a:cs typeface="Calibri"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E293B"/>
                    </a:solidFill>
                  </a:tcPr>
                </a:tc>
                <a:tc>
                  <a:txBody>
                    <a:bodyPr/>
                    <a:lstStyle/>
                    <a:p>
                      <a:pPr algn="ctr" indent="0" marL="0">
                        <a:buNone/>
                      </a:pPr>
                      <a:r>
                        <a:rPr lang="en-US" sz="1000" b="1" dirty="0">
                          <a:solidFill>
                            <a:srgbClr val="10B981"/>
                          </a:solidFill>
                          <a:latin typeface="Calibri" pitchFamily="34" charset="0"/>
                          <a:ea typeface="Calibri" pitchFamily="34" charset="-122"/>
                          <a:cs typeface="Calibri" pitchFamily="34" charset="-120"/>
                        </a:rPr>
                        <a:t>200x</a:t>
                      </a:r>
                      <a:endParaRPr lang="en-US" sz="1000" dirty="0">
                        <a:latin typeface="Calibri" charset="0"/>
                        <a:ea typeface="Calibri" charset="0"/>
                        <a:cs typeface="Calibri"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E293B"/>
                    </a:solidFill>
                  </a:tcPr>
                </a:tc>
                <a:tc>
                  <a:txBody>
                    <a:bodyPr/>
                    <a:lstStyle/>
                    <a:p>
                      <a:pPr algn="ctr" indent="0" marL="0">
                        <a:buNone/>
                      </a:pPr>
                      <a:r>
                        <a:rPr lang="en-US" sz="1000" b="1" dirty="0">
                          <a:solidFill>
                            <a:srgbClr val="10B981"/>
                          </a:solidFill>
                          <a:latin typeface="Calibri" pitchFamily="34" charset="0"/>
                          <a:ea typeface="Calibri" pitchFamily="34" charset="-122"/>
                          <a:cs typeface="Calibri" pitchFamily="34" charset="-120"/>
                        </a:rPr>
                        <a:t>99.5%</a:t>
                      </a:r>
                      <a:endParaRPr lang="en-US" sz="1000" dirty="0">
                        <a:latin typeface="Calibri" charset="0"/>
                        <a:ea typeface="Calibri" charset="0"/>
                        <a:cs typeface="Calibri"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E293B"/>
                    </a:solidFill>
                  </a:tcPr>
                </a:tc>
              </a:tr>
            </a:tbl>
          </a:graphicData>
        </a:graphic>
      </p:graphicFrame>
      <p:sp>
        <p:nvSpPr>
          <p:cNvPr id="14" name="Text 11"/>
          <p:cNvSpPr/>
          <p:nvPr/>
        </p:nvSpPr>
        <p:spPr>
          <a:xfrm>
            <a:off x="4846320" y="3337560"/>
            <a:ext cx="3383280" cy="640080"/>
          </a:xfrm>
          <a:prstGeom prst="rect">
            <a:avLst/>
          </a:prstGeom>
          <a:noFill/>
          <a:ln/>
        </p:spPr>
        <p:txBody>
          <a:bodyPr wrap="square" lIns="0" tIns="0" rIns="0" bIns="0" rtlCol="0" anchor="ctr"/>
          <a:lstStyle/>
          <a:p>
            <a:pPr indent="0" marL="0">
              <a:buNone/>
            </a:pPr>
            <a:r>
              <a:rPr lang="en-US" sz="1000" dirty="0">
                <a:solidFill>
                  <a:srgbClr val="94A3B8"/>
                </a:solidFill>
                <a:latin typeface="Calibri" pitchFamily="34" charset="0"/>
                <a:ea typeface="Calibri" pitchFamily="34" charset="-122"/>
                <a:cs typeface="Calibri" pitchFamily="34" charset="-120"/>
              </a:rPr>
              <a:t>COW branch creation: </a:t>
            </a:r>
            <a:pPr indent="0" marL="0">
              <a:buNone/>
            </a:pPr>
            <a:r>
              <a:rPr lang="en-US" sz="1000" b="1" dirty="0">
                <a:solidFill>
                  <a:srgbClr val="06B6D4"/>
                </a:solidFill>
                <a:latin typeface="Calibri" pitchFamily="34" charset="0"/>
                <a:ea typeface="Calibri" pitchFamily="34" charset="-122"/>
                <a:cs typeface="Calibri" pitchFamily="34" charset="-120"/>
              </a:rPr>
              <a:t>2.6ms</a:t>
            </a:r>
            <a:endParaRPr lang="en-US" sz="1000" dirty="0"/>
          </a:p>
          <a:p>
            <a:pPr indent="0" marL="0">
              <a:buNone/>
            </a:pPr>
            <a:r>
              <a:rPr lang="en-US" sz="1000" dirty="0">
                <a:solidFill>
                  <a:srgbClr val="94A3B8"/>
                </a:solidFill>
                <a:latin typeface="Calibri" pitchFamily="34" charset="0"/>
                <a:ea typeface="Calibri" pitchFamily="34" charset="-122"/>
                <a:cs typeface="Calibri" pitchFamily="34" charset="-120"/>
              </a:rPr>
              <a:t>CowMap cluster lookup: </a:t>
            </a:r>
            <a:pPr indent="0" marL="0">
              <a:buNone/>
            </a:pPr>
            <a:r>
              <a:rPr lang="en-US" sz="1000" b="1" dirty="0">
                <a:solidFill>
                  <a:srgbClr val="06B6D4"/>
                </a:solidFill>
                <a:latin typeface="Calibri" pitchFamily="34" charset="0"/>
                <a:ea typeface="Calibri" pitchFamily="34" charset="-122"/>
                <a:cs typeface="Calibri" pitchFamily="34" charset="-120"/>
              </a:rPr>
              <a:t>28ns</a:t>
            </a:r>
            <a:endParaRPr lang="en-US" sz="1000" dirty="0"/>
          </a:p>
          <a:p>
            <a:pPr indent="0" marL="0">
              <a:buNone/>
            </a:pPr>
            <a:r>
              <a:rPr lang="en-US" sz="1000" dirty="0">
                <a:solidFill>
                  <a:srgbClr val="94A3B8"/>
                </a:solidFill>
                <a:latin typeface="Calibri" pitchFamily="34" charset="0"/>
                <a:ea typeface="Calibri" pitchFamily="34" charset="-122"/>
                <a:cs typeface="Calibri" pitchFamily="34" charset="-120"/>
              </a:rPr>
              <a:t>Row-level security per tenant</a:t>
            </a:r>
            <a:endParaRPr lang="en-US" sz="1000" dirty="0"/>
          </a:p>
        </p:txBody>
      </p:sp>
      <p:sp>
        <p:nvSpPr>
          <p:cNvPr id="15" name="Text 12"/>
          <p:cNvSpPr/>
          <p:nvPr/>
        </p:nvSpPr>
        <p:spPr>
          <a:xfrm>
            <a:off x="731520" y="4297680"/>
            <a:ext cx="1828800" cy="365760"/>
          </a:xfrm>
          <a:prstGeom prst="rect">
            <a:avLst/>
          </a:prstGeom>
          <a:noFill/>
          <a:ln/>
        </p:spPr>
        <p:txBody>
          <a:bodyPr wrap="square" lIns="0" tIns="0" rIns="0" bIns="0" rtlCol="0" anchor="ctr"/>
          <a:lstStyle/>
          <a:p>
            <a:pPr indent="0" marL="0">
              <a:buNone/>
            </a:pPr>
            <a:r>
              <a:rPr lang="en-US" sz="2200" b="1" dirty="0">
                <a:solidFill>
                  <a:srgbClr val="06B6D4"/>
                </a:solidFill>
                <a:latin typeface="Consolas" pitchFamily="34" charset="0"/>
                <a:ea typeface="Consolas" pitchFamily="34" charset="-122"/>
                <a:cs typeface="Consolas" pitchFamily="34" charset="-120"/>
              </a:rPr>
              <a:t>61µs</a:t>
            </a:r>
            <a:endParaRPr lang="en-US" sz="2200" dirty="0"/>
          </a:p>
        </p:txBody>
      </p:sp>
      <p:sp>
        <p:nvSpPr>
          <p:cNvPr id="16" name="Text 13"/>
          <p:cNvSpPr/>
          <p:nvPr/>
        </p:nvSpPr>
        <p:spPr>
          <a:xfrm>
            <a:off x="731520" y="4617720"/>
            <a:ext cx="1828800" cy="182880"/>
          </a:xfrm>
          <a:prstGeom prst="rect">
            <a:avLst/>
          </a:prstGeom>
          <a:noFill/>
          <a:ln/>
        </p:spPr>
        <p:txBody>
          <a:bodyPr wrap="square" lIns="0" tIns="0" rIns="0" bIns="0" rtlCol="0" anchor="ctr"/>
          <a:lstStyle/>
          <a:p>
            <a:pPr indent="0" marL="0">
              <a:buNone/>
            </a:pPr>
            <a:r>
              <a:rPr lang="en-US" sz="1000" dirty="0">
                <a:solidFill>
                  <a:srgbClr val="94A3B8"/>
                </a:solidFill>
                <a:latin typeface="Calibri" pitchFamily="34" charset="0"/>
                <a:ea typeface="Calibri" pitchFamily="34" charset="-122"/>
                <a:cs typeface="Calibri" pitchFamily="34" charset="-120"/>
              </a:rPr>
              <a:t>HNSW Search</a:t>
            </a:r>
            <a:endParaRPr lang="en-US" sz="1000" dirty="0"/>
          </a:p>
        </p:txBody>
      </p:sp>
      <p:sp>
        <p:nvSpPr>
          <p:cNvPr id="17" name="Text 14"/>
          <p:cNvSpPr/>
          <p:nvPr/>
        </p:nvSpPr>
        <p:spPr>
          <a:xfrm>
            <a:off x="2834640" y="4297680"/>
            <a:ext cx="1828800" cy="365760"/>
          </a:xfrm>
          <a:prstGeom prst="rect">
            <a:avLst/>
          </a:prstGeom>
          <a:noFill/>
          <a:ln/>
        </p:spPr>
        <p:txBody>
          <a:bodyPr wrap="square" lIns="0" tIns="0" rIns="0" bIns="0" rtlCol="0" anchor="ctr"/>
          <a:lstStyle/>
          <a:p>
            <a:pPr indent="0" marL="0">
              <a:buNone/>
            </a:pPr>
            <a:r>
              <a:rPr lang="en-US" sz="2200" b="1" dirty="0">
                <a:solidFill>
                  <a:srgbClr val="06B6D4"/>
                </a:solidFill>
                <a:latin typeface="Consolas" pitchFamily="34" charset="0"/>
                <a:ea typeface="Consolas" pitchFamily="34" charset="-122"/>
                <a:cs typeface="Consolas" pitchFamily="34" charset="-120"/>
              </a:rPr>
              <a:t>8,000x</a:t>
            </a:r>
            <a:endParaRPr lang="en-US" sz="2200" dirty="0"/>
          </a:p>
        </p:txBody>
      </p:sp>
      <p:sp>
        <p:nvSpPr>
          <p:cNvPr id="18" name="Text 15"/>
          <p:cNvSpPr/>
          <p:nvPr/>
        </p:nvSpPr>
        <p:spPr>
          <a:xfrm>
            <a:off x="2834640" y="4617720"/>
            <a:ext cx="1828800" cy="182880"/>
          </a:xfrm>
          <a:prstGeom prst="rect">
            <a:avLst/>
          </a:prstGeom>
          <a:noFill/>
          <a:ln/>
        </p:spPr>
        <p:txBody>
          <a:bodyPr wrap="square" lIns="0" tIns="0" rIns="0" bIns="0" rtlCol="0" anchor="ctr"/>
          <a:lstStyle/>
          <a:p>
            <a:pPr indent="0" marL="0">
              <a:buNone/>
            </a:pPr>
            <a:r>
              <a:rPr lang="en-US" sz="1000" dirty="0">
                <a:solidFill>
                  <a:srgbClr val="94A3B8"/>
                </a:solidFill>
                <a:latin typeface="Calibri" pitchFamily="34" charset="0"/>
                <a:ea typeface="Calibri" pitchFamily="34" charset="-122"/>
                <a:cs typeface="Calibri" pitchFamily="34" charset="-120"/>
              </a:rPr>
              <a:t>vs Pinecone</a:t>
            </a:r>
            <a:endParaRPr lang="en-US" sz="1000" dirty="0"/>
          </a:p>
        </p:txBody>
      </p:sp>
      <p:sp>
        <p:nvSpPr>
          <p:cNvPr id="19" name="Text 16"/>
          <p:cNvSpPr/>
          <p:nvPr/>
        </p:nvSpPr>
        <p:spPr>
          <a:xfrm>
            <a:off x="4937760" y="4297680"/>
            <a:ext cx="1828800" cy="365760"/>
          </a:xfrm>
          <a:prstGeom prst="rect">
            <a:avLst/>
          </a:prstGeom>
          <a:noFill/>
          <a:ln/>
        </p:spPr>
        <p:txBody>
          <a:bodyPr wrap="square" lIns="0" tIns="0" rIns="0" bIns="0" rtlCol="0" anchor="ctr"/>
          <a:lstStyle/>
          <a:p>
            <a:pPr indent="0" marL="0">
              <a:buNone/>
            </a:pPr>
            <a:r>
              <a:rPr lang="en-US" sz="2200" b="1" dirty="0">
                <a:solidFill>
                  <a:srgbClr val="06B6D4"/>
                </a:solidFill>
                <a:latin typeface="Consolas" pitchFamily="34" charset="0"/>
                <a:ea typeface="Consolas" pitchFamily="34" charset="-122"/>
                <a:cs typeface="Consolas" pitchFamily="34" charset="-120"/>
              </a:rPr>
              <a:t>290+</a:t>
            </a:r>
            <a:endParaRPr lang="en-US" sz="2200" dirty="0"/>
          </a:p>
        </p:txBody>
      </p:sp>
      <p:sp>
        <p:nvSpPr>
          <p:cNvPr id="20" name="Text 17"/>
          <p:cNvSpPr/>
          <p:nvPr/>
        </p:nvSpPr>
        <p:spPr>
          <a:xfrm>
            <a:off x="4937760" y="4617720"/>
            <a:ext cx="1828800" cy="182880"/>
          </a:xfrm>
          <a:prstGeom prst="rect">
            <a:avLst/>
          </a:prstGeom>
          <a:noFill/>
          <a:ln/>
        </p:spPr>
        <p:txBody>
          <a:bodyPr wrap="square" lIns="0" tIns="0" rIns="0" bIns="0" rtlCol="0" anchor="ctr"/>
          <a:lstStyle/>
          <a:p>
            <a:pPr indent="0" marL="0">
              <a:buNone/>
            </a:pPr>
            <a:r>
              <a:rPr lang="en-US" sz="1000" dirty="0">
                <a:solidFill>
                  <a:srgbClr val="94A3B8"/>
                </a:solidFill>
                <a:latin typeface="Calibri" pitchFamily="34" charset="0"/>
                <a:ea typeface="Calibri" pitchFamily="34" charset="-122"/>
                <a:cs typeface="Calibri" pitchFamily="34" charset="-120"/>
              </a:rPr>
              <a:t>SQL Functions</a:t>
            </a:r>
            <a:endParaRPr lang="en-US" sz="1000" dirty="0"/>
          </a:p>
        </p:txBody>
      </p:sp>
      <p:sp>
        <p:nvSpPr>
          <p:cNvPr id="21" name="Text 18"/>
          <p:cNvSpPr/>
          <p:nvPr/>
        </p:nvSpPr>
        <p:spPr>
          <a:xfrm>
            <a:off x="7040880" y="4297680"/>
            <a:ext cx="1828800" cy="365760"/>
          </a:xfrm>
          <a:prstGeom prst="rect">
            <a:avLst/>
          </a:prstGeom>
          <a:noFill/>
          <a:ln/>
        </p:spPr>
        <p:txBody>
          <a:bodyPr wrap="square" lIns="0" tIns="0" rIns="0" bIns="0" rtlCol="0" anchor="ctr"/>
          <a:lstStyle/>
          <a:p>
            <a:pPr indent="0" marL="0">
              <a:buNone/>
            </a:pPr>
            <a:r>
              <a:rPr lang="en-US" sz="2200" b="1" dirty="0">
                <a:solidFill>
                  <a:srgbClr val="06B6D4"/>
                </a:solidFill>
                <a:latin typeface="Consolas" pitchFamily="34" charset="0"/>
                <a:ea typeface="Consolas" pitchFamily="34" charset="-122"/>
                <a:cs typeface="Consolas" pitchFamily="34" charset="-120"/>
              </a:rPr>
              <a:t>200x</a:t>
            </a:r>
            <a:endParaRPr lang="en-US" sz="2200" dirty="0"/>
          </a:p>
        </p:txBody>
      </p:sp>
      <p:sp>
        <p:nvSpPr>
          <p:cNvPr id="22" name="Text 19"/>
          <p:cNvSpPr/>
          <p:nvPr/>
        </p:nvSpPr>
        <p:spPr>
          <a:xfrm>
            <a:off x="7040880" y="4617720"/>
            <a:ext cx="1828800" cy="182880"/>
          </a:xfrm>
          <a:prstGeom prst="rect">
            <a:avLst/>
          </a:prstGeom>
          <a:noFill/>
          <a:ln/>
        </p:spPr>
        <p:txBody>
          <a:bodyPr wrap="square" lIns="0" tIns="0" rIns="0" bIns="0" rtlCol="0" anchor="ctr"/>
          <a:lstStyle/>
          <a:p>
            <a:pPr indent="0" marL="0">
              <a:buNone/>
            </a:pPr>
            <a:r>
              <a:rPr lang="en-US" sz="1000" dirty="0">
                <a:solidFill>
                  <a:srgbClr val="94A3B8"/>
                </a:solidFill>
                <a:latin typeface="Calibri" pitchFamily="34" charset="0"/>
                <a:ea typeface="Calibri" pitchFamily="34" charset="-122"/>
                <a:cs typeface="Calibri" pitchFamily="34" charset="-120"/>
              </a:rPr>
              <a:t>COW Savings</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6B6D4"/>
          </a:solidFill>
          <a:ln/>
        </p:spPr>
      </p:sp>
      <p:sp>
        <p:nvSpPr>
          <p:cNvPr id="3" name="Text 1"/>
          <p:cNvSpPr/>
          <p:nvPr/>
        </p:nvSpPr>
        <p:spPr>
          <a:xfrm>
            <a:off x="731520" y="320040"/>
            <a:ext cx="7680960" cy="457200"/>
          </a:xfrm>
          <a:prstGeom prst="rect">
            <a:avLst/>
          </a:prstGeom>
          <a:noFill/>
          <a:ln/>
        </p:spPr>
        <p:txBody>
          <a:bodyPr wrap="square" lIns="0" tIns="0" rIns="0" bIns="0" rtlCol="0" anchor="ctr"/>
          <a:lstStyle/>
          <a:p>
            <a:pPr indent="0" marL="0">
              <a:buNone/>
            </a:pPr>
            <a:r>
              <a:rPr lang="en-US" sz="2800" b="1" dirty="0">
                <a:solidFill>
                  <a:srgbClr val="F8FAFC"/>
                </a:solidFill>
                <a:latin typeface="Cambria" pitchFamily="34" charset="0"/>
                <a:ea typeface="Cambria" pitchFamily="34" charset="-122"/>
                <a:cs typeface="Cambria" pitchFamily="34" charset="-120"/>
              </a:rPr>
              <a:t>RVF: The Executable Knowledge Unit</a:t>
            </a:r>
            <a:endParaRPr lang="en-US" sz="2800" dirty="0"/>
          </a:p>
        </p:txBody>
      </p:sp>
      <p:sp>
        <p:nvSpPr>
          <p:cNvPr id="4" name="Text 2"/>
          <p:cNvSpPr/>
          <p:nvPr/>
        </p:nvSpPr>
        <p:spPr>
          <a:xfrm>
            <a:off x="731520" y="777240"/>
            <a:ext cx="7315200" cy="274320"/>
          </a:xfrm>
          <a:prstGeom prst="rect">
            <a:avLst/>
          </a:prstGeom>
          <a:noFill/>
          <a:ln/>
        </p:spPr>
        <p:txBody>
          <a:bodyPr wrap="square" lIns="0" tIns="0" rIns="0" bIns="0" rtlCol="0" anchor="ctr"/>
          <a:lstStyle/>
          <a:p>
            <a:pPr indent="0" marL="0">
              <a:buNone/>
            </a:pPr>
            <a:r>
              <a:rPr lang="en-US" sz="1300" dirty="0">
                <a:solidFill>
                  <a:srgbClr val="94A3B8"/>
                </a:solidFill>
                <a:latin typeface="Calibri" pitchFamily="34" charset="0"/>
                <a:ea typeface="Calibri" pitchFamily="34" charset="-122"/>
                <a:cs typeface="Calibri" pitchFamily="34" charset="-120"/>
              </a:rPr>
              <a:t>24-segment binary format. Not a database file — an executable that contains intelligence.</a:t>
            </a:r>
            <a:endParaRPr lang="en-US" sz="1300" dirty="0"/>
          </a:p>
        </p:txBody>
      </p:sp>
      <p:sp>
        <p:nvSpPr>
          <p:cNvPr id="5" name="Shape 3"/>
          <p:cNvSpPr/>
          <p:nvPr/>
        </p:nvSpPr>
        <p:spPr>
          <a:xfrm>
            <a:off x="731520" y="1234440"/>
            <a:ext cx="2468880" cy="1005840"/>
          </a:xfrm>
          <a:prstGeom prst="rect">
            <a:avLst/>
          </a:prstGeom>
          <a:solidFill>
            <a:srgbClr val="1E293B"/>
          </a:solidFill>
          <a:ln/>
          <a:effectLst>
            <a:outerShdw sx="100000" sy="100000" kx="0" ky="0" algn="bl" rotWithShape="0" blurRad="76200" dist="25400" dir="8100000">
              <a:srgbClr val="000000">
                <a:alpha val="25000"/>
              </a:srgbClr>
            </a:outerShdw>
          </a:effectLst>
        </p:spPr>
      </p:sp>
      <p:sp>
        <p:nvSpPr>
          <p:cNvPr id="6" name="Shape 4"/>
          <p:cNvSpPr/>
          <p:nvPr/>
        </p:nvSpPr>
        <p:spPr>
          <a:xfrm>
            <a:off x="731520" y="1234440"/>
            <a:ext cx="2468880" cy="36576"/>
          </a:xfrm>
          <a:prstGeom prst="rect">
            <a:avLst/>
          </a:prstGeom>
          <a:solidFill>
            <a:srgbClr val="06B6D4"/>
          </a:solidFill>
          <a:ln/>
        </p:spPr>
      </p:sp>
      <p:sp>
        <p:nvSpPr>
          <p:cNvPr id="7" name="Text 5"/>
          <p:cNvSpPr/>
          <p:nvPr/>
        </p:nvSpPr>
        <p:spPr>
          <a:xfrm>
            <a:off x="841248" y="1325880"/>
            <a:ext cx="2286000" cy="228600"/>
          </a:xfrm>
          <a:prstGeom prst="rect">
            <a:avLst/>
          </a:prstGeom>
          <a:noFill/>
          <a:ln/>
        </p:spPr>
        <p:txBody>
          <a:bodyPr wrap="square" lIns="0" tIns="0" rIns="0" bIns="0" rtlCol="0" anchor="ctr"/>
          <a:lstStyle/>
          <a:p>
            <a:pPr indent="0" marL="0">
              <a:buNone/>
            </a:pPr>
            <a:r>
              <a:rPr lang="en-US" sz="1100" b="1" dirty="0">
                <a:solidFill>
                  <a:srgbClr val="06B6D4"/>
                </a:solidFill>
                <a:latin typeface="Consolas" pitchFamily="34" charset="0"/>
                <a:ea typeface="Consolas" pitchFamily="34" charset="-122"/>
                <a:cs typeface="Consolas" pitchFamily="34" charset="-120"/>
              </a:rPr>
              <a:t>Core Data (3)</a:t>
            </a:r>
            <a:endParaRPr lang="en-US" sz="1100" dirty="0"/>
          </a:p>
        </p:txBody>
      </p:sp>
      <p:sp>
        <p:nvSpPr>
          <p:cNvPr id="8" name="Text 6"/>
          <p:cNvSpPr/>
          <p:nvPr/>
        </p:nvSpPr>
        <p:spPr>
          <a:xfrm>
            <a:off x="841248" y="1600200"/>
            <a:ext cx="2286000" cy="502920"/>
          </a:xfrm>
          <a:prstGeom prst="rect">
            <a:avLst/>
          </a:prstGeom>
          <a:noFill/>
          <a:ln/>
        </p:spPr>
        <p:txBody>
          <a:bodyPr wrap="square" lIns="0" tIns="0" rIns="0" bIns="0" rtlCol="0" anchor="ctr"/>
          <a:lstStyle/>
          <a:p>
            <a:pPr indent="0" marL="0">
              <a:buNone/>
            </a:pPr>
            <a:r>
              <a:rPr lang="en-US" sz="1000" dirty="0">
                <a:solidFill>
                  <a:srgbClr val="94A3B8"/>
                </a:solidFill>
                <a:latin typeface="Calibri" pitchFamily="34" charset="0"/>
                <a:ea typeface="Calibri" pitchFamily="34" charset="-122"/>
                <a:cs typeface="Calibri" pitchFamily="34" charset="-120"/>
              </a:rPr>
              <a:t>Vectors, Metadata, Indexes</a:t>
            </a:r>
            <a:endParaRPr lang="en-US" sz="1000" dirty="0"/>
          </a:p>
        </p:txBody>
      </p:sp>
      <p:sp>
        <p:nvSpPr>
          <p:cNvPr id="9" name="Shape 7"/>
          <p:cNvSpPr/>
          <p:nvPr/>
        </p:nvSpPr>
        <p:spPr>
          <a:xfrm>
            <a:off x="3383280" y="1234440"/>
            <a:ext cx="2468880" cy="1005840"/>
          </a:xfrm>
          <a:prstGeom prst="rect">
            <a:avLst/>
          </a:prstGeom>
          <a:solidFill>
            <a:srgbClr val="1E293B"/>
          </a:solidFill>
          <a:ln/>
          <a:effectLst>
            <a:outerShdw sx="100000" sy="100000" kx="0" ky="0" algn="bl" rotWithShape="0" blurRad="76200" dist="25400" dir="8100000">
              <a:srgbClr val="000000">
                <a:alpha val="25000"/>
              </a:srgbClr>
            </a:outerShdw>
          </a:effectLst>
        </p:spPr>
      </p:sp>
      <p:sp>
        <p:nvSpPr>
          <p:cNvPr id="10" name="Shape 8"/>
          <p:cNvSpPr/>
          <p:nvPr/>
        </p:nvSpPr>
        <p:spPr>
          <a:xfrm>
            <a:off x="3383280" y="1234440"/>
            <a:ext cx="2468880" cy="36576"/>
          </a:xfrm>
          <a:prstGeom prst="rect">
            <a:avLst/>
          </a:prstGeom>
          <a:solidFill>
            <a:srgbClr val="0EA5E9"/>
          </a:solidFill>
          <a:ln/>
        </p:spPr>
      </p:sp>
      <p:sp>
        <p:nvSpPr>
          <p:cNvPr id="11" name="Text 9"/>
          <p:cNvSpPr/>
          <p:nvPr/>
        </p:nvSpPr>
        <p:spPr>
          <a:xfrm>
            <a:off x="3493008" y="1325880"/>
            <a:ext cx="2286000" cy="228600"/>
          </a:xfrm>
          <a:prstGeom prst="rect">
            <a:avLst/>
          </a:prstGeom>
          <a:noFill/>
          <a:ln/>
        </p:spPr>
        <p:txBody>
          <a:bodyPr wrap="square" lIns="0" tIns="0" rIns="0" bIns="0" rtlCol="0" anchor="ctr"/>
          <a:lstStyle/>
          <a:p>
            <a:pPr indent="0" marL="0">
              <a:buNone/>
            </a:pPr>
            <a:r>
              <a:rPr lang="en-US" sz="1100" b="1" dirty="0">
                <a:solidFill>
                  <a:srgbClr val="0EA5E9"/>
                </a:solidFill>
                <a:latin typeface="Consolas" pitchFamily="34" charset="0"/>
                <a:ea typeface="Consolas" pitchFamily="34" charset="-122"/>
                <a:cs typeface="Consolas" pitchFamily="34" charset="-120"/>
              </a:rPr>
              <a:t>AI / Model (3)</a:t>
            </a:r>
            <a:endParaRPr lang="en-US" sz="1100" dirty="0"/>
          </a:p>
        </p:txBody>
      </p:sp>
      <p:sp>
        <p:nvSpPr>
          <p:cNvPr id="12" name="Text 10"/>
          <p:cNvSpPr/>
          <p:nvPr/>
        </p:nvSpPr>
        <p:spPr>
          <a:xfrm>
            <a:off x="3493008" y="1600200"/>
            <a:ext cx="2286000" cy="502920"/>
          </a:xfrm>
          <a:prstGeom prst="rect">
            <a:avLst/>
          </a:prstGeom>
          <a:noFill/>
          <a:ln/>
        </p:spPr>
        <p:txBody>
          <a:bodyPr wrap="square" lIns="0" tIns="0" rIns="0" bIns="0" rtlCol="0" anchor="ctr"/>
          <a:lstStyle/>
          <a:p>
            <a:pPr indent="0" marL="0">
              <a:buNone/>
            </a:pPr>
            <a:r>
              <a:rPr lang="en-US" sz="1000" dirty="0">
                <a:solidFill>
                  <a:srgbClr val="94A3B8"/>
                </a:solidFill>
                <a:latin typeface="Calibri" pitchFamily="34" charset="0"/>
                <a:ea typeface="Calibri" pitchFamily="34" charset="-122"/>
                <a:cs typeface="Calibri" pitchFamily="34" charset="-120"/>
              </a:rPr>
              <a:t>LoRA deltas, GGUF weights, Inference config</a:t>
            </a:r>
            <a:endParaRPr lang="en-US" sz="1000" dirty="0"/>
          </a:p>
        </p:txBody>
      </p:sp>
      <p:sp>
        <p:nvSpPr>
          <p:cNvPr id="13" name="Shape 11"/>
          <p:cNvSpPr/>
          <p:nvPr/>
        </p:nvSpPr>
        <p:spPr>
          <a:xfrm>
            <a:off x="6035040" y="1234440"/>
            <a:ext cx="2468880" cy="1005840"/>
          </a:xfrm>
          <a:prstGeom prst="rect">
            <a:avLst/>
          </a:prstGeom>
          <a:solidFill>
            <a:srgbClr val="1E293B"/>
          </a:solidFill>
          <a:ln/>
          <a:effectLst>
            <a:outerShdw sx="100000" sy="100000" kx="0" ky="0" algn="bl" rotWithShape="0" blurRad="76200" dist="25400" dir="8100000">
              <a:srgbClr val="000000">
                <a:alpha val="25000"/>
              </a:srgbClr>
            </a:outerShdw>
          </a:effectLst>
        </p:spPr>
      </p:sp>
      <p:sp>
        <p:nvSpPr>
          <p:cNvPr id="14" name="Shape 12"/>
          <p:cNvSpPr/>
          <p:nvPr/>
        </p:nvSpPr>
        <p:spPr>
          <a:xfrm>
            <a:off x="6035040" y="1234440"/>
            <a:ext cx="2468880" cy="36576"/>
          </a:xfrm>
          <a:prstGeom prst="rect">
            <a:avLst/>
          </a:prstGeom>
          <a:solidFill>
            <a:srgbClr val="F59E0B"/>
          </a:solidFill>
          <a:ln/>
        </p:spPr>
      </p:sp>
      <p:sp>
        <p:nvSpPr>
          <p:cNvPr id="15" name="Text 13"/>
          <p:cNvSpPr/>
          <p:nvPr/>
        </p:nvSpPr>
        <p:spPr>
          <a:xfrm>
            <a:off x="6144768" y="1325880"/>
            <a:ext cx="2286000" cy="228600"/>
          </a:xfrm>
          <a:prstGeom prst="rect">
            <a:avLst/>
          </a:prstGeom>
          <a:noFill/>
          <a:ln/>
        </p:spPr>
        <p:txBody>
          <a:bodyPr wrap="square" lIns="0" tIns="0" rIns="0" bIns="0" rtlCol="0" anchor="ctr"/>
          <a:lstStyle/>
          <a:p>
            <a:pPr indent="0" marL="0">
              <a:buNone/>
            </a:pPr>
            <a:r>
              <a:rPr lang="en-US" sz="1100" b="1" dirty="0">
                <a:solidFill>
                  <a:srgbClr val="F59E0B"/>
                </a:solidFill>
                <a:latin typeface="Consolas" pitchFamily="34" charset="0"/>
                <a:ea typeface="Consolas" pitchFamily="34" charset="-122"/>
                <a:cs typeface="Consolas" pitchFamily="34" charset="-120"/>
              </a:rPr>
              <a:t>COW Branching (4)</a:t>
            </a:r>
            <a:endParaRPr lang="en-US" sz="1100" dirty="0"/>
          </a:p>
        </p:txBody>
      </p:sp>
      <p:sp>
        <p:nvSpPr>
          <p:cNvPr id="16" name="Text 14"/>
          <p:cNvSpPr/>
          <p:nvPr/>
        </p:nvSpPr>
        <p:spPr>
          <a:xfrm>
            <a:off x="6144768" y="1600200"/>
            <a:ext cx="2286000" cy="502920"/>
          </a:xfrm>
          <a:prstGeom prst="rect">
            <a:avLst/>
          </a:prstGeom>
          <a:noFill/>
          <a:ln/>
        </p:spPr>
        <p:txBody>
          <a:bodyPr wrap="square" lIns="0" tIns="0" rIns="0" bIns="0" rtlCol="0" anchor="ctr"/>
          <a:lstStyle/>
          <a:p>
            <a:pPr indent="0" marL="0">
              <a:buNone/>
            </a:pPr>
            <a:r>
              <a:rPr lang="en-US" sz="1000" dirty="0">
                <a:solidFill>
                  <a:srgbClr val="94A3B8"/>
                </a:solidFill>
                <a:latin typeface="Calibri" pitchFamily="34" charset="0"/>
                <a:ea typeface="Calibri" pitchFamily="34" charset="-122"/>
                <a:cs typeface="Calibri" pitchFamily="34" charset="-120"/>
              </a:rPr>
              <a:t>Git-like versioning (200x savings)</a:t>
            </a:r>
            <a:endParaRPr lang="en-US" sz="1000" dirty="0"/>
          </a:p>
        </p:txBody>
      </p:sp>
      <p:sp>
        <p:nvSpPr>
          <p:cNvPr id="17" name="Shape 15"/>
          <p:cNvSpPr/>
          <p:nvPr/>
        </p:nvSpPr>
        <p:spPr>
          <a:xfrm>
            <a:off x="731520" y="2468880"/>
            <a:ext cx="2468880" cy="1005840"/>
          </a:xfrm>
          <a:prstGeom prst="rect">
            <a:avLst/>
          </a:prstGeom>
          <a:solidFill>
            <a:srgbClr val="1E293B"/>
          </a:solidFill>
          <a:ln/>
          <a:effectLst>
            <a:outerShdw sx="100000" sy="100000" kx="0" ky="0" algn="bl" rotWithShape="0" blurRad="76200" dist="25400" dir="8100000">
              <a:srgbClr val="000000">
                <a:alpha val="25000"/>
              </a:srgbClr>
            </a:outerShdw>
          </a:effectLst>
        </p:spPr>
      </p:sp>
      <p:sp>
        <p:nvSpPr>
          <p:cNvPr id="18" name="Shape 16"/>
          <p:cNvSpPr/>
          <p:nvPr/>
        </p:nvSpPr>
        <p:spPr>
          <a:xfrm>
            <a:off x="731520" y="2468880"/>
            <a:ext cx="2468880" cy="36576"/>
          </a:xfrm>
          <a:prstGeom prst="rect">
            <a:avLst/>
          </a:prstGeom>
          <a:solidFill>
            <a:srgbClr val="EF4444"/>
          </a:solidFill>
          <a:ln/>
        </p:spPr>
      </p:sp>
      <p:sp>
        <p:nvSpPr>
          <p:cNvPr id="19" name="Text 17"/>
          <p:cNvSpPr/>
          <p:nvPr/>
        </p:nvSpPr>
        <p:spPr>
          <a:xfrm>
            <a:off x="841248" y="2560320"/>
            <a:ext cx="2286000" cy="228600"/>
          </a:xfrm>
          <a:prstGeom prst="rect">
            <a:avLst/>
          </a:prstGeom>
          <a:noFill/>
          <a:ln/>
        </p:spPr>
        <p:txBody>
          <a:bodyPr wrap="square" lIns="0" tIns="0" rIns="0" bIns="0" rtlCol="0" anchor="ctr"/>
          <a:lstStyle/>
          <a:p>
            <a:pPr indent="0" marL="0">
              <a:buNone/>
            </a:pPr>
            <a:r>
              <a:rPr lang="en-US" sz="1100" b="1" dirty="0">
                <a:solidFill>
                  <a:srgbClr val="EF4444"/>
                </a:solidFill>
                <a:latin typeface="Consolas" pitchFamily="34" charset="0"/>
                <a:ea typeface="Consolas" pitchFamily="34" charset="-122"/>
                <a:cs typeface="Consolas" pitchFamily="34" charset="-120"/>
              </a:rPr>
              <a:t>Security (2)</a:t>
            </a:r>
            <a:endParaRPr lang="en-US" sz="1100" dirty="0"/>
          </a:p>
        </p:txBody>
      </p:sp>
      <p:sp>
        <p:nvSpPr>
          <p:cNvPr id="20" name="Text 18"/>
          <p:cNvSpPr/>
          <p:nvPr/>
        </p:nvSpPr>
        <p:spPr>
          <a:xfrm>
            <a:off x="841248" y="2834640"/>
            <a:ext cx="2286000" cy="502920"/>
          </a:xfrm>
          <a:prstGeom prst="rect">
            <a:avLst/>
          </a:prstGeom>
          <a:noFill/>
          <a:ln/>
        </p:spPr>
        <p:txBody>
          <a:bodyPr wrap="square" lIns="0" tIns="0" rIns="0" bIns="0" rtlCol="0" anchor="ctr"/>
          <a:lstStyle/>
          <a:p>
            <a:pPr indent="0" marL="0">
              <a:buNone/>
            </a:pPr>
            <a:r>
              <a:rPr lang="en-US" sz="1000" dirty="0">
                <a:solidFill>
                  <a:srgbClr val="94A3B8"/>
                </a:solidFill>
                <a:latin typeface="Calibri" pitchFamily="34" charset="0"/>
                <a:ea typeface="Calibri" pitchFamily="34" charset="-122"/>
                <a:cs typeface="Calibri" pitchFamily="34" charset="-120"/>
              </a:rPr>
              <a:t>Witness chains (ML-DSA-65), TEE attestations</a:t>
            </a:r>
            <a:endParaRPr lang="en-US" sz="1000" dirty="0"/>
          </a:p>
        </p:txBody>
      </p:sp>
      <p:sp>
        <p:nvSpPr>
          <p:cNvPr id="21" name="Shape 19"/>
          <p:cNvSpPr/>
          <p:nvPr/>
        </p:nvSpPr>
        <p:spPr>
          <a:xfrm>
            <a:off x="3383280" y="2468880"/>
            <a:ext cx="2468880" cy="1005840"/>
          </a:xfrm>
          <a:prstGeom prst="rect">
            <a:avLst/>
          </a:prstGeom>
          <a:solidFill>
            <a:srgbClr val="1E293B"/>
          </a:solidFill>
          <a:ln/>
          <a:effectLst>
            <a:outerShdw sx="100000" sy="100000" kx="0" ky="0" algn="bl" rotWithShape="0" blurRad="76200" dist="25400" dir="8100000">
              <a:srgbClr val="000000">
                <a:alpha val="25000"/>
              </a:srgbClr>
            </a:outerShdw>
          </a:effectLst>
        </p:spPr>
      </p:sp>
      <p:sp>
        <p:nvSpPr>
          <p:cNvPr id="22" name="Shape 20"/>
          <p:cNvSpPr/>
          <p:nvPr/>
        </p:nvSpPr>
        <p:spPr>
          <a:xfrm>
            <a:off x="3383280" y="2468880"/>
            <a:ext cx="2468880" cy="36576"/>
          </a:xfrm>
          <a:prstGeom prst="rect">
            <a:avLst/>
          </a:prstGeom>
          <a:solidFill>
            <a:srgbClr val="10B981"/>
          </a:solidFill>
          <a:ln/>
        </p:spPr>
      </p:sp>
      <p:sp>
        <p:nvSpPr>
          <p:cNvPr id="23" name="Text 21"/>
          <p:cNvSpPr/>
          <p:nvPr/>
        </p:nvSpPr>
        <p:spPr>
          <a:xfrm>
            <a:off x="3493008" y="2560320"/>
            <a:ext cx="2286000" cy="228600"/>
          </a:xfrm>
          <a:prstGeom prst="rect">
            <a:avLst/>
          </a:prstGeom>
          <a:noFill/>
          <a:ln/>
        </p:spPr>
        <p:txBody>
          <a:bodyPr wrap="square" lIns="0" tIns="0" rIns="0" bIns="0" rtlCol="0" anchor="ctr"/>
          <a:lstStyle/>
          <a:p>
            <a:pPr indent="0" marL="0">
              <a:buNone/>
            </a:pPr>
            <a:r>
              <a:rPr lang="en-US" sz="1100" b="1" dirty="0">
                <a:solidFill>
                  <a:srgbClr val="10B981"/>
                </a:solidFill>
                <a:latin typeface="Consolas" pitchFamily="34" charset="0"/>
                <a:ea typeface="Consolas" pitchFamily="34" charset="-122"/>
                <a:cs typeface="Consolas" pitchFamily="34" charset="-120"/>
              </a:rPr>
              <a:t>Compute (3+)</a:t>
            </a:r>
            <a:endParaRPr lang="en-US" sz="1100" dirty="0"/>
          </a:p>
        </p:txBody>
      </p:sp>
      <p:sp>
        <p:nvSpPr>
          <p:cNvPr id="24" name="Text 22"/>
          <p:cNvSpPr/>
          <p:nvPr/>
        </p:nvSpPr>
        <p:spPr>
          <a:xfrm>
            <a:off x="3493008" y="2834640"/>
            <a:ext cx="2286000" cy="502920"/>
          </a:xfrm>
          <a:prstGeom prst="rect">
            <a:avLst/>
          </a:prstGeom>
          <a:noFill/>
          <a:ln/>
        </p:spPr>
        <p:txBody>
          <a:bodyPr wrap="square" lIns="0" tIns="0" rIns="0" bIns="0" rtlCol="0" anchor="ctr"/>
          <a:lstStyle/>
          <a:p>
            <a:pPr indent="0" marL="0">
              <a:buNone/>
            </a:pPr>
            <a:r>
              <a:rPr lang="en-US" sz="1000" dirty="0">
                <a:solidFill>
                  <a:srgbClr val="94A3B8"/>
                </a:solidFill>
                <a:latin typeface="Calibri" pitchFamily="34" charset="0"/>
                <a:ea typeface="Calibri" pitchFamily="34" charset="-122"/>
                <a:cs typeface="Calibri" pitchFamily="34" charset="-120"/>
              </a:rPr>
              <a:t>WASM (5.5KB) | eBPF | Unikernel (125ms)</a:t>
            </a:r>
            <a:endParaRPr lang="en-US" sz="1000" dirty="0"/>
          </a:p>
        </p:txBody>
      </p:sp>
      <p:sp>
        <p:nvSpPr>
          <p:cNvPr id="25" name="Shape 23"/>
          <p:cNvSpPr/>
          <p:nvPr/>
        </p:nvSpPr>
        <p:spPr>
          <a:xfrm>
            <a:off x="6035040" y="2468880"/>
            <a:ext cx="2468880" cy="1005840"/>
          </a:xfrm>
          <a:prstGeom prst="rect">
            <a:avLst/>
          </a:prstGeom>
          <a:solidFill>
            <a:srgbClr val="1E293B"/>
          </a:solidFill>
          <a:ln/>
          <a:effectLst>
            <a:outerShdw sx="100000" sy="100000" kx="0" ky="0" algn="bl" rotWithShape="0" blurRad="76200" dist="25400" dir="8100000">
              <a:srgbClr val="000000">
                <a:alpha val="25000"/>
              </a:srgbClr>
            </a:outerShdw>
          </a:effectLst>
        </p:spPr>
      </p:sp>
      <p:sp>
        <p:nvSpPr>
          <p:cNvPr id="26" name="Shape 24"/>
          <p:cNvSpPr/>
          <p:nvPr/>
        </p:nvSpPr>
        <p:spPr>
          <a:xfrm>
            <a:off x="6035040" y="2468880"/>
            <a:ext cx="2468880" cy="36576"/>
          </a:xfrm>
          <a:prstGeom prst="rect">
            <a:avLst/>
          </a:prstGeom>
          <a:solidFill>
            <a:srgbClr val="8B5CF6"/>
          </a:solidFill>
          <a:ln/>
        </p:spPr>
      </p:sp>
      <p:sp>
        <p:nvSpPr>
          <p:cNvPr id="27" name="Text 25"/>
          <p:cNvSpPr/>
          <p:nvPr/>
        </p:nvSpPr>
        <p:spPr>
          <a:xfrm>
            <a:off x="6144768" y="2560320"/>
            <a:ext cx="2286000" cy="228600"/>
          </a:xfrm>
          <a:prstGeom prst="rect">
            <a:avLst/>
          </a:prstGeom>
          <a:noFill/>
          <a:ln/>
        </p:spPr>
        <p:txBody>
          <a:bodyPr wrap="square" lIns="0" tIns="0" rIns="0" bIns="0" rtlCol="0" anchor="ctr"/>
          <a:lstStyle/>
          <a:p>
            <a:pPr indent="0" marL="0">
              <a:buNone/>
            </a:pPr>
            <a:r>
              <a:rPr lang="en-US" sz="1100" b="1" dirty="0">
                <a:solidFill>
                  <a:srgbClr val="8B5CF6"/>
                </a:solidFill>
                <a:latin typeface="Consolas" pitchFamily="34" charset="0"/>
                <a:ea typeface="Consolas" pitchFamily="34" charset="-122"/>
                <a:cs typeface="Consolas" pitchFamily="34" charset="-120"/>
              </a:rPr>
              <a:t>AGI Container (9)</a:t>
            </a:r>
            <a:endParaRPr lang="en-US" sz="1100" dirty="0"/>
          </a:p>
        </p:txBody>
      </p:sp>
      <p:sp>
        <p:nvSpPr>
          <p:cNvPr id="28" name="Text 26"/>
          <p:cNvSpPr/>
          <p:nvPr/>
        </p:nvSpPr>
        <p:spPr>
          <a:xfrm>
            <a:off x="6144768" y="2834640"/>
            <a:ext cx="2286000" cy="502920"/>
          </a:xfrm>
          <a:prstGeom prst="rect">
            <a:avLst/>
          </a:prstGeom>
          <a:noFill/>
          <a:ln/>
        </p:spPr>
        <p:txBody>
          <a:bodyPr wrap="square" lIns="0" tIns="0" rIns="0" bIns="0" rtlCol="0" anchor="ctr"/>
          <a:lstStyle/>
          <a:p>
            <a:pPr indent="0" marL="0">
              <a:buNone/>
            </a:pPr>
            <a:r>
              <a:rPr lang="en-US" sz="1000" dirty="0">
                <a:solidFill>
                  <a:srgbClr val="94A3B8"/>
                </a:solidFill>
                <a:latin typeface="Calibri" pitchFamily="34" charset="0"/>
                <a:ea typeface="Calibri" pitchFamily="34" charset="-122"/>
                <a:cs typeface="Calibri" pitchFamily="34" charset="-120"/>
              </a:rPr>
              <a:t>Identity + tools + authority + evaluation</a:t>
            </a:r>
            <a:endParaRPr lang="en-US" sz="1000" dirty="0"/>
          </a:p>
        </p:txBody>
      </p:sp>
      <p:sp>
        <p:nvSpPr>
          <p:cNvPr id="29" name="Shape 27"/>
          <p:cNvSpPr/>
          <p:nvPr/>
        </p:nvSpPr>
        <p:spPr>
          <a:xfrm>
            <a:off x="731520" y="3886200"/>
            <a:ext cx="7680960" cy="640080"/>
          </a:xfrm>
          <a:prstGeom prst="rect">
            <a:avLst/>
          </a:prstGeom>
          <a:solidFill>
            <a:srgbClr val="1A2744"/>
          </a:solidFill>
          <a:ln/>
        </p:spPr>
      </p:sp>
      <p:sp>
        <p:nvSpPr>
          <p:cNvPr id="30" name="Text 28"/>
          <p:cNvSpPr/>
          <p:nvPr/>
        </p:nvSpPr>
        <p:spPr>
          <a:xfrm>
            <a:off x="914400" y="3931920"/>
            <a:ext cx="2286000" cy="228600"/>
          </a:xfrm>
          <a:prstGeom prst="rect">
            <a:avLst/>
          </a:prstGeom>
          <a:noFill/>
          <a:ln/>
        </p:spPr>
        <p:txBody>
          <a:bodyPr wrap="square" lIns="0" tIns="0" rIns="0" bIns="0" rtlCol="0" anchor="ctr"/>
          <a:lstStyle/>
          <a:p>
            <a:pPr indent="0" marL="0">
              <a:buNone/>
            </a:pPr>
            <a:r>
              <a:rPr lang="en-US" sz="1100" dirty="0">
                <a:solidFill>
                  <a:srgbClr val="94A3B8"/>
                </a:solidFill>
                <a:latin typeface="Calibri" pitchFamily="34" charset="0"/>
                <a:ea typeface="Calibri" pitchFamily="34" charset="-122"/>
                <a:cs typeface="Calibri" pitchFamily="34" charset="-120"/>
              </a:rPr>
              <a:t>Docker image: 50-500 MB</a:t>
            </a:r>
            <a:endParaRPr lang="en-US" sz="1100" dirty="0"/>
          </a:p>
        </p:txBody>
      </p:sp>
      <p:sp>
        <p:nvSpPr>
          <p:cNvPr id="31" name="Text 29"/>
          <p:cNvSpPr/>
          <p:nvPr/>
        </p:nvSpPr>
        <p:spPr>
          <a:xfrm>
            <a:off x="3474720" y="3931920"/>
            <a:ext cx="2286000" cy="228600"/>
          </a:xfrm>
          <a:prstGeom prst="rect">
            <a:avLst/>
          </a:prstGeom>
          <a:noFill/>
          <a:ln/>
        </p:spPr>
        <p:txBody>
          <a:bodyPr wrap="square" lIns="0" tIns="0" rIns="0" bIns="0" rtlCol="0" anchor="ctr"/>
          <a:lstStyle/>
          <a:p>
            <a:pPr indent="0" marL="0">
              <a:buNone/>
            </a:pPr>
            <a:r>
              <a:rPr lang="en-US" sz="1100" dirty="0">
                <a:solidFill>
                  <a:srgbClr val="94A3B8"/>
                </a:solidFill>
                <a:latin typeface="Calibri" pitchFamily="34" charset="0"/>
                <a:ea typeface="Calibri" pitchFamily="34" charset="-122"/>
                <a:cs typeface="Calibri" pitchFamily="34" charset="-120"/>
              </a:rPr>
              <a:t>Minimal container: 5-50 MB</a:t>
            </a:r>
            <a:endParaRPr lang="en-US" sz="1100" dirty="0"/>
          </a:p>
        </p:txBody>
      </p:sp>
      <p:sp>
        <p:nvSpPr>
          <p:cNvPr id="32" name="Text 30"/>
          <p:cNvSpPr/>
          <p:nvPr/>
        </p:nvSpPr>
        <p:spPr>
          <a:xfrm>
            <a:off x="6035040" y="3931920"/>
            <a:ext cx="2286000" cy="228600"/>
          </a:xfrm>
          <a:prstGeom prst="rect">
            <a:avLst/>
          </a:prstGeom>
          <a:noFill/>
          <a:ln/>
        </p:spPr>
        <p:txBody>
          <a:bodyPr wrap="square" lIns="0" tIns="0" rIns="0" bIns="0" rtlCol="0" anchor="ctr"/>
          <a:lstStyle/>
          <a:p>
            <a:pPr indent="0" marL="0">
              <a:buNone/>
            </a:pPr>
            <a:r>
              <a:rPr lang="en-US" sz="1100" b="1" dirty="0">
                <a:solidFill>
                  <a:srgbClr val="06B6D4"/>
                </a:solidFill>
                <a:latin typeface="Consolas" pitchFamily="34" charset="0"/>
                <a:ea typeface="Consolas" pitchFamily="34" charset="-122"/>
                <a:cs typeface="Consolas" pitchFamily="34" charset="-120"/>
              </a:rPr>
              <a:t>RVF WASM runtime: 5.5 KB</a:t>
            </a:r>
            <a:endParaRPr lang="en-US" sz="1100" dirty="0"/>
          </a:p>
        </p:txBody>
      </p:sp>
      <p:sp>
        <p:nvSpPr>
          <p:cNvPr id="33" name="Text 31"/>
          <p:cNvSpPr/>
          <p:nvPr/>
        </p:nvSpPr>
        <p:spPr>
          <a:xfrm>
            <a:off x="914400" y="4206240"/>
            <a:ext cx="7315200" cy="228600"/>
          </a:xfrm>
          <a:prstGeom prst="rect">
            <a:avLst/>
          </a:prstGeom>
          <a:noFill/>
          <a:ln/>
        </p:spPr>
        <p:txBody>
          <a:bodyPr wrap="square" lIns="0" tIns="0" rIns="0" bIns="0" rtlCol="0" anchor="ctr"/>
          <a:lstStyle/>
          <a:p>
            <a:pPr indent="0" marL="0">
              <a:buNone/>
            </a:pPr>
            <a:r>
              <a:rPr lang="en-US" sz="1000" i="1" dirty="0">
                <a:solidFill>
                  <a:srgbClr val="06B6D4"/>
                </a:solidFill>
                <a:latin typeface="Calibri" pitchFamily="34" charset="0"/>
                <a:ea typeface="Calibri" pitchFamily="34" charset="-122"/>
                <a:cs typeface="Calibri" pitchFamily="34" charset="-120"/>
              </a:rPr>
              <a:t>Docker images are megabytes. An RVF WASM runtime is 5.5 kilobytes.</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6B6D4"/>
          </a:solidFill>
          <a:ln/>
        </p:spPr>
      </p:sp>
      <p:sp>
        <p:nvSpPr>
          <p:cNvPr id="3" name="Text 1"/>
          <p:cNvSpPr/>
          <p:nvPr/>
        </p:nvSpPr>
        <p:spPr>
          <a:xfrm>
            <a:off x="731520" y="320040"/>
            <a:ext cx="7680960" cy="457200"/>
          </a:xfrm>
          <a:prstGeom prst="rect">
            <a:avLst/>
          </a:prstGeom>
          <a:noFill/>
          <a:ln/>
        </p:spPr>
        <p:txBody>
          <a:bodyPr wrap="square" lIns="0" tIns="0" rIns="0" bIns="0" rtlCol="0" anchor="ctr"/>
          <a:lstStyle/>
          <a:p>
            <a:pPr indent="0" marL="0">
              <a:buNone/>
            </a:pPr>
            <a:r>
              <a:rPr lang="en-US" sz="2800" b="1" dirty="0">
                <a:solidFill>
                  <a:srgbClr val="F8FAFC"/>
                </a:solidFill>
                <a:latin typeface="Cambria" pitchFamily="34" charset="0"/>
                <a:ea typeface="Cambria" pitchFamily="34" charset="-122"/>
                <a:cs typeface="Cambria" pitchFamily="34" charset="-120"/>
              </a:rPr>
              <a:t>AIMDS: Security via Chaos Theory</a:t>
            </a:r>
            <a:endParaRPr lang="en-US" sz="2800" dirty="0"/>
          </a:p>
        </p:txBody>
      </p:sp>
      <p:sp>
        <p:nvSpPr>
          <p:cNvPr id="4" name="Text 2"/>
          <p:cNvSpPr/>
          <p:nvPr/>
        </p:nvSpPr>
        <p:spPr>
          <a:xfrm>
            <a:off x="731520" y="777240"/>
            <a:ext cx="7315200" cy="274320"/>
          </a:xfrm>
          <a:prstGeom prst="rect">
            <a:avLst/>
          </a:prstGeom>
          <a:noFill/>
          <a:ln/>
        </p:spPr>
        <p:txBody>
          <a:bodyPr wrap="square" lIns="0" tIns="0" rIns="0" bIns="0" rtlCol="0" anchor="ctr"/>
          <a:lstStyle/>
          <a:p>
            <a:pPr indent="0" marL="0">
              <a:buNone/>
            </a:pPr>
            <a:r>
              <a:rPr lang="en-US" sz="1300" dirty="0">
                <a:solidFill>
                  <a:srgbClr val="94A3B8"/>
                </a:solidFill>
                <a:latin typeface="Calibri" pitchFamily="34" charset="0"/>
                <a:ea typeface="Calibri" pitchFamily="34" charset="-122"/>
                <a:cs typeface="Calibri" pitchFamily="34" charset="-120"/>
              </a:rPr>
              <a:t>3-layer pipeline. Lyapunov chaos detection. Mathematical certainty, not heuristics.</a:t>
            </a:r>
            <a:endParaRPr lang="en-US" sz="1300" dirty="0"/>
          </a:p>
        </p:txBody>
      </p:sp>
      <p:sp>
        <p:nvSpPr>
          <p:cNvPr id="5" name="Shape 3"/>
          <p:cNvSpPr/>
          <p:nvPr/>
        </p:nvSpPr>
        <p:spPr>
          <a:xfrm>
            <a:off x="731520" y="1234440"/>
            <a:ext cx="2468880" cy="2011680"/>
          </a:xfrm>
          <a:prstGeom prst="rect">
            <a:avLst/>
          </a:prstGeom>
          <a:solidFill>
            <a:srgbClr val="1E293B"/>
          </a:solidFill>
          <a:ln/>
          <a:effectLst>
            <a:outerShdw sx="100000" sy="100000" kx="0" ky="0" algn="bl" rotWithShape="0" blurRad="76200" dist="25400" dir="8100000">
              <a:srgbClr val="000000">
                <a:alpha val="25000"/>
              </a:srgbClr>
            </a:outerShdw>
          </a:effectLst>
        </p:spPr>
      </p:sp>
      <p:sp>
        <p:nvSpPr>
          <p:cNvPr id="6" name="Shape 4"/>
          <p:cNvSpPr/>
          <p:nvPr/>
        </p:nvSpPr>
        <p:spPr>
          <a:xfrm>
            <a:off x="731520" y="1234440"/>
            <a:ext cx="2468880" cy="36576"/>
          </a:xfrm>
          <a:prstGeom prst="rect">
            <a:avLst/>
          </a:prstGeom>
          <a:solidFill>
            <a:srgbClr val="F59E0B"/>
          </a:solidFill>
          <a:ln/>
        </p:spPr>
      </p:sp>
      <p:sp>
        <p:nvSpPr>
          <p:cNvPr id="7" name="Text 5"/>
          <p:cNvSpPr/>
          <p:nvPr/>
        </p:nvSpPr>
        <p:spPr>
          <a:xfrm>
            <a:off x="841248" y="1325880"/>
            <a:ext cx="2286000" cy="228600"/>
          </a:xfrm>
          <a:prstGeom prst="rect">
            <a:avLst/>
          </a:prstGeom>
          <a:noFill/>
          <a:ln/>
        </p:spPr>
        <p:txBody>
          <a:bodyPr wrap="square" lIns="0" tIns="0" rIns="0" bIns="0" rtlCol="0" anchor="ctr"/>
          <a:lstStyle/>
          <a:p>
            <a:pPr indent="0" marL="0">
              <a:buNone/>
            </a:pPr>
            <a:r>
              <a:rPr lang="en-US" sz="1000" b="1" dirty="0">
                <a:solidFill>
                  <a:srgbClr val="F59E0B"/>
                </a:solidFill>
                <a:latin typeface="Consolas" pitchFamily="34" charset="0"/>
                <a:ea typeface="Consolas" pitchFamily="34" charset="-122"/>
                <a:cs typeface="Consolas" pitchFamily="34" charset="-120"/>
              </a:rPr>
              <a:t>STAGE 1: DETECTION</a:t>
            </a:r>
            <a:endParaRPr lang="en-US" sz="1000" dirty="0"/>
          </a:p>
        </p:txBody>
      </p:sp>
      <p:sp>
        <p:nvSpPr>
          <p:cNvPr id="8" name="Text 6"/>
          <p:cNvSpPr/>
          <p:nvPr/>
        </p:nvSpPr>
        <p:spPr>
          <a:xfrm>
            <a:off x="841248" y="1600200"/>
            <a:ext cx="2286000" cy="320040"/>
          </a:xfrm>
          <a:prstGeom prst="rect">
            <a:avLst/>
          </a:prstGeom>
          <a:noFill/>
          <a:ln/>
        </p:spPr>
        <p:txBody>
          <a:bodyPr wrap="square" lIns="0" tIns="0" rIns="0" bIns="0" rtlCol="0" anchor="ctr"/>
          <a:lstStyle/>
          <a:p>
            <a:pPr indent="0" marL="0">
              <a:buNone/>
            </a:pPr>
            <a:r>
              <a:rPr lang="en-US" sz="2200" b="1" dirty="0">
                <a:solidFill>
                  <a:srgbClr val="F59E0B"/>
                </a:solidFill>
                <a:latin typeface="Consolas" pitchFamily="34" charset="0"/>
                <a:ea typeface="Consolas" pitchFamily="34" charset="-122"/>
                <a:cs typeface="Consolas" pitchFamily="34" charset="-120"/>
              </a:rPr>
              <a:t>0.06ms</a:t>
            </a:r>
            <a:endParaRPr lang="en-US" sz="2200" dirty="0"/>
          </a:p>
        </p:txBody>
      </p:sp>
      <p:sp>
        <p:nvSpPr>
          <p:cNvPr id="9" name="Text 7"/>
          <p:cNvSpPr/>
          <p:nvPr/>
        </p:nvSpPr>
        <p:spPr>
          <a:xfrm>
            <a:off x="841248" y="2011680"/>
            <a:ext cx="2286000" cy="1005840"/>
          </a:xfrm>
          <a:prstGeom prst="rect">
            <a:avLst/>
          </a:prstGeom>
          <a:noFill/>
          <a:ln/>
        </p:spPr>
        <p:txBody>
          <a:bodyPr wrap="square" rtlCol="0" anchor="ctr"/>
          <a:lstStyle/>
          <a:p>
            <a:pPr marL="342900" indent="-342900">
              <a:spcAft>
                <a:spcPts val="400"/>
              </a:spcAft>
              <a:buSzPct val="100000"/>
              <a:buChar char="•"/>
            </a:pPr>
            <a:r>
              <a:rPr lang="en-US" sz="1000" dirty="0">
                <a:solidFill>
                  <a:srgbClr val="94A3B8"/>
                </a:solidFill>
                <a:latin typeface="Calibri" pitchFamily="34" charset="0"/>
                <a:ea typeface="Calibri" pitchFamily="34" charset="-122"/>
                <a:cs typeface="Calibri" pitchFamily="34" charset="-120"/>
              </a:rPr>
              <a:t>50+ detection patterns</a:t>
            </a:r>
            <a:endParaRPr lang="en-US" sz="1000" dirty="0"/>
          </a:p>
          <a:p>
            <a:pPr marL="342900" indent="-342900">
              <a:spcAft>
                <a:spcPts val="400"/>
              </a:spcAft>
              <a:buSzPct val="100000"/>
              <a:buChar char="•"/>
            </a:pPr>
            <a:r>
              <a:rPr lang="en-US" sz="1000" dirty="0">
                <a:solidFill>
                  <a:srgbClr val="94A3B8"/>
                </a:solidFill>
                <a:latin typeface="Calibri" pitchFamily="34" charset="0"/>
                <a:ea typeface="Calibri" pitchFamily="34" charset="-122"/>
                <a:cs typeface="Calibri" pitchFamily="34" charset="-120"/>
              </a:rPr>
              <a:t>Aho-Corasick matching</a:t>
            </a:r>
            <a:endParaRPr lang="en-US" sz="1000" dirty="0"/>
          </a:p>
          <a:p>
            <a:pPr marL="342900" indent="-342900">
              <a:spcAft>
                <a:spcPts val="400"/>
              </a:spcAft>
              <a:buSzPct val="100000"/>
              <a:buChar char="•"/>
            </a:pPr>
            <a:r>
              <a:rPr lang="en-US" sz="1000" dirty="0">
                <a:solidFill>
                  <a:srgbClr val="94A3B8"/>
                </a:solidFill>
                <a:latin typeface="Calibri" pitchFamily="34" charset="0"/>
                <a:ea typeface="Calibri" pitchFamily="34" charset="-122"/>
                <a:cs typeface="Calibri" pitchFamily="34" charset="-120"/>
              </a:rPr>
              <a:t>Real-time stream processing</a:t>
            </a:r>
            <a:endParaRPr lang="en-US" sz="1000" dirty="0"/>
          </a:p>
        </p:txBody>
      </p:sp>
      <p:sp>
        <p:nvSpPr>
          <p:cNvPr id="10" name="Shape 8"/>
          <p:cNvSpPr/>
          <p:nvPr/>
        </p:nvSpPr>
        <p:spPr>
          <a:xfrm>
            <a:off x="3383280" y="1234440"/>
            <a:ext cx="2468880" cy="2011680"/>
          </a:xfrm>
          <a:prstGeom prst="rect">
            <a:avLst/>
          </a:prstGeom>
          <a:solidFill>
            <a:srgbClr val="1E293B"/>
          </a:solidFill>
          <a:ln/>
          <a:effectLst>
            <a:outerShdw sx="100000" sy="100000" kx="0" ky="0" algn="bl" rotWithShape="0" blurRad="76200" dist="25400" dir="8100000">
              <a:srgbClr val="000000">
                <a:alpha val="25000"/>
              </a:srgbClr>
            </a:outerShdw>
          </a:effectLst>
        </p:spPr>
      </p:sp>
      <p:sp>
        <p:nvSpPr>
          <p:cNvPr id="11" name="Shape 9"/>
          <p:cNvSpPr/>
          <p:nvPr/>
        </p:nvSpPr>
        <p:spPr>
          <a:xfrm>
            <a:off x="3383280" y="1234440"/>
            <a:ext cx="2468880" cy="36576"/>
          </a:xfrm>
          <a:prstGeom prst="rect">
            <a:avLst/>
          </a:prstGeom>
          <a:solidFill>
            <a:srgbClr val="EF4444"/>
          </a:solidFill>
          <a:ln/>
        </p:spPr>
      </p:sp>
      <p:sp>
        <p:nvSpPr>
          <p:cNvPr id="12" name="Text 10"/>
          <p:cNvSpPr/>
          <p:nvPr/>
        </p:nvSpPr>
        <p:spPr>
          <a:xfrm>
            <a:off x="3493008" y="1325880"/>
            <a:ext cx="2286000" cy="228600"/>
          </a:xfrm>
          <a:prstGeom prst="rect">
            <a:avLst/>
          </a:prstGeom>
          <a:noFill/>
          <a:ln/>
        </p:spPr>
        <p:txBody>
          <a:bodyPr wrap="square" lIns="0" tIns="0" rIns="0" bIns="0" rtlCol="0" anchor="ctr"/>
          <a:lstStyle/>
          <a:p>
            <a:pPr indent="0" marL="0">
              <a:buNone/>
            </a:pPr>
            <a:r>
              <a:rPr lang="en-US" sz="1000" b="1" dirty="0">
                <a:solidFill>
                  <a:srgbClr val="EF4444"/>
                </a:solidFill>
                <a:latin typeface="Consolas" pitchFamily="34" charset="0"/>
                <a:ea typeface="Consolas" pitchFamily="34" charset="-122"/>
                <a:cs typeface="Consolas" pitchFamily="34" charset="-120"/>
              </a:rPr>
              <a:t>STAGE 2: ANALYSIS</a:t>
            </a:r>
            <a:endParaRPr lang="en-US" sz="1000" dirty="0"/>
          </a:p>
        </p:txBody>
      </p:sp>
      <p:sp>
        <p:nvSpPr>
          <p:cNvPr id="13" name="Text 11"/>
          <p:cNvSpPr/>
          <p:nvPr/>
        </p:nvSpPr>
        <p:spPr>
          <a:xfrm>
            <a:off x="3493008" y="1600200"/>
            <a:ext cx="2286000" cy="320040"/>
          </a:xfrm>
          <a:prstGeom prst="rect">
            <a:avLst/>
          </a:prstGeom>
          <a:noFill/>
          <a:ln/>
        </p:spPr>
        <p:txBody>
          <a:bodyPr wrap="square" lIns="0" tIns="0" rIns="0" bIns="0" rtlCol="0" anchor="ctr"/>
          <a:lstStyle/>
          <a:p>
            <a:pPr indent="0" marL="0">
              <a:buNone/>
            </a:pPr>
            <a:r>
              <a:rPr lang="en-US" sz="2200" b="1" dirty="0">
                <a:solidFill>
                  <a:srgbClr val="EF4444"/>
                </a:solidFill>
                <a:latin typeface="Consolas" pitchFamily="34" charset="0"/>
                <a:ea typeface="Consolas" pitchFamily="34" charset="-122"/>
                <a:cs typeface="Consolas" pitchFamily="34" charset="-120"/>
              </a:rPr>
              <a:t>80ms</a:t>
            </a:r>
            <a:endParaRPr lang="en-US" sz="2200" dirty="0"/>
          </a:p>
        </p:txBody>
      </p:sp>
      <p:sp>
        <p:nvSpPr>
          <p:cNvPr id="14" name="Text 12"/>
          <p:cNvSpPr/>
          <p:nvPr/>
        </p:nvSpPr>
        <p:spPr>
          <a:xfrm>
            <a:off x="3493008" y="2011680"/>
            <a:ext cx="2286000" cy="1005840"/>
          </a:xfrm>
          <a:prstGeom prst="rect">
            <a:avLst/>
          </a:prstGeom>
          <a:noFill/>
          <a:ln/>
        </p:spPr>
        <p:txBody>
          <a:bodyPr wrap="square" rtlCol="0" anchor="ctr"/>
          <a:lstStyle/>
          <a:p>
            <a:pPr marL="342900" indent="-342900">
              <a:spcAft>
                <a:spcPts val="400"/>
              </a:spcAft>
              <a:buSzPct val="100000"/>
              <a:buChar char="•"/>
            </a:pPr>
            <a:r>
              <a:rPr lang="en-US" sz="1000" dirty="0">
                <a:solidFill>
                  <a:srgbClr val="94A3B8"/>
                </a:solidFill>
                <a:latin typeface="Calibri" pitchFamily="34" charset="0"/>
                <a:ea typeface="Calibri" pitchFamily="34" charset="-122"/>
                <a:cs typeface="Calibri" pitchFamily="34" charset="-120"/>
              </a:rPr>
              <a:t>Lyapunov chaos detection</a:t>
            </a:r>
            <a:endParaRPr lang="en-US" sz="1000" dirty="0"/>
          </a:p>
          <a:p>
            <a:pPr marL="342900" indent="-342900">
              <a:spcAft>
                <a:spcPts val="400"/>
              </a:spcAft>
              <a:buSzPct val="100000"/>
              <a:buChar char="•"/>
            </a:pPr>
            <a:r>
              <a:rPr lang="en-US" sz="1000" dirty="0">
                <a:solidFill>
                  <a:srgbClr val="94A3B8"/>
                </a:solidFill>
                <a:latin typeface="Calibri" pitchFamily="34" charset="0"/>
                <a:ea typeface="Calibri" pitchFamily="34" charset="-122"/>
                <a:cs typeface="Calibri" pitchFamily="34" charset="-120"/>
              </a:rPr>
              <a:t>LTL policy verification</a:t>
            </a:r>
            <a:endParaRPr lang="en-US" sz="1000" dirty="0"/>
          </a:p>
          <a:p>
            <a:pPr marL="342900" indent="-342900">
              <a:spcAft>
                <a:spcPts val="400"/>
              </a:spcAft>
              <a:buSzPct val="100000"/>
              <a:buChar char="•"/>
            </a:pPr>
            <a:r>
              <a:rPr lang="en-US" sz="1000" dirty="0">
                <a:solidFill>
                  <a:srgbClr val="94A3B8"/>
                </a:solidFill>
                <a:latin typeface="Calibri" pitchFamily="34" charset="0"/>
                <a:ea typeface="Calibri" pitchFamily="34" charset="-122"/>
                <a:cs typeface="Calibri" pitchFamily="34" charset="-120"/>
              </a:rPr>
              <a:t>Behavioral divergence</a:t>
            </a:r>
            <a:endParaRPr lang="en-US" sz="1000" dirty="0"/>
          </a:p>
        </p:txBody>
      </p:sp>
      <p:sp>
        <p:nvSpPr>
          <p:cNvPr id="15" name="Shape 13"/>
          <p:cNvSpPr/>
          <p:nvPr/>
        </p:nvSpPr>
        <p:spPr>
          <a:xfrm>
            <a:off x="6035040" y="1234440"/>
            <a:ext cx="2468880" cy="2011680"/>
          </a:xfrm>
          <a:prstGeom prst="rect">
            <a:avLst/>
          </a:prstGeom>
          <a:solidFill>
            <a:srgbClr val="1E293B"/>
          </a:solidFill>
          <a:ln/>
          <a:effectLst>
            <a:outerShdw sx="100000" sy="100000" kx="0" ky="0" algn="bl" rotWithShape="0" blurRad="76200" dist="25400" dir="8100000">
              <a:srgbClr val="000000">
                <a:alpha val="25000"/>
              </a:srgbClr>
            </a:outerShdw>
          </a:effectLst>
        </p:spPr>
      </p:sp>
      <p:sp>
        <p:nvSpPr>
          <p:cNvPr id="16" name="Shape 14"/>
          <p:cNvSpPr/>
          <p:nvPr/>
        </p:nvSpPr>
        <p:spPr>
          <a:xfrm>
            <a:off x="6035040" y="1234440"/>
            <a:ext cx="2468880" cy="36576"/>
          </a:xfrm>
          <a:prstGeom prst="rect">
            <a:avLst/>
          </a:prstGeom>
          <a:solidFill>
            <a:srgbClr val="10B981"/>
          </a:solidFill>
          <a:ln/>
        </p:spPr>
      </p:sp>
      <p:sp>
        <p:nvSpPr>
          <p:cNvPr id="17" name="Text 15"/>
          <p:cNvSpPr/>
          <p:nvPr/>
        </p:nvSpPr>
        <p:spPr>
          <a:xfrm>
            <a:off x="6144768" y="1325880"/>
            <a:ext cx="2286000" cy="228600"/>
          </a:xfrm>
          <a:prstGeom prst="rect">
            <a:avLst/>
          </a:prstGeom>
          <a:noFill/>
          <a:ln/>
        </p:spPr>
        <p:txBody>
          <a:bodyPr wrap="square" lIns="0" tIns="0" rIns="0" bIns="0" rtlCol="0" anchor="ctr"/>
          <a:lstStyle/>
          <a:p>
            <a:pPr indent="0" marL="0">
              <a:buNone/>
            </a:pPr>
            <a:r>
              <a:rPr lang="en-US" sz="1000" b="1" dirty="0">
                <a:solidFill>
                  <a:srgbClr val="10B981"/>
                </a:solidFill>
                <a:latin typeface="Consolas" pitchFamily="34" charset="0"/>
                <a:ea typeface="Consolas" pitchFamily="34" charset="-122"/>
                <a:cs typeface="Consolas" pitchFamily="34" charset="-120"/>
              </a:rPr>
              <a:t>STAGE 3: RESPONSE</a:t>
            </a:r>
            <a:endParaRPr lang="en-US" sz="1000" dirty="0"/>
          </a:p>
        </p:txBody>
      </p:sp>
      <p:sp>
        <p:nvSpPr>
          <p:cNvPr id="18" name="Text 16"/>
          <p:cNvSpPr/>
          <p:nvPr/>
        </p:nvSpPr>
        <p:spPr>
          <a:xfrm>
            <a:off x="6144768" y="1600200"/>
            <a:ext cx="2286000" cy="320040"/>
          </a:xfrm>
          <a:prstGeom prst="rect">
            <a:avLst/>
          </a:prstGeom>
          <a:noFill/>
          <a:ln/>
        </p:spPr>
        <p:txBody>
          <a:bodyPr wrap="square" lIns="0" tIns="0" rIns="0" bIns="0" rtlCol="0" anchor="ctr"/>
          <a:lstStyle/>
          <a:p>
            <a:pPr indent="0" marL="0">
              <a:buNone/>
            </a:pPr>
            <a:r>
              <a:rPr lang="en-US" sz="2200" b="1" dirty="0">
                <a:solidFill>
                  <a:srgbClr val="10B981"/>
                </a:solidFill>
                <a:latin typeface="Consolas" pitchFamily="34" charset="0"/>
                <a:ea typeface="Consolas" pitchFamily="34" charset="-122"/>
                <a:cs typeface="Consolas" pitchFamily="34" charset="-120"/>
              </a:rPr>
              <a:t>&lt;50ms</a:t>
            </a:r>
            <a:endParaRPr lang="en-US" sz="2200" dirty="0"/>
          </a:p>
        </p:txBody>
      </p:sp>
      <p:sp>
        <p:nvSpPr>
          <p:cNvPr id="19" name="Text 17"/>
          <p:cNvSpPr/>
          <p:nvPr/>
        </p:nvSpPr>
        <p:spPr>
          <a:xfrm>
            <a:off x="6144768" y="2011680"/>
            <a:ext cx="2286000" cy="1005840"/>
          </a:xfrm>
          <a:prstGeom prst="rect">
            <a:avLst/>
          </a:prstGeom>
          <a:noFill/>
          <a:ln/>
        </p:spPr>
        <p:txBody>
          <a:bodyPr wrap="square" rtlCol="0" anchor="ctr"/>
          <a:lstStyle/>
          <a:p>
            <a:pPr marL="342900" indent="-342900">
              <a:spcAft>
                <a:spcPts val="400"/>
              </a:spcAft>
              <a:buSzPct val="100000"/>
              <a:buChar char="•"/>
            </a:pPr>
            <a:r>
              <a:rPr lang="en-US" sz="1000" dirty="0">
                <a:solidFill>
                  <a:srgbClr val="94A3B8"/>
                </a:solidFill>
                <a:latin typeface="Calibri" pitchFamily="34" charset="0"/>
                <a:ea typeface="Calibri" pitchFamily="34" charset="-122"/>
                <a:cs typeface="Calibri" pitchFamily="34" charset="-120"/>
              </a:rPr>
              <a:t>7 adaptive strategies</a:t>
            </a:r>
            <a:endParaRPr lang="en-US" sz="1000" dirty="0"/>
          </a:p>
          <a:p>
            <a:pPr marL="342900" indent="-342900">
              <a:spcAft>
                <a:spcPts val="400"/>
              </a:spcAft>
              <a:buSzPct val="100000"/>
              <a:buChar char="•"/>
            </a:pPr>
            <a:r>
              <a:rPr lang="en-US" sz="1000" dirty="0">
                <a:solidFill>
                  <a:srgbClr val="94A3B8"/>
                </a:solidFill>
                <a:latin typeface="Calibri" pitchFamily="34" charset="0"/>
                <a:ea typeface="Calibri" pitchFamily="34" charset="-122"/>
                <a:cs typeface="Calibri" pitchFamily="34" charset="-120"/>
              </a:rPr>
              <a:t>25-level strange-loop</a:t>
            </a:r>
            <a:endParaRPr lang="en-US" sz="1000" dirty="0"/>
          </a:p>
          <a:p>
            <a:pPr marL="342900" indent="-342900">
              <a:spcAft>
                <a:spcPts val="400"/>
              </a:spcAft>
              <a:buSzPct val="100000"/>
              <a:buChar char="•"/>
            </a:pPr>
            <a:r>
              <a:rPr lang="en-US" sz="1000" dirty="0">
                <a:solidFill>
                  <a:srgbClr val="94A3B8"/>
                </a:solidFill>
                <a:latin typeface="Calibri" pitchFamily="34" charset="0"/>
                <a:ea typeface="Calibri" pitchFamily="34" charset="-122"/>
                <a:cs typeface="Calibri" pitchFamily="34" charset="-120"/>
              </a:rPr>
              <a:t>Real-time mitigation</a:t>
            </a:r>
            <a:endParaRPr lang="en-US" sz="1000" dirty="0"/>
          </a:p>
        </p:txBody>
      </p:sp>
      <p:sp>
        <p:nvSpPr>
          <p:cNvPr id="20" name="Shape 18"/>
          <p:cNvSpPr/>
          <p:nvPr/>
        </p:nvSpPr>
        <p:spPr>
          <a:xfrm>
            <a:off x="731520" y="3474720"/>
            <a:ext cx="7680960" cy="822960"/>
          </a:xfrm>
          <a:prstGeom prst="rect">
            <a:avLst/>
          </a:prstGeom>
          <a:solidFill>
            <a:srgbClr val="1A1520"/>
          </a:solidFill>
          <a:ln/>
        </p:spPr>
      </p:sp>
      <p:sp>
        <p:nvSpPr>
          <p:cNvPr id="21" name="Text 19"/>
          <p:cNvSpPr/>
          <p:nvPr/>
        </p:nvSpPr>
        <p:spPr>
          <a:xfrm>
            <a:off x="914400" y="3520440"/>
            <a:ext cx="2743200" cy="228600"/>
          </a:xfrm>
          <a:prstGeom prst="rect">
            <a:avLst/>
          </a:prstGeom>
          <a:noFill/>
          <a:ln/>
        </p:spPr>
        <p:txBody>
          <a:bodyPr wrap="square" lIns="0" tIns="0" rIns="0" bIns="0" rtlCol="0" anchor="ctr"/>
          <a:lstStyle/>
          <a:p>
            <a:pPr indent="0" marL="0">
              <a:buNone/>
            </a:pPr>
            <a:r>
              <a:rPr lang="en-US" sz="1200" b="1" dirty="0">
                <a:solidFill>
                  <a:srgbClr val="EF4444"/>
                </a:solidFill>
                <a:latin typeface="Consolas" pitchFamily="34" charset="0"/>
                <a:ea typeface="Consolas" pitchFamily="34" charset="-122"/>
                <a:cs typeface="Consolas" pitchFamily="34" charset="-120"/>
              </a:rPr>
              <a:t>Lyapunov Chaos Detection</a:t>
            </a:r>
            <a:endParaRPr lang="en-US" sz="1200" dirty="0"/>
          </a:p>
        </p:txBody>
      </p:sp>
      <p:sp>
        <p:nvSpPr>
          <p:cNvPr id="22" name="Text 20"/>
          <p:cNvSpPr/>
          <p:nvPr/>
        </p:nvSpPr>
        <p:spPr>
          <a:xfrm>
            <a:off x="914400" y="3794760"/>
            <a:ext cx="7315200" cy="411480"/>
          </a:xfrm>
          <a:prstGeom prst="rect">
            <a:avLst/>
          </a:prstGeom>
          <a:noFill/>
          <a:ln/>
        </p:spPr>
        <p:txBody>
          <a:bodyPr wrap="square" lIns="0" tIns="0" rIns="0" bIns="0" rtlCol="0" anchor="ctr"/>
          <a:lstStyle/>
          <a:p>
            <a:pPr indent="0" marL="0">
              <a:buNone/>
            </a:pPr>
            <a:r>
              <a:rPr lang="en-US" sz="1050" dirty="0">
                <a:solidFill>
                  <a:srgbClr val="94A3B8"/>
                </a:solidFill>
                <a:latin typeface="Calibri" pitchFamily="34" charset="0"/>
                <a:ea typeface="Calibri" pitchFamily="34" charset="-122"/>
                <a:cs typeface="Calibri" pitchFamily="34" charset="-120"/>
              </a:rPr>
              <a:t>Positive Lyapunov exponent = system diverging from expected behavior = adversarial. Same mathematics that predicts weather chaos. Detects novel attacks without pattern libraries.</a:t>
            </a:r>
            <a:endParaRPr lang="en-US" sz="1050" dirty="0"/>
          </a:p>
        </p:txBody>
      </p:sp>
      <p:sp>
        <p:nvSpPr>
          <p:cNvPr id="23" name="Text 21"/>
          <p:cNvSpPr/>
          <p:nvPr/>
        </p:nvSpPr>
        <p:spPr>
          <a:xfrm>
            <a:off x="731520" y="4434840"/>
            <a:ext cx="1828800" cy="320040"/>
          </a:xfrm>
          <a:prstGeom prst="rect">
            <a:avLst/>
          </a:prstGeom>
          <a:noFill/>
          <a:ln/>
        </p:spPr>
        <p:txBody>
          <a:bodyPr wrap="square" lIns="0" tIns="0" rIns="0" bIns="0" rtlCol="0" anchor="ctr"/>
          <a:lstStyle/>
          <a:p>
            <a:pPr indent="0" marL="0">
              <a:buNone/>
            </a:pPr>
            <a:r>
              <a:rPr lang="en-US" sz="2000" b="1" dirty="0">
                <a:solidFill>
                  <a:srgbClr val="06B6D4"/>
                </a:solidFill>
                <a:latin typeface="Consolas" pitchFamily="34" charset="0"/>
                <a:ea typeface="Consolas" pitchFamily="34" charset="-122"/>
                <a:cs typeface="Consolas" pitchFamily="34" charset="-120"/>
              </a:rPr>
              <a:t>782KB</a:t>
            </a:r>
            <a:endParaRPr lang="en-US" sz="2000" dirty="0"/>
          </a:p>
        </p:txBody>
      </p:sp>
      <p:sp>
        <p:nvSpPr>
          <p:cNvPr id="24" name="Text 22"/>
          <p:cNvSpPr/>
          <p:nvPr/>
        </p:nvSpPr>
        <p:spPr>
          <a:xfrm>
            <a:off x="731520" y="4709160"/>
            <a:ext cx="1828800" cy="182880"/>
          </a:xfrm>
          <a:prstGeom prst="rect">
            <a:avLst/>
          </a:prstGeom>
          <a:noFill/>
          <a:ln/>
        </p:spPr>
        <p:txBody>
          <a:bodyPr wrap="square" lIns="0" tIns="0" rIns="0" bIns="0" rtlCol="0" anchor="ctr"/>
          <a:lstStyle/>
          <a:p>
            <a:pPr indent="0" marL="0">
              <a:buNone/>
            </a:pPr>
            <a:r>
              <a:rPr lang="en-US" sz="900" dirty="0">
                <a:solidFill>
                  <a:srgbClr val="94A3B8"/>
                </a:solidFill>
                <a:latin typeface="Calibri" pitchFamily="34" charset="0"/>
                <a:ea typeface="Calibri" pitchFamily="34" charset="-122"/>
                <a:cs typeface="Calibri" pitchFamily="34" charset="-120"/>
              </a:rPr>
              <a:t>Binary Size</a:t>
            </a:r>
            <a:endParaRPr lang="en-US" sz="900" dirty="0"/>
          </a:p>
        </p:txBody>
      </p:sp>
      <p:sp>
        <p:nvSpPr>
          <p:cNvPr id="25" name="Text 23"/>
          <p:cNvSpPr/>
          <p:nvPr/>
        </p:nvSpPr>
        <p:spPr>
          <a:xfrm>
            <a:off x="2834640" y="4434840"/>
            <a:ext cx="1828800" cy="320040"/>
          </a:xfrm>
          <a:prstGeom prst="rect">
            <a:avLst/>
          </a:prstGeom>
          <a:noFill/>
          <a:ln/>
        </p:spPr>
        <p:txBody>
          <a:bodyPr wrap="square" lIns="0" tIns="0" rIns="0" bIns="0" rtlCol="0" anchor="ctr"/>
          <a:lstStyle/>
          <a:p>
            <a:pPr indent="0" marL="0">
              <a:buNone/>
            </a:pPr>
            <a:r>
              <a:rPr lang="en-US" sz="2000" b="1" dirty="0">
                <a:solidFill>
                  <a:srgbClr val="06B6D4"/>
                </a:solidFill>
                <a:latin typeface="Consolas" pitchFamily="34" charset="0"/>
                <a:ea typeface="Consolas" pitchFamily="34" charset="-122"/>
                <a:cs typeface="Consolas" pitchFamily="34" charset="-120"/>
              </a:rPr>
              <a:t>&gt;12K/s</a:t>
            </a:r>
            <a:endParaRPr lang="en-US" sz="2000" dirty="0"/>
          </a:p>
        </p:txBody>
      </p:sp>
      <p:sp>
        <p:nvSpPr>
          <p:cNvPr id="26" name="Text 24"/>
          <p:cNvSpPr/>
          <p:nvPr/>
        </p:nvSpPr>
        <p:spPr>
          <a:xfrm>
            <a:off x="2834640" y="4709160"/>
            <a:ext cx="1828800" cy="182880"/>
          </a:xfrm>
          <a:prstGeom prst="rect">
            <a:avLst/>
          </a:prstGeom>
          <a:noFill/>
          <a:ln/>
        </p:spPr>
        <p:txBody>
          <a:bodyPr wrap="square" lIns="0" tIns="0" rIns="0" bIns="0" rtlCol="0" anchor="ctr"/>
          <a:lstStyle/>
          <a:p>
            <a:pPr indent="0" marL="0">
              <a:buNone/>
            </a:pPr>
            <a:r>
              <a:rPr lang="en-US" sz="900" dirty="0">
                <a:solidFill>
                  <a:srgbClr val="94A3B8"/>
                </a:solidFill>
                <a:latin typeface="Calibri" pitchFamily="34" charset="0"/>
                <a:ea typeface="Calibri" pitchFamily="34" charset="-122"/>
                <a:cs typeface="Calibri" pitchFamily="34" charset="-120"/>
              </a:rPr>
              <a:t>Requests/Sec</a:t>
            </a:r>
            <a:endParaRPr lang="en-US" sz="900" dirty="0"/>
          </a:p>
        </p:txBody>
      </p:sp>
      <p:sp>
        <p:nvSpPr>
          <p:cNvPr id="27" name="Text 25"/>
          <p:cNvSpPr/>
          <p:nvPr/>
        </p:nvSpPr>
        <p:spPr>
          <a:xfrm>
            <a:off x="4937760" y="4434840"/>
            <a:ext cx="1828800" cy="320040"/>
          </a:xfrm>
          <a:prstGeom prst="rect">
            <a:avLst/>
          </a:prstGeom>
          <a:noFill/>
          <a:ln/>
        </p:spPr>
        <p:txBody>
          <a:bodyPr wrap="square" lIns="0" tIns="0" rIns="0" bIns="0" rtlCol="0" anchor="ctr"/>
          <a:lstStyle/>
          <a:p>
            <a:pPr indent="0" marL="0">
              <a:buNone/>
            </a:pPr>
            <a:r>
              <a:rPr lang="en-US" sz="2000" b="1" dirty="0">
                <a:solidFill>
                  <a:srgbClr val="06B6D4"/>
                </a:solidFill>
                <a:latin typeface="Consolas" pitchFamily="34" charset="0"/>
                <a:ea typeface="Consolas" pitchFamily="34" charset="-122"/>
                <a:cs typeface="Consolas" pitchFamily="34" charset="-120"/>
              </a:rPr>
              <a:t>&lt;5%</a:t>
            </a:r>
            <a:endParaRPr lang="en-US" sz="2000" dirty="0"/>
          </a:p>
        </p:txBody>
      </p:sp>
      <p:sp>
        <p:nvSpPr>
          <p:cNvPr id="28" name="Text 26"/>
          <p:cNvSpPr/>
          <p:nvPr/>
        </p:nvSpPr>
        <p:spPr>
          <a:xfrm>
            <a:off x="4937760" y="4709160"/>
            <a:ext cx="1828800" cy="182880"/>
          </a:xfrm>
          <a:prstGeom prst="rect">
            <a:avLst/>
          </a:prstGeom>
          <a:noFill/>
          <a:ln/>
        </p:spPr>
        <p:txBody>
          <a:bodyPr wrap="square" lIns="0" tIns="0" rIns="0" bIns="0" rtlCol="0" anchor="ctr"/>
          <a:lstStyle/>
          <a:p>
            <a:pPr indent="0" marL="0">
              <a:buNone/>
            </a:pPr>
            <a:r>
              <a:rPr lang="en-US" sz="900" dirty="0">
                <a:solidFill>
                  <a:srgbClr val="94A3B8"/>
                </a:solidFill>
                <a:latin typeface="Calibri" pitchFamily="34" charset="0"/>
                <a:ea typeface="Calibri" pitchFamily="34" charset="-122"/>
                <a:cs typeface="Calibri" pitchFamily="34" charset="-120"/>
              </a:rPr>
              <a:t>False Positive</a:t>
            </a:r>
            <a:endParaRPr lang="en-US" sz="900" dirty="0"/>
          </a:p>
        </p:txBody>
      </p:sp>
      <p:sp>
        <p:nvSpPr>
          <p:cNvPr id="29" name="Text 27"/>
          <p:cNvSpPr/>
          <p:nvPr/>
        </p:nvSpPr>
        <p:spPr>
          <a:xfrm>
            <a:off x="7040880" y="4434840"/>
            <a:ext cx="1828800" cy="320040"/>
          </a:xfrm>
          <a:prstGeom prst="rect">
            <a:avLst/>
          </a:prstGeom>
          <a:noFill/>
          <a:ln/>
        </p:spPr>
        <p:txBody>
          <a:bodyPr wrap="square" lIns="0" tIns="0" rIns="0" bIns="0" rtlCol="0" anchor="ctr"/>
          <a:lstStyle/>
          <a:p>
            <a:pPr indent="0" marL="0">
              <a:buNone/>
            </a:pPr>
            <a:r>
              <a:rPr lang="en-US" sz="2000" b="1" dirty="0">
                <a:solidFill>
                  <a:srgbClr val="06B6D4"/>
                </a:solidFill>
                <a:latin typeface="Consolas" pitchFamily="34" charset="0"/>
                <a:ea typeface="Consolas" pitchFamily="34" charset="-122"/>
                <a:cs typeface="Consolas" pitchFamily="34" charset="-120"/>
              </a:rPr>
              <a:t>0.06ms</a:t>
            </a:r>
            <a:endParaRPr lang="en-US" sz="2000" dirty="0"/>
          </a:p>
        </p:txBody>
      </p:sp>
      <p:sp>
        <p:nvSpPr>
          <p:cNvPr id="30" name="Text 28"/>
          <p:cNvSpPr/>
          <p:nvPr/>
        </p:nvSpPr>
        <p:spPr>
          <a:xfrm>
            <a:off x="7040880" y="4709160"/>
            <a:ext cx="1828800" cy="182880"/>
          </a:xfrm>
          <a:prstGeom prst="rect">
            <a:avLst/>
          </a:prstGeom>
          <a:noFill/>
          <a:ln/>
        </p:spPr>
        <p:txBody>
          <a:bodyPr wrap="square" lIns="0" tIns="0" rIns="0" bIns="0" rtlCol="0" anchor="ctr"/>
          <a:lstStyle/>
          <a:p>
            <a:pPr indent="0" marL="0">
              <a:buNone/>
            </a:pPr>
            <a:r>
              <a:rPr lang="en-US" sz="900" dirty="0">
                <a:solidFill>
                  <a:srgbClr val="94A3B8"/>
                </a:solidFill>
                <a:latin typeface="Calibri" pitchFamily="34" charset="0"/>
                <a:ea typeface="Calibri" pitchFamily="34" charset="-122"/>
                <a:cs typeface="Calibri" pitchFamily="34" charset="-120"/>
              </a:rPr>
              <a:t>Detection Time</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6B6D4"/>
          </a:solidFill>
          <a:ln/>
        </p:spPr>
      </p:sp>
      <p:sp>
        <p:nvSpPr>
          <p:cNvPr id="3" name="Text 1"/>
          <p:cNvSpPr/>
          <p:nvPr/>
        </p:nvSpPr>
        <p:spPr>
          <a:xfrm>
            <a:off x="731520" y="320040"/>
            <a:ext cx="7680960" cy="457200"/>
          </a:xfrm>
          <a:prstGeom prst="rect">
            <a:avLst/>
          </a:prstGeom>
          <a:noFill/>
          <a:ln/>
        </p:spPr>
        <p:txBody>
          <a:bodyPr wrap="square" lIns="0" tIns="0" rIns="0" bIns="0" rtlCol="0" anchor="ctr"/>
          <a:lstStyle/>
          <a:p>
            <a:pPr indent="0" marL="0">
              <a:buNone/>
            </a:pPr>
            <a:r>
              <a:rPr lang="en-US" sz="2600" b="1" dirty="0">
                <a:solidFill>
                  <a:srgbClr val="F8FAFC"/>
                </a:solidFill>
                <a:latin typeface="Cambria" pitchFamily="34" charset="0"/>
                <a:ea typeface="Cambria" pitchFamily="34" charset="-122"/>
                <a:cs typeface="Cambria" pitchFamily="34" charset="-120"/>
              </a:rPr>
              <a:t>SONA + ReasoningBank: Real-Time Learning</a:t>
            </a:r>
            <a:endParaRPr lang="en-US" sz="2600" dirty="0"/>
          </a:p>
        </p:txBody>
      </p:sp>
      <p:sp>
        <p:nvSpPr>
          <p:cNvPr id="4" name="Text 2"/>
          <p:cNvSpPr/>
          <p:nvPr/>
        </p:nvSpPr>
        <p:spPr>
          <a:xfrm>
            <a:off x="731520" y="777240"/>
            <a:ext cx="7315200" cy="274320"/>
          </a:xfrm>
          <a:prstGeom prst="rect">
            <a:avLst/>
          </a:prstGeom>
          <a:noFill/>
          <a:ln/>
        </p:spPr>
        <p:txBody>
          <a:bodyPr wrap="square" lIns="0" tIns="0" rIns="0" bIns="0" rtlCol="0" anchor="ctr"/>
          <a:lstStyle/>
          <a:p>
            <a:pPr indent="0" marL="0">
              <a:buNone/>
            </a:pPr>
            <a:r>
              <a:rPr lang="en-US" sz="1400" dirty="0">
                <a:solidFill>
                  <a:srgbClr val="94A3B8"/>
                </a:solidFill>
                <a:latin typeface="Calibri" pitchFamily="34" charset="0"/>
                <a:ea typeface="Calibri" pitchFamily="34" charset="-122"/>
                <a:cs typeface="Calibri" pitchFamily="34" charset="-120"/>
              </a:rPr>
              <a:t>Every decision makes the system smarter. Automatically. &lt;1ms. $0.</a:t>
            </a:r>
            <a:endParaRPr lang="en-US" sz="1400" dirty="0"/>
          </a:p>
        </p:txBody>
      </p:sp>
      <p:sp>
        <p:nvSpPr>
          <p:cNvPr id="5" name="Shape 3"/>
          <p:cNvSpPr/>
          <p:nvPr/>
        </p:nvSpPr>
        <p:spPr>
          <a:xfrm>
            <a:off x="731520" y="1234440"/>
            <a:ext cx="3749040" cy="1463040"/>
          </a:xfrm>
          <a:prstGeom prst="rect">
            <a:avLst/>
          </a:prstGeom>
          <a:solidFill>
            <a:srgbClr val="0D2A2E"/>
          </a:solidFill>
          <a:ln/>
          <a:effectLst>
            <a:outerShdw sx="100000" sy="100000" kx="0" ky="0" algn="bl" rotWithShape="0" blurRad="76200" dist="25400" dir="8100000">
              <a:srgbClr val="000000">
                <a:alpha val="25000"/>
              </a:srgbClr>
            </a:outerShdw>
          </a:effectLst>
        </p:spPr>
      </p:sp>
      <p:sp>
        <p:nvSpPr>
          <p:cNvPr id="6" name="Shape 4"/>
          <p:cNvSpPr/>
          <p:nvPr/>
        </p:nvSpPr>
        <p:spPr>
          <a:xfrm>
            <a:off x="731520" y="1234440"/>
            <a:ext cx="3749040" cy="36576"/>
          </a:xfrm>
          <a:prstGeom prst="rect">
            <a:avLst/>
          </a:prstGeom>
          <a:solidFill>
            <a:srgbClr val="06B6D4"/>
          </a:solidFill>
          <a:ln/>
        </p:spPr>
      </p:sp>
      <p:sp>
        <p:nvSpPr>
          <p:cNvPr id="7" name="Text 5"/>
          <p:cNvSpPr/>
          <p:nvPr/>
        </p:nvSpPr>
        <p:spPr>
          <a:xfrm>
            <a:off x="914400" y="1325880"/>
            <a:ext cx="3383280" cy="228600"/>
          </a:xfrm>
          <a:prstGeom prst="rect">
            <a:avLst/>
          </a:prstGeom>
          <a:noFill/>
          <a:ln/>
        </p:spPr>
        <p:txBody>
          <a:bodyPr wrap="square" lIns="0" tIns="0" rIns="0" bIns="0" rtlCol="0" anchor="ctr"/>
          <a:lstStyle/>
          <a:p>
            <a:pPr indent="0" marL="0">
              <a:buNone/>
            </a:pPr>
            <a:r>
              <a:rPr lang="en-US" sz="1200" b="1" dirty="0">
                <a:solidFill>
                  <a:srgbClr val="06B6D4"/>
                </a:solidFill>
                <a:latin typeface="Consolas" pitchFamily="34" charset="0"/>
                <a:ea typeface="Consolas" pitchFamily="34" charset="-122"/>
                <a:cs typeface="Consolas" pitchFamily="34" charset="-120"/>
              </a:rPr>
              <a:t>SONA: Two-Tier LoRA</a:t>
            </a:r>
            <a:endParaRPr lang="en-US" sz="1200" dirty="0"/>
          </a:p>
        </p:txBody>
      </p:sp>
      <p:sp>
        <p:nvSpPr>
          <p:cNvPr id="8" name="Text 6"/>
          <p:cNvSpPr/>
          <p:nvPr/>
        </p:nvSpPr>
        <p:spPr>
          <a:xfrm>
            <a:off x="914400" y="1600200"/>
            <a:ext cx="3383280" cy="1005840"/>
          </a:xfrm>
          <a:prstGeom prst="rect">
            <a:avLst/>
          </a:prstGeom>
          <a:noFill/>
          <a:ln/>
        </p:spPr>
        <p:txBody>
          <a:bodyPr wrap="square" rtlCol="0" anchor="ctr"/>
          <a:lstStyle/>
          <a:p>
            <a:pPr marL="342900" indent="-342900">
              <a:spcAft>
                <a:spcPts val="400"/>
              </a:spcAft>
              <a:buSzPct val="100000"/>
              <a:buChar char="•"/>
            </a:pPr>
            <a:r>
              <a:rPr lang="en-US" sz="1050" dirty="0">
                <a:solidFill>
                  <a:srgbClr val="CBD5E1"/>
                </a:solidFill>
                <a:latin typeface="Calibri" pitchFamily="34" charset="0"/>
                <a:ea typeface="Calibri" pitchFamily="34" charset="-122"/>
                <a:cs typeface="Calibri" pitchFamily="34" charset="-120"/>
              </a:rPr>
              <a:t>MicroLoRA (rank-2, ~45µs): instant reactions</a:t>
            </a:r>
            <a:endParaRPr lang="en-US" sz="1050" dirty="0"/>
          </a:p>
          <a:p>
            <a:pPr marL="342900" indent="-342900">
              <a:spcAft>
                <a:spcPts val="400"/>
              </a:spcAft>
              <a:buSzPct val="100000"/>
              <a:buChar char="•"/>
            </a:pPr>
            <a:r>
              <a:rPr lang="en-US" sz="1050" dirty="0">
                <a:solidFill>
                  <a:srgbClr val="CBD5E1"/>
                </a:solidFill>
                <a:latin typeface="Calibri" pitchFamily="34" charset="0"/>
                <a:ea typeface="Calibri" pitchFamily="34" charset="-122"/>
                <a:cs typeface="Calibri" pitchFamily="34" charset="-120"/>
              </a:rPr>
              <a:t>BaseLoRA (rank-16, ~500µs): deep learning</a:t>
            </a:r>
            <a:endParaRPr lang="en-US" sz="1050" dirty="0"/>
          </a:p>
          <a:p>
            <a:pPr marL="342900" indent="-342900">
              <a:spcAft>
                <a:spcPts val="400"/>
              </a:spcAft>
              <a:buSzPct val="100000"/>
              <a:buChar char="•"/>
            </a:pPr>
            <a:r>
              <a:rPr lang="en-US" sz="1050" dirty="0">
                <a:solidFill>
                  <a:srgbClr val="CBD5E1"/>
                </a:solidFill>
                <a:latin typeface="Calibri" pitchFamily="34" charset="0"/>
                <a:ea typeface="Calibri" pitchFamily="34" charset="-122"/>
                <a:cs typeface="Calibri" pitchFamily="34" charset="-120"/>
              </a:rPr>
              <a:t>$0 cost, &lt;1ms latency, zero downtime</a:t>
            </a:r>
            <a:endParaRPr lang="en-US" sz="1050" dirty="0"/>
          </a:p>
          <a:p>
            <a:pPr marL="342900" indent="-342900">
              <a:spcAft>
                <a:spcPts val="400"/>
              </a:spcAft>
              <a:buSzPct val="100000"/>
              <a:buChar char="•"/>
            </a:pPr>
            <a:r>
              <a:rPr lang="en-US" sz="1050" dirty="0">
                <a:solidFill>
                  <a:srgbClr val="CBD5E1"/>
                </a:solidFill>
                <a:latin typeface="Calibri" pitchFamily="34" charset="0"/>
                <a:ea typeface="Calibri" pitchFamily="34" charset="-122"/>
                <a:cs typeface="Calibri" pitchFamily="34" charset="-120"/>
              </a:rPr>
              <a:t>EWC++ prevents catastrophic forgetting (45% less)</a:t>
            </a:r>
            <a:endParaRPr lang="en-US" sz="1050" dirty="0"/>
          </a:p>
        </p:txBody>
      </p:sp>
      <p:sp>
        <p:nvSpPr>
          <p:cNvPr id="9" name="Shape 7"/>
          <p:cNvSpPr/>
          <p:nvPr/>
        </p:nvSpPr>
        <p:spPr>
          <a:xfrm>
            <a:off x="4663440" y="1234440"/>
            <a:ext cx="3749040" cy="1463040"/>
          </a:xfrm>
          <a:prstGeom prst="rect">
            <a:avLst/>
          </a:prstGeom>
          <a:solidFill>
            <a:srgbClr val="1A1520"/>
          </a:solidFill>
          <a:ln/>
          <a:effectLst>
            <a:outerShdw sx="100000" sy="100000" kx="0" ky="0" algn="bl" rotWithShape="0" blurRad="76200" dist="25400" dir="8100000">
              <a:srgbClr val="000000">
                <a:alpha val="25000"/>
              </a:srgbClr>
            </a:outerShdw>
          </a:effectLst>
        </p:spPr>
      </p:sp>
      <p:sp>
        <p:nvSpPr>
          <p:cNvPr id="10" name="Shape 8"/>
          <p:cNvSpPr/>
          <p:nvPr/>
        </p:nvSpPr>
        <p:spPr>
          <a:xfrm>
            <a:off x="4663440" y="1234440"/>
            <a:ext cx="3749040" cy="36576"/>
          </a:xfrm>
          <a:prstGeom prst="rect">
            <a:avLst/>
          </a:prstGeom>
          <a:solidFill>
            <a:srgbClr val="EF4444"/>
          </a:solidFill>
          <a:ln/>
        </p:spPr>
      </p:sp>
      <p:sp>
        <p:nvSpPr>
          <p:cNvPr id="11" name="Text 9"/>
          <p:cNvSpPr/>
          <p:nvPr/>
        </p:nvSpPr>
        <p:spPr>
          <a:xfrm>
            <a:off x="4846320" y="1325880"/>
            <a:ext cx="3383280" cy="228600"/>
          </a:xfrm>
          <a:prstGeom prst="rect">
            <a:avLst/>
          </a:prstGeom>
          <a:noFill/>
          <a:ln/>
        </p:spPr>
        <p:txBody>
          <a:bodyPr wrap="square" lIns="0" tIns="0" rIns="0" bIns="0" rtlCol="0" anchor="ctr"/>
          <a:lstStyle/>
          <a:p>
            <a:pPr indent="0" marL="0">
              <a:buNone/>
            </a:pPr>
            <a:r>
              <a:rPr lang="en-US" sz="1200" b="1" dirty="0">
                <a:solidFill>
                  <a:srgbClr val="EF4444"/>
                </a:solidFill>
                <a:latin typeface="Consolas" pitchFamily="34" charset="0"/>
                <a:ea typeface="Consolas" pitchFamily="34" charset="-122"/>
                <a:cs typeface="Consolas" pitchFamily="34" charset="-120"/>
              </a:rPr>
              <a:t>Traditional Fine-Tuning</a:t>
            </a:r>
            <a:endParaRPr lang="en-US" sz="1200" dirty="0"/>
          </a:p>
        </p:txBody>
      </p:sp>
      <p:sp>
        <p:nvSpPr>
          <p:cNvPr id="12" name="Text 10"/>
          <p:cNvSpPr/>
          <p:nvPr/>
        </p:nvSpPr>
        <p:spPr>
          <a:xfrm>
            <a:off x="4846320" y="1600200"/>
            <a:ext cx="3383280" cy="1005840"/>
          </a:xfrm>
          <a:prstGeom prst="rect">
            <a:avLst/>
          </a:prstGeom>
          <a:noFill/>
          <a:ln/>
        </p:spPr>
        <p:txBody>
          <a:bodyPr wrap="square" rtlCol="0" anchor="ctr"/>
          <a:lstStyle/>
          <a:p>
            <a:pPr marL="342900" indent="-342900">
              <a:spcAft>
                <a:spcPts val="400"/>
              </a:spcAft>
              <a:buSzPct val="100000"/>
              <a:buChar char="•"/>
            </a:pPr>
            <a:r>
              <a:rPr lang="en-US" sz="1050" dirty="0">
                <a:solidFill>
                  <a:srgbClr val="94A3B8"/>
                </a:solidFill>
                <a:latin typeface="Calibri" pitchFamily="34" charset="0"/>
                <a:ea typeface="Calibri" pitchFamily="34" charset="-122"/>
                <a:cs typeface="Calibri" pitchFamily="34" charset="-120"/>
              </a:rPr>
              <a:t>Days to weeks of training time</a:t>
            </a:r>
            <a:endParaRPr lang="en-US" sz="1050" dirty="0"/>
          </a:p>
          <a:p>
            <a:pPr marL="342900" indent="-342900">
              <a:spcAft>
                <a:spcPts val="400"/>
              </a:spcAft>
              <a:buSzPct val="100000"/>
              <a:buChar char="•"/>
            </a:pPr>
            <a:r>
              <a:rPr lang="en-US" sz="1050" dirty="0">
                <a:solidFill>
                  <a:srgbClr val="94A3B8"/>
                </a:solidFill>
                <a:latin typeface="Calibri" pitchFamily="34" charset="0"/>
                <a:ea typeface="Calibri" pitchFamily="34" charset="-122"/>
                <a:cs typeface="Calibri" pitchFamily="34" charset="-120"/>
              </a:rPr>
              <a:t>$1K-$100K per fine-tune cycle</a:t>
            </a:r>
            <a:endParaRPr lang="en-US" sz="1050" dirty="0"/>
          </a:p>
          <a:p>
            <a:pPr marL="342900" indent="-342900">
              <a:spcAft>
                <a:spcPts val="400"/>
              </a:spcAft>
              <a:buSzPct val="100000"/>
              <a:buChar char="•"/>
            </a:pPr>
            <a:r>
              <a:rPr lang="en-US" sz="1050" dirty="0">
                <a:solidFill>
                  <a:srgbClr val="94A3B8"/>
                </a:solidFill>
                <a:latin typeface="Calibri" pitchFamily="34" charset="0"/>
                <a:ea typeface="Calibri" pitchFamily="34" charset="-122"/>
                <a:cs typeface="Calibri" pitchFamily="34" charset="-120"/>
              </a:rPr>
              <a:t>Requires scheduled downtime</a:t>
            </a:r>
            <a:endParaRPr lang="en-US" sz="1050" dirty="0"/>
          </a:p>
          <a:p>
            <a:pPr marL="342900" indent="-342900">
              <a:spcAft>
                <a:spcPts val="400"/>
              </a:spcAft>
              <a:buSzPct val="100000"/>
              <a:buChar char="•"/>
            </a:pPr>
            <a:r>
              <a:rPr lang="en-US" sz="1050" dirty="0">
                <a:solidFill>
                  <a:srgbClr val="94A3B8"/>
                </a:solidFill>
                <a:latin typeface="Calibri" pitchFamily="34" charset="0"/>
                <a:ea typeface="Calibri" pitchFamily="34" charset="-122"/>
                <a:cs typeface="Calibri" pitchFamily="34" charset="-120"/>
              </a:rPr>
              <a:t>Catastrophic forgetting on new domains</a:t>
            </a:r>
            <a:endParaRPr lang="en-US" sz="1050" dirty="0"/>
          </a:p>
        </p:txBody>
      </p:sp>
      <p:sp>
        <p:nvSpPr>
          <p:cNvPr id="13" name="Text 11"/>
          <p:cNvSpPr/>
          <p:nvPr/>
        </p:nvSpPr>
        <p:spPr>
          <a:xfrm>
            <a:off x="731520" y="2926080"/>
            <a:ext cx="3657600" cy="274320"/>
          </a:xfrm>
          <a:prstGeom prst="rect">
            <a:avLst/>
          </a:prstGeom>
          <a:noFill/>
          <a:ln/>
        </p:spPr>
        <p:txBody>
          <a:bodyPr wrap="square" lIns="0" tIns="0" rIns="0" bIns="0" rtlCol="0" anchor="ctr"/>
          <a:lstStyle/>
          <a:p>
            <a:pPr indent="0" marL="0">
              <a:buNone/>
            </a:pPr>
            <a:r>
              <a:rPr lang="en-US" sz="1300" b="1" dirty="0">
                <a:solidFill>
                  <a:srgbClr val="06B6D4"/>
                </a:solidFill>
                <a:latin typeface="Consolas" pitchFamily="34" charset="0"/>
                <a:ea typeface="Consolas" pitchFamily="34" charset="-122"/>
                <a:cs typeface="Consolas" pitchFamily="34" charset="-120"/>
              </a:rPr>
              <a:t>ReasoningBank 4-Step Pipeline</a:t>
            </a:r>
            <a:endParaRPr lang="en-US" sz="1300" dirty="0"/>
          </a:p>
        </p:txBody>
      </p:sp>
      <p:sp>
        <p:nvSpPr>
          <p:cNvPr id="14" name="Shape 12"/>
          <p:cNvSpPr/>
          <p:nvPr/>
        </p:nvSpPr>
        <p:spPr>
          <a:xfrm>
            <a:off x="731520" y="3291840"/>
            <a:ext cx="1874520" cy="640080"/>
          </a:xfrm>
          <a:prstGeom prst="rect">
            <a:avLst/>
          </a:prstGeom>
          <a:solidFill>
            <a:srgbClr val="1E293B"/>
          </a:solidFill>
          <a:ln/>
        </p:spPr>
      </p:sp>
      <p:sp>
        <p:nvSpPr>
          <p:cNvPr id="15" name="Text 13"/>
          <p:cNvSpPr/>
          <p:nvPr/>
        </p:nvSpPr>
        <p:spPr>
          <a:xfrm>
            <a:off x="822960" y="3319272"/>
            <a:ext cx="1691640" cy="228600"/>
          </a:xfrm>
          <a:prstGeom prst="rect">
            <a:avLst/>
          </a:prstGeom>
          <a:noFill/>
          <a:ln/>
        </p:spPr>
        <p:txBody>
          <a:bodyPr wrap="square" lIns="0" tIns="0" rIns="0" bIns="0" rtlCol="0" anchor="ctr"/>
          <a:lstStyle/>
          <a:p>
            <a:pPr indent="0" marL="0">
              <a:buNone/>
            </a:pPr>
            <a:r>
              <a:rPr lang="en-US" sz="1000" b="1" dirty="0">
                <a:solidFill>
                  <a:srgbClr val="06B6D4"/>
                </a:solidFill>
                <a:latin typeface="Consolas" pitchFamily="34" charset="0"/>
                <a:ea typeface="Consolas" pitchFamily="34" charset="-122"/>
                <a:cs typeface="Consolas" pitchFamily="34" charset="-120"/>
              </a:rPr>
              <a:t>1. RETRIEVE</a:t>
            </a:r>
            <a:endParaRPr lang="en-US" sz="1000" dirty="0"/>
          </a:p>
        </p:txBody>
      </p:sp>
      <p:sp>
        <p:nvSpPr>
          <p:cNvPr id="16" name="Text 14"/>
          <p:cNvSpPr/>
          <p:nvPr/>
        </p:nvSpPr>
        <p:spPr>
          <a:xfrm>
            <a:off x="822960" y="3566160"/>
            <a:ext cx="1691640" cy="320040"/>
          </a:xfrm>
          <a:prstGeom prst="rect">
            <a:avLst/>
          </a:prstGeom>
          <a:noFill/>
          <a:ln/>
        </p:spPr>
        <p:txBody>
          <a:bodyPr wrap="square" lIns="0" tIns="0" rIns="0" bIns="0" rtlCol="0" anchor="ctr"/>
          <a:lstStyle/>
          <a:p>
            <a:pPr indent="0" marL="0">
              <a:buNone/>
            </a:pPr>
            <a:r>
              <a:rPr lang="en-US" sz="950" dirty="0">
                <a:solidFill>
                  <a:srgbClr val="94A3B8"/>
                </a:solidFill>
                <a:latin typeface="Calibri" pitchFamily="34" charset="0"/>
                <a:ea typeface="Calibri" pitchFamily="34" charset="-122"/>
                <a:cs typeface="Calibri" pitchFamily="34" charset="-120"/>
              </a:rPr>
              <a:t>HNSW search for similar past decisions</a:t>
            </a:r>
            <a:endParaRPr lang="en-US" sz="950" dirty="0"/>
          </a:p>
        </p:txBody>
      </p:sp>
      <p:sp>
        <p:nvSpPr>
          <p:cNvPr id="17" name="Text 15"/>
          <p:cNvSpPr/>
          <p:nvPr/>
        </p:nvSpPr>
        <p:spPr>
          <a:xfrm>
            <a:off x="2606040" y="3291840"/>
            <a:ext cx="182880" cy="640080"/>
          </a:xfrm>
          <a:prstGeom prst="rect">
            <a:avLst/>
          </a:prstGeom>
          <a:noFill/>
          <a:ln/>
        </p:spPr>
        <p:txBody>
          <a:bodyPr wrap="square" lIns="0" tIns="0" rIns="0" bIns="0" rtlCol="0" anchor="ctr"/>
          <a:lstStyle/>
          <a:p>
            <a:pPr algn="ctr" indent="0" marL="0">
              <a:buNone/>
            </a:pPr>
            <a:r>
              <a:rPr lang="en-US" sz="1000" dirty="0">
                <a:solidFill>
                  <a:srgbClr val="94A3B8"/>
                </a:solidFill>
              </a:rPr>
              <a:t>▶</a:t>
            </a:r>
            <a:endParaRPr lang="en-US" sz="1000" dirty="0"/>
          </a:p>
        </p:txBody>
      </p:sp>
      <p:sp>
        <p:nvSpPr>
          <p:cNvPr id="18" name="Shape 16"/>
          <p:cNvSpPr/>
          <p:nvPr/>
        </p:nvSpPr>
        <p:spPr>
          <a:xfrm>
            <a:off x="2788920" y="3291840"/>
            <a:ext cx="1874520" cy="640080"/>
          </a:xfrm>
          <a:prstGeom prst="rect">
            <a:avLst/>
          </a:prstGeom>
          <a:solidFill>
            <a:srgbClr val="1E293B"/>
          </a:solidFill>
          <a:ln/>
        </p:spPr>
      </p:sp>
      <p:sp>
        <p:nvSpPr>
          <p:cNvPr id="19" name="Text 17"/>
          <p:cNvSpPr/>
          <p:nvPr/>
        </p:nvSpPr>
        <p:spPr>
          <a:xfrm>
            <a:off x="2880360" y="3319272"/>
            <a:ext cx="1691640" cy="228600"/>
          </a:xfrm>
          <a:prstGeom prst="rect">
            <a:avLst/>
          </a:prstGeom>
          <a:noFill/>
          <a:ln/>
        </p:spPr>
        <p:txBody>
          <a:bodyPr wrap="square" lIns="0" tIns="0" rIns="0" bIns="0" rtlCol="0" anchor="ctr"/>
          <a:lstStyle/>
          <a:p>
            <a:pPr indent="0" marL="0">
              <a:buNone/>
            </a:pPr>
            <a:r>
              <a:rPr lang="en-US" sz="1000" b="1" dirty="0">
                <a:solidFill>
                  <a:srgbClr val="06B6D4"/>
                </a:solidFill>
                <a:latin typeface="Consolas" pitchFamily="34" charset="0"/>
                <a:ea typeface="Consolas" pitchFamily="34" charset="-122"/>
                <a:cs typeface="Consolas" pitchFamily="34" charset="-120"/>
              </a:rPr>
              <a:t>2. JUDGE</a:t>
            </a:r>
            <a:endParaRPr lang="en-US" sz="1000" dirty="0"/>
          </a:p>
        </p:txBody>
      </p:sp>
      <p:sp>
        <p:nvSpPr>
          <p:cNvPr id="20" name="Text 18"/>
          <p:cNvSpPr/>
          <p:nvPr/>
        </p:nvSpPr>
        <p:spPr>
          <a:xfrm>
            <a:off x="2880360" y="3566160"/>
            <a:ext cx="1691640" cy="320040"/>
          </a:xfrm>
          <a:prstGeom prst="rect">
            <a:avLst/>
          </a:prstGeom>
          <a:noFill/>
          <a:ln/>
        </p:spPr>
        <p:txBody>
          <a:bodyPr wrap="square" lIns="0" tIns="0" rIns="0" bIns="0" rtlCol="0" anchor="ctr"/>
          <a:lstStyle/>
          <a:p>
            <a:pPr indent="0" marL="0">
              <a:buNone/>
            </a:pPr>
            <a:r>
              <a:rPr lang="en-US" sz="950" dirty="0">
                <a:solidFill>
                  <a:srgbClr val="94A3B8"/>
                </a:solidFill>
                <a:latin typeface="Calibri" pitchFamily="34" charset="0"/>
                <a:ea typeface="Calibri" pitchFamily="34" charset="-122"/>
                <a:cs typeface="Calibri" pitchFamily="34" charset="-120"/>
              </a:rPr>
              <a:t>Assign verdicts based on outcomes</a:t>
            </a:r>
            <a:endParaRPr lang="en-US" sz="950" dirty="0"/>
          </a:p>
        </p:txBody>
      </p:sp>
      <p:sp>
        <p:nvSpPr>
          <p:cNvPr id="21" name="Text 19"/>
          <p:cNvSpPr/>
          <p:nvPr/>
        </p:nvSpPr>
        <p:spPr>
          <a:xfrm>
            <a:off x="4663440" y="3291840"/>
            <a:ext cx="182880" cy="640080"/>
          </a:xfrm>
          <a:prstGeom prst="rect">
            <a:avLst/>
          </a:prstGeom>
          <a:noFill/>
          <a:ln/>
        </p:spPr>
        <p:txBody>
          <a:bodyPr wrap="square" lIns="0" tIns="0" rIns="0" bIns="0" rtlCol="0" anchor="ctr"/>
          <a:lstStyle/>
          <a:p>
            <a:pPr algn="ctr" indent="0" marL="0">
              <a:buNone/>
            </a:pPr>
            <a:r>
              <a:rPr lang="en-US" sz="1000" dirty="0">
                <a:solidFill>
                  <a:srgbClr val="94A3B8"/>
                </a:solidFill>
              </a:rPr>
              <a:t>▶</a:t>
            </a:r>
            <a:endParaRPr lang="en-US" sz="1000" dirty="0"/>
          </a:p>
        </p:txBody>
      </p:sp>
      <p:sp>
        <p:nvSpPr>
          <p:cNvPr id="22" name="Shape 20"/>
          <p:cNvSpPr/>
          <p:nvPr/>
        </p:nvSpPr>
        <p:spPr>
          <a:xfrm>
            <a:off x="4846320" y="3291840"/>
            <a:ext cx="1874520" cy="640080"/>
          </a:xfrm>
          <a:prstGeom prst="rect">
            <a:avLst/>
          </a:prstGeom>
          <a:solidFill>
            <a:srgbClr val="1E293B"/>
          </a:solidFill>
          <a:ln/>
        </p:spPr>
      </p:sp>
      <p:sp>
        <p:nvSpPr>
          <p:cNvPr id="23" name="Text 21"/>
          <p:cNvSpPr/>
          <p:nvPr/>
        </p:nvSpPr>
        <p:spPr>
          <a:xfrm>
            <a:off x="4937760" y="3319272"/>
            <a:ext cx="1691640" cy="228600"/>
          </a:xfrm>
          <a:prstGeom prst="rect">
            <a:avLst/>
          </a:prstGeom>
          <a:noFill/>
          <a:ln/>
        </p:spPr>
        <p:txBody>
          <a:bodyPr wrap="square" lIns="0" tIns="0" rIns="0" bIns="0" rtlCol="0" anchor="ctr"/>
          <a:lstStyle/>
          <a:p>
            <a:pPr indent="0" marL="0">
              <a:buNone/>
            </a:pPr>
            <a:r>
              <a:rPr lang="en-US" sz="1000" b="1" dirty="0">
                <a:solidFill>
                  <a:srgbClr val="06B6D4"/>
                </a:solidFill>
                <a:latin typeface="Consolas" pitchFamily="34" charset="0"/>
                <a:ea typeface="Consolas" pitchFamily="34" charset="-122"/>
                <a:cs typeface="Consolas" pitchFamily="34" charset="-120"/>
              </a:rPr>
              <a:t>3. DISTILL</a:t>
            </a:r>
            <a:endParaRPr lang="en-US" sz="1000" dirty="0"/>
          </a:p>
        </p:txBody>
      </p:sp>
      <p:sp>
        <p:nvSpPr>
          <p:cNvPr id="24" name="Text 22"/>
          <p:cNvSpPr/>
          <p:nvPr/>
        </p:nvSpPr>
        <p:spPr>
          <a:xfrm>
            <a:off x="4937760" y="3566160"/>
            <a:ext cx="1691640" cy="320040"/>
          </a:xfrm>
          <a:prstGeom prst="rect">
            <a:avLst/>
          </a:prstGeom>
          <a:noFill/>
          <a:ln/>
        </p:spPr>
        <p:txBody>
          <a:bodyPr wrap="square" lIns="0" tIns="0" rIns="0" bIns="0" rtlCol="0" anchor="ctr"/>
          <a:lstStyle/>
          <a:p>
            <a:pPr indent="0" marL="0">
              <a:buNone/>
            </a:pPr>
            <a:r>
              <a:rPr lang="en-US" sz="950" dirty="0">
                <a:solidFill>
                  <a:srgbClr val="94A3B8"/>
                </a:solidFill>
                <a:latin typeface="Calibri" pitchFamily="34" charset="0"/>
                <a:ea typeface="Calibri" pitchFamily="34" charset="-122"/>
                <a:cs typeface="Calibri" pitchFamily="34" charset="-120"/>
              </a:rPr>
              <a:t>Micro-LoRA pattern extraction</a:t>
            </a:r>
            <a:endParaRPr lang="en-US" sz="950" dirty="0"/>
          </a:p>
        </p:txBody>
      </p:sp>
      <p:sp>
        <p:nvSpPr>
          <p:cNvPr id="25" name="Text 23"/>
          <p:cNvSpPr/>
          <p:nvPr/>
        </p:nvSpPr>
        <p:spPr>
          <a:xfrm>
            <a:off x="6720840" y="3291840"/>
            <a:ext cx="182880" cy="640080"/>
          </a:xfrm>
          <a:prstGeom prst="rect">
            <a:avLst/>
          </a:prstGeom>
          <a:noFill/>
          <a:ln/>
        </p:spPr>
        <p:txBody>
          <a:bodyPr wrap="square" lIns="0" tIns="0" rIns="0" bIns="0" rtlCol="0" anchor="ctr"/>
          <a:lstStyle/>
          <a:p>
            <a:pPr algn="ctr" indent="0" marL="0">
              <a:buNone/>
            </a:pPr>
            <a:r>
              <a:rPr lang="en-US" sz="1000" dirty="0">
                <a:solidFill>
                  <a:srgbClr val="94A3B8"/>
                </a:solidFill>
              </a:rPr>
              <a:t>▶</a:t>
            </a:r>
            <a:endParaRPr lang="en-US" sz="1000" dirty="0"/>
          </a:p>
        </p:txBody>
      </p:sp>
      <p:sp>
        <p:nvSpPr>
          <p:cNvPr id="26" name="Shape 24"/>
          <p:cNvSpPr/>
          <p:nvPr/>
        </p:nvSpPr>
        <p:spPr>
          <a:xfrm>
            <a:off x="6903720" y="3291840"/>
            <a:ext cx="1874520" cy="640080"/>
          </a:xfrm>
          <a:prstGeom prst="rect">
            <a:avLst/>
          </a:prstGeom>
          <a:solidFill>
            <a:srgbClr val="1E293B"/>
          </a:solidFill>
          <a:ln/>
        </p:spPr>
      </p:sp>
      <p:sp>
        <p:nvSpPr>
          <p:cNvPr id="27" name="Text 25"/>
          <p:cNvSpPr/>
          <p:nvPr/>
        </p:nvSpPr>
        <p:spPr>
          <a:xfrm>
            <a:off x="6995160" y="3319272"/>
            <a:ext cx="1691640" cy="228600"/>
          </a:xfrm>
          <a:prstGeom prst="rect">
            <a:avLst/>
          </a:prstGeom>
          <a:noFill/>
          <a:ln/>
        </p:spPr>
        <p:txBody>
          <a:bodyPr wrap="square" lIns="0" tIns="0" rIns="0" bIns="0" rtlCol="0" anchor="ctr"/>
          <a:lstStyle/>
          <a:p>
            <a:pPr indent="0" marL="0">
              <a:buNone/>
            </a:pPr>
            <a:r>
              <a:rPr lang="en-US" sz="1000" b="1" dirty="0">
                <a:solidFill>
                  <a:srgbClr val="06B6D4"/>
                </a:solidFill>
                <a:latin typeface="Consolas" pitchFamily="34" charset="0"/>
                <a:ea typeface="Consolas" pitchFamily="34" charset="-122"/>
                <a:cs typeface="Consolas" pitchFamily="34" charset="-120"/>
              </a:rPr>
              <a:t>4. CONSOLIDATE</a:t>
            </a:r>
            <a:endParaRPr lang="en-US" sz="1000" dirty="0"/>
          </a:p>
        </p:txBody>
      </p:sp>
      <p:sp>
        <p:nvSpPr>
          <p:cNvPr id="28" name="Text 26"/>
          <p:cNvSpPr/>
          <p:nvPr/>
        </p:nvSpPr>
        <p:spPr>
          <a:xfrm>
            <a:off x="6995160" y="3566160"/>
            <a:ext cx="1691640" cy="320040"/>
          </a:xfrm>
          <a:prstGeom prst="rect">
            <a:avLst/>
          </a:prstGeom>
          <a:noFill/>
          <a:ln/>
        </p:spPr>
        <p:txBody>
          <a:bodyPr wrap="square" lIns="0" tIns="0" rIns="0" bIns="0" rtlCol="0" anchor="ctr"/>
          <a:lstStyle/>
          <a:p>
            <a:pPr indent="0" marL="0">
              <a:buNone/>
            </a:pPr>
            <a:r>
              <a:rPr lang="en-US" sz="950" dirty="0">
                <a:solidFill>
                  <a:srgbClr val="94A3B8"/>
                </a:solidFill>
                <a:latin typeface="Calibri" pitchFamily="34" charset="0"/>
                <a:ea typeface="Calibri" pitchFamily="34" charset="-122"/>
                <a:cs typeface="Calibri" pitchFamily="34" charset="-120"/>
              </a:rPr>
              <a:t>EWC++ prevents forgetting</a:t>
            </a:r>
            <a:endParaRPr lang="en-US" sz="950" dirty="0"/>
          </a:p>
        </p:txBody>
      </p:sp>
      <p:sp>
        <p:nvSpPr>
          <p:cNvPr id="29" name="Text 27"/>
          <p:cNvSpPr/>
          <p:nvPr/>
        </p:nvSpPr>
        <p:spPr>
          <a:xfrm>
            <a:off x="731520" y="4160520"/>
            <a:ext cx="1828800" cy="365760"/>
          </a:xfrm>
          <a:prstGeom prst="rect">
            <a:avLst/>
          </a:prstGeom>
          <a:noFill/>
          <a:ln/>
        </p:spPr>
        <p:txBody>
          <a:bodyPr wrap="square" lIns="0" tIns="0" rIns="0" bIns="0" rtlCol="0" anchor="ctr"/>
          <a:lstStyle/>
          <a:p>
            <a:pPr indent="0" marL="0">
              <a:buNone/>
            </a:pPr>
            <a:r>
              <a:rPr lang="en-US" sz="2200" b="1" dirty="0">
                <a:solidFill>
                  <a:srgbClr val="06B6D4"/>
                </a:solidFill>
                <a:latin typeface="Consolas" pitchFamily="34" charset="0"/>
                <a:ea typeface="Consolas" pitchFamily="34" charset="-122"/>
                <a:cs typeface="Consolas" pitchFamily="34" charset="-120"/>
              </a:rPr>
              <a:t>300x</a:t>
            </a:r>
            <a:endParaRPr lang="en-US" sz="2200" dirty="0"/>
          </a:p>
        </p:txBody>
      </p:sp>
      <p:sp>
        <p:nvSpPr>
          <p:cNvPr id="30" name="Text 28"/>
          <p:cNvSpPr/>
          <p:nvPr/>
        </p:nvSpPr>
        <p:spPr>
          <a:xfrm>
            <a:off x="731520" y="4480560"/>
            <a:ext cx="1828800" cy="182880"/>
          </a:xfrm>
          <a:prstGeom prst="rect">
            <a:avLst/>
          </a:prstGeom>
          <a:noFill/>
          <a:ln/>
        </p:spPr>
        <p:txBody>
          <a:bodyPr wrap="square" lIns="0" tIns="0" rIns="0" bIns="0" rtlCol="0" anchor="ctr"/>
          <a:lstStyle/>
          <a:p>
            <a:pPr indent="0" marL="0">
              <a:buNone/>
            </a:pPr>
            <a:r>
              <a:rPr lang="en-US" sz="1000" dirty="0">
                <a:solidFill>
                  <a:srgbClr val="94A3B8"/>
                </a:solidFill>
                <a:latin typeface="Calibri" pitchFamily="34" charset="0"/>
                <a:ea typeface="Calibri" pitchFamily="34" charset="-122"/>
                <a:cs typeface="Calibri" pitchFamily="34" charset="-120"/>
              </a:rPr>
              <a:t>Faster Retrieval</a:t>
            </a:r>
            <a:endParaRPr lang="en-US" sz="1000" dirty="0"/>
          </a:p>
        </p:txBody>
      </p:sp>
      <p:sp>
        <p:nvSpPr>
          <p:cNvPr id="31" name="Text 29"/>
          <p:cNvSpPr/>
          <p:nvPr/>
        </p:nvSpPr>
        <p:spPr>
          <a:xfrm>
            <a:off x="2834640" y="4160520"/>
            <a:ext cx="1828800" cy="365760"/>
          </a:xfrm>
          <a:prstGeom prst="rect">
            <a:avLst/>
          </a:prstGeom>
          <a:noFill/>
          <a:ln/>
        </p:spPr>
        <p:txBody>
          <a:bodyPr wrap="square" lIns="0" tIns="0" rIns="0" bIns="0" rtlCol="0" anchor="ctr"/>
          <a:lstStyle/>
          <a:p>
            <a:pPr indent="0" marL="0">
              <a:buNone/>
            </a:pPr>
            <a:r>
              <a:rPr lang="en-US" sz="2200" b="1" dirty="0">
                <a:solidFill>
                  <a:srgbClr val="06B6D4"/>
                </a:solidFill>
                <a:latin typeface="Consolas" pitchFamily="34" charset="0"/>
                <a:ea typeface="Consolas" pitchFamily="34" charset="-122"/>
                <a:cs typeface="Consolas" pitchFamily="34" charset="-120"/>
              </a:rPr>
              <a:t>2,211/s</a:t>
            </a:r>
            <a:endParaRPr lang="en-US" sz="2200" dirty="0"/>
          </a:p>
        </p:txBody>
      </p:sp>
      <p:sp>
        <p:nvSpPr>
          <p:cNvPr id="32" name="Text 30"/>
          <p:cNvSpPr/>
          <p:nvPr/>
        </p:nvSpPr>
        <p:spPr>
          <a:xfrm>
            <a:off x="2834640" y="4480560"/>
            <a:ext cx="1828800" cy="182880"/>
          </a:xfrm>
          <a:prstGeom prst="rect">
            <a:avLst/>
          </a:prstGeom>
          <a:noFill/>
          <a:ln/>
        </p:spPr>
        <p:txBody>
          <a:bodyPr wrap="square" lIns="0" tIns="0" rIns="0" bIns="0" rtlCol="0" anchor="ctr"/>
          <a:lstStyle/>
          <a:p>
            <a:pPr indent="0" marL="0">
              <a:buNone/>
            </a:pPr>
            <a:r>
              <a:rPr lang="en-US" sz="1000" dirty="0">
                <a:solidFill>
                  <a:srgbClr val="94A3B8"/>
                </a:solidFill>
                <a:latin typeface="Calibri" pitchFamily="34" charset="0"/>
                <a:ea typeface="Calibri" pitchFamily="34" charset="-122"/>
                <a:cs typeface="Calibri" pitchFamily="34" charset="-120"/>
              </a:rPr>
              <a:t>SIMD Ops/Sec</a:t>
            </a:r>
            <a:endParaRPr lang="en-US" sz="1000" dirty="0"/>
          </a:p>
        </p:txBody>
      </p:sp>
      <p:sp>
        <p:nvSpPr>
          <p:cNvPr id="33" name="Text 31"/>
          <p:cNvSpPr/>
          <p:nvPr/>
        </p:nvSpPr>
        <p:spPr>
          <a:xfrm>
            <a:off x="4937760" y="4160520"/>
            <a:ext cx="1828800" cy="365760"/>
          </a:xfrm>
          <a:prstGeom prst="rect">
            <a:avLst/>
          </a:prstGeom>
          <a:noFill/>
          <a:ln/>
        </p:spPr>
        <p:txBody>
          <a:bodyPr wrap="square" lIns="0" tIns="0" rIns="0" bIns="0" rtlCol="0" anchor="ctr"/>
          <a:lstStyle/>
          <a:p>
            <a:pPr indent="0" marL="0">
              <a:buNone/>
            </a:pPr>
            <a:r>
              <a:rPr lang="en-US" sz="2200" b="1" dirty="0">
                <a:solidFill>
                  <a:srgbClr val="06B6D4"/>
                </a:solidFill>
                <a:latin typeface="Consolas" pitchFamily="34" charset="0"/>
                <a:ea typeface="Consolas" pitchFamily="34" charset="-122"/>
                <a:cs typeface="Consolas" pitchFamily="34" charset="-120"/>
              </a:rPr>
              <a:t>+55%</a:t>
            </a:r>
            <a:endParaRPr lang="en-US" sz="2200" dirty="0"/>
          </a:p>
        </p:txBody>
      </p:sp>
      <p:sp>
        <p:nvSpPr>
          <p:cNvPr id="34" name="Text 32"/>
          <p:cNvSpPr/>
          <p:nvPr/>
        </p:nvSpPr>
        <p:spPr>
          <a:xfrm>
            <a:off x="4937760" y="4480560"/>
            <a:ext cx="1828800" cy="182880"/>
          </a:xfrm>
          <a:prstGeom prst="rect">
            <a:avLst/>
          </a:prstGeom>
          <a:noFill/>
          <a:ln/>
        </p:spPr>
        <p:txBody>
          <a:bodyPr wrap="square" lIns="0" tIns="0" rIns="0" bIns="0" rtlCol="0" anchor="ctr"/>
          <a:lstStyle/>
          <a:p>
            <a:pPr indent="0" marL="0">
              <a:buNone/>
            </a:pPr>
            <a:r>
              <a:rPr lang="en-US" sz="1000" dirty="0">
                <a:solidFill>
                  <a:srgbClr val="94A3B8"/>
                </a:solidFill>
                <a:latin typeface="Calibri" pitchFamily="34" charset="0"/>
                <a:ea typeface="Calibri" pitchFamily="34" charset="-122"/>
                <a:cs typeface="Calibri" pitchFamily="34" charset="-120"/>
              </a:rPr>
              <a:t>Quality Improvement</a:t>
            </a:r>
            <a:endParaRPr lang="en-US" sz="1000" dirty="0"/>
          </a:p>
        </p:txBody>
      </p:sp>
      <p:sp>
        <p:nvSpPr>
          <p:cNvPr id="35" name="Text 33"/>
          <p:cNvSpPr/>
          <p:nvPr/>
        </p:nvSpPr>
        <p:spPr>
          <a:xfrm>
            <a:off x="7040880" y="4160520"/>
            <a:ext cx="1828800" cy="365760"/>
          </a:xfrm>
          <a:prstGeom prst="rect">
            <a:avLst/>
          </a:prstGeom>
          <a:noFill/>
          <a:ln/>
        </p:spPr>
        <p:txBody>
          <a:bodyPr wrap="square" lIns="0" tIns="0" rIns="0" bIns="0" rtlCol="0" anchor="ctr"/>
          <a:lstStyle/>
          <a:p>
            <a:pPr indent="0" marL="0">
              <a:buNone/>
            </a:pPr>
            <a:r>
              <a:rPr lang="en-US" sz="2200" b="1" dirty="0">
                <a:solidFill>
                  <a:srgbClr val="06B6D4"/>
                </a:solidFill>
                <a:latin typeface="Consolas" pitchFamily="34" charset="0"/>
                <a:ea typeface="Consolas" pitchFamily="34" charset="-122"/>
                <a:cs typeface="Consolas" pitchFamily="34" charset="-120"/>
              </a:rPr>
              <a:t>$0</a:t>
            </a:r>
            <a:endParaRPr lang="en-US" sz="2200" dirty="0"/>
          </a:p>
        </p:txBody>
      </p:sp>
      <p:sp>
        <p:nvSpPr>
          <p:cNvPr id="36" name="Text 34"/>
          <p:cNvSpPr/>
          <p:nvPr/>
        </p:nvSpPr>
        <p:spPr>
          <a:xfrm>
            <a:off x="7040880" y="4480560"/>
            <a:ext cx="1828800" cy="182880"/>
          </a:xfrm>
          <a:prstGeom prst="rect">
            <a:avLst/>
          </a:prstGeom>
          <a:noFill/>
          <a:ln/>
        </p:spPr>
        <p:txBody>
          <a:bodyPr wrap="square" lIns="0" tIns="0" rIns="0" bIns="0" rtlCol="0" anchor="ctr"/>
          <a:lstStyle/>
          <a:p>
            <a:pPr indent="0" marL="0">
              <a:buNone/>
            </a:pPr>
            <a:r>
              <a:rPr lang="en-US" sz="1000" dirty="0">
                <a:solidFill>
                  <a:srgbClr val="94A3B8"/>
                </a:solidFill>
                <a:latin typeface="Calibri" pitchFamily="34" charset="0"/>
                <a:ea typeface="Calibri" pitchFamily="34" charset="-122"/>
                <a:cs typeface="Calibri" pitchFamily="34" charset="-120"/>
              </a:rPr>
              <a:t>Learning Cost</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6B6D4"/>
          </a:solidFill>
          <a:ln/>
        </p:spPr>
      </p:sp>
      <p:sp>
        <p:nvSpPr>
          <p:cNvPr id="3" name="Text 1"/>
          <p:cNvSpPr/>
          <p:nvPr/>
        </p:nvSpPr>
        <p:spPr>
          <a:xfrm>
            <a:off x="731520" y="320040"/>
            <a:ext cx="7680960" cy="457200"/>
          </a:xfrm>
          <a:prstGeom prst="rect">
            <a:avLst/>
          </a:prstGeom>
          <a:noFill/>
          <a:ln/>
        </p:spPr>
        <p:txBody>
          <a:bodyPr wrap="square" lIns="0" tIns="0" rIns="0" bIns="0" rtlCol="0" anchor="ctr"/>
          <a:lstStyle/>
          <a:p>
            <a:pPr indent="0" marL="0">
              <a:buNone/>
            </a:pPr>
            <a:r>
              <a:rPr lang="en-US" sz="2800" b="1" dirty="0">
                <a:solidFill>
                  <a:srgbClr val="F8FAFC"/>
                </a:solidFill>
                <a:latin typeface="Cambria" pitchFamily="34" charset="0"/>
                <a:ea typeface="Cambria" pitchFamily="34" charset="-122"/>
                <a:cs typeface="Cambria" pitchFamily="34" charset="-120"/>
              </a:rPr>
              <a:t>Bio-Inspired Nervous System</a:t>
            </a:r>
            <a:endParaRPr lang="en-US" sz="2800" dirty="0"/>
          </a:p>
        </p:txBody>
      </p:sp>
      <p:sp>
        <p:nvSpPr>
          <p:cNvPr id="4" name="Text 2"/>
          <p:cNvSpPr/>
          <p:nvPr/>
        </p:nvSpPr>
        <p:spPr>
          <a:xfrm>
            <a:off x="731520" y="777240"/>
            <a:ext cx="7315200" cy="274320"/>
          </a:xfrm>
          <a:prstGeom prst="rect">
            <a:avLst/>
          </a:prstGeom>
          <a:noFill/>
          <a:ln/>
        </p:spPr>
        <p:txBody>
          <a:bodyPr wrap="square" lIns="0" tIns="0" rIns="0" bIns="0" rtlCol="0" anchor="ctr"/>
          <a:lstStyle/>
          <a:p>
            <a:pPr indent="0" marL="0">
              <a:buNone/>
            </a:pPr>
            <a:r>
              <a:rPr lang="en-US" sz="1300" dirty="0">
                <a:solidFill>
                  <a:srgbClr val="94A3B8"/>
                </a:solidFill>
                <a:latin typeface="Calibri" pitchFamily="34" charset="0"/>
                <a:ea typeface="Calibri" pitchFamily="34" charset="-122"/>
                <a:cs typeface="Calibri" pitchFamily="34" charset="-120"/>
              </a:rPr>
              <a:t>Not a metaphor — implemented computational neuroscience. 22.9K lines, 359 tests.</a:t>
            </a:r>
            <a:endParaRPr lang="en-US" sz="1300" dirty="0"/>
          </a:p>
        </p:txBody>
      </p:sp>
      <p:sp>
        <p:nvSpPr>
          <p:cNvPr id="5" name="Shape 3"/>
          <p:cNvSpPr/>
          <p:nvPr/>
        </p:nvSpPr>
        <p:spPr>
          <a:xfrm>
            <a:off x="731520" y="1234440"/>
            <a:ext cx="7680960" cy="530352"/>
          </a:xfrm>
          <a:prstGeom prst="rect">
            <a:avLst/>
          </a:prstGeom>
          <a:solidFill>
            <a:srgbClr val="1E293B"/>
          </a:solidFill>
          <a:ln/>
          <a:effectLst>
            <a:outerShdw sx="100000" sy="100000" kx="0" ky="0" algn="bl" rotWithShape="0" blurRad="76200" dist="25400" dir="8100000">
              <a:srgbClr val="000000">
                <a:alpha val="25000"/>
              </a:srgbClr>
            </a:outerShdw>
          </a:effectLst>
        </p:spPr>
      </p:sp>
      <p:sp>
        <p:nvSpPr>
          <p:cNvPr id="6" name="Shape 4"/>
          <p:cNvSpPr/>
          <p:nvPr/>
        </p:nvSpPr>
        <p:spPr>
          <a:xfrm>
            <a:off x="731520" y="1234440"/>
            <a:ext cx="54864" cy="530352"/>
          </a:xfrm>
          <a:prstGeom prst="rect">
            <a:avLst/>
          </a:prstGeom>
          <a:solidFill>
            <a:srgbClr val="06B6D4"/>
          </a:solidFill>
          <a:ln/>
        </p:spPr>
      </p:sp>
      <p:sp>
        <p:nvSpPr>
          <p:cNvPr id="7" name="Text 5"/>
          <p:cNvSpPr/>
          <p:nvPr/>
        </p:nvSpPr>
        <p:spPr>
          <a:xfrm>
            <a:off x="1005840" y="1280160"/>
            <a:ext cx="2011680" cy="228600"/>
          </a:xfrm>
          <a:prstGeom prst="rect">
            <a:avLst/>
          </a:prstGeom>
          <a:noFill/>
          <a:ln/>
        </p:spPr>
        <p:txBody>
          <a:bodyPr wrap="square" lIns="0" tIns="0" rIns="0" bIns="0" rtlCol="0" anchor="ctr"/>
          <a:lstStyle/>
          <a:p>
            <a:pPr indent="0" marL="0">
              <a:buNone/>
            </a:pPr>
            <a:r>
              <a:rPr lang="en-US" sz="1200" b="1" dirty="0">
                <a:solidFill>
                  <a:srgbClr val="06B6D4"/>
                </a:solidFill>
                <a:latin typeface="Consolas" pitchFamily="34" charset="0"/>
                <a:ea typeface="Consolas" pitchFamily="34" charset="-122"/>
                <a:cs typeface="Consolas" pitchFamily="34" charset="-120"/>
              </a:rPr>
              <a:t>Layer 1: SENSING</a:t>
            </a:r>
            <a:endParaRPr lang="en-US" sz="1200" dirty="0"/>
          </a:p>
        </p:txBody>
      </p:sp>
      <p:sp>
        <p:nvSpPr>
          <p:cNvPr id="8" name="Text 6"/>
          <p:cNvSpPr/>
          <p:nvPr/>
        </p:nvSpPr>
        <p:spPr>
          <a:xfrm>
            <a:off x="3108960" y="1280160"/>
            <a:ext cx="1280160" cy="228600"/>
          </a:xfrm>
          <a:prstGeom prst="rect">
            <a:avLst/>
          </a:prstGeom>
          <a:noFill/>
          <a:ln/>
        </p:spPr>
        <p:txBody>
          <a:bodyPr wrap="square" lIns="0" tIns="0" rIns="0" bIns="0" rtlCol="0" anchor="ctr"/>
          <a:lstStyle/>
          <a:p>
            <a:pPr indent="0" marL="0">
              <a:buNone/>
            </a:pPr>
            <a:r>
              <a:rPr lang="en-US" sz="1200" dirty="0">
                <a:solidFill>
                  <a:srgbClr val="06B6D4"/>
                </a:solidFill>
                <a:latin typeface="Consolas" pitchFamily="34" charset="0"/>
                <a:ea typeface="Consolas" pitchFamily="34" charset="-122"/>
                <a:cs typeface="Consolas" pitchFamily="34" charset="-120"/>
              </a:rPr>
              <a:t>&lt;100ns</a:t>
            </a:r>
            <a:endParaRPr lang="en-US" sz="1200" dirty="0"/>
          </a:p>
        </p:txBody>
      </p:sp>
      <p:sp>
        <p:nvSpPr>
          <p:cNvPr id="9" name="Text 7"/>
          <p:cNvSpPr/>
          <p:nvPr/>
        </p:nvSpPr>
        <p:spPr>
          <a:xfrm>
            <a:off x="1005840" y="1508760"/>
            <a:ext cx="7132320" cy="228600"/>
          </a:xfrm>
          <a:prstGeom prst="rect">
            <a:avLst/>
          </a:prstGeom>
          <a:noFill/>
          <a:ln/>
        </p:spPr>
        <p:txBody>
          <a:bodyPr wrap="square" lIns="0" tIns="0" rIns="0" bIns="0" rtlCol="0" anchor="ctr"/>
          <a:lstStyle/>
          <a:p>
            <a:pPr indent="0" marL="0">
              <a:buNone/>
            </a:pPr>
            <a:r>
              <a:rPr lang="en-US" sz="1050" dirty="0">
                <a:solidFill>
                  <a:srgbClr val="94A3B8"/>
                </a:solidFill>
                <a:latin typeface="Calibri" pitchFamily="34" charset="0"/>
                <a:ea typeface="Calibri" pitchFamily="34" charset="-122"/>
                <a:cs typeface="Calibri" pitchFamily="34" charset="-120"/>
              </a:rPr>
              <a:t>Lock-free ring buffers, 10K+ events/ms</a:t>
            </a:r>
            <a:endParaRPr lang="en-US" sz="1050" dirty="0"/>
          </a:p>
        </p:txBody>
      </p:sp>
      <p:sp>
        <p:nvSpPr>
          <p:cNvPr id="10" name="Shape 8"/>
          <p:cNvSpPr/>
          <p:nvPr/>
        </p:nvSpPr>
        <p:spPr>
          <a:xfrm>
            <a:off x="731520" y="1892808"/>
            <a:ext cx="7680960" cy="530352"/>
          </a:xfrm>
          <a:prstGeom prst="rect">
            <a:avLst/>
          </a:prstGeom>
          <a:solidFill>
            <a:srgbClr val="1E293B"/>
          </a:solidFill>
          <a:ln/>
          <a:effectLst>
            <a:outerShdw sx="100000" sy="100000" kx="0" ky="0" algn="bl" rotWithShape="0" blurRad="76200" dist="25400" dir="8100000">
              <a:srgbClr val="000000">
                <a:alpha val="25000"/>
              </a:srgbClr>
            </a:outerShdw>
          </a:effectLst>
        </p:spPr>
      </p:sp>
      <p:sp>
        <p:nvSpPr>
          <p:cNvPr id="11" name="Shape 9"/>
          <p:cNvSpPr/>
          <p:nvPr/>
        </p:nvSpPr>
        <p:spPr>
          <a:xfrm>
            <a:off x="731520" y="1892808"/>
            <a:ext cx="54864" cy="530352"/>
          </a:xfrm>
          <a:prstGeom prst="rect">
            <a:avLst/>
          </a:prstGeom>
          <a:solidFill>
            <a:srgbClr val="0EA5E9"/>
          </a:solidFill>
          <a:ln/>
        </p:spPr>
      </p:sp>
      <p:sp>
        <p:nvSpPr>
          <p:cNvPr id="12" name="Text 10"/>
          <p:cNvSpPr/>
          <p:nvPr/>
        </p:nvSpPr>
        <p:spPr>
          <a:xfrm>
            <a:off x="1005840" y="1938528"/>
            <a:ext cx="2011680" cy="228600"/>
          </a:xfrm>
          <a:prstGeom prst="rect">
            <a:avLst/>
          </a:prstGeom>
          <a:noFill/>
          <a:ln/>
        </p:spPr>
        <p:txBody>
          <a:bodyPr wrap="square" lIns="0" tIns="0" rIns="0" bIns="0" rtlCol="0" anchor="ctr"/>
          <a:lstStyle/>
          <a:p>
            <a:pPr indent="0" marL="0">
              <a:buNone/>
            </a:pPr>
            <a:r>
              <a:rPr lang="en-US" sz="1200" b="1" dirty="0">
                <a:solidFill>
                  <a:srgbClr val="0EA5E9"/>
                </a:solidFill>
                <a:latin typeface="Consolas" pitchFamily="34" charset="0"/>
                <a:ea typeface="Consolas" pitchFamily="34" charset="-122"/>
                <a:cs typeface="Consolas" pitchFamily="34" charset="-120"/>
              </a:rPr>
              <a:t>Layer 2: REFLEX</a:t>
            </a:r>
            <a:endParaRPr lang="en-US" sz="1200" dirty="0"/>
          </a:p>
        </p:txBody>
      </p:sp>
      <p:sp>
        <p:nvSpPr>
          <p:cNvPr id="13" name="Text 11"/>
          <p:cNvSpPr/>
          <p:nvPr/>
        </p:nvSpPr>
        <p:spPr>
          <a:xfrm>
            <a:off x="3108960" y="1938528"/>
            <a:ext cx="1280160" cy="228600"/>
          </a:xfrm>
          <a:prstGeom prst="rect">
            <a:avLst/>
          </a:prstGeom>
          <a:noFill/>
          <a:ln/>
        </p:spPr>
        <p:txBody>
          <a:bodyPr wrap="square" lIns="0" tIns="0" rIns="0" bIns="0" rtlCol="0" anchor="ctr"/>
          <a:lstStyle/>
          <a:p>
            <a:pPr indent="0" marL="0">
              <a:buNone/>
            </a:pPr>
            <a:r>
              <a:rPr lang="en-US" sz="1200" dirty="0">
                <a:solidFill>
                  <a:srgbClr val="0EA5E9"/>
                </a:solidFill>
                <a:latin typeface="Consolas" pitchFamily="34" charset="0"/>
                <a:ea typeface="Consolas" pitchFamily="34" charset="-122"/>
                <a:cs typeface="Consolas" pitchFamily="34" charset="-120"/>
              </a:rPr>
              <a:t>&lt;1µs</a:t>
            </a:r>
            <a:endParaRPr lang="en-US" sz="1200" dirty="0"/>
          </a:p>
        </p:txBody>
      </p:sp>
      <p:sp>
        <p:nvSpPr>
          <p:cNvPr id="14" name="Text 12"/>
          <p:cNvSpPr/>
          <p:nvPr/>
        </p:nvSpPr>
        <p:spPr>
          <a:xfrm>
            <a:off x="1005840" y="2167128"/>
            <a:ext cx="7132320" cy="228600"/>
          </a:xfrm>
          <a:prstGeom prst="rect">
            <a:avLst/>
          </a:prstGeom>
          <a:noFill/>
          <a:ln/>
        </p:spPr>
        <p:txBody>
          <a:bodyPr wrap="square" lIns="0" tIns="0" rIns="0" bIns="0" rtlCol="0" anchor="ctr"/>
          <a:lstStyle/>
          <a:p>
            <a:pPr indent="0" marL="0">
              <a:buNone/>
            </a:pPr>
            <a:r>
              <a:rPr lang="en-US" sz="1050" dirty="0">
                <a:solidFill>
                  <a:srgbClr val="94A3B8"/>
                </a:solidFill>
                <a:latin typeface="Calibri" pitchFamily="34" charset="0"/>
                <a:ea typeface="Calibri" pitchFamily="34" charset="-122"/>
                <a:cs typeface="Calibri" pitchFamily="34" charset="-120"/>
              </a:rPr>
              <a:t>K-Winner-Take-All, dendritic coincidence detection</a:t>
            </a:r>
            <a:endParaRPr lang="en-US" sz="1050" dirty="0"/>
          </a:p>
        </p:txBody>
      </p:sp>
      <p:sp>
        <p:nvSpPr>
          <p:cNvPr id="15" name="Shape 13"/>
          <p:cNvSpPr/>
          <p:nvPr/>
        </p:nvSpPr>
        <p:spPr>
          <a:xfrm>
            <a:off x="731520" y="2551176"/>
            <a:ext cx="7680960" cy="530352"/>
          </a:xfrm>
          <a:prstGeom prst="rect">
            <a:avLst/>
          </a:prstGeom>
          <a:solidFill>
            <a:srgbClr val="1E293B"/>
          </a:solidFill>
          <a:ln/>
          <a:effectLst>
            <a:outerShdw sx="100000" sy="100000" kx="0" ky="0" algn="bl" rotWithShape="0" blurRad="76200" dist="25400" dir="8100000">
              <a:srgbClr val="000000">
                <a:alpha val="25000"/>
              </a:srgbClr>
            </a:outerShdw>
          </a:effectLst>
        </p:spPr>
      </p:sp>
      <p:sp>
        <p:nvSpPr>
          <p:cNvPr id="16" name="Shape 14"/>
          <p:cNvSpPr/>
          <p:nvPr/>
        </p:nvSpPr>
        <p:spPr>
          <a:xfrm>
            <a:off x="731520" y="2551176"/>
            <a:ext cx="54864" cy="530352"/>
          </a:xfrm>
          <a:prstGeom prst="rect">
            <a:avLst/>
          </a:prstGeom>
          <a:solidFill>
            <a:srgbClr val="8B5CF6"/>
          </a:solidFill>
          <a:ln/>
        </p:spPr>
      </p:sp>
      <p:sp>
        <p:nvSpPr>
          <p:cNvPr id="17" name="Text 15"/>
          <p:cNvSpPr/>
          <p:nvPr/>
        </p:nvSpPr>
        <p:spPr>
          <a:xfrm>
            <a:off x="1005840" y="2596896"/>
            <a:ext cx="2011680" cy="228600"/>
          </a:xfrm>
          <a:prstGeom prst="rect">
            <a:avLst/>
          </a:prstGeom>
          <a:noFill/>
          <a:ln/>
        </p:spPr>
        <p:txBody>
          <a:bodyPr wrap="square" lIns="0" tIns="0" rIns="0" bIns="0" rtlCol="0" anchor="ctr"/>
          <a:lstStyle/>
          <a:p>
            <a:pPr indent="0" marL="0">
              <a:buNone/>
            </a:pPr>
            <a:r>
              <a:rPr lang="en-US" sz="1200" b="1" dirty="0">
                <a:solidFill>
                  <a:srgbClr val="8B5CF6"/>
                </a:solidFill>
                <a:latin typeface="Consolas" pitchFamily="34" charset="0"/>
                <a:ea typeface="Consolas" pitchFamily="34" charset="-122"/>
                <a:cs typeface="Consolas" pitchFamily="34" charset="-120"/>
              </a:rPr>
              <a:t>Layer 3: MEMORY</a:t>
            </a:r>
            <a:endParaRPr lang="en-US" sz="1200" dirty="0"/>
          </a:p>
        </p:txBody>
      </p:sp>
      <p:sp>
        <p:nvSpPr>
          <p:cNvPr id="18" name="Text 16"/>
          <p:cNvSpPr/>
          <p:nvPr/>
        </p:nvSpPr>
        <p:spPr>
          <a:xfrm>
            <a:off x="3108960" y="2596896"/>
            <a:ext cx="1280160" cy="228600"/>
          </a:xfrm>
          <a:prstGeom prst="rect">
            <a:avLst/>
          </a:prstGeom>
          <a:noFill/>
          <a:ln/>
        </p:spPr>
        <p:txBody>
          <a:bodyPr wrap="square" lIns="0" tIns="0" rIns="0" bIns="0" rtlCol="0" anchor="ctr"/>
          <a:lstStyle/>
          <a:p>
            <a:pPr indent="0" marL="0">
              <a:buNone/>
            </a:pPr>
            <a:r>
              <a:rPr lang="en-US" sz="1200" dirty="0">
                <a:solidFill>
                  <a:srgbClr val="8B5CF6"/>
                </a:solidFill>
                <a:latin typeface="Consolas" pitchFamily="34" charset="0"/>
                <a:ea typeface="Consolas" pitchFamily="34" charset="-122"/>
                <a:cs typeface="Consolas" pitchFamily="34" charset="-120"/>
              </a:rPr>
              <a:t>10³⁰ cap</a:t>
            </a:r>
            <a:endParaRPr lang="en-US" sz="1200" dirty="0"/>
          </a:p>
        </p:txBody>
      </p:sp>
      <p:sp>
        <p:nvSpPr>
          <p:cNvPr id="19" name="Text 17"/>
          <p:cNvSpPr/>
          <p:nvPr/>
        </p:nvSpPr>
        <p:spPr>
          <a:xfrm>
            <a:off x="1005840" y="2825496"/>
            <a:ext cx="7132320" cy="228600"/>
          </a:xfrm>
          <a:prstGeom prst="rect">
            <a:avLst/>
          </a:prstGeom>
          <a:noFill/>
          <a:ln/>
        </p:spPr>
        <p:txBody>
          <a:bodyPr wrap="square" lIns="0" tIns="0" rIns="0" bIns="0" rtlCol="0" anchor="ctr"/>
          <a:lstStyle/>
          <a:p>
            <a:pPr indent="0" marL="0">
              <a:buNone/>
            </a:pPr>
            <a:r>
              <a:rPr lang="en-US" sz="1050" dirty="0">
                <a:solidFill>
                  <a:srgbClr val="94A3B8"/>
                </a:solidFill>
                <a:latin typeface="Calibri" pitchFamily="34" charset="0"/>
                <a:ea typeface="Calibri" pitchFamily="34" charset="-122"/>
                <a:cs typeface="Calibri" pitchFamily="34" charset="-120"/>
              </a:rPr>
              <a:t>Hyperdimensional Computing, XOR binding &lt;50ns</a:t>
            </a:r>
            <a:endParaRPr lang="en-US" sz="1050" dirty="0"/>
          </a:p>
        </p:txBody>
      </p:sp>
      <p:sp>
        <p:nvSpPr>
          <p:cNvPr id="20" name="Shape 18"/>
          <p:cNvSpPr/>
          <p:nvPr/>
        </p:nvSpPr>
        <p:spPr>
          <a:xfrm>
            <a:off x="731520" y="3209544"/>
            <a:ext cx="7680960" cy="530352"/>
          </a:xfrm>
          <a:prstGeom prst="rect">
            <a:avLst/>
          </a:prstGeom>
          <a:solidFill>
            <a:srgbClr val="1E293B"/>
          </a:solidFill>
          <a:ln/>
          <a:effectLst>
            <a:outerShdw sx="100000" sy="100000" kx="0" ky="0" algn="bl" rotWithShape="0" blurRad="76200" dist="25400" dir="8100000">
              <a:srgbClr val="000000">
                <a:alpha val="25000"/>
              </a:srgbClr>
            </a:outerShdw>
          </a:effectLst>
        </p:spPr>
      </p:sp>
      <p:sp>
        <p:nvSpPr>
          <p:cNvPr id="21" name="Shape 19"/>
          <p:cNvSpPr/>
          <p:nvPr/>
        </p:nvSpPr>
        <p:spPr>
          <a:xfrm>
            <a:off x="731520" y="3209544"/>
            <a:ext cx="54864" cy="530352"/>
          </a:xfrm>
          <a:prstGeom prst="rect">
            <a:avLst/>
          </a:prstGeom>
          <a:solidFill>
            <a:srgbClr val="F59E0B"/>
          </a:solidFill>
          <a:ln/>
        </p:spPr>
      </p:sp>
      <p:sp>
        <p:nvSpPr>
          <p:cNvPr id="22" name="Text 20"/>
          <p:cNvSpPr/>
          <p:nvPr/>
        </p:nvSpPr>
        <p:spPr>
          <a:xfrm>
            <a:off x="1005840" y="3255264"/>
            <a:ext cx="2011680" cy="228600"/>
          </a:xfrm>
          <a:prstGeom prst="rect">
            <a:avLst/>
          </a:prstGeom>
          <a:noFill/>
          <a:ln/>
        </p:spPr>
        <p:txBody>
          <a:bodyPr wrap="square" lIns="0" tIns="0" rIns="0" bIns="0" rtlCol="0" anchor="ctr"/>
          <a:lstStyle/>
          <a:p>
            <a:pPr indent="0" marL="0">
              <a:buNone/>
            </a:pPr>
            <a:r>
              <a:rPr lang="en-US" sz="1200" b="1" dirty="0">
                <a:solidFill>
                  <a:srgbClr val="F59E0B"/>
                </a:solidFill>
                <a:latin typeface="Consolas" pitchFamily="34" charset="0"/>
                <a:ea typeface="Consolas" pitchFamily="34" charset="-122"/>
                <a:cs typeface="Consolas" pitchFamily="34" charset="-120"/>
              </a:rPr>
              <a:t>Layer 4: LEARNING</a:t>
            </a:r>
            <a:endParaRPr lang="en-US" sz="1200" dirty="0"/>
          </a:p>
        </p:txBody>
      </p:sp>
      <p:sp>
        <p:nvSpPr>
          <p:cNvPr id="23" name="Text 21"/>
          <p:cNvSpPr/>
          <p:nvPr/>
        </p:nvSpPr>
        <p:spPr>
          <a:xfrm>
            <a:off x="3108960" y="3255264"/>
            <a:ext cx="1280160" cy="228600"/>
          </a:xfrm>
          <a:prstGeom prst="rect">
            <a:avLst/>
          </a:prstGeom>
          <a:noFill/>
          <a:ln/>
        </p:spPr>
        <p:txBody>
          <a:bodyPr wrap="square" lIns="0" tIns="0" rIns="0" bIns="0" rtlCol="0" anchor="ctr"/>
          <a:lstStyle/>
          <a:p>
            <a:pPr indent="0" marL="0">
              <a:buNone/>
            </a:pPr>
            <a:r>
              <a:rPr lang="en-US" sz="1200" dirty="0">
                <a:solidFill>
                  <a:srgbClr val="F59E0B"/>
                </a:solidFill>
                <a:latin typeface="Consolas" pitchFamily="34" charset="0"/>
                <a:ea typeface="Consolas" pitchFamily="34" charset="-122"/>
                <a:cs typeface="Consolas" pitchFamily="34" charset="-120"/>
              </a:rPr>
              <a:t>O(1)/synapse</a:t>
            </a:r>
            <a:endParaRPr lang="en-US" sz="1200" dirty="0"/>
          </a:p>
        </p:txBody>
      </p:sp>
      <p:sp>
        <p:nvSpPr>
          <p:cNvPr id="24" name="Text 22"/>
          <p:cNvSpPr/>
          <p:nvPr/>
        </p:nvSpPr>
        <p:spPr>
          <a:xfrm>
            <a:off x="1005840" y="3483864"/>
            <a:ext cx="7132320" cy="228600"/>
          </a:xfrm>
          <a:prstGeom prst="rect">
            <a:avLst/>
          </a:prstGeom>
          <a:noFill/>
          <a:ln/>
        </p:spPr>
        <p:txBody>
          <a:bodyPr wrap="square" lIns="0" tIns="0" rIns="0" bIns="0" rtlCol="0" anchor="ctr"/>
          <a:lstStyle/>
          <a:p>
            <a:pPr indent="0" marL="0">
              <a:buNone/>
            </a:pPr>
            <a:r>
              <a:rPr lang="en-US" sz="1050" dirty="0">
                <a:solidFill>
                  <a:srgbClr val="94A3B8"/>
                </a:solidFill>
                <a:latin typeface="Calibri" pitchFamily="34" charset="0"/>
                <a:ea typeface="Calibri" pitchFamily="34" charset="-122"/>
                <a:cs typeface="Calibri" pitchFamily="34" charset="-120"/>
              </a:rPr>
              <a:t>BTSP one-shot, E-prop online, EWC++ anti-forgetting</a:t>
            </a:r>
            <a:endParaRPr lang="en-US" sz="1050" dirty="0"/>
          </a:p>
        </p:txBody>
      </p:sp>
      <p:sp>
        <p:nvSpPr>
          <p:cNvPr id="25" name="Shape 23"/>
          <p:cNvSpPr/>
          <p:nvPr/>
        </p:nvSpPr>
        <p:spPr>
          <a:xfrm>
            <a:off x="731520" y="3867912"/>
            <a:ext cx="7680960" cy="530352"/>
          </a:xfrm>
          <a:prstGeom prst="rect">
            <a:avLst/>
          </a:prstGeom>
          <a:solidFill>
            <a:srgbClr val="1E293B"/>
          </a:solidFill>
          <a:ln/>
          <a:effectLst>
            <a:outerShdw sx="100000" sy="100000" kx="0" ky="0" algn="bl" rotWithShape="0" blurRad="76200" dist="25400" dir="8100000">
              <a:srgbClr val="000000">
                <a:alpha val="25000"/>
              </a:srgbClr>
            </a:outerShdw>
          </a:effectLst>
        </p:spPr>
      </p:sp>
      <p:sp>
        <p:nvSpPr>
          <p:cNvPr id="26" name="Shape 24"/>
          <p:cNvSpPr/>
          <p:nvPr/>
        </p:nvSpPr>
        <p:spPr>
          <a:xfrm>
            <a:off x="731520" y="3867912"/>
            <a:ext cx="54864" cy="530352"/>
          </a:xfrm>
          <a:prstGeom prst="rect">
            <a:avLst/>
          </a:prstGeom>
          <a:solidFill>
            <a:srgbClr val="10B981"/>
          </a:solidFill>
          <a:ln/>
        </p:spPr>
      </p:sp>
      <p:sp>
        <p:nvSpPr>
          <p:cNvPr id="27" name="Text 25"/>
          <p:cNvSpPr/>
          <p:nvPr/>
        </p:nvSpPr>
        <p:spPr>
          <a:xfrm>
            <a:off x="1005840" y="3913632"/>
            <a:ext cx="2011680" cy="228600"/>
          </a:xfrm>
          <a:prstGeom prst="rect">
            <a:avLst/>
          </a:prstGeom>
          <a:noFill/>
          <a:ln/>
        </p:spPr>
        <p:txBody>
          <a:bodyPr wrap="square" lIns="0" tIns="0" rIns="0" bIns="0" rtlCol="0" anchor="ctr"/>
          <a:lstStyle/>
          <a:p>
            <a:pPr indent="0" marL="0">
              <a:buNone/>
            </a:pPr>
            <a:r>
              <a:rPr lang="en-US" sz="1200" b="1" dirty="0">
                <a:solidFill>
                  <a:srgbClr val="10B981"/>
                </a:solidFill>
                <a:latin typeface="Consolas" pitchFamily="34" charset="0"/>
                <a:ea typeface="Consolas" pitchFamily="34" charset="-122"/>
                <a:cs typeface="Consolas" pitchFamily="34" charset="-120"/>
              </a:rPr>
              <a:t>Layer 5: COHERENCE</a:t>
            </a:r>
            <a:endParaRPr lang="en-US" sz="1200" dirty="0"/>
          </a:p>
        </p:txBody>
      </p:sp>
      <p:sp>
        <p:nvSpPr>
          <p:cNvPr id="28" name="Text 26"/>
          <p:cNvSpPr/>
          <p:nvPr/>
        </p:nvSpPr>
        <p:spPr>
          <a:xfrm>
            <a:off x="3108960" y="3913632"/>
            <a:ext cx="1280160" cy="228600"/>
          </a:xfrm>
          <a:prstGeom prst="rect">
            <a:avLst/>
          </a:prstGeom>
          <a:noFill/>
          <a:ln/>
        </p:spPr>
        <p:txBody>
          <a:bodyPr wrap="square" lIns="0" tIns="0" rIns="0" bIns="0" rtlCol="0" anchor="ctr"/>
          <a:lstStyle/>
          <a:p>
            <a:pPr indent="0" marL="0">
              <a:buNone/>
            </a:pPr>
            <a:r>
              <a:rPr lang="en-US" sz="1200" dirty="0">
                <a:solidFill>
                  <a:srgbClr val="10B981"/>
                </a:solidFill>
                <a:latin typeface="Consolas" pitchFamily="34" charset="0"/>
                <a:ea typeface="Consolas" pitchFamily="34" charset="-122"/>
                <a:cs typeface="Consolas" pitchFamily="34" charset="-120"/>
              </a:rPr>
              <a:t>40Hz gamma</a:t>
            </a:r>
            <a:endParaRPr lang="en-US" sz="1200" dirty="0"/>
          </a:p>
        </p:txBody>
      </p:sp>
      <p:sp>
        <p:nvSpPr>
          <p:cNvPr id="29" name="Text 27"/>
          <p:cNvSpPr/>
          <p:nvPr/>
        </p:nvSpPr>
        <p:spPr>
          <a:xfrm>
            <a:off x="1005840" y="4142232"/>
            <a:ext cx="7132320" cy="228600"/>
          </a:xfrm>
          <a:prstGeom prst="rect">
            <a:avLst/>
          </a:prstGeom>
          <a:noFill/>
          <a:ln/>
        </p:spPr>
        <p:txBody>
          <a:bodyPr wrap="square" lIns="0" tIns="0" rIns="0" bIns="0" rtlCol="0" anchor="ctr"/>
          <a:lstStyle/>
          <a:p>
            <a:pPr indent="0" marL="0">
              <a:buNone/>
            </a:pPr>
            <a:r>
              <a:rPr lang="en-US" sz="1050" dirty="0">
                <a:solidFill>
                  <a:srgbClr val="94A3B8"/>
                </a:solidFill>
                <a:latin typeface="Calibri" pitchFamily="34" charset="0"/>
                <a:ea typeface="Calibri" pitchFamily="34" charset="-122"/>
                <a:cs typeface="Calibri" pitchFamily="34" charset="-120"/>
              </a:rPr>
              <a:t>Kuramoto oscillators, global workspace, predictive coding</a:t>
            </a:r>
            <a:endParaRPr lang="en-US" sz="1050" dirty="0"/>
          </a:p>
        </p:txBody>
      </p:sp>
      <p:sp>
        <p:nvSpPr>
          <p:cNvPr id="30" name="Shape 28"/>
          <p:cNvSpPr/>
          <p:nvPr/>
        </p:nvSpPr>
        <p:spPr>
          <a:xfrm>
            <a:off x="731520" y="4572000"/>
            <a:ext cx="7680960" cy="411480"/>
          </a:xfrm>
          <a:prstGeom prst="rect">
            <a:avLst/>
          </a:prstGeom>
          <a:solidFill>
            <a:srgbClr val="1A2744"/>
          </a:solidFill>
          <a:ln/>
        </p:spPr>
      </p:sp>
      <p:sp>
        <p:nvSpPr>
          <p:cNvPr id="31" name="Text 29"/>
          <p:cNvSpPr/>
          <p:nvPr/>
        </p:nvSpPr>
        <p:spPr>
          <a:xfrm>
            <a:off x="914400" y="4572000"/>
            <a:ext cx="7315200" cy="411480"/>
          </a:xfrm>
          <a:prstGeom prst="rect">
            <a:avLst/>
          </a:prstGeom>
          <a:noFill/>
          <a:ln/>
        </p:spPr>
        <p:txBody>
          <a:bodyPr wrap="square" lIns="0" tIns="0" rIns="0" bIns="0" rtlCol="0" anchor="ctr"/>
          <a:lstStyle/>
          <a:p>
            <a:pPr indent="0" marL="0">
              <a:buNone/>
            </a:pPr>
            <a:r>
              <a:rPr lang="en-US" sz="1100" dirty="0">
                <a:solidFill>
                  <a:srgbClr val="06B6D4"/>
                </a:solidFill>
                <a:latin typeface="Calibri" pitchFamily="34" charset="0"/>
                <a:ea typeface="Calibri" pitchFamily="34" charset="-122"/>
                <a:cs typeface="Calibri" pitchFamily="34" charset="-120"/>
              </a:rPr>
              <a:t>Circadian Controller: 5-50x compute savings during quiet periods — the system sleeps when you do</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6B6D4"/>
          </a:solidFill>
          <a:ln/>
        </p:spPr>
      </p:sp>
      <p:sp>
        <p:nvSpPr>
          <p:cNvPr id="3" name="Text 1"/>
          <p:cNvSpPr/>
          <p:nvPr/>
        </p:nvSpPr>
        <p:spPr>
          <a:xfrm>
            <a:off x="731520" y="320040"/>
            <a:ext cx="7680960" cy="457200"/>
          </a:xfrm>
          <a:prstGeom prst="rect">
            <a:avLst/>
          </a:prstGeom>
          <a:noFill/>
          <a:ln/>
        </p:spPr>
        <p:txBody>
          <a:bodyPr wrap="square" lIns="0" tIns="0" rIns="0" bIns="0" rtlCol="0" anchor="ctr"/>
          <a:lstStyle/>
          <a:p>
            <a:pPr indent="0" marL="0">
              <a:buNone/>
            </a:pPr>
            <a:r>
              <a:rPr lang="en-US" sz="2600" b="1" dirty="0">
                <a:solidFill>
                  <a:srgbClr val="F8FAFC"/>
                </a:solidFill>
                <a:latin typeface="Cambria" pitchFamily="34" charset="0"/>
                <a:ea typeface="Cambria" pitchFamily="34" charset="-122"/>
                <a:cs typeface="Cambria" pitchFamily="34" charset="-120"/>
              </a:rPr>
              <a:t>Prime Radiant: Formal Anti-Hallucination</a:t>
            </a:r>
            <a:endParaRPr lang="en-US" sz="2600" dirty="0"/>
          </a:p>
        </p:txBody>
      </p:sp>
      <p:sp>
        <p:nvSpPr>
          <p:cNvPr id="4" name="Text 2"/>
          <p:cNvSpPr/>
          <p:nvPr/>
        </p:nvSpPr>
        <p:spPr>
          <a:xfrm>
            <a:off x="731520" y="777240"/>
            <a:ext cx="7315200" cy="274320"/>
          </a:xfrm>
          <a:prstGeom prst="rect">
            <a:avLst/>
          </a:prstGeom>
          <a:noFill/>
          <a:ln/>
        </p:spPr>
        <p:txBody>
          <a:bodyPr wrap="square" lIns="0" tIns="0" rIns="0" bIns="0" rtlCol="0" anchor="ctr"/>
          <a:lstStyle/>
          <a:p>
            <a:pPr indent="0" marL="0">
              <a:buNone/>
            </a:pPr>
            <a:r>
              <a:rPr lang="en-US" sz="1300" dirty="0">
                <a:solidFill>
                  <a:srgbClr val="94A3B8"/>
                </a:solidFill>
                <a:latin typeface="Calibri" pitchFamily="34" charset="0"/>
                <a:ea typeface="Calibri" pitchFamily="34" charset="-122"/>
                <a:cs typeface="Calibri" pitchFamily="34" charset="-120"/>
              </a:rPr>
              <a:t>Mathematical proofs, not confidence scores. If any engine disagrees, output is flagged.</a:t>
            </a:r>
            <a:endParaRPr lang="en-US" sz="1300" dirty="0"/>
          </a:p>
        </p:txBody>
      </p:sp>
      <p:sp>
        <p:nvSpPr>
          <p:cNvPr id="5" name="Shape 3"/>
          <p:cNvSpPr/>
          <p:nvPr/>
        </p:nvSpPr>
        <p:spPr>
          <a:xfrm>
            <a:off x="731520" y="1234440"/>
            <a:ext cx="2468880" cy="1645920"/>
          </a:xfrm>
          <a:prstGeom prst="rect">
            <a:avLst/>
          </a:prstGeom>
          <a:solidFill>
            <a:srgbClr val="1E293B"/>
          </a:solidFill>
          <a:ln/>
          <a:effectLst>
            <a:outerShdw sx="100000" sy="100000" kx="0" ky="0" algn="bl" rotWithShape="0" blurRad="76200" dist="25400" dir="8100000">
              <a:srgbClr val="000000">
                <a:alpha val="25000"/>
              </a:srgbClr>
            </a:outerShdw>
          </a:effectLst>
        </p:spPr>
      </p:sp>
      <p:sp>
        <p:nvSpPr>
          <p:cNvPr id="6" name="Shape 4"/>
          <p:cNvSpPr/>
          <p:nvPr/>
        </p:nvSpPr>
        <p:spPr>
          <a:xfrm>
            <a:off x="731520" y="1234440"/>
            <a:ext cx="2468880" cy="36576"/>
          </a:xfrm>
          <a:prstGeom prst="rect">
            <a:avLst/>
          </a:prstGeom>
          <a:solidFill>
            <a:srgbClr val="06B6D4"/>
          </a:solidFill>
          <a:ln/>
        </p:spPr>
      </p:sp>
      <p:sp>
        <p:nvSpPr>
          <p:cNvPr id="7" name="Text 5"/>
          <p:cNvSpPr/>
          <p:nvPr/>
        </p:nvSpPr>
        <p:spPr>
          <a:xfrm>
            <a:off x="841248" y="1325880"/>
            <a:ext cx="2286000" cy="274320"/>
          </a:xfrm>
          <a:prstGeom prst="rect">
            <a:avLst/>
          </a:prstGeom>
          <a:noFill/>
          <a:ln/>
        </p:spPr>
        <p:txBody>
          <a:bodyPr wrap="square" lIns="0" tIns="0" rIns="0" bIns="0" rtlCol="0" anchor="ctr"/>
          <a:lstStyle/>
          <a:p>
            <a:pPr indent="0" marL="0">
              <a:buNone/>
            </a:pPr>
            <a:r>
              <a:rPr lang="en-US" sz="1200" b="1" dirty="0">
                <a:solidFill>
                  <a:srgbClr val="06B6D4"/>
                </a:solidFill>
                <a:latin typeface="Consolas" pitchFamily="34" charset="0"/>
                <a:ea typeface="Consolas" pitchFamily="34" charset="-122"/>
                <a:cs typeface="Consolas" pitchFamily="34" charset="-120"/>
              </a:rPr>
              <a:t>Cohomology Engine</a:t>
            </a:r>
            <a:endParaRPr lang="en-US" sz="1200" dirty="0"/>
          </a:p>
        </p:txBody>
      </p:sp>
      <p:sp>
        <p:nvSpPr>
          <p:cNvPr id="8" name="Text 6"/>
          <p:cNvSpPr/>
          <p:nvPr/>
        </p:nvSpPr>
        <p:spPr>
          <a:xfrm>
            <a:off x="841248" y="1691640"/>
            <a:ext cx="2286000" cy="1005840"/>
          </a:xfrm>
          <a:prstGeom prst="rect">
            <a:avLst/>
          </a:prstGeom>
          <a:noFill/>
          <a:ln/>
        </p:spPr>
        <p:txBody>
          <a:bodyPr wrap="square" rtlCol="0" anchor="ctr"/>
          <a:lstStyle/>
          <a:p>
            <a:pPr marL="342900" indent="-342900">
              <a:spcAft>
                <a:spcPts val="500"/>
              </a:spcAft>
              <a:buSzPct val="100000"/>
              <a:buChar char="•"/>
            </a:pPr>
            <a:r>
              <a:rPr lang="en-US" sz="1050" dirty="0">
                <a:solidFill>
                  <a:srgbClr val="94A3B8"/>
                </a:solidFill>
                <a:latin typeface="Calibri" pitchFamily="34" charset="0"/>
                <a:ea typeface="Calibri" pitchFamily="34" charset="-122"/>
                <a:cs typeface="Calibri" pitchFamily="34" charset="-120"/>
              </a:rPr>
              <a:t>Sheaf Laplacian mathematics</a:t>
            </a:r>
            <a:endParaRPr lang="en-US" sz="1050" dirty="0"/>
          </a:p>
          <a:p>
            <a:pPr marL="342900" indent="-342900">
              <a:spcAft>
                <a:spcPts val="500"/>
              </a:spcAft>
              <a:buSzPct val="100000"/>
              <a:buChar char="•"/>
            </a:pPr>
            <a:r>
              <a:rPr lang="en-US" sz="1050" dirty="0">
                <a:solidFill>
                  <a:srgbClr val="94A3B8"/>
                </a:solidFill>
                <a:latin typeface="Calibri" pitchFamily="34" charset="0"/>
                <a:ea typeface="Calibri" pitchFamily="34" charset="-122"/>
                <a:cs typeface="Calibri" pitchFamily="34" charset="-120"/>
              </a:rPr>
              <a:t>Cross-section consistency</a:t>
            </a:r>
            <a:endParaRPr lang="en-US" sz="1050" dirty="0"/>
          </a:p>
          <a:p>
            <a:pPr marL="342900" indent="-342900">
              <a:spcAft>
                <a:spcPts val="500"/>
              </a:spcAft>
              <a:buSzPct val="100000"/>
              <a:buChar char="•"/>
            </a:pPr>
            <a:r>
              <a:rPr lang="en-US" sz="1050" dirty="0">
                <a:solidFill>
                  <a:srgbClr val="94A3B8"/>
                </a:solidFill>
                <a:latin typeface="Calibri" pitchFamily="34" charset="0"/>
                <a:ea typeface="Calibri" pitchFamily="34" charset="-122"/>
                <a:cs typeface="Calibri" pitchFamily="34" charset="-120"/>
              </a:rPr>
              <a:t>Structural coherence verification</a:t>
            </a:r>
            <a:endParaRPr lang="en-US" sz="1050" dirty="0"/>
          </a:p>
        </p:txBody>
      </p:sp>
      <p:sp>
        <p:nvSpPr>
          <p:cNvPr id="9" name="Shape 7"/>
          <p:cNvSpPr/>
          <p:nvPr/>
        </p:nvSpPr>
        <p:spPr>
          <a:xfrm>
            <a:off x="3383280" y="1234440"/>
            <a:ext cx="2468880" cy="1645920"/>
          </a:xfrm>
          <a:prstGeom prst="rect">
            <a:avLst/>
          </a:prstGeom>
          <a:solidFill>
            <a:srgbClr val="1E293B"/>
          </a:solidFill>
          <a:ln/>
          <a:effectLst>
            <a:outerShdw sx="100000" sy="100000" kx="0" ky="0" algn="bl" rotWithShape="0" blurRad="76200" dist="25400" dir="8100000">
              <a:srgbClr val="000000">
                <a:alpha val="25000"/>
              </a:srgbClr>
            </a:outerShdw>
          </a:effectLst>
        </p:spPr>
      </p:sp>
      <p:sp>
        <p:nvSpPr>
          <p:cNvPr id="10" name="Shape 8"/>
          <p:cNvSpPr/>
          <p:nvPr/>
        </p:nvSpPr>
        <p:spPr>
          <a:xfrm>
            <a:off x="3383280" y="1234440"/>
            <a:ext cx="2468880" cy="36576"/>
          </a:xfrm>
          <a:prstGeom prst="rect">
            <a:avLst/>
          </a:prstGeom>
          <a:solidFill>
            <a:srgbClr val="0EA5E9"/>
          </a:solidFill>
          <a:ln/>
        </p:spPr>
      </p:sp>
      <p:sp>
        <p:nvSpPr>
          <p:cNvPr id="11" name="Text 9"/>
          <p:cNvSpPr/>
          <p:nvPr/>
        </p:nvSpPr>
        <p:spPr>
          <a:xfrm>
            <a:off x="3493008" y="1325880"/>
            <a:ext cx="2286000" cy="274320"/>
          </a:xfrm>
          <a:prstGeom prst="rect">
            <a:avLst/>
          </a:prstGeom>
          <a:noFill/>
          <a:ln/>
        </p:spPr>
        <p:txBody>
          <a:bodyPr wrap="square" lIns="0" tIns="0" rIns="0" bIns="0" rtlCol="0" anchor="ctr"/>
          <a:lstStyle/>
          <a:p>
            <a:pPr indent="0" marL="0">
              <a:buNone/>
            </a:pPr>
            <a:r>
              <a:rPr lang="en-US" sz="1200" b="1" dirty="0">
                <a:solidFill>
                  <a:srgbClr val="0EA5E9"/>
                </a:solidFill>
                <a:latin typeface="Consolas" pitchFamily="34" charset="0"/>
                <a:ea typeface="Consolas" pitchFamily="34" charset="-122"/>
                <a:cs typeface="Consolas" pitchFamily="34" charset="-120"/>
              </a:rPr>
              <a:t>Spectral Engine</a:t>
            </a:r>
            <a:endParaRPr lang="en-US" sz="1200" dirty="0"/>
          </a:p>
        </p:txBody>
      </p:sp>
      <p:sp>
        <p:nvSpPr>
          <p:cNvPr id="12" name="Text 10"/>
          <p:cNvSpPr/>
          <p:nvPr/>
        </p:nvSpPr>
        <p:spPr>
          <a:xfrm>
            <a:off x="3493008" y="1691640"/>
            <a:ext cx="2286000" cy="1005840"/>
          </a:xfrm>
          <a:prstGeom prst="rect">
            <a:avLst/>
          </a:prstGeom>
          <a:noFill/>
          <a:ln/>
        </p:spPr>
        <p:txBody>
          <a:bodyPr wrap="square" rtlCol="0" anchor="ctr"/>
          <a:lstStyle/>
          <a:p>
            <a:pPr marL="342900" indent="-342900">
              <a:spcAft>
                <a:spcPts val="500"/>
              </a:spcAft>
              <a:buSzPct val="100000"/>
              <a:buChar char="•"/>
            </a:pPr>
            <a:r>
              <a:rPr lang="en-US" sz="1050" dirty="0">
                <a:solidFill>
                  <a:srgbClr val="94A3B8"/>
                </a:solidFill>
                <a:latin typeface="Calibri" pitchFamily="34" charset="0"/>
                <a:ea typeface="Calibri" pitchFamily="34" charset="-122"/>
                <a:cs typeface="Calibri" pitchFamily="34" charset="-120"/>
              </a:rPr>
              <a:t>Eigenvalue analysis</a:t>
            </a:r>
            <a:endParaRPr lang="en-US" sz="1050" dirty="0"/>
          </a:p>
          <a:p>
            <a:pPr marL="342900" indent="-342900">
              <a:spcAft>
                <a:spcPts val="500"/>
              </a:spcAft>
              <a:buSzPct val="100000"/>
              <a:buChar char="•"/>
            </a:pPr>
            <a:r>
              <a:rPr lang="en-US" sz="1050" dirty="0">
                <a:solidFill>
                  <a:srgbClr val="94A3B8"/>
                </a:solidFill>
                <a:latin typeface="Calibri" pitchFamily="34" charset="0"/>
                <a:ea typeface="Calibri" pitchFamily="34" charset="-122"/>
                <a:cs typeface="Calibri" pitchFamily="34" charset="-120"/>
              </a:rPr>
              <a:t>Spectral gap measurement</a:t>
            </a:r>
            <a:endParaRPr lang="en-US" sz="1050" dirty="0"/>
          </a:p>
          <a:p>
            <a:pPr marL="342900" indent="-342900">
              <a:spcAft>
                <a:spcPts val="500"/>
              </a:spcAft>
              <a:buSzPct val="100000"/>
              <a:buChar char="•"/>
            </a:pPr>
            <a:r>
              <a:rPr lang="en-US" sz="1050" dirty="0">
                <a:solidFill>
                  <a:srgbClr val="94A3B8"/>
                </a:solidFill>
                <a:latin typeface="Calibri" pitchFamily="34" charset="0"/>
                <a:ea typeface="Calibri" pitchFamily="34" charset="-122"/>
                <a:cs typeface="Calibri" pitchFamily="34" charset="-120"/>
              </a:rPr>
              <a:t>Frequency-domain coherence</a:t>
            </a:r>
            <a:endParaRPr lang="en-US" sz="1050" dirty="0"/>
          </a:p>
        </p:txBody>
      </p:sp>
      <p:sp>
        <p:nvSpPr>
          <p:cNvPr id="13" name="Shape 11"/>
          <p:cNvSpPr/>
          <p:nvPr/>
        </p:nvSpPr>
        <p:spPr>
          <a:xfrm>
            <a:off x="6035040" y="1234440"/>
            <a:ext cx="2468880" cy="1645920"/>
          </a:xfrm>
          <a:prstGeom prst="rect">
            <a:avLst/>
          </a:prstGeom>
          <a:solidFill>
            <a:srgbClr val="1E293B"/>
          </a:solidFill>
          <a:ln/>
          <a:effectLst>
            <a:outerShdw sx="100000" sy="100000" kx="0" ky="0" algn="bl" rotWithShape="0" blurRad="76200" dist="25400" dir="8100000">
              <a:srgbClr val="000000">
                <a:alpha val="25000"/>
              </a:srgbClr>
            </a:outerShdw>
          </a:effectLst>
        </p:spPr>
      </p:sp>
      <p:sp>
        <p:nvSpPr>
          <p:cNvPr id="14" name="Shape 12"/>
          <p:cNvSpPr/>
          <p:nvPr/>
        </p:nvSpPr>
        <p:spPr>
          <a:xfrm>
            <a:off x="6035040" y="1234440"/>
            <a:ext cx="2468880" cy="36576"/>
          </a:xfrm>
          <a:prstGeom prst="rect">
            <a:avLst/>
          </a:prstGeom>
          <a:solidFill>
            <a:srgbClr val="8B5CF6"/>
          </a:solidFill>
          <a:ln/>
        </p:spPr>
      </p:sp>
      <p:sp>
        <p:nvSpPr>
          <p:cNvPr id="15" name="Text 13"/>
          <p:cNvSpPr/>
          <p:nvPr/>
        </p:nvSpPr>
        <p:spPr>
          <a:xfrm>
            <a:off x="6144768" y="1325880"/>
            <a:ext cx="2286000" cy="274320"/>
          </a:xfrm>
          <a:prstGeom prst="rect">
            <a:avLst/>
          </a:prstGeom>
          <a:noFill/>
          <a:ln/>
        </p:spPr>
        <p:txBody>
          <a:bodyPr wrap="square" lIns="0" tIns="0" rIns="0" bIns="0" rtlCol="0" anchor="ctr"/>
          <a:lstStyle/>
          <a:p>
            <a:pPr indent="0" marL="0">
              <a:buNone/>
            </a:pPr>
            <a:r>
              <a:rPr lang="en-US" sz="1200" b="1" dirty="0">
                <a:solidFill>
                  <a:srgbClr val="8B5CF6"/>
                </a:solidFill>
                <a:latin typeface="Consolas" pitchFamily="34" charset="0"/>
                <a:ea typeface="Consolas" pitchFamily="34" charset="-122"/>
                <a:cs typeface="Consolas" pitchFamily="34" charset="-120"/>
              </a:rPr>
              <a:t>Causal Engine</a:t>
            </a:r>
            <a:endParaRPr lang="en-US" sz="1200" dirty="0"/>
          </a:p>
        </p:txBody>
      </p:sp>
      <p:sp>
        <p:nvSpPr>
          <p:cNvPr id="16" name="Text 14"/>
          <p:cNvSpPr/>
          <p:nvPr/>
        </p:nvSpPr>
        <p:spPr>
          <a:xfrm>
            <a:off x="6144768" y="1691640"/>
            <a:ext cx="2286000" cy="1005840"/>
          </a:xfrm>
          <a:prstGeom prst="rect">
            <a:avLst/>
          </a:prstGeom>
          <a:noFill/>
          <a:ln/>
        </p:spPr>
        <p:txBody>
          <a:bodyPr wrap="square" rtlCol="0" anchor="ctr"/>
          <a:lstStyle/>
          <a:p>
            <a:pPr marL="342900" indent="-342900">
              <a:spcAft>
                <a:spcPts val="500"/>
              </a:spcAft>
              <a:buSzPct val="100000"/>
              <a:buChar char="•"/>
            </a:pPr>
            <a:r>
              <a:rPr lang="en-US" sz="1050" dirty="0">
                <a:solidFill>
                  <a:srgbClr val="94A3B8"/>
                </a:solidFill>
                <a:latin typeface="Calibri" pitchFamily="34" charset="0"/>
                <a:ea typeface="Calibri" pitchFamily="34" charset="-122"/>
                <a:cs typeface="Calibri" pitchFamily="34" charset="-120"/>
              </a:rPr>
              <a:t>Pearl's do-calculus</a:t>
            </a:r>
            <a:endParaRPr lang="en-US" sz="1050" dirty="0"/>
          </a:p>
          <a:p>
            <a:pPr marL="342900" indent="-342900">
              <a:spcAft>
                <a:spcPts val="500"/>
              </a:spcAft>
              <a:buSzPct val="100000"/>
              <a:buChar char="•"/>
            </a:pPr>
            <a:r>
              <a:rPr lang="en-US" sz="1050" dirty="0">
                <a:solidFill>
                  <a:srgbClr val="94A3B8"/>
                </a:solidFill>
                <a:latin typeface="Calibri" pitchFamily="34" charset="0"/>
                <a:ea typeface="Calibri" pitchFamily="34" charset="-122"/>
                <a:cs typeface="Calibri" pitchFamily="34" charset="-120"/>
              </a:rPr>
              <a:t>Confounder detection</a:t>
            </a:r>
            <a:endParaRPr lang="en-US" sz="1050" dirty="0"/>
          </a:p>
          <a:p>
            <a:pPr marL="342900" indent="-342900">
              <a:spcAft>
                <a:spcPts val="500"/>
              </a:spcAft>
              <a:buSzPct val="100000"/>
              <a:buChar char="•"/>
            </a:pPr>
            <a:r>
              <a:rPr lang="en-US" sz="1050" dirty="0">
                <a:solidFill>
                  <a:srgbClr val="94A3B8"/>
                </a:solidFill>
                <a:latin typeface="Calibri" pitchFamily="34" charset="0"/>
                <a:ea typeface="Calibri" pitchFamily="34" charset="-122"/>
                <a:cs typeface="Calibri" pitchFamily="34" charset="-120"/>
              </a:rPr>
              <a:t>Causal graph inference</a:t>
            </a:r>
            <a:endParaRPr lang="en-US" sz="1050" dirty="0"/>
          </a:p>
        </p:txBody>
      </p:sp>
      <p:sp>
        <p:nvSpPr>
          <p:cNvPr id="17" name="Shape 15"/>
          <p:cNvSpPr/>
          <p:nvPr/>
        </p:nvSpPr>
        <p:spPr>
          <a:xfrm>
            <a:off x="731520" y="3108960"/>
            <a:ext cx="7680960" cy="548640"/>
          </a:xfrm>
          <a:prstGeom prst="rect">
            <a:avLst/>
          </a:prstGeom>
          <a:solidFill>
            <a:srgbClr val="1A1520"/>
          </a:solidFill>
          <a:ln/>
        </p:spPr>
      </p:sp>
      <p:sp>
        <p:nvSpPr>
          <p:cNvPr id="18" name="Text 16"/>
          <p:cNvSpPr/>
          <p:nvPr/>
        </p:nvSpPr>
        <p:spPr>
          <a:xfrm>
            <a:off x="914400" y="3108960"/>
            <a:ext cx="3657600" cy="274320"/>
          </a:xfrm>
          <a:prstGeom prst="rect">
            <a:avLst/>
          </a:prstGeom>
          <a:noFill/>
          <a:ln/>
        </p:spPr>
        <p:txBody>
          <a:bodyPr wrap="square" lIns="0" tIns="0" rIns="0" bIns="0" rtlCol="0" anchor="ctr"/>
          <a:lstStyle/>
          <a:p>
            <a:pPr indent="0" marL="0">
              <a:buNone/>
            </a:pPr>
            <a:r>
              <a:rPr lang="en-US" sz="1050" dirty="0">
                <a:solidFill>
                  <a:srgbClr val="94A3B8"/>
                </a:solidFill>
                <a:latin typeface="Calibri" pitchFamily="34" charset="0"/>
                <a:ea typeface="Calibri" pitchFamily="34" charset="-122"/>
                <a:cs typeface="Calibri" pitchFamily="34" charset="-120"/>
              </a:rPr>
              <a:t>Deployed: 12-agent swarm, ~35K lines of code, hierarchical mesh coordination</a:t>
            </a:r>
            <a:endParaRPr lang="en-US" sz="1050" dirty="0"/>
          </a:p>
        </p:txBody>
      </p:sp>
      <p:sp>
        <p:nvSpPr>
          <p:cNvPr id="19" name="Text 17"/>
          <p:cNvSpPr/>
          <p:nvPr/>
        </p:nvSpPr>
        <p:spPr>
          <a:xfrm>
            <a:off x="914400" y="3383280"/>
            <a:ext cx="5486400" cy="228600"/>
          </a:xfrm>
          <a:prstGeom prst="rect">
            <a:avLst/>
          </a:prstGeom>
          <a:noFill/>
          <a:ln/>
        </p:spPr>
        <p:txBody>
          <a:bodyPr wrap="square" lIns="0" tIns="0" rIns="0" bIns="0" rtlCol="0" anchor="ctr"/>
          <a:lstStyle/>
          <a:p>
            <a:pPr indent="0" marL="0">
              <a:buNone/>
            </a:pPr>
            <a:r>
              <a:rPr lang="en-US" sz="1100" i="1" dirty="0">
                <a:solidFill>
                  <a:srgbClr val="06B6D4"/>
                </a:solidFill>
                <a:latin typeface="Calibri" pitchFamily="34" charset="0"/>
                <a:ea typeface="Calibri" pitchFamily="34" charset="-122"/>
                <a:cs typeface="Calibri" pitchFamily="34" charset="-120"/>
              </a:rPr>
              <a:t>Confidence scores can be wrong. Mathematical proofs cannot.</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6B6D4"/>
          </a:solidFill>
          <a:ln/>
        </p:spPr>
      </p:sp>
      <p:sp>
        <p:nvSpPr>
          <p:cNvPr id="3" name="Text 1"/>
          <p:cNvSpPr/>
          <p:nvPr/>
        </p:nvSpPr>
        <p:spPr>
          <a:xfrm>
            <a:off x="731520" y="320040"/>
            <a:ext cx="7680960" cy="457200"/>
          </a:xfrm>
          <a:prstGeom prst="rect">
            <a:avLst/>
          </a:prstGeom>
          <a:noFill/>
          <a:ln/>
        </p:spPr>
        <p:txBody>
          <a:bodyPr wrap="square" lIns="0" tIns="0" rIns="0" bIns="0" rtlCol="0" anchor="ctr"/>
          <a:lstStyle/>
          <a:p>
            <a:pPr indent="0" marL="0">
              <a:buNone/>
            </a:pPr>
            <a:r>
              <a:rPr lang="en-US" sz="2600" b="1" dirty="0">
                <a:solidFill>
                  <a:srgbClr val="F8FAFC"/>
                </a:solidFill>
                <a:latin typeface="Cambria" pitchFamily="34" charset="0"/>
                <a:ea typeface="Cambria" pitchFamily="34" charset="-122"/>
                <a:cs typeface="Cambria" pitchFamily="34" charset="-120"/>
              </a:rPr>
              <a:t>Graph Analytics: MinCut + GNN + HNSW</a:t>
            </a:r>
            <a:endParaRPr lang="en-US" sz="2600" dirty="0"/>
          </a:p>
        </p:txBody>
      </p:sp>
      <p:sp>
        <p:nvSpPr>
          <p:cNvPr id="4" name="Text 2"/>
          <p:cNvSpPr/>
          <p:nvPr/>
        </p:nvSpPr>
        <p:spPr>
          <a:xfrm>
            <a:off x="731520" y="777240"/>
            <a:ext cx="7315200" cy="274320"/>
          </a:xfrm>
          <a:prstGeom prst="rect">
            <a:avLst/>
          </a:prstGeom>
          <a:noFill/>
          <a:ln/>
        </p:spPr>
        <p:txBody>
          <a:bodyPr wrap="square" lIns="0" tIns="0" rIns="0" bIns="0" rtlCol="0" anchor="ctr"/>
          <a:lstStyle/>
          <a:p>
            <a:pPr indent="0" marL="0">
              <a:buNone/>
            </a:pPr>
            <a:r>
              <a:rPr lang="en-US" sz="1300" dirty="0">
                <a:solidFill>
                  <a:srgbClr val="94A3B8"/>
                </a:solidFill>
                <a:latin typeface="Calibri" pitchFamily="34" charset="0"/>
                <a:ea typeface="Calibri" pitchFamily="34" charset="-122"/>
                <a:cs typeface="Calibri" pitchFamily="34" charset="-120"/>
              </a:rPr>
              <a:t>Stoer-Wagner algorithm. 448+ tests. Production graph intelligence.</a:t>
            </a:r>
            <a:endParaRPr lang="en-US" sz="1300" dirty="0"/>
          </a:p>
        </p:txBody>
      </p:sp>
      <p:sp>
        <p:nvSpPr>
          <p:cNvPr id="5" name="Shape 3"/>
          <p:cNvSpPr/>
          <p:nvPr/>
        </p:nvSpPr>
        <p:spPr>
          <a:xfrm>
            <a:off x="731520" y="1234440"/>
            <a:ext cx="3749040" cy="2103120"/>
          </a:xfrm>
          <a:prstGeom prst="rect">
            <a:avLst/>
          </a:prstGeom>
          <a:solidFill>
            <a:srgbClr val="1E293B"/>
          </a:solidFill>
          <a:ln/>
          <a:effectLst>
            <a:outerShdw sx="100000" sy="100000" kx="0" ky="0" algn="bl" rotWithShape="0" blurRad="76200" dist="25400" dir="8100000">
              <a:srgbClr val="000000">
                <a:alpha val="25000"/>
              </a:srgbClr>
            </a:outerShdw>
          </a:effectLst>
        </p:spPr>
      </p:sp>
      <p:sp>
        <p:nvSpPr>
          <p:cNvPr id="6" name="Shape 4"/>
          <p:cNvSpPr/>
          <p:nvPr/>
        </p:nvSpPr>
        <p:spPr>
          <a:xfrm>
            <a:off x="731520" y="1234440"/>
            <a:ext cx="3749040" cy="36576"/>
          </a:xfrm>
          <a:prstGeom prst="rect">
            <a:avLst/>
          </a:prstGeom>
          <a:solidFill>
            <a:srgbClr val="06B6D4"/>
          </a:solidFill>
          <a:ln/>
        </p:spPr>
      </p:sp>
      <p:sp>
        <p:nvSpPr>
          <p:cNvPr id="7" name="Text 5"/>
          <p:cNvSpPr/>
          <p:nvPr/>
        </p:nvSpPr>
        <p:spPr>
          <a:xfrm>
            <a:off x="914400" y="1325880"/>
            <a:ext cx="3383280" cy="228600"/>
          </a:xfrm>
          <a:prstGeom prst="rect">
            <a:avLst/>
          </a:prstGeom>
          <a:noFill/>
          <a:ln/>
        </p:spPr>
        <p:txBody>
          <a:bodyPr wrap="square" lIns="0" tIns="0" rIns="0" bIns="0" rtlCol="0" anchor="ctr"/>
          <a:lstStyle/>
          <a:p>
            <a:pPr indent="0" marL="0">
              <a:buNone/>
            </a:pPr>
            <a:r>
              <a:rPr lang="en-US" sz="1200" b="1" dirty="0">
                <a:solidFill>
                  <a:srgbClr val="06B6D4"/>
                </a:solidFill>
                <a:latin typeface="Consolas" pitchFamily="34" charset="0"/>
                <a:ea typeface="Consolas" pitchFamily="34" charset="-122"/>
                <a:cs typeface="Consolas" pitchFamily="34" charset="-120"/>
              </a:rPr>
              <a:t>MinCut Applications</a:t>
            </a:r>
            <a:endParaRPr lang="en-US" sz="1200" dirty="0"/>
          </a:p>
        </p:txBody>
      </p:sp>
      <p:sp>
        <p:nvSpPr>
          <p:cNvPr id="8" name="Text 6"/>
          <p:cNvSpPr/>
          <p:nvPr/>
        </p:nvSpPr>
        <p:spPr>
          <a:xfrm>
            <a:off x="914400" y="1645920"/>
            <a:ext cx="3383280" cy="1554480"/>
          </a:xfrm>
          <a:prstGeom prst="rect">
            <a:avLst/>
          </a:prstGeom>
          <a:noFill/>
          <a:ln/>
        </p:spPr>
        <p:txBody>
          <a:bodyPr wrap="square" rtlCol="0" anchor="ctr"/>
          <a:lstStyle/>
          <a:p>
            <a:pPr marL="342900" indent="-342900">
              <a:spcAft>
                <a:spcPts val="400"/>
              </a:spcAft>
              <a:buSzPct val="100000"/>
              <a:buChar char="•"/>
            </a:pPr>
            <a:r>
              <a:rPr lang="en-US" sz="1050" dirty="0">
                <a:solidFill>
                  <a:srgbClr val="CBD5E1"/>
                </a:solidFill>
                <a:latin typeface="Calibri" pitchFamily="34" charset="0"/>
                <a:ea typeface="Calibri" pitchFamily="34" charset="-122"/>
                <a:cs typeface="Calibri" pitchFamily="34" charset="-120"/>
              </a:rPr>
              <a:t>Finding architectural bottlenecks</a:t>
            </a:r>
            <a:endParaRPr lang="en-US" sz="1050" dirty="0"/>
          </a:p>
          <a:p>
            <a:pPr marL="342900" indent="-342900">
              <a:spcAft>
                <a:spcPts val="400"/>
              </a:spcAft>
              <a:buSzPct val="100000"/>
              <a:buChar char="•"/>
            </a:pPr>
            <a:r>
              <a:rPr lang="en-US" sz="1050" dirty="0">
                <a:solidFill>
                  <a:srgbClr val="CBD5E1"/>
                </a:solidFill>
                <a:latin typeface="Calibri" pitchFamily="34" charset="0"/>
                <a:ea typeface="Calibri" pitchFamily="34" charset="-122"/>
                <a:cs typeface="Calibri" pitchFamily="34" charset="-120"/>
              </a:rPr>
              <a:t>Identifying weak points in distributed systems</a:t>
            </a:r>
            <a:endParaRPr lang="en-US" sz="1050" dirty="0"/>
          </a:p>
          <a:p>
            <a:pPr marL="342900" indent="-342900">
              <a:spcAft>
                <a:spcPts val="400"/>
              </a:spcAft>
              <a:buSzPct val="100000"/>
              <a:buChar char="•"/>
            </a:pPr>
            <a:r>
              <a:rPr lang="en-US" sz="1050" dirty="0">
                <a:solidFill>
                  <a:srgbClr val="CBD5E1"/>
                </a:solidFill>
                <a:latin typeface="Calibri" pitchFamily="34" charset="0"/>
                <a:ea typeface="Calibri" pitchFamily="34" charset="-122"/>
                <a:cs typeface="Calibri" pitchFamily="34" charset="-120"/>
              </a:rPr>
              <a:t>Detecting natural module boundaries</a:t>
            </a:r>
            <a:endParaRPr lang="en-US" sz="1050" dirty="0"/>
          </a:p>
          <a:p>
            <a:pPr marL="342900" indent="-342900">
              <a:spcAft>
                <a:spcPts val="400"/>
              </a:spcAft>
              <a:buSzPct val="100000"/>
              <a:buChar char="•"/>
            </a:pPr>
            <a:r>
              <a:rPr lang="en-US" sz="1050" dirty="0">
                <a:solidFill>
                  <a:srgbClr val="CBD5E1"/>
                </a:solidFill>
                <a:latin typeface="Calibri" pitchFamily="34" charset="0"/>
                <a:ea typeface="Calibri" pitchFamily="34" charset="-122"/>
                <a:cs typeface="Calibri" pitchFamily="34" charset="-120"/>
              </a:rPr>
              <a:t>Measuring attack surface</a:t>
            </a:r>
            <a:endParaRPr lang="en-US" sz="1050" dirty="0"/>
          </a:p>
          <a:p>
            <a:pPr marL="342900" indent="-342900">
              <a:spcAft>
                <a:spcPts val="400"/>
              </a:spcAft>
              <a:buSzPct val="100000"/>
              <a:buChar char="•"/>
            </a:pPr>
            <a:r>
              <a:rPr lang="en-US" sz="1050" dirty="0">
                <a:solidFill>
                  <a:srgbClr val="CBD5E1"/>
                </a:solidFill>
                <a:latin typeface="Calibri" pitchFamily="34" charset="0"/>
                <a:ea typeface="Calibri" pitchFamily="34" charset="-122"/>
                <a:cs typeface="Calibri" pitchFamily="34" charset="-120"/>
              </a:rPr>
              <a:t>Swarm topology optimization</a:t>
            </a:r>
            <a:endParaRPr lang="en-US" sz="1050" dirty="0"/>
          </a:p>
          <a:p>
            <a:pPr marL="342900" indent="-342900">
              <a:spcAft>
                <a:spcPts val="400"/>
              </a:spcAft>
              <a:buSzPct val="100000"/>
              <a:buChar char="•"/>
            </a:pPr>
            <a:r>
              <a:rPr lang="en-US" sz="1050" dirty="0">
                <a:solidFill>
                  <a:srgbClr val="CBD5E1"/>
                </a:solidFill>
                <a:latin typeface="Calibri" pitchFamily="34" charset="0"/>
                <a:ea typeface="Calibri" pitchFamily="34" charset="-122"/>
                <a:cs typeface="Calibri" pitchFamily="34" charset="-120"/>
              </a:rPr>
              <a:t>Anti-pattern detection via absence analysis</a:t>
            </a:r>
            <a:endParaRPr lang="en-US" sz="1050" dirty="0"/>
          </a:p>
        </p:txBody>
      </p:sp>
      <p:sp>
        <p:nvSpPr>
          <p:cNvPr id="9" name="Shape 7"/>
          <p:cNvSpPr/>
          <p:nvPr/>
        </p:nvSpPr>
        <p:spPr>
          <a:xfrm>
            <a:off x="4663440" y="1234440"/>
            <a:ext cx="3749040" cy="2103120"/>
          </a:xfrm>
          <a:prstGeom prst="rect">
            <a:avLst/>
          </a:prstGeom>
          <a:solidFill>
            <a:srgbClr val="1E293B"/>
          </a:solidFill>
          <a:ln/>
          <a:effectLst>
            <a:outerShdw sx="100000" sy="100000" kx="0" ky="0" algn="bl" rotWithShape="0" blurRad="76200" dist="25400" dir="8100000">
              <a:srgbClr val="000000">
                <a:alpha val="25000"/>
              </a:srgbClr>
            </a:outerShdw>
          </a:effectLst>
        </p:spPr>
      </p:sp>
      <p:sp>
        <p:nvSpPr>
          <p:cNvPr id="10" name="Shape 8"/>
          <p:cNvSpPr/>
          <p:nvPr/>
        </p:nvSpPr>
        <p:spPr>
          <a:xfrm>
            <a:off x="4663440" y="1234440"/>
            <a:ext cx="3749040" cy="36576"/>
          </a:xfrm>
          <a:prstGeom prst="rect">
            <a:avLst/>
          </a:prstGeom>
          <a:solidFill>
            <a:srgbClr val="0EA5E9"/>
          </a:solidFill>
          <a:ln/>
        </p:spPr>
      </p:sp>
      <p:sp>
        <p:nvSpPr>
          <p:cNvPr id="11" name="Text 9"/>
          <p:cNvSpPr/>
          <p:nvPr/>
        </p:nvSpPr>
        <p:spPr>
          <a:xfrm>
            <a:off x="4846320" y="1325880"/>
            <a:ext cx="3383280" cy="228600"/>
          </a:xfrm>
          <a:prstGeom prst="rect">
            <a:avLst/>
          </a:prstGeom>
          <a:noFill/>
          <a:ln/>
        </p:spPr>
        <p:txBody>
          <a:bodyPr wrap="square" lIns="0" tIns="0" rIns="0" bIns="0" rtlCol="0" anchor="ctr"/>
          <a:lstStyle/>
          <a:p>
            <a:pPr indent="0" marL="0">
              <a:buNone/>
            </a:pPr>
            <a:r>
              <a:rPr lang="en-US" sz="1200" b="1" dirty="0">
                <a:solidFill>
                  <a:srgbClr val="0EA5E9"/>
                </a:solidFill>
                <a:latin typeface="Consolas" pitchFamily="34" charset="0"/>
                <a:ea typeface="Consolas" pitchFamily="34" charset="-122"/>
                <a:cs typeface="Consolas" pitchFamily="34" charset="-120"/>
              </a:rPr>
              <a:t>GNN on HNSW Topology</a:t>
            </a:r>
            <a:endParaRPr lang="en-US" sz="1200" dirty="0"/>
          </a:p>
        </p:txBody>
      </p:sp>
      <p:sp>
        <p:nvSpPr>
          <p:cNvPr id="12" name="Text 10"/>
          <p:cNvSpPr/>
          <p:nvPr/>
        </p:nvSpPr>
        <p:spPr>
          <a:xfrm>
            <a:off x="4846320" y="1645920"/>
            <a:ext cx="3383280" cy="1554480"/>
          </a:xfrm>
          <a:prstGeom prst="rect">
            <a:avLst/>
          </a:prstGeom>
          <a:noFill/>
          <a:ln/>
        </p:spPr>
        <p:txBody>
          <a:bodyPr wrap="square" rtlCol="0" anchor="ctr"/>
          <a:lstStyle/>
          <a:p>
            <a:pPr marL="342900" indent="-342900">
              <a:spcAft>
                <a:spcPts val="400"/>
              </a:spcAft>
              <a:buSzPct val="100000"/>
              <a:buChar char="•"/>
            </a:pPr>
            <a:r>
              <a:rPr lang="en-US" sz="1050" dirty="0">
                <a:solidFill>
                  <a:srgbClr val="CBD5E1"/>
                </a:solidFill>
                <a:latin typeface="Calibri" pitchFamily="34" charset="0"/>
                <a:ea typeface="Calibri" pitchFamily="34" charset="-122"/>
                <a:cs typeface="Calibri" pitchFamily="34" charset="-120"/>
              </a:rPr>
              <a:t>GCN, GAT, GraphSAGE implementations</a:t>
            </a:r>
            <a:endParaRPr lang="en-US" sz="1050" dirty="0"/>
          </a:p>
          <a:p>
            <a:pPr marL="342900" indent="-342900">
              <a:spcAft>
                <a:spcPts val="400"/>
              </a:spcAft>
              <a:buSzPct val="100000"/>
              <a:buChar char="•"/>
            </a:pPr>
            <a:r>
              <a:rPr lang="en-US" sz="1050" dirty="0">
                <a:solidFill>
                  <a:srgbClr val="CBD5E1"/>
                </a:solidFill>
                <a:latin typeface="Calibri" pitchFamily="34" charset="0"/>
                <a:ea typeface="Calibri" pitchFamily="34" charset="-122"/>
                <a:cs typeface="Calibri" pitchFamily="34" charset="-120"/>
              </a:rPr>
              <a:t>GraphRoPE: hop-distance-aware embeddings</a:t>
            </a:r>
            <a:endParaRPr lang="en-US" sz="1050" dirty="0"/>
          </a:p>
          <a:p>
            <a:pPr marL="342900" indent="-342900">
              <a:spcAft>
                <a:spcPts val="400"/>
              </a:spcAft>
              <a:buSzPct val="100000"/>
              <a:buChar char="•"/>
            </a:pPr>
            <a:r>
              <a:rPr lang="en-US" sz="1050" dirty="0">
                <a:solidFill>
                  <a:srgbClr val="CBD5E1"/>
                </a:solidFill>
                <a:latin typeface="Calibri" pitchFamily="34" charset="0"/>
                <a:ea typeface="Calibri" pitchFamily="34" charset="-122"/>
                <a:cs typeface="Calibri" pitchFamily="34" charset="-120"/>
              </a:rPr>
              <a:t>Louvain community detection</a:t>
            </a:r>
            <a:endParaRPr lang="en-US" sz="1050" dirty="0"/>
          </a:p>
          <a:p>
            <a:pPr marL="342900" indent="-342900">
              <a:spcAft>
                <a:spcPts val="400"/>
              </a:spcAft>
              <a:buSzPct val="100000"/>
              <a:buChar char="•"/>
            </a:pPr>
            <a:r>
              <a:rPr lang="en-US" sz="1050" dirty="0">
                <a:solidFill>
                  <a:srgbClr val="CBD5E1"/>
                </a:solidFill>
                <a:latin typeface="Calibri" pitchFamily="34" charset="0"/>
                <a:ea typeface="Calibri" pitchFamily="34" charset="-122"/>
                <a:cs typeface="Calibri" pitchFamily="34" charset="-120"/>
              </a:rPr>
              <a:t>Spectral clustering (K-way)</a:t>
            </a:r>
            <a:endParaRPr lang="en-US" sz="1050" dirty="0"/>
          </a:p>
          <a:p>
            <a:pPr marL="342900" indent="-342900">
              <a:spcAft>
                <a:spcPts val="400"/>
              </a:spcAft>
              <a:buSzPct val="100000"/>
              <a:buChar char="•"/>
            </a:pPr>
            <a:r>
              <a:rPr lang="en-US" sz="1050" dirty="0">
                <a:solidFill>
                  <a:srgbClr val="CBD5E1"/>
                </a:solidFill>
                <a:latin typeface="Calibri" pitchFamily="34" charset="0"/>
                <a:ea typeface="Calibri" pitchFamily="34" charset="-122"/>
                <a:cs typeface="Calibri" pitchFamily="34" charset="-120"/>
              </a:rPr>
              <a:t>Bridge/articulation point detection</a:t>
            </a:r>
            <a:endParaRPr lang="en-US" sz="1050" dirty="0"/>
          </a:p>
          <a:p>
            <a:pPr marL="342900" indent="-342900">
              <a:spcAft>
                <a:spcPts val="400"/>
              </a:spcAft>
              <a:buSzPct val="100000"/>
              <a:buChar char="•"/>
            </a:pPr>
            <a:r>
              <a:rPr lang="en-US" sz="1050" dirty="0">
                <a:solidFill>
                  <a:srgbClr val="CBD5E1"/>
                </a:solidFill>
                <a:latin typeface="Calibri" pitchFamily="34" charset="0"/>
                <a:ea typeface="Calibri" pitchFamily="34" charset="-122"/>
                <a:cs typeface="Calibri" pitchFamily="34" charset="-120"/>
              </a:rPr>
              <a:t>Dynamic MinCut for real-time health</a:t>
            </a:r>
            <a:endParaRPr lang="en-US" sz="1050" dirty="0"/>
          </a:p>
        </p:txBody>
      </p:sp>
      <p:sp>
        <p:nvSpPr>
          <p:cNvPr id="13" name="Text 11"/>
          <p:cNvSpPr/>
          <p:nvPr/>
        </p:nvSpPr>
        <p:spPr>
          <a:xfrm>
            <a:off x="731520" y="3566160"/>
            <a:ext cx="3657600" cy="274320"/>
          </a:xfrm>
          <a:prstGeom prst="rect">
            <a:avLst/>
          </a:prstGeom>
          <a:noFill/>
          <a:ln/>
        </p:spPr>
        <p:txBody>
          <a:bodyPr wrap="square" lIns="0" tIns="0" rIns="0" bIns="0" rtlCol="0" anchor="ctr"/>
          <a:lstStyle/>
          <a:p>
            <a:pPr indent="0" marL="0">
              <a:buNone/>
            </a:pPr>
            <a:r>
              <a:rPr lang="en-US" sz="1200" b="1" dirty="0">
                <a:solidFill>
                  <a:srgbClr val="F59E0B"/>
                </a:solidFill>
                <a:latin typeface="Consolas" pitchFamily="34" charset="0"/>
                <a:ea typeface="Consolas" pitchFamily="34" charset="-122"/>
                <a:cs typeface="Consolas" pitchFamily="34" charset="-120"/>
              </a:rPr>
              <a:t>Industry Proof Points</a:t>
            </a:r>
            <a:endParaRPr lang="en-US" sz="1200" dirty="0"/>
          </a:p>
        </p:txBody>
      </p:sp>
      <p:sp>
        <p:nvSpPr>
          <p:cNvPr id="14" name="Shape 12"/>
          <p:cNvSpPr/>
          <p:nvPr/>
        </p:nvSpPr>
        <p:spPr>
          <a:xfrm>
            <a:off x="731520" y="3886200"/>
            <a:ext cx="2468880" cy="640080"/>
          </a:xfrm>
          <a:prstGeom prst="rect">
            <a:avLst/>
          </a:prstGeom>
          <a:solidFill>
            <a:srgbClr val="1A2744"/>
          </a:solidFill>
          <a:ln/>
        </p:spPr>
      </p:sp>
      <p:sp>
        <p:nvSpPr>
          <p:cNvPr id="15" name="Text 13"/>
          <p:cNvSpPr/>
          <p:nvPr/>
        </p:nvSpPr>
        <p:spPr>
          <a:xfrm>
            <a:off x="822960" y="3913632"/>
            <a:ext cx="2286000" cy="182880"/>
          </a:xfrm>
          <a:prstGeom prst="rect">
            <a:avLst/>
          </a:prstGeom>
          <a:noFill/>
          <a:ln/>
        </p:spPr>
        <p:txBody>
          <a:bodyPr wrap="square" lIns="0" tIns="0" rIns="0" bIns="0" rtlCol="0" anchor="ctr"/>
          <a:lstStyle/>
          <a:p>
            <a:pPr indent="0" marL="0">
              <a:buNone/>
            </a:pPr>
            <a:r>
              <a:rPr lang="en-US" sz="1000" b="1" dirty="0">
                <a:solidFill>
                  <a:srgbClr val="F59E0B"/>
                </a:solidFill>
                <a:latin typeface="Consolas" pitchFamily="34" charset="0"/>
                <a:ea typeface="Consolas" pitchFamily="34" charset="-122"/>
                <a:cs typeface="Consolas" pitchFamily="34" charset="-120"/>
              </a:rPr>
              <a:t>Pinterest</a:t>
            </a:r>
            <a:endParaRPr lang="en-US" sz="1000" dirty="0"/>
          </a:p>
        </p:txBody>
      </p:sp>
      <p:sp>
        <p:nvSpPr>
          <p:cNvPr id="16" name="Text 14"/>
          <p:cNvSpPr/>
          <p:nvPr/>
        </p:nvSpPr>
        <p:spPr>
          <a:xfrm>
            <a:off x="822960" y="4096512"/>
            <a:ext cx="2286000" cy="182880"/>
          </a:xfrm>
          <a:prstGeom prst="rect">
            <a:avLst/>
          </a:prstGeom>
          <a:noFill/>
          <a:ln/>
        </p:spPr>
        <p:txBody>
          <a:bodyPr wrap="square" lIns="0" tIns="0" rIns="0" bIns="0" rtlCol="0" anchor="ctr"/>
          <a:lstStyle/>
          <a:p>
            <a:pPr indent="0" marL="0">
              <a:buNone/>
            </a:pPr>
            <a:r>
              <a:rPr lang="en-US" sz="1000" dirty="0">
                <a:solidFill>
                  <a:srgbClr val="CBD5E1"/>
                </a:solidFill>
                <a:latin typeface="Calibri" pitchFamily="34" charset="0"/>
                <a:ea typeface="Calibri" pitchFamily="34" charset="-122"/>
                <a:cs typeface="Calibri" pitchFamily="34" charset="-120"/>
              </a:rPr>
              <a:t>150% hit-rate improvement</a:t>
            </a:r>
            <a:endParaRPr lang="en-US" sz="1000" dirty="0"/>
          </a:p>
        </p:txBody>
      </p:sp>
      <p:sp>
        <p:nvSpPr>
          <p:cNvPr id="17" name="Text 15"/>
          <p:cNvSpPr/>
          <p:nvPr/>
        </p:nvSpPr>
        <p:spPr>
          <a:xfrm>
            <a:off x="822960" y="4279392"/>
            <a:ext cx="2286000" cy="182880"/>
          </a:xfrm>
          <a:prstGeom prst="rect">
            <a:avLst/>
          </a:prstGeom>
          <a:noFill/>
          <a:ln/>
        </p:spPr>
        <p:txBody>
          <a:bodyPr wrap="square" lIns="0" tIns="0" rIns="0" bIns="0" rtlCol="0" anchor="ctr"/>
          <a:lstStyle/>
          <a:p>
            <a:pPr indent="0" marL="0">
              <a:buNone/>
            </a:pPr>
            <a:r>
              <a:rPr lang="en-US" sz="900" dirty="0">
                <a:solidFill>
                  <a:srgbClr val="94A3B8"/>
                </a:solidFill>
                <a:latin typeface="Calibri" pitchFamily="34" charset="0"/>
                <a:ea typeface="Calibri" pitchFamily="34" charset="-122"/>
                <a:cs typeface="Calibri" pitchFamily="34" charset="-120"/>
              </a:rPr>
              <a:t>Graph-based recommendation</a:t>
            </a:r>
            <a:endParaRPr lang="en-US" sz="900" dirty="0"/>
          </a:p>
        </p:txBody>
      </p:sp>
      <p:sp>
        <p:nvSpPr>
          <p:cNvPr id="18" name="Shape 16"/>
          <p:cNvSpPr/>
          <p:nvPr/>
        </p:nvSpPr>
        <p:spPr>
          <a:xfrm>
            <a:off x="3383280" y="3886200"/>
            <a:ext cx="2468880" cy="640080"/>
          </a:xfrm>
          <a:prstGeom prst="rect">
            <a:avLst/>
          </a:prstGeom>
          <a:solidFill>
            <a:srgbClr val="1A2744"/>
          </a:solidFill>
          <a:ln/>
        </p:spPr>
      </p:sp>
      <p:sp>
        <p:nvSpPr>
          <p:cNvPr id="19" name="Text 17"/>
          <p:cNvSpPr/>
          <p:nvPr/>
        </p:nvSpPr>
        <p:spPr>
          <a:xfrm>
            <a:off x="3474720" y="3913632"/>
            <a:ext cx="2286000" cy="182880"/>
          </a:xfrm>
          <a:prstGeom prst="rect">
            <a:avLst/>
          </a:prstGeom>
          <a:noFill/>
          <a:ln/>
        </p:spPr>
        <p:txBody>
          <a:bodyPr wrap="square" lIns="0" tIns="0" rIns="0" bIns="0" rtlCol="0" anchor="ctr"/>
          <a:lstStyle/>
          <a:p>
            <a:pPr indent="0" marL="0">
              <a:buNone/>
            </a:pPr>
            <a:r>
              <a:rPr lang="en-US" sz="1000" b="1" dirty="0">
                <a:solidFill>
                  <a:srgbClr val="F59E0B"/>
                </a:solidFill>
                <a:latin typeface="Consolas" pitchFamily="34" charset="0"/>
                <a:ea typeface="Consolas" pitchFamily="34" charset="-122"/>
                <a:cs typeface="Consolas" pitchFamily="34" charset="-120"/>
              </a:rPr>
              <a:t>Google Maps</a:t>
            </a:r>
            <a:endParaRPr lang="en-US" sz="1000" dirty="0"/>
          </a:p>
        </p:txBody>
      </p:sp>
      <p:sp>
        <p:nvSpPr>
          <p:cNvPr id="20" name="Text 18"/>
          <p:cNvSpPr/>
          <p:nvPr/>
        </p:nvSpPr>
        <p:spPr>
          <a:xfrm>
            <a:off x="3474720" y="4096512"/>
            <a:ext cx="2286000" cy="182880"/>
          </a:xfrm>
          <a:prstGeom prst="rect">
            <a:avLst/>
          </a:prstGeom>
          <a:noFill/>
          <a:ln/>
        </p:spPr>
        <p:txBody>
          <a:bodyPr wrap="square" lIns="0" tIns="0" rIns="0" bIns="0" rtlCol="0" anchor="ctr"/>
          <a:lstStyle/>
          <a:p>
            <a:pPr indent="0" marL="0">
              <a:buNone/>
            </a:pPr>
            <a:r>
              <a:rPr lang="en-US" sz="1000" dirty="0">
                <a:solidFill>
                  <a:srgbClr val="CBD5E1"/>
                </a:solidFill>
                <a:latin typeface="Calibri" pitchFamily="34" charset="0"/>
                <a:ea typeface="Calibri" pitchFamily="34" charset="-122"/>
                <a:cs typeface="Calibri" pitchFamily="34" charset="-120"/>
              </a:rPr>
              <a:t>50% better ETA</a:t>
            </a:r>
            <a:endParaRPr lang="en-US" sz="1000" dirty="0"/>
          </a:p>
        </p:txBody>
      </p:sp>
      <p:sp>
        <p:nvSpPr>
          <p:cNvPr id="21" name="Text 19"/>
          <p:cNvSpPr/>
          <p:nvPr/>
        </p:nvSpPr>
        <p:spPr>
          <a:xfrm>
            <a:off x="3474720" y="4279392"/>
            <a:ext cx="2286000" cy="182880"/>
          </a:xfrm>
          <a:prstGeom prst="rect">
            <a:avLst/>
          </a:prstGeom>
          <a:noFill/>
          <a:ln/>
        </p:spPr>
        <p:txBody>
          <a:bodyPr wrap="square" lIns="0" tIns="0" rIns="0" bIns="0" rtlCol="0" anchor="ctr"/>
          <a:lstStyle/>
          <a:p>
            <a:pPr indent="0" marL="0">
              <a:buNone/>
            </a:pPr>
            <a:r>
              <a:rPr lang="en-US" sz="900" dirty="0">
                <a:solidFill>
                  <a:srgbClr val="94A3B8"/>
                </a:solidFill>
                <a:latin typeface="Calibri" pitchFamily="34" charset="0"/>
                <a:ea typeface="Calibri" pitchFamily="34" charset="-122"/>
                <a:cs typeface="Calibri" pitchFamily="34" charset="-120"/>
              </a:rPr>
              <a:t>Graph routing optimization</a:t>
            </a:r>
            <a:endParaRPr lang="en-US" sz="900" dirty="0"/>
          </a:p>
        </p:txBody>
      </p:sp>
      <p:sp>
        <p:nvSpPr>
          <p:cNvPr id="22" name="Shape 20"/>
          <p:cNvSpPr/>
          <p:nvPr/>
        </p:nvSpPr>
        <p:spPr>
          <a:xfrm>
            <a:off x="6035040" y="3886200"/>
            <a:ext cx="2468880" cy="640080"/>
          </a:xfrm>
          <a:prstGeom prst="rect">
            <a:avLst/>
          </a:prstGeom>
          <a:solidFill>
            <a:srgbClr val="1A2744"/>
          </a:solidFill>
          <a:ln/>
        </p:spPr>
      </p:sp>
      <p:sp>
        <p:nvSpPr>
          <p:cNvPr id="23" name="Text 21"/>
          <p:cNvSpPr/>
          <p:nvPr/>
        </p:nvSpPr>
        <p:spPr>
          <a:xfrm>
            <a:off x="6126480" y="3913632"/>
            <a:ext cx="2286000" cy="182880"/>
          </a:xfrm>
          <a:prstGeom prst="rect">
            <a:avLst/>
          </a:prstGeom>
          <a:noFill/>
          <a:ln/>
        </p:spPr>
        <p:txBody>
          <a:bodyPr wrap="square" lIns="0" tIns="0" rIns="0" bIns="0" rtlCol="0" anchor="ctr"/>
          <a:lstStyle/>
          <a:p>
            <a:pPr indent="0" marL="0">
              <a:buNone/>
            </a:pPr>
            <a:r>
              <a:rPr lang="en-US" sz="1000" b="1" dirty="0">
                <a:solidFill>
                  <a:srgbClr val="F59E0B"/>
                </a:solidFill>
                <a:latin typeface="Consolas" pitchFamily="34" charset="0"/>
                <a:ea typeface="Consolas" pitchFamily="34" charset="-122"/>
                <a:cs typeface="Consolas" pitchFamily="34" charset="-120"/>
              </a:rPr>
              <a:t>Uber Eats</a:t>
            </a:r>
            <a:endParaRPr lang="en-US" sz="1000" dirty="0"/>
          </a:p>
        </p:txBody>
      </p:sp>
      <p:sp>
        <p:nvSpPr>
          <p:cNvPr id="24" name="Text 22"/>
          <p:cNvSpPr/>
          <p:nvPr/>
        </p:nvSpPr>
        <p:spPr>
          <a:xfrm>
            <a:off x="6126480" y="4096512"/>
            <a:ext cx="2286000" cy="182880"/>
          </a:xfrm>
          <a:prstGeom prst="rect">
            <a:avLst/>
          </a:prstGeom>
          <a:noFill/>
          <a:ln/>
        </p:spPr>
        <p:txBody>
          <a:bodyPr wrap="square" lIns="0" tIns="0" rIns="0" bIns="0" rtlCol="0" anchor="ctr"/>
          <a:lstStyle/>
          <a:p>
            <a:pPr indent="0" marL="0">
              <a:buNone/>
            </a:pPr>
            <a:r>
              <a:rPr lang="en-US" sz="1000" dirty="0">
                <a:solidFill>
                  <a:srgbClr val="CBD5E1"/>
                </a:solidFill>
                <a:latin typeface="Calibri" pitchFamily="34" charset="0"/>
                <a:ea typeface="Calibri" pitchFamily="34" charset="-122"/>
                <a:cs typeface="Calibri" pitchFamily="34" charset="-120"/>
              </a:rPr>
              <a:t>20%+ engagement</a:t>
            </a:r>
            <a:endParaRPr lang="en-US" sz="1000" dirty="0"/>
          </a:p>
        </p:txBody>
      </p:sp>
      <p:sp>
        <p:nvSpPr>
          <p:cNvPr id="25" name="Text 23"/>
          <p:cNvSpPr/>
          <p:nvPr/>
        </p:nvSpPr>
        <p:spPr>
          <a:xfrm>
            <a:off x="6126480" y="4279392"/>
            <a:ext cx="2286000" cy="182880"/>
          </a:xfrm>
          <a:prstGeom prst="rect">
            <a:avLst/>
          </a:prstGeom>
          <a:noFill/>
          <a:ln/>
        </p:spPr>
        <p:txBody>
          <a:bodyPr wrap="square" lIns="0" tIns="0" rIns="0" bIns="0" rtlCol="0" anchor="ctr"/>
          <a:lstStyle/>
          <a:p>
            <a:pPr indent="0" marL="0">
              <a:buNone/>
            </a:pPr>
            <a:r>
              <a:rPr lang="en-US" sz="900" dirty="0">
                <a:solidFill>
                  <a:srgbClr val="94A3B8"/>
                </a:solidFill>
                <a:latin typeface="Calibri" pitchFamily="34" charset="0"/>
                <a:ea typeface="Calibri" pitchFamily="34" charset="-122"/>
                <a:cs typeface="Calibri" pitchFamily="34" charset="-120"/>
              </a:rPr>
              <a:t>Graph-ranked discovery</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6B6D4"/>
          </a:solidFill>
          <a:ln/>
        </p:spPr>
      </p:sp>
      <p:sp>
        <p:nvSpPr>
          <p:cNvPr id="3" name="Text 1"/>
          <p:cNvSpPr/>
          <p:nvPr/>
        </p:nvSpPr>
        <p:spPr>
          <a:xfrm>
            <a:off x="731520" y="320040"/>
            <a:ext cx="7315200" cy="457200"/>
          </a:xfrm>
          <a:prstGeom prst="rect">
            <a:avLst/>
          </a:prstGeom>
          <a:noFill/>
          <a:ln/>
        </p:spPr>
        <p:txBody>
          <a:bodyPr wrap="square" lIns="0" tIns="0" rIns="0" bIns="0" rtlCol="0" anchor="ctr"/>
          <a:lstStyle/>
          <a:p>
            <a:pPr indent="0" marL="0">
              <a:buNone/>
            </a:pPr>
            <a:r>
              <a:rPr lang="en-US" sz="2800" b="1" dirty="0">
                <a:solidFill>
                  <a:srgbClr val="F8FAFC"/>
                </a:solidFill>
                <a:latin typeface="Cambria" pitchFamily="34" charset="0"/>
                <a:ea typeface="Cambria" pitchFamily="34" charset="-122"/>
                <a:cs typeface="Cambria" pitchFamily="34" charset="-120"/>
              </a:rPr>
              <a:t>Performance Benchmarks</a:t>
            </a:r>
            <a:endParaRPr lang="en-US" sz="2800" dirty="0"/>
          </a:p>
        </p:txBody>
      </p:sp>
      <p:sp>
        <p:nvSpPr>
          <p:cNvPr id="4" name="Text 2"/>
          <p:cNvSpPr/>
          <p:nvPr/>
        </p:nvSpPr>
        <p:spPr>
          <a:xfrm>
            <a:off x="731520" y="777240"/>
            <a:ext cx="7315200" cy="274320"/>
          </a:xfrm>
          <a:prstGeom prst="rect">
            <a:avLst/>
          </a:prstGeom>
          <a:noFill/>
          <a:ln/>
        </p:spPr>
        <p:txBody>
          <a:bodyPr wrap="square" lIns="0" tIns="0" rIns="0" bIns="0" rtlCol="0" anchor="ctr"/>
          <a:lstStyle/>
          <a:p>
            <a:pPr indent="0" marL="0">
              <a:buNone/>
            </a:pPr>
            <a:r>
              <a:rPr lang="en-US" sz="1400" dirty="0">
                <a:solidFill>
                  <a:srgbClr val="94A3B8"/>
                </a:solidFill>
                <a:latin typeface="Calibri" pitchFamily="34" charset="0"/>
                <a:ea typeface="Calibri" pitchFamily="34" charset="-122"/>
                <a:cs typeface="Calibri" pitchFamily="34" charset="-120"/>
              </a:rPr>
              <a:t>Measured results against best-in-class competitors.</a:t>
            </a:r>
            <a:endParaRPr lang="en-US" sz="14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731520" y="1234440"/>
          <a:ext cx="7680960" cy="914400"/>
        </p:xfrm>
        <a:graphic>
          <a:graphicData uri="http://schemas.openxmlformats.org/drawingml/2006/table">
            <a:tbl>
              <a:tblPr/>
              <a:tblGrid>
                <a:gridCol w="2011680"/>
                <a:gridCol w="1645920"/>
                <a:gridCol w="2194560"/>
                <a:gridCol w="1828800"/>
              </a:tblGrid>
              <a:tr h="292608">
                <a:tc>
                  <a:txBody>
                    <a:bodyPr/>
                    <a:lstStyle/>
                    <a:p>
                      <a:pPr indent="0" marL="0">
                        <a:buNone/>
                      </a:pPr>
                      <a:r>
                        <a:rPr lang="en-US" sz="1000" b="1" dirty="0">
                          <a:solidFill>
                            <a:srgbClr val="06B6D4"/>
                          </a:solidFill>
                          <a:latin typeface="Consolas" pitchFamily="34" charset="0"/>
                          <a:ea typeface="Consolas" pitchFamily="34" charset="-122"/>
                          <a:cs typeface="Consolas" pitchFamily="34" charset="-120"/>
                        </a:rPr>
                        <a:t>Metric</a:t>
                      </a:r>
                      <a:endParaRPr lang="en-US" sz="1000" dirty="0">
                        <a:latin typeface="Consolas" charset="0"/>
                        <a:ea typeface="Consolas" charset="0"/>
                        <a:cs typeface="Consolas"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06B6D4"/>
                          </a:solidFill>
                          <a:latin typeface="Consolas" pitchFamily="34" charset="0"/>
                          <a:ea typeface="Consolas" pitchFamily="34" charset="-122"/>
                          <a:cs typeface="Consolas" pitchFamily="34" charset="-120"/>
                        </a:rPr>
                        <a:t>RuVector</a:t>
                      </a:r>
                      <a:endParaRPr lang="en-US" sz="1000" dirty="0">
                        <a:latin typeface="Consolas" charset="0"/>
                        <a:ea typeface="Consolas" charset="0"/>
                        <a:cs typeface="Consolas"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94A3B8"/>
                          </a:solidFill>
                          <a:latin typeface="Consolas" pitchFamily="34" charset="0"/>
                          <a:ea typeface="Consolas" pitchFamily="34" charset="-122"/>
                          <a:cs typeface="Consolas" pitchFamily="34" charset="-120"/>
                        </a:rPr>
                        <a:t>Best Competitor</a:t>
                      </a:r>
                      <a:endParaRPr lang="en-US" sz="1000" dirty="0">
                        <a:latin typeface="Consolas" charset="0"/>
                        <a:ea typeface="Consolas" charset="0"/>
                        <a:cs typeface="Consolas"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59E0B"/>
                          </a:solidFill>
                          <a:latin typeface="Consolas" pitchFamily="34" charset="0"/>
                          <a:ea typeface="Consolas" pitchFamily="34" charset="-122"/>
                          <a:cs typeface="Consolas" pitchFamily="34" charset="-120"/>
                        </a:rPr>
                        <a:t>Advantage</a:t>
                      </a:r>
                      <a:endParaRPr lang="en-US" sz="1000" dirty="0">
                        <a:latin typeface="Consolas" charset="0"/>
                        <a:ea typeface="Consolas" charset="0"/>
                        <a:cs typeface="Consolas"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A2744"/>
                    </a:solidFill>
                  </a:tcPr>
                </a:tc>
              </a:tr>
              <a:tr h="274320">
                <a:tc>
                  <a:txBody>
                    <a:bodyPr/>
                    <a:lstStyle/>
                    <a:p>
                      <a:pPr indent="0" marL="0">
                        <a:buNone/>
                      </a:pPr>
                      <a:r>
                        <a:rPr lang="en-US" sz="1050" dirty="0">
                          <a:solidFill>
                            <a:srgbClr val="CBD5E1"/>
                          </a:solidFill>
                          <a:latin typeface="Calibri" pitchFamily="34" charset="0"/>
                          <a:ea typeface="Calibri" pitchFamily="34" charset="-122"/>
                          <a:cs typeface="Calibri" pitchFamily="34" charset="-120"/>
                        </a:rPr>
                        <a:t>HNSW Search</a:t>
                      </a:r>
                      <a:endParaRPr lang="en-US" sz="1050" dirty="0">
                        <a:latin typeface="Calibri" charset="0"/>
                        <a:ea typeface="Calibri" charset="0"/>
                        <a:cs typeface="Calibri"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E293B"/>
                    </a:solidFill>
                  </a:tcPr>
                </a:tc>
                <a:tc>
                  <a:txBody>
                    <a:bodyPr/>
                    <a:lstStyle/>
                    <a:p>
                      <a:pPr algn="ctr" indent="0" marL="0">
                        <a:buNone/>
                      </a:pPr>
                      <a:r>
                        <a:rPr lang="en-US" sz="1050" b="1" dirty="0">
                          <a:solidFill>
                            <a:srgbClr val="06B6D4"/>
                          </a:solidFill>
                          <a:latin typeface="Consolas" pitchFamily="34" charset="0"/>
                          <a:ea typeface="Consolas" pitchFamily="34" charset="-122"/>
                          <a:cs typeface="Consolas" pitchFamily="34" charset="-120"/>
                        </a:rPr>
                        <a:t>61µs</a:t>
                      </a:r>
                      <a:endParaRPr lang="en-US" sz="1050" dirty="0">
                        <a:latin typeface="Consolas" charset="0"/>
                        <a:ea typeface="Consolas" charset="0"/>
                        <a:cs typeface="Consolas"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E293B"/>
                    </a:solidFill>
                  </a:tcPr>
                </a:tc>
                <a:tc>
                  <a:txBody>
                    <a:bodyPr/>
                    <a:lstStyle/>
                    <a:p>
                      <a:pPr algn="ctr" indent="0" marL="0">
                        <a:buNone/>
                      </a:pPr>
                      <a:r>
                        <a:rPr lang="en-US" sz="1050" dirty="0">
                          <a:solidFill>
                            <a:srgbClr val="94A3B8"/>
                          </a:solidFill>
                          <a:latin typeface="Calibri" pitchFamily="34" charset="0"/>
                          <a:ea typeface="Calibri" pitchFamily="34" charset="-122"/>
                          <a:cs typeface="Calibri" pitchFamily="34" charset="-120"/>
                        </a:rPr>
                        <a:t>500ms+ (Pinecone)</a:t>
                      </a:r>
                      <a:endParaRPr lang="en-US" sz="1050" dirty="0">
                        <a:latin typeface="Calibri" charset="0"/>
                        <a:ea typeface="Calibri" charset="0"/>
                        <a:cs typeface="Calibri"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E293B"/>
                    </a:solidFill>
                  </a:tcPr>
                </a:tc>
                <a:tc>
                  <a:txBody>
                    <a:bodyPr/>
                    <a:lstStyle/>
                    <a:p>
                      <a:pPr algn="ctr" indent="0" marL="0">
                        <a:buNone/>
                      </a:pPr>
                      <a:r>
                        <a:rPr lang="en-US" sz="1050" b="1" dirty="0">
                          <a:solidFill>
                            <a:srgbClr val="F59E0B"/>
                          </a:solidFill>
                          <a:latin typeface="Consolas" pitchFamily="34" charset="0"/>
                          <a:ea typeface="Consolas" pitchFamily="34" charset="-122"/>
                          <a:cs typeface="Consolas" pitchFamily="34" charset="-120"/>
                        </a:rPr>
                        <a:t>8,000x</a:t>
                      </a:r>
                      <a:endParaRPr lang="en-US" sz="1050" dirty="0">
                        <a:latin typeface="Consolas" charset="0"/>
                        <a:ea typeface="Consolas" charset="0"/>
                        <a:cs typeface="Consolas"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E293B"/>
                    </a:solidFill>
                  </a:tcPr>
                </a:tc>
              </a:tr>
              <a:tr h="274320">
                <a:tc>
                  <a:txBody>
                    <a:bodyPr/>
                    <a:lstStyle/>
                    <a:p>
                      <a:pPr indent="0" marL="0">
                        <a:buNone/>
                      </a:pPr>
                      <a:r>
                        <a:rPr lang="en-US" sz="1050" dirty="0">
                          <a:solidFill>
                            <a:srgbClr val="CBD5E1"/>
                          </a:solidFill>
                          <a:latin typeface="Calibri" pitchFamily="34" charset="0"/>
                          <a:ea typeface="Calibri" pitchFamily="34" charset="-122"/>
                          <a:cs typeface="Calibri" pitchFamily="34" charset="-120"/>
                        </a:rPr>
                        <a:t>Fox Flow QPS</a:t>
                      </a:r>
                      <a:endParaRPr lang="en-US" sz="1050" dirty="0">
                        <a:latin typeface="Calibri" charset="0"/>
                        <a:ea typeface="Calibri" charset="0"/>
                        <a:cs typeface="Calibri"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E293B"/>
                    </a:solidFill>
                  </a:tcPr>
                </a:tc>
                <a:tc>
                  <a:txBody>
                    <a:bodyPr/>
                    <a:lstStyle/>
                    <a:p>
                      <a:pPr algn="ctr" indent="0" marL="0">
                        <a:buNone/>
                      </a:pPr>
                      <a:r>
                        <a:rPr lang="en-US" sz="1050" b="1" dirty="0">
                          <a:solidFill>
                            <a:srgbClr val="06B6D4"/>
                          </a:solidFill>
                          <a:latin typeface="Consolas" pitchFamily="34" charset="0"/>
                          <a:ea typeface="Consolas" pitchFamily="34" charset="-122"/>
                          <a:cs typeface="Consolas" pitchFamily="34" charset="-120"/>
                        </a:rPr>
                        <a:t>12.8M</a:t>
                      </a:r>
                      <a:endParaRPr lang="en-US" sz="1050" dirty="0">
                        <a:latin typeface="Consolas" charset="0"/>
                        <a:ea typeface="Consolas" charset="0"/>
                        <a:cs typeface="Consolas"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E293B"/>
                    </a:solidFill>
                  </a:tcPr>
                </a:tc>
                <a:tc>
                  <a:txBody>
                    <a:bodyPr/>
                    <a:lstStyle/>
                    <a:p>
                      <a:pPr algn="ctr" indent="0" marL="0">
                        <a:buNone/>
                      </a:pPr>
                      <a:r>
                        <a:rPr lang="en-US" sz="1050" dirty="0">
                          <a:solidFill>
                            <a:srgbClr val="94A3B8"/>
                          </a:solidFill>
                          <a:latin typeface="Calibri" pitchFamily="34" charset="0"/>
                          <a:ea typeface="Calibri" pitchFamily="34" charset="-122"/>
                          <a:cs typeface="Calibri" pitchFamily="34" charset="-120"/>
                        </a:rPr>
                        <a:t>3K (Redis)</a:t>
                      </a:r>
                      <a:endParaRPr lang="en-US" sz="1050" dirty="0">
                        <a:latin typeface="Calibri" charset="0"/>
                        <a:ea typeface="Calibri" charset="0"/>
                        <a:cs typeface="Calibri"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E293B"/>
                    </a:solidFill>
                  </a:tcPr>
                </a:tc>
                <a:tc>
                  <a:txBody>
                    <a:bodyPr/>
                    <a:lstStyle/>
                    <a:p>
                      <a:pPr algn="ctr" indent="0" marL="0">
                        <a:buNone/>
                      </a:pPr>
                      <a:r>
                        <a:rPr lang="en-US" sz="1050" b="1" dirty="0">
                          <a:solidFill>
                            <a:srgbClr val="F59E0B"/>
                          </a:solidFill>
                          <a:latin typeface="Consolas" pitchFamily="34" charset="0"/>
                          <a:ea typeface="Consolas" pitchFamily="34" charset="-122"/>
                          <a:cs typeface="Consolas" pitchFamily="34" charset="-120"/>
                        </a:rPr>
                        <a:t>4,000x</a:t>
                      </a:r>
                      <a:endParaRPr lang="en-US" sz="1050" dirty="0">
                        <a:latin typeface="Consolas" charset="0"/>
                        <a:ea typeface="Consolas" charset="0"/>
                        <a:cs typeface="Consolas"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E293B"/>
                    </a:solidFill>
                  </a:tcPr>
                </a:tc>
              </a:tr>
              <a:tr h="274320">
                <a:tc>
                  <a:txBody>
                    <a:bodyPr/>
                    <a:lstStyle/>
                    <a:p>
                      <a:pPr indent="0" marL="0">
                        <a:buNone/>
                      </a:pPr>
                      <a:r>
                        <a:rPr lang="en-US" sz="1050" dirty="0">
                          <a:solidFill>
                            <a:srgbClr val="CBD5E1"/>
                          </a:solidFill>
                          <a:latin typeface="Calibri" pitchFamily="34" charset="0"/>
                          <a:ea typeface="Calibri" pitchFamily="34" charset="-122"/>
                          <a:cs typeface="Calibri" pitchFamily="34" charset="-120"/>
                        </a:rPr>
                        <a:t>Detection Time</a:t>
                      </a:r>
                      <a:endParaRPr lang="en-US" sz="1050" dirty="0">
                        <a:latin typeface="Calibri" charset="0"/>
                        <a:ea typeface="Calibri" charset="0"/>
                        <a:cs typeface="Calibri"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E293B"/>
                    </a:solidFill>
                  </a:tcPr>
                </a:tc>
                <a:tc>
                  <a:txBody>
                    <a:bodyPr/>
                    <a:lstStyle/>
                    <a:p>
                      <a:pPr algn="ctr" indent="0" marL="0">
                        <a:buNone/>
                      </a:pPr>
                      <a:r>
                        <a:rPr lang="en-US" sz="1050" b="1" dirty="0">
                          <a:solidFill>
                            <a:srgbClr val="06B6D4"/>
                          </a:solidFill>
                          <a:latin typeface="Consolas" pitchFamily="34" charset="0"/>
                          <a:ea typeface="Consolas" pitchFamily="34" charset="-122"/>
                          <a:cs typeface="Consolas" pitchFamily="34" charset="-120"/>
                        </a:rPr>
                        <a:t>0.06ms</a:t>
                      </a:r>
                      <a:endParaRPr lang="en-US" sz="1050" dirty="0">
                        <a:latin typeface="Consolas" charset="0"/>
                        <a:ea typeface="Consolas" charset="0"/>
                        <a:cs typeface="Consolas"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E293B"/>
                    </a:solidFill>
                  </a:tcPr>
                </a:tc>
                <a:tc>
                  <a:txBody>
                    <a:bodyPr/>
                    <a:lstStyle/>
                    <a:p>
                      <a:pPr algn="ctr" indent="0" marL="0">
                        <a:buNone/>
                      </a:pPr>
                      <a:r>
                        <a:rPr lang="en-US" sz="1050" dirty="0">
                          <a:solidFill>
                            <a:srgbClr val="94A3B8"/>
                          </a:solidFill>
                          <a:latin typeface="Calibri" pitchFamily="34" charset="0"/>
                          <a:ea typeface="Calibri" pitchFamily="34" charset="-122"/>
                          <a:cs typeface="Calibri" pitchFamily="34" charset="-120"/>
                        </a:rPr>
                        <a:t>~10ms (rule-based)</a:t>
                      </a:r>
                      <a:endParaRPr lang="en-US" sz="1050" dirty="0">
                        <a:latin typeface="Calibri" charset="0"/>
                        <a:ea typeface="Calibri" charset="0"/>
                        <a:cs typeface="Calibri"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E293B"/>
                    </a:solidFill>
                  </a:tcPr>
                </a:tc>
                <a:tc>
                  <a:txBody>
                    <a:bodyPr/>
                    <a:lstStyle/>
                    <a:p>
                      <a:pPr algn="ctr" indent="0" marL="0">
                        <a:buNone/>
                      </a:pPr>
                      <a:r>
                        <a:rPr lang="en-US" sz="1050" b="1" dirty="0">
                          <a:solidFill>
                            <a:srgbClr val="F59E0B"/>
                          </a:solidFill>
                          <a:latin typeface="Consolas" pitchFamily="34" charset="0"/>
                          <a:ea typeface="Consolas" pitchFamily="34" charset="-122"/>
                          <a:cs typeface="Consolas" pitchFamily="34" charset="-120"/>
                        </a:rPr>
                        <a:t>167x</a:t>
                      </a:r>
                      <a:endParaRPr lang="en-US" sz="1050" dirty="0">
                        <a:latin typeface="Consolas" charset="0"/>
                        <a:ea typeface="Consolas" charset="0"/>
                        <a:cs typeface="Consolas"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E293B"/>
                    </a:solidFill>
                  </a:tcPr>
                </a:tc>
              </a:tr>
              <a:tr h="274320">
                <a:tc>
                  <a:txBody>
                    <a:bodyPr/>
                    <a:lstStyle/>
                    <a:p>
                      <a:pPr indent="0" marL="0">
                        <a:buNone/>
                      </a:pPr>
                      <a:r>
                        <a:rPr lang="en-US" sz="1050" dirty="0">
                          <a:solidFill>
                            <a:srgbClr val="CBD5E1"/>
                          </a:solidFill>
                          <a:latin typeface="Calibri" pitchFamily="34" charset="0"/>
                          <a:ea typeface="Calibri" pitchFamily="34" charset="-122"/>
                          <a:cs typeface="Calibri" pitchFamily="34" charset="-120"/>
                        </a:rPr>
                        <a:t>WASM Runtime</a:t>
                      </a:r>
                      <a:endParaRPr lang="en-US" sz="1050" dirty="0">
                        <a:latin typeface="Calibri" charset="0"/>
                        <a:ea typeface="Calibri" charset="0"/>
                        <a:cs typeface="Calibri"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E293B"/>
                    </a:solidFill>
                  </a:tcPr>
                </a:tc>
                <a:tc>
                  <a:txBody>
                    <a:bodyPr/>
                    <a:lstStyle/>
                    <a:p>
                      <a:pPr algn="ctr" indent="0" marL="0">
                        <a:buNone/>
                      </a:pPr>
                      <a:r>
                        <a:rPr lang="en-US" sz="1050" b="1" dirty="0">
                          <a:solidFill>
                            <a:srgbClr val="06B6D4"/>
                          </a:solidFill>
                          <a:latin typeface="Consolas" pitchFamily="34" charset="0"/>
                          <a:ea typeface="Consolas" pitchFamily="34" charset="-122"/>
                          <a:cs typeface="Consolas" pitchFamily="34" charset="-120"/>
                        </a:rPr>
                        <a:t>5.5KB</a:t>
                      </a:r>
                      <a:endParaRPr lang="en-US" sz="1050" dirty="0">
                        <a:latin typeface="Consolas" charset="0"/>
                        <a:ea typeface="Consolas" charset="0"/>
                        <a:cs typeface="Consolas"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E293B"/>
                    </a:solidFill>
                  </a:tcPr>
                </a:tc>
                <a:tc>
                  <a:txBody>
                    <a:bodyPr/>
                    <a:lstStyle/>
                    <a:p>
                      <a:pPr algn="ctr" indent="0" marL="0">
                        <a:buNone/>
                      </a:pPr>
                      <a:r>
                        <a:rPr lang="en-US" sz="1050" dirty="0">
                          <a:solidFill>
                            <a:srgbClr val="94A3B8"/>
                          </a:solidFill>
                          <a:latin typeface="Calibri" pitchFamily="34" charset="0"/>
                          <a:ea typeface="Calibri" pitchFamily="34" charset="-122"/>
                          <a:cs typeface="Calibri" pitchFamily="34" charset="-120"/>
                        </a:rPr>
                        <a:t>100MB+ (containers)</a:t>
                      </a:r>
                      <a:endParaRPr lang="en-US" sz="1050" dirty="0">
                        <a:latin typeface="Calibri" charset="0"/>
                        <a:ea typeface="Calibri" charset="0"/>
                        <a:cs typeface="Calibri"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E293B"/>
                    </a:solidFill>
                  </a:tcPr>
                </a:tc>
                <a:tc>
                  <a:txBody>
                    <a:bodyPr/>
                    <a:lstStyle/>
                    <a:p>
                      <a:pPr algn="ctr" indent="0" marL="0">
                        <a:buNone/>
                      </a:pPr>
                      <a:r>
                        <a:rPr lang="en-US" sz="1050" b="1" dirty="0">
                          <a:solidFill>
                            <a:srgbClr val="F59E0B"/>
                          </a:solidFill>
                          <a:latin typeface="Consolas" pitchFamily="34" charset="0"/>
                          <a:ea typeface="Consolas" pitchFamily="34" charset="-122"/>
                          <a:cs typeface="Consolas" pitchFamily="34" charset="-120"/>
                        </a:rPr>
                        <a:t>18,000x</a:t>
                      </a:r>
                      <a:endParaRPr lang="en-US" sz="1050" dirty="0">
                        <a:latin typeface="Consolas" charset="0"/>
                        <a:ea typeface="Consolas" charset="0"/>
                        <a:cs typeface="Consolas"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E293B"/>
                    </a:solidFill>
                  </a:tcPr>
                </a:tc>
              </a:tr>
              <a:tr h="274320">
                <a:tc>
                  <a:txBody>
                    <a:bodyPr/>
                    <a:lstStyle/>
                    <a:p>
                      <a:pPr indent="0" marL="0">
                        <a:buNone/>
                      </a:pPr>
                      <a:r>
                        <a:rPr lang="en-US" sz="1050" dirty="0">
                          <a:solidFill>
                            <a:srgbClr val="CBD5E1"/>
                          </a:solidFill>
                          <a:latin typeface="Calibri" pitchFamily="34" charset="0"/>
                          <a:ea typeface="Calibri" pitchFamily="34" charset="-122"/>
                          <a:cs typeface="Calibri" pitchFamily="34" charset="-120"/>
                        </a:rPr>
                        <a:t>Learning Latency</a:t>
                      </a:r>
                      <a:endParaRPr lang="en-US" sz="1050" dirty="0">
                        <a:latin typeface="Calibri" charset="0"/>
                        <a:ea typeface="Calibri" charset="0"/>
                        <a:cs typeface="Calibri"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E293B"/>
                    </a:solidFill>
                  </a:tcPr>
                </a:tc>
                <a:tc>
                  <a:txBody>
                    <a:bodyPr/>
                    <a:lstStyle/>
                    <a:p>
                      <a:pPr algn="ctr" indent="0" marL="0">
                        <a:buNone/>
                      </a:pPr>
                      <a:r>
                        <a:rPr lang="en-US" sz="1050" b="1" dirty="0">
                          <a:solidFill>
                            <a:srgbClr val="06B6D4"/>
                          </a:solidFill>
                          <a:latin typeface="Consolas" pitchFamily="34" charset="0"/>
                          <a:ea typeface="Consolas" pitchFamily="34" charset="-122"/>
                          <a:cs typeface="Consolas" pitchFamily="34" charset="-120"/>
                        </a:rPr>
                        <a:t>&lt;1ms</a:t>
                      </a:r>
                      <a:endParaRPr lang="en-US" sz="1050" dirty="0">
                        <a:latin typeface="Consolas" charset="0"/>
                        <a:ea typeface="Consolas" charset="0"/>
                        <a:cs typeface="Consolas"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E293B"/>
                    </a:solidFill>
                  </a:tcPr>
                </a:tc>
                <a:tc>
                  <a:txBody>
                    <a:bodyPr/>
                    <a:lstStyle/>
                    <a:p>
                      <a:pPr algn="ctr" indent="0" marL="0">
                        <a:buNone/>
                      </a:pPr>
                      <a:r>
                        <a:rPr lang="en-US" sz="1050" dirty="0">
                          <a:solidFill>
                            <a:srgbClr val="94A3B8"/>
                          </a:solidFill>
                          <a:latin typeface="Calibri" pitchFamily="34" charset="0"/>
                          <a:ea typeface="Calibri" pitchFamily="34" charset="-122"/>
                          <a:cs typeface="Calibri" pitchFamily="34" charset="-120"/>
                        </a:rPr>
                        <a:t>Days-weeks</a:t>
                      </a:r>
                      <a:endParaRPr lang="en-US" sz="1050" dirty="0">
                        <a:latin typeface="Calibri" charset="0"/>
                        <a:ea typeface="Calibri" charset="0"/>
                        <a:cs typeface="Calibri"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E293B"/>
                    </a:solidFill>
                  </a:tcPr>
                </a:tc>
                <a:tc>
                  <a:txBody>
                    <a:bodyPr/>
                    <a:lstStyle/>
                    <a:p>
                      <a:pPr algn="ctr" indent="0" marL="0">
                        <a:buNone/>
                      </a:pPr>
                      <a:r>
                        <a:rPr lang="en-US" sz="1050" b="1" dirty="0">
                          <a:solidFill>
                            <a:srgbClr val="F59E0B"/>
                          </a:solidFill>
                          <a:latin typeface="Consolas" pitchFamily="34" charset="0"/>
                          <a:ea typeface="Consolas" pitchFamily="34" charset="-122"/>
                          <a:cs typeface="Consolas" pitchFamily="34" charset="-120"/>
                        </a:rPr>
                        <a:t>&gt;86Mx</a:t>
                      </a:r>
                      <a:endParaRPr lang="en-US" sz="1050" dirty="0">
                        <a:latin typeface="Consolas" charset="0"/>
                        <a:ea typeface="Consolas" charset="0"/>
                        <a:cs typeface="Consolas"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E293B"/>
                    </a:solidFill>
                  </a:tcPr>
                </a:tc>
              </a:tr>
              <a:tr h="274320">
                <a:tc>
                  <a:txBody>
                    <a:bodyPr/>
                    <a:lstStyle/>
                    <a:p>
                      <a:pPr indent="0" marL="0">
                        <a:buNone/>
                      </a:pPr>
                      <a:r>
                        <a:rPr lang="en-US" sz="1050" dirty="0">
                          <a:solidFill>
                            <a:srgbClr val="CBD5E1"/>
                          </a:solidFill>
                          <a:latin typeface="Calibri" pitchFamily="34" charset="0"/>
                          <a:ea typeface="Calibri" pitchFamily="34" charset="-122"/>
                          <a:cs typeface="Calibri" pitchFamily="34" charset="-120"/>
                        </a:rPr>
                        <a:t>Reflex Response</a:t>
                      </a:r>
                      <a:endParaRPr lang="en-US" sz="1050" dirty="0">
                        <a:latin typeface="Calibri" charset="0"/>
                        <a:ea typeface="Calibri" charset="0"/>
                        <a:cs typeface="Calibri"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E293B"/>
                    </a:solidFill>
                  </a:tcPr>
                </a:tc>
                <a:tc>
                  <a:txBody>
                    <a:bodyPr/>
                    <a:lstStyle/>
                    <a:p>
                      <a:pPr algn="ctr" indent="0" marL="0">
                        <a:buNone/>
                      </a:pPr>
                      <a:r>
                        <a:rPr lang="en-US" sz="1050" b="1" dirty="0">
                          <a:solidFill>
                            <a:srgbClr val="06B6D4"/>
                          </a:solidFill>
                          <a:latin typeface="Consolas" pitchFamily="34" charset="0"/>
                          <a:ea typeface="Consolas" pitchFamily="34" charset="-122"/>
                          <a:cs typeface="Consolas" pitchFamily="34" charset="-120"/>
                        </a:rPr>
                        <a:t>&lt;1µs</a:t>
                      </a:r>
                      <a:endParaRPr lang="en-US" sz="1050" dirty="0">
                        <a:latin typeface="Consolas" charset="0"/>
                        <a:ea typeface="Consolas" charset="0"/>
                        <a:cs typeface="Consolas"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E293B"/>
                    </a:solidFill>
                  </a:tcPr>
                </a:tc>
                <a:tc>
                  <a:txBody>
                    <a:bodyPr/>
                    <a:lstStyle/>
                    <a:p>
                      <a:pPr algn="ctr" indent="0" marL="0">
                        <a:buNone/>
                      </a:pPr>
                      <a:r>
                        <a:rPr lang="en-US" sz="1050" dirty="0">
                          <a:solidFill>
                            <a:srgbClr val="94A3B8"/>
                          </a:solidFill>
                          <a:latin typeface="Calibri" pitchFamily="34" charset="0"/>
                          <a:ea typeface="Calibri" pitchFamily="34" charset="-122"/>
                          <a:cs typeface="Calibri" pitchFamily="34" charset="-120"/>
                        </a:rPr>
                        <a:t>N/A</a:t>
                      </a:r>
                      <a:endParaRPr lang="en-US" sz="1050" dirty="0">
                        <a:latin typeface="Calibri" charset="0"/>
                        <a:ea typeface="Calibri" charset="0"/>
                        <a:cs typeface="Calibri"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E293B"/>
                    </a:solidFill>
                  </a:tcPr>
                </a:tc>
                <a:tc>
                  <a:txBody>
                    <a:bodyPr/>
                    <a:lstStyle/>
                    <a:p>
                      <a:pPr algn="ctr" indent="0" marL="0">
                        <a:buNone/>
                      </a:pPr>
                      <a:r>
                        <a:rPr lang="en-US" sz="1050" b="1" dirty="0">
                          <a:solidFill>
                            <a:srgbClr val="F59E0B"/>
                          </a:solidFill>
                          <a:latin typeface="Consolas" pitchFamily="34" charset="0"/>
                          <a:ea typeface="Consolas" pitchFamily="34" charset="-122"/>
                          <a:cs typeface="Consolas" pitchFamily="34" charset="-120"/>
                        </a:rPr>
                        <a:t>Unique</a:t>
                      </a:r>
                      <a:endParaRPr lang="en-US" sz="1050" dirty="0">
                        <a:latin typeface="Consolas" charset="0"/>
                        <a:ea typeface="Consolas" charset="0"/>
                        <a:cs typeface="Consolas"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E293B"/>
                    </a:solidFill>
                  </a:tcPr>
                </a:tc>
              </a:tr>
              <a:tr h="274320">
                <a:tc>
                  <a:txBody>
                    <a:bodyPr/>
                    <a:lstStyle/>
                    <a:p>
                      <a:pPr indent="0" marL="0">
                        <a:buNone/>
                      </a:pPr>
                      <a:r>
                        <a:rPr lang="en-US" sz="1050" dirty="0">
                          <a:solidFill>
                            <a:srgbClr val="CBD5E1"/>
                          </a:solidFill>
                          <a:latin typeface="Calibri" pitchFamily="34" charset="0"/>
                          <a:ea typeface="Calibri" pitchFamily="34" charset="-122"/>
                          <a:cs typeface="Calibri" pitchFamily="34" charset="-120"/>
                        </a:rPr>
                        <a:t>Agent Scale</a:t>
                      </a:r>
                      <a:endParaRPr lang="en-US" sz="1050" dirty="0">
                        <a:latin typeface="Calibri" charset="0"/>
                        <a:ea typeface="Calibri" charset="0"/>
                        <a:cs typeface="Calibri"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E293B"/>
                    </a:solidFill>
                  </a:tcPr>
                </a:tc>
                <a:tc>
                  <a:txBody>
                    <a:bodyPr/>
                    <a:lstStyle/>
                    <a:p>
                      <a:pPr algn="ctr" indent="0" marL="0">
                        <a:buNone/>
                      </a:pPr>
                      <a:r>
                        <a:rPr lang="en-US" sz="1050" b="1" dirty="0">
                          <a:solidFill>
                            <a:srgbClr val="06B6D4"/>
                          </a:solidFill>
                          <a:latin typeface="Consolas" pitchFamily="34" charset="0"/>
                          <a:ea typeface="Consolas" pitchFamily="34" charset="-122"/>
                          <a:cs typeface="Consolas" pitchFamily="34" charset="-120"/>
                        </a:rPr>
                        <a:t>100K</a:t>
                      </a:r>
                      <a:endParaRPr lang="en-US" sz="1050" dirty="0">
                        <a:latin typeface="Consolas" charset="0"/>
                        <a:ea typeface="Consolas" charset="0"/>
                        <a:cs typeface="Consolas"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E293B"/>
                    </a:solidFill>
                  </a:tcPr>
                </a:tc>
                <a:tc>
                  <a:txBody>
                    <a:bodyPr/>
                    <a:lstStyle/>
                    <a:p>
                      <a:pPr algn="ctr" indent="0" marL="0">
                        <a:buNone/>
                      </a:pPr>
                      <a:r>
                        <a:rPr lang="en-US" sz="1050" dirty="0">
                          <a:solidFill>
                            <a:srgbClr val="94A3B8"/>
                          </a:solidFill>
                          <a:latin typeface="Calibri" pitchFamily="34" charset="0"/>
                          <a:ea typeface="Calibri" pitchFamily="34" charset="-122"/>
                          <a:cs typeface="Calibri" pitchFamily="34" charset="-120"/>
                        </a:rPr>
                        <a:t>~10-50</a:t>
                      </a:r>
                      <a:endParaRPr lang="en-US" sz="1050" dirty="0">
                        <a:latin typeface="Calibri" charset="0"/>
                        <a:ea typeface="Calibri" charset="0"/>
                        <a:cs typeface="Calibri"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E293B"/>
                    </a:solidFill>
                  </a:tcPr>
                </a:tc>
                <a:tc>
                  <a:txBody>
                    <a:bodyPr/>
                    <a:lstStyle/>
                    <a:p>
                      <a:pPr algn="ctr" indent="0" marL="0">
                        <a:buNone/>
                      </a:pPr>
                      <a:r>
                        <a:rPr lang="en-US" sz="1050" b="1" dirty="0">
                          <a:solidFill>
                            <a:srgbClr val="F59E0B"/>
                          </a:solidFill>
                          <a:latin typeface="Consolas" pitchFamily="34" charset="0"/>
                          <a:ea typeface="Consolas" pitchFamily="34" charset="-122"/>
                          <a:cs typeface="Consolas" pitchFamily="34" charset="-120"/>
                        </a:rPr>
                        <a:t>2,000x+</a:t>
                      </a:r>
                      <a:endParaRPr lang="en-US" sz="1050" dirty="0">
                        <a:latin typeface="Consolas" charset="0"/>
                        <a:ea typeface="Consolas" charset="0"/>
                        <a:cs typeface="Consolas"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E293B"/>
                    </a:solidFill>
                  </a:tcPr>
                </a:tc>
              </a:tr>
              <a:tr h="274320">
                <a:tc>
                  <a:txBody>
                    <a:bodyPr/>
                    <a:lstStyle/>
                    <a:p>
                      <a:pPr indent="0" marL="0">
                        <a:buNone/>
                      </a:pPr>
                      <a:r>
                        <a:rPr lang="en-US" sz="1050" dirty="0">
                          <a:solidFill>
                            <a:srgbClr val="CBD5E1"/>
                          </a:solidFill>
                          <a:latin typeface="Calibri" pitchFamily="34" charset="0"/>
                          <a:ea typeface="Calibri" pitchFamily="34" charset="-122"/>
                          <a:cs typeface="Calibri" pitchFamily="34" charset="-120"/>
                        </a:rPr>
                        <a:t>SWE-Bench</a:t>
                      </a:r>
                      <a:endParaRPr lang="en-US" sz="1050" dirty="0">
                        <a:latin typeface="Calibri" charset="0"/>
                        <a:ea typeface="Calibri" charset="0"/>
                        <a:cs typeface="Calibri"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E293B"/>
                    </a:solidFill>
                  </a:tcPr>
                </a:tc>
                <a:tc>
                  <a:txBody>
                    <a:bodyPr/>
                    <a:lstStyle/>
                    <a:p>
                      <a:pPr algn="ctr" indent="0" marL="0">
                        <a:buNone/>
                      </a:pPr>
                      <a:r>
                        <a:rPr lang="en-US" sz="1050" b="1" dirty="0">
                          <a:solidFill>
                            <a:srgbClr val="06B6D4"/>
                          </a:solidFill>
                          <a:latin typeface="Consolas" pitchFamily="34" charset="0"/>
                          <a:ea typeface="Consolas" pitchFamily="34" charset="-122"/>
                          <a:cs typeface="Consolas" pitchFamily="34" charset="-120"/>
                        </a:rPr>
                        <a:t>84.8%</a:t>
                      </a:r>
                      <a:endParaRPr lang="en-US" sz="1050" dirty="0">
                        <a:latin typeface="Consolas" charset="0"/>
                        <a:ea typeface="Consolas" charset="0"/>
                        <a:cs typeface="Consolas"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E293B"/>
                    </a:solidFill>
                  </a:tcPr>
                </a:tc>
                <a:tc>
                  <a:txBody>
                    <a:bodyPr/>
                    <a:lstStyle/>
                    <a:p>
                      <a:pPr algn="ctr" indent="0" marL="0">
                        <a:buNone/>
                      </a:pPr>
                      <a:r>
                        <a:rPr lang="en-US" sz="1050" dirty="0">
                          <a:solidFill>
                            <a:srgbClr val="94A3B8"/>
                          </a:solidFill>
                          <a:latin typeface="Calibri" pitchFamily="34" charset="0"/>
                          <a:ea typeface="Calibri" pitchFamily="34" charset="-122"/>
                          <a:cs typeface="Calibri" pitchFamily="34" charset="-120"/>
                        </a:rPr>
                        <a:t>33.2% (GPT-4o)</a:t>
                      </a:r>
                      <a:endParaRPr lang="en-US" sz="1050" dirty="0">
                        <a:latin typeface="Calibri" charset="0"/>
                        <a:ea typeface="Calibri" charset="0"/>
                        <a:cs typeface="Calibri"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E293B"/>
                    </a:solidFill>
                  </a:tcPr>
                </a:tc>
                <a:tc>
                  <a:txBody>
                    <a:bodyPr/>
                    <a:lstStyle/>
                    <a:p>
                      <a:pPr algn="ctr" indent="0" marL="0">
                        <a:buNone/>
                      </a:pPr>
                      <a:r>
                        <a:rPr lang="en-US" sz="1050" b="1" dirty="0">
                          <a:solidFill>
                            <a:srgbClr val="F59E0B"/>
                          </a:solidFill>
                          <a:latin typeface="Consolas" pitchFamily="34" charset="0"/>
                          <a:ea typeface="Consolas" pitchFamily="34" charset="-122"/>
                          <a:cs typeface="Consolas" pitchFamily="34" charset="-120"/>
                        </a:rPr>
                        <a:t>2.5x</a:t>
                      </a:r>
                      <a:endParaRPr lang="en-US" sz="1050" dirty="0">
                        <a:latin typeface="Consolas" charset="0"/>
                        <a:ea typeface="Consolas" charset="0"/>
                        <a:cs typeface="Consolas" charset="0"/>
                      </a:endParaRPr>
                    </a:p>
                  </a:txBody>
                  <a:tcPr marL="91440" marR="91440" marT="45720" marB="45720">
                    <a:lnL w="6350" cap="flat" cmpd="sng" algn="ctr">
                      <a:solidFill>
                        <a:srgbClr val="2A3550"/>
                      </a:solidFill>
                      <a:prstDash val="solid"/>
                      <a:round/>
                      <a:headEnd type="none" w="med" len="med"/>
                      <a:tailEnd type="none" w="med" len="med"/>
                    </a:lnL>
                    <a:lnR w="6350" cap="flat" cmpd="sng" algn="ctr">
                      <a:solidFill>
                        <a:srgbClr val="2A3550"/>
                      </a:solidFill>
                      <a:prstDash val="solid"/>
                      <a:round/>
                      <a:headEnd type="none" w="med" len="med"/>
                      <a:tailEnd type="none" w="med" len="med"/>
                    </a:lnR>
                    <a:lnT w="6350" cap="flat" cmpd="sng" algn="ctr">
                      <a:solidFill>
                        <a:srgbClr val="2A3550"/>
                      </a:solidFill>
                      <a:prstDash val="solid"/>
                      <a:round/>
                      <a:headEnd type="none" w="med" len="med"/>
                      <a:tailEnd type="none" w="med" len="med"/>
                    </a:lnT>
                    <a:lnB w="6350" cap="flat" cmpd="sng" algn="ctr">
                      <a:solidFill>
                        <a:srgbClr val="2A3550"/>
                      </a:solidFill>
                      <a:prstDash val="solid"/>
                      <a:round/>
                      <a:headEnd type="none" w="med" len="med"/>
                      <a:tailEnd type="none" w="med" len="med"/>
                    </a:lnB>
                    <a:solidFill>
                      <a:srgbClr val="1E293B"/>
                    </a:solidFill>
                  </a:tcPr>
                </a:tc>
              </a:tr>
            </a:tbl>
          </a:graphicData>
        </a:graphic>
      </p:graphicFrame>
      <p:sp>
        <p:nvSpPr>
          <p:cNvPr id="6" name="Text 3"/>
          <p:cNvSpPr/>
          <p:nvPr/>
        </p:nvSpPr>
        <p:spPr>
          <a:xfrm>
            <a:off x="731520" y="3977640"/>
            <a:ext cx="1828800" cy="365760"/>
          </a:xfrm>
          <a:prstGeom prst="rect">
            <a:avLst/>
          </a:prstGeom>
          <a:noFill/>
          <a:ln/>
        </p:spPr>
        <p:txBody>
          <a:bodyPr wrap="square" lIns="0" tIns="0" rIns="0" bIns="0" rtlCol="0" anchor="ctr"/>
          <a:lstStyle/>
          <a:p>
            <a:pPr indent="0" marL="0">
              <a:buNone/>
            </a:pPr>
            <a:r>
              <a:rPr lang="en-US" sz="2200" b="1" dirty="0">
                <a:solidFill>
                  <a:srgbClr val="06B6D4"/>
                </a:solidFill>
                <a:latin typeface="Consolas" pitchFamily="34" charset="0"/>
                <a:ea typeface="Consolas" pitchFamily="34" charset="-122"/>
                <a:cs typeface="Consolas" pitchFamily="34" charset="-120"/>
              </a:rPr>
              <a:t>8,000x</a:t>
            </a:r>
            <a:endParaRPr lang="en-US" sz="2200" dirty="0"/>
          </a:p>
        </p:txBody>
      </p:sp>
      <p:sp>
        <p:nvSpPr>
          <p:cNvPr id="7" name="Text 4"/>
          <p:cNvSpPr/>
          <p:nvPr/>
        </p:nvSpPr>
        <p:spPr>
          <a:xfrm>
            <a:off x="731520" y="4297680"/>
            <a:ext cx="1828800" cy="182880"/>
          </a:xfrm>
          <a:prstGeom prst="rect">
            <a:avLst/>
          </a:prstGeom>
          <a:noFill/>
          <a:ln/>
        </p:spPr>
        <p:txBody>
          <a:bodyPr wrap="square" lIns="0" tIns="0" rIns="0" bIns="0" rtlCol="0" anchor="ctr"/>
          <a:lstStyle/>
          <a:p>
            <a:pPr indent="0" marL="0">
              <a:buNone/>
            </a:pPr>
            <a:r>
              <a:rPr lang="en-US" sz="1000" dirty="0">
                <a:solidFill>
                  <a:srgbClr val="94A3B8"/>
                </a:solidFill>
                <a:latin typeface="Calibri" pitchFamily="34" charset="0"/>
                <a:ea typeface="Calibri" pitchFamily="34" charset="-122"/>
                <a:cs typeface="Calibri" pitchFamily="34" charset="-120"/>
              </a:rPr>
              <a:t>Vector Search</a:t>
            </a:r>
            <a:endParaRPr lang="en-US" sz="1000" dirty="0"/>
          </a:p>
        </p:txBody>
      </p:sp>
      <p:sp>
        <p:nvSpPr>
          <p:cNvPr id="8" name="Text 5"/>
          <p:cNvSpPr/>
          <p:nvPr/>
        </p:nvSpPr>
        <p:spPr>
          <a:xfrm>
            <a:off x="2834640" y="3977640"/>
            <a:ext cx="1828800" cy="365760"/>
          </a:xfrm>
          <a:prstGeom prst="rect">
            <a:avLst/>
          </a:prstGeom>
          <a:noFill/>
          <a:ln/>
        </p:spPr>
        <p:txBody>
          <a:bodyPr wrap="square" lIns="0" tIns="0" rIns="0" bIns="0" rtlCol="0" anchor="ctr"/>
          <a:lstStyle/>
          <a:p>
            <a:pPr indent="0" marL="0">
              <a:buNone/>
            </a:pPr>
            <a:r>
              <a:rPr lang="en-US" sz="2200" b="1" dirty="0">
                <a:solidFill>
                  <a:srgbClr val="06B6D4"/>
                </a:solidFill>
                <a:latin typeface="Consolas" pitchFamily="34" charset="0"/>
                <a:ea typeface="Consolas" pitchFamily="34" charset="-122"/>
                <a:cs typeface="Consolas" pitchFamily="34" charset="-120"/>
              </a:rPr>
              <a:t>4,000x</a:t>
            </a:r>
            <a:endParaRPr lang="en-US" sz="2200" dirty="0"/>
          </a:p>
        </p:txBody>
      </p:sp>
      <p:sp>
        <p:nvSpPr>
          <p:cNvPr id="9" name="Text 6"/>
          <p:cNvSpPr/>
          <p:nvPr/>
        </p:nvSpPr>
        <p:spPr>
          <a:xfrm>
            <a:off x="2834640" y="4297680"/>
            <a:ext cx="1828800" cy="182880"/>
          </a:xfrm>
          <a:prstGeom prst="rect">
            <a:avLst/>
          </a:prstGeom>
          <a:noFill/>
          <a:ln/>
        </p:spPr>
        <p:txBody>
          <a:bodyPr wrap="square" lIns="0" tIns="0" rIns="0" bIns="0" rtlCol="0" anchor="ctr"/>
          <a:lstStyle/>
          <a:p>
            <a:pPr indent="0" marL="0">
              <a:buNone/>
            </a:pPr>
            <a:r>
              <a:rPr lang="en-US" sz="1000" dirty="0">
                <a:solidFill>
                  <a:srgbClr val="94A3B8"/>
                </a:solidFill>
                <a:latin typeface="Calibri" pitchFamily="34" charset="0"/>
                <a:ea typeface="Calibri" pitchFamily="34" charset="-122"/>
                <a:cs typeface="Calibri" pitchFamily="34" charset="-120"/>
              </a:rPr>
              <a:t>Stream Processing</a:t>
            </a:r>
            <a:endParaRPr lang="en-US" sz="1000" dirty="0"/>
          </a:p>
        </p:txBody>
      </p:sp>
      <p:sp>
        <p:nvSpPr>
          <p:cNvPr id="10" name="Text 7"/>
          <p:cNvSpPr/>
          <p:nvPr/>
        </p:nvSpPr>
        <p:spPr>
          <a:xfrm>
            <a:off x="4937760" y="3977640"/>
            <a:ext cx="1828800" cy="365760"/>
          </a:xfrm>
          <a:prstGeom prst="rect">
            <a:avLst/>
          </a:prstGeom>
          <a:noFill/>
          <a:ln/>
        </p:spPr>
        <p:txBody>
          <a:bodyPr wrap="square" lIns="0" tIns="0" rIns="0" bIns="0" rtlCol="0" anchor="ctr"/>
          <a:lstStyle/>
          <a:p>
            <a:pPr indent="0" marL="0">
              <a:buNone/>
            </a:pPr>
            <a:r>
              <a:rPr lang="en-US" sz="2200" b="1" dirty="0">
                <a:solidFill>
                  <a:srgbClr val="06B6D4"/>
                </a:solidFill>
                <a:latin typeface="Consolas" pitchFamily="34" charset="0"/>
                <a:ea typeface="Consolas" pitchFamily="34" charset="-122"/>
                <a:cs typeface="Consolas" pitchFamily="34" charset="-120"/>
              </a:rPr>
              <a:t>167x</a:t>
            </a:r>
            <a:endParaRPr lang="en-US" sz="2200" dirty="0"/>
          </a:p>
        </p:txBody>
      </p:sp>
      <p:sp>
        <p:nvSpPr>
          <p:cNvPr id="11" name="Text 8"/>
          <p:cNvSpPr/>
          <p:nvPr/>
        </p:nvSpPr>
        <p:spPr>
          <a:xfrm>
            <a:off x="4937760" y="4297680"/>
            <a:ext cx="1828800" cy="182880"/>
          </a:xfrm>
          <a:prstGeom prst="rect">
            <a:avLst/>
          </a:prstGeom>
          <a:noFill/>
          <a:ln/>
        </p:spPr>
        <p:txBody>
          <a:bodyPr wrap="square" lIns="0" tIns="0" rIns="0" bIns="0" rtlCol="0" anchor="ctr"/>
          <a:lstStyle/>
          <a:p>
            <a:pPr indent="0" marL="0">
              <a:buNone/>
            </a:pPr>
            <a:r>
              <a:rPr lang="en-US" sz="1000" dirty="0">
                <a:solidFill>
                  <a:srgbClr val="94A3B8"/>
                </a:solidFill>
                <a:latin typeface="Calibri" pitchFamily="34" charset="0"/>
                <a:ea typeface="Calibri" pitchFamily="34" charset="-122"/>
                <a:cs typeface="Calibri" pitchFamily="34" charset="-120"/>
              </a:rPr>
              <a:t>Threat Detection</a:t>
            </a:r>
            <a:endParaRPr lang="en-US" sz="1000" dirty="0"/>
          </a:p>
        </p:txBody>
      </p:sp>
      <p:sp>
        <p:nvSpPr>
          <p:cNvPr id="12" name="Text 9"/>
          <p:cNvSpPr/>
          <p:nvPr/>
        </p:nvSpPr>
        <p:spPr>
          <a:xfrm>
            <a:off x="7040880" y="3977640"/>
            <a:ext cx="1828800" cy="365760"/>
          </a:xfrm>
          <a:prstGeom prst="rect">
            <a:avLst/>
          </a:prstGeom>
          <a:noFill/>
          <a:ln/>
        </p:spPr>
        <p:txBody>
          <a:bodyPr wrap="square" lIns="0" tIns="0" rIns="0" bIns="0" rtlCol="0" anchor="ctr"/>
          <a:lstStyle/>
          <a:p>
            <a:pPr indent="0" marL="0">
              <a:buNone/>
            </a:pPr>
            <a:r>
              <a:rPr lang="en-US" sz="2200" b="1" dirty="0">
                <a:solidFill>
                  <a:srgbClr val="06B6D4"/>
                </a:solidFill>
                <a:latin typeface="Consolas" pitchFamily="34" charset="0"/>
                <a:ea typeface="Consolas" pitchFamily="34" charset="-122"/>
                <a:cs typeface="Consolas" pitchFamily="34" charset="-120"/>
              </a:rPr>
              <a:t>18,000x</a:t>
            </a:r>
            <a:endParaRPr lang="en-US" sz="2200" dirty="0"/>
          </a:p>
        </p:txBody>
      </p:sp>
      <p:sp>
        <p:nvSpPr>
          <p:cNvPr id="13" name="Text 10"/>
          <p:cNvSpPr/>
          <p:nvPr/>
        </p:nvSpPr>
        <p:spPr>
          <a:xfrm>
            <a:off x="7040880" y="4297680"/>
            <a:ext cx="1828800" cy="182880"/>
          </a:xfrm>
          <a:prstGeom prst="rect">
            <a:avLst/>
          </a:prstGeom>
          <a:noFill/>
          <a:ln/>
        </p:spPr>
        <p:txBody>
          <a:bodyPr wrap="square" lIns="0" tIns="0" rIns="0" bIns="0" rtlCol="0" anchor="ctr"/>
          <a:lstStyle/>
          <a:p>
            <a:pPr indent="0" marL="0">
              <a:buNone/>
            </a:pPr>
            <a:r>
              <a:rPr lang="en-US" sz="1000" dirty="0">
                <a:solidFill>
                  <a:srgbClr val="94A3B8"/>
                </a:solidFill>
                <a:latin typeface="Calibri" pitchFamily="34" charset="0"/>
                <a:ea typeface="Calibri" pitchFamily="34" charset="-122"/>
                <a:cs typeface="Calibri" pitchFamily="34" charset="-120"/>
              </a:rPr>
              <a:t>Smaller Runtime</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6B6D4"/>
          </a:solidFill>
          <a:ln/>
        </p:spPr>
      </p:sp>
      <p:sp>
        <p:nvSpPr>
          <p:cNvPr id="3" name="Text 1"/>
          <p:cNvSpPr/>
          <p:nvPr/>
        </p:nvSpPr>
        <p:spPr>
          <a:xfrm>
            <a:off x="731520" y="320040"/>
            <a:ext cx="7315200" cy="457200"/>
          </a:xfrm>
          <a:prstGeom prst="rect">
            <a:avLst/>
          </a:prstGeom>
          <a:noFill/>
          <a:ln/>
        </p:spPr>
        <p:txBody>
          <a:bodyPr wrap="square" lIns="0" tIns="0" rIns="0" bIns="0" rtlCol="0" anchor="ctr"/>
          <a:lstStyle/>
          <a:p>
            <a:pPr indent="0" marL="0">
              <a:buNone/>
            </a:pPr>
            <a:r>
              <a:rPr lang="en-US" sz="2800" b="1" dirty="0">
                <a:solidFill>
                  <a:srgbClr val="F8FAFC"/>
                </a:solidFill>
                <a:latin typeface="Cambria" pitchFamily="34" charset="0"/>
                <a:ea typeface="Cambria" pitchFamily="34" charset="-122"/>
                <a:cs typeface="Cambria" pitchFamily="34" charset="-120"/>
              </a:rPr>
              <a:t>Integration Architecture</a:t>
            </a:r>
            <a:endParaRPr lang="en-US" sz="2800" dirty="0"/>
          </a:p>
        </p:txBody>
      </p:sp>
      <p:sp>
        <p:nvSpPr>
          <p:cNvPr id="4" name="Text 2"/>
          <p:cNvSpPr/>
          <p:nvPr/>
        </p:nvSpPr>
        <p:spPr>
          <a:xfrm>
            <a:off x="731520" y="777240"/>
            <a:ext cx="7315200" cy="274320"/>
          </a:xfrm>
          <a:prstGeom prst="rect">
            <a:avLst/>
          </a:prstGeom>
          <a:noFill/>
          <a:ln/>
        </p:spPr>
        <p:txBody>
          <a:bodyPr wrap="square" lIns="0" tIns="0" rIns="0" bIns="0" rtlCol="0" anchor="ctr"/>
          <a:lstStyle/>
          <a:p>
            <a:pPr indent="0" marL="0">
              <a:buNone/>
            </a:pPr>
            <a:r>
              <a:rPr lang="en-US" sz="1300" dirty="0">
                <a:solidFill>
                  <a:srgbClr val="94A3B8"/>
                </a:solidFill>
                <a:latin typeface="Calibri" pitchFamily="34" charset="0"/>
                <a:ea typeface="Calibri" pitchFamily="34" charset="-122"/>
                <a:cs typeface="Calibri" pitchFamily="34" charset="-120"/>
              </a:rPr>
              <a:t>MCP protocol. PostgreSQL-native. Drop-in pgvector replacement.</a:t>
            </a:r>
            <a:endParaRPr lang="en-US" sz="1300" dirty="0"/>
          </a:p>
        </p:txBody>
      </p:sp>
      <p:sp>
        <p:nvSpPr>
          <p:cNvPr id="5" name="Shape 3"/>
          <p:cNvSpPr/>
          <p:nvPr/>
        </p:nvSpPr>
        <p:spPr>
          <a:xfrm>
            <a:off x="731520" y="1188720"/>
            <a:ext cx="3749040" cy="1645920"/>
          </a:xfrm>
          <a:prstGeom prst="rect">
            <a:avLst/>
          </a:prstGeom>
          <a:solidFill>
            <a:srgbClr val="1E293B"/>
          </a:solidFill>
          <a:ln/>
          <a:effectLst>
            <a:outerShdw sx="100000" sy="100000" kx="0" ky="0" algn="bl" rotWithShape="0" blurRad="76200" dist="25400" dir="8100000">
              <a:srgbClr val="000000">
                <a:alpha val="25000"/>
              </a:srgbClr>
            </a:outerShdw>
          </a:effectLst>
        </p:spPr>
      </p:sp>
      <p:sp>
        <p:nvSpPr>
          <p:cNvPr id="6" name="Shape 4"/>
          <p:cNvSpPr/>
          <p:nvPr/>
        </p:nvSpPr>
        <p:spPr>
          <a:xfrm>
            <a:off x="731520" y="1188720"/>
            <a:ext cx="3749040" cy="36576"/>
          </a:xfrm>
          <a:prstGeom prst="rect">
            <a:avLst/>
          </a:prstGeom>
          <a:solidFill>
            <a:srgbClr val="06B6D4"/>
          </a:solidFill>
          <a:ln/>
        </p:spPr>
      </p:sp>
      <p:sp>
        <p:nvSpPr>
          <p:cNvPr id="7" name="Text 5"/>
          <p:cNvSpPr/>
          <p:nvPr/>
        </p:nvSpPr>
        <p:spPr>
          <a:xfrm>
            <a:off x="914400" y="1280160"/>
            <a:ext cx="3383280" cy="228600"/>
          </a:xfrm>
          <a:prstGeom prst="rect">
            <a:avLst/>
          </a:prstGeom>
          <a:noFill/>
          <a:ln/>
        </p:spPr>
        <p:txBody>
          <a:bodyPr wrap="square" lIns="0" tIns="0" rIns="0" bIns="0" rtlCol="0" anchor="ctr"/>
          <a:lstStyle/>
          <a:p>
            <a:pPr indent="0" marL="0">
              <a:buNone/>
            </a:pPr>
            <a:r>
              <a:rPr lang="en-US" sz="1200" b="1" dirty="0">
                <a:solidFill>
                  <a:srgbClr val="06B6D4"/>
                </a:solidFill>
                <a:latin typeface="Consolas" pitchFamily="34" charset="0"/>
                <a:ea typeface="Consolas" pitchFamily="34" charset="-122"/>
                <a:cs typeface="Consolas" pitchFamily="34" charset="-120"/>
              </a:rPr>
              <a:t>MCP Protocol: 96 Tools</a:t>
            </a:r>
            <a:endParaRPr lang="en-US" sz="1200" dirty="0"/>
          </a:p>
        </p:txBody>
      </p:sp>
      <p:sp>
        <p:nvSpPr>
          <p:cNvPr id="8" name="Text 6"/>
          <p:cNvSpPr/>
          <p:nvPr/>
        </p:nvSpPr>
        <p:spPr>
          <a:xfrm>
            <a:off x="914400" y="1600200"/>
            <a:ext cx="3383280" cy="1097280"/>
          </a:xfrm>
          <a:prstGeom prst="rect">
            <a:avLst/>
          </a:prstGeom>
          <a:noFill/>
          <a:ln/>
        </p:spPr>
        <p:txBody>
          <a:bodyPr wrap="square" rtlCol="0" anchor="ctr"/>
          <a:lstStyle/>
          <a:p>
            <a:pPr marL="342900" indent="-342900">
              <a:spcAft>
                <a:spcPts val="500"/>
              </a:spcAft>
              <a:buSzPct val="100000"/>
              <a:buChar char="•"/>
            </a:pPr>
            <a:r>
              <a:rPr lang="en-US" sz="1050" dirty="0">
                <a:solidFill>
                  <a:srgbClr val="CBD5E1"/>
                </a:solidFill>
                <a:latin typeface="Calibri" pitchFamily="34" charset="0"/>
                <a:ea typeface="Calibri" pitchFamily="34" charset="-122"/>
                <a:cs typeface="Calibri" pitchFamily="34" charset="-120"/>
              </a:rPr>
              <a:t>Deferred loading for performance</a:t>
            </a:r>
            <a:endParaRPr lang="en-US" sz="1050" dirty="0"/>
          </a:p>
          <a:p>
            <a:pPr marL="342900" indent="-342900">
              <a:spcAft>
                <a:spcPts val="500"/>
              </a:spcAft>
              <a:buSzPct val="100000"/>
              <a:buChar char="•"/>
            </a:pPr>
            <a:r>
              <a:rPr lang="en-US" sz="1050" dirty="0">
                <a:solidFill>
                  <a:srgbClr val="CBD5E1"/>
                </a:solidFill>
                <a:latin typeface="Calibri" pitchFamily="34" charset="0"/>
                <a:ea typeface="Calibri" pitchFamily="34" charset="-122"/>
                <a:cs typeface="Calibri" pitchFamily="34" charset="-120"/>
              </a:rPr>
              <a:t>Agent orchestration + memory + search</a:t>
            </a:r>
            <a:endParaRPr lang="en-US" sz="1050" dirty="0"/>
          </a:p>
          <a:p>
            <a:pPr marL="342900" indent="-342900">
              <a:spcAft>
                <a:spcPts val="500"/>
              </a:spcAft>
              <a:buSzPct val="100000"/>
              <a:buChar char="•"/>
            </a:pPr>
            <a:r>
              <a:rPr lang="en-US" sz="1050" dirty="0">
                <a:solidFill>
                  <a:srgbClr val="CBD5E1"/>
                </a:solidFill>
                <a:latin typeface="Calibri" pitchFamily="34" charset="0"/>
                <a:ea typeface="Calibri" pitchFamily="34" charset="-122"/>
                <a:cs typeface="Calibri" pitchFamily="34" charset="-120"/>
              </a:rPr>
              <a:t>Task management + workflow engine</a:t>
            </a:r>
            <a:endParaRPr lang="en-US" sz="1050" dirty="0"/>
          </a:p>
          <a:p>
            <a:pPr marL="342900" indent="-342900">
              <a:spcAft>
                <a:spcPts val="500"/>
              </a:spcAft>
              <a:buSzPct val="100000"/>
              <a:buChar char="•"/>
            </a:pPr>
            <a:r>
              <a:rPr lang="en-US" sz="1050" dirty="0">
                <a:solidFill>
                  <a:srgbClr val="CBD5E1"/>
                </a:solidFill>
                <a:latin typeface="Calibri" pitchFamily="34" charset="0"/>
                <a:ea typeface="Calibri" pitchFamily="34" charset="-122"/>
                <a:cs typeface="Calibri" pitchFamily="34" charset="-120"/>
              </a:rPr>
              <a:t>Security scanning + graph analytics</a:t>
            </a:r>
            <a:endParaRPr lang="en-US" sz="1050" dirty="0"/>
          </a:p>
        </p:txBody>
      </p:sp>
      <p:sp>
        <p:nvSpPr>
          <p:cNvPr id="9" name="Shape 7"/>
          <p:cNvSpPr/>
          <p:nvPr/>
        </p:nvSpPr>
        <p:spPr>
          <a:xfrm>
            <a:off x="4663440" y="1188720"/>
            <a:ext cx="3749040" cy="1645920"/>
          </a:xfrm>
          <a:prstGeom prst="rect">
            <a:avLst/>
          </a:prstGeom>
          <a:solidFill>
            <a:srgbClr val="1E293B"/>
          </a:solidFill>
          <a:ln/>
          <a:effectLst>
            <a:outerShdw sx="100000" sy="100000" kx="0" ky="0" algn="bl" rotWithShape="0" blurRad="76200" dist="25400" dir="8100000">
              <a:srgbClr val="000000">
                <a:alpha val="25000"/>
              </a:srgbClr>
            </a:outerShdw>
          </a:effectLst>
        </p:spPr>
      </p:sp>
      <p:sp>
        <p:nvSpPr>
          <p:cNvPr id="10" name="Shape 8"/>
          <p:cNvSpPr/>
          <p:nvPr/>
        </p:nvSpPr>
        <p:spPr>
          <a:xfrm>
            <a:off x="4663440" y="1188720"/>
            <a:ext cx="3749040" cy="36576"/>
          </a:xfrm>
          <a:prstGeom prst="rect">
            <a:avLst/>
          </a:prstGeom>
          <a:solidFill>
            <a:srgbClr val="0EA5E9"/>
          </a:solidFill>
          <a:ln/>
        </p:spPr>
      </p:sp>
      <p:sp>
        <p:nvSpPr>
          <p:cNvPr id="11" name="Text 9"/>
          <p:cNvSpPr/>
          <p:nvPr/>
        </p:nvSpPr>
        <p:spPr>
          <a:xfrm>
            <a:off x="4846320" y="1280160"/>
            <a:ext cx="3383280" cy="228600"/>
          </a:xfrm>
          <a:prstGeom prst="rect">
            <a:avLst/>
          </a:prstGeom>
          <a:noFill/>
          <a:ln/>
        </p:spPr>
        <p:txBody>
          <a:bodyPr wrap="square" lIns="0" tIns="0" rIns="0" bIns="0" rtlCol="0" anchor="ctr"/>
          <a:lstStyle/>
          <a:p>
            <a:pPr indent="0" marL="0">
              <a:buNone/>
            </a:pPr>
            <a:r>
              <a:rPr lang="en-US" sz="1200" b="1" dirty="0">
                <a:solidFill>
                  <a:srgbClr val="0EA5E9"/>
                </a:solidFill>
                <a:latin typeface="Consolas" pitchFamily="34" charset="0"/>
                <a:ea typeface="Consolas" pitchFamily="34" charset="-122"/>
                <a:cs typeface="Consolas" pitchFamily="34" charset="-120"/>
              </a:rPr>
              <a:t>PostgreSQL-Native</a:t>
            </a:r>
            <a:endParaRPr lang="en-US" sz="1200" dirty="0"/>
          </a:p>
        </p:txBody>
      </p:sp>
      <p:sp>
        <p:nvSpPr>
          <p:cNvPr id="12" name="Text 10"/>
          <p:cNvSpPr/>
          <p:nvPr/>
        </p:nvSpPr>
        <p:spPr>
          <a:xfrm>
            <a:off x="4846320" y="1600200"/>
            <a:ext cx="3383280" cy="1097280"/>
          </a:xfrm>
          <a:prstGeom prst="rect">
            <a:avLst/>
          </a:prstGeom>
          <a:noFill/>
          <a:ln/>
        </p:spPr>
        <p:txBody>
          <a:bodyPr wrap="square" rtlCol="0" anchor="ctr"/>
          <a:lstStyle/>
          <a:p>
            <a:pPr marL="342900" indent="-342900">
              <a:spcAft>
                <a:spcPts val="500"/>
              </a:spcAft>
              <a:buSzPct val="100000"/>
              <a:buChar char="•"/>
            </a:pPr>
            <a:r>
              <a:rPr lang="en-US" sz="1050" dirty="0">
                <a:solidFill>
                  <a:srgbClr val="CBD5E1"/>
                </a:solidFill>
                <a:latin typeface="Calibri" pitchFamily="34" charset="0"/>
                <a:ea typeface="Calibri" pitchFamily="34" charset="-122"/>
                <a:cs typeface="Calibri" pitchFamily="34" charset="-120"/>
              </a:rPr>
              <a:t>No separate vector database deployment</a:t>
            </a:r>
            <a:endParaRPr lang="en-US" sz="1050" dirty="0"/>
          </a:p>
          <a:p>
            <a:pPr marL="342900" indent="-342900">
              <a:spcAft>
                <a:spcPts val="500"/>
              </a:spcAft>
              <a:buSzPct val="100000"/>
              <a:buChar char="•"/>
            </a:pPr>
            <a:r>
              <a:rPr lang="en-US" sz="1050" dirty="0">
                <a:solidFill>
                  <a:srgbClr val="CBD5E1"/>
                </a:solidFill>
                <a:latin typeface="Calibri" pitchFamily="34" charset="0"/>
                <a:ea typeface="Calibri" pitchFamily="34" charset="-122"/>
                <a:cs typeface="Calibri" pitchFamily="34" charset="-120"/>
              </a:rPr>
              <a:t>290+ SQL functions in-process</a:t>
            </a:r>
            <a:endParaRPr lang="en-US" sz="1050" dirty="0"/>
          </a:p>
          <a:p>
            <a:pPr marL="342900" indent="-342900">
              <a:spcAft>
                <a:spcPts val="500"/>
              </a:spcAft>
              <a:buSzPct val="100000"/>
              <a:buChar char="•"/>
            </a:pPr>
            <a:r>
              <a:rPr lang="en-US" sz="1050" dirty="0">
                <a:solidFill>
                  <a:srgbClr val="CBD5E1"/>
                </a:solidFill>
                <a:latin typeface="Calibri" pitchFamily="34" charset="0"/>
                <a:ea typeface="Calibri" pitchFamily="34" charset="-122"/>
                <a:cs typeface="Calibri" pitchFamily="34" charset="-120"/>
              </a:rPr>
              <a:t>ACID transactions on vector ops</a:t>
            </a:r>
            <a:endParaRPr lang="en-US" sz="1050" dirty="0"/>
          </a:p>
          <a:p>
            <a:pPr marL="342900" indent="-342900">
              <a:spcAft>
                <a:spcPts val="500"/>
              </a:spcAft>
              <a:buSzPct val="100000"/>
              <a:buChar char="•"/>
            </a:pPr>
            <a:r>
              <a:rPr lang="en-US" sz="1050" dirty="0">
                <a:solidFill>
                  <a:srgbClr val="CBD5E1"/>
                </a:solidFill>
                <a:latin typeface="Calibri" pitchFamily="34" charset="0"/>
                <a:ea typeface="Calibri" pitchFamily="34" charset="-122"/>
                <a:cs typeface="Calibri" pitchFamily="34" charset="-120"/>
              </a:rPr>
              <a:t>Drop-in pgvector migration</a:t>
            </a:r>
            <a:endParaRPr lang="en-US" sz="1050" dirty="0"/>
          </a:p>
        </p:txBody>
      </p:sp>
      <p:sp>
        <p:nvSpPr>
          <p:cNvPr id="13" name="Text 11"/>
          <p:cNvSpPr/>
          <p:nvPr/>
        </p:nvSpPr>
        <p:spPr>
          <a:xfrm>
            <a:off x="731520" y="3108960"/>
            <a:ext cx="3657600" cy="274320"/>
          </a:xfrm>
          <a:prstGeom prst="rect">
            <a:avLst/>
          </a:prstGeom>
          <a:noFill/>
          <a:ln/>
        </p:spPr>
        <p:txBody>
          <a:bodyPr wrap="square" lIns="0" tIns="0" rIns="0" bIns="0" rtlCol="0" anchor="ctr"/>
          <a:lstStyle/>
          <a:p>
            <a:pPr indent="0" marL="0">
              <a:buNone/>
            </a:pPr>
            <a:r>
              <a:rPr lang="en-US" sz="1200" b="1" dirty="0">
                <a:solidFill>
                  <a:srgbClr val="F59E0B"/>
                </a:solidFill>
                <a:latin typeface="Consolas" pitchFamily="34" charset="0"/>
                <a:ea typeface="Consolas" pitchFamily="34" charset="-122"/>
                <a:cs typeface="Consolas" pitchFamily="34" charset="-120"/>
              </a:rPr>
              <a:t>APIs, SDKs &amp; Integration Points</a:t>
            </a:r>
            <a:endParaRPr lang="en-US" sz="1200" dirty="0"/>
          </a:p>
        </p:txBody>
      </p:sp>
      <p:sp>
        <p:nvSpPr>
          <p:cNvPr id="14" name="Shape 12"/>
          <p:cNvSpPr/>
          <p:nvPr/>
        </p:nvSpPr>
        <p:spPr>
          <a:xfrm>
            <a:off x="731520" y="3474720"/>
            <a:ext cx="2468880" cy="411480"/>
          </a:xfrm>
          <a:prstGeom prst="rect">
            <a:avLst/>
          </a:prstGeom>
          <a:solidFill>
            <a:srgbClr val="1A2744"/>
          </a:solidFill>
          <a:ln/>
        </p:spPr>
      </p:sp>
      <p:sp>
        <p:nvSpPr>
          <p:cNvPr id="15" name="Text 13"/>
          <p:cNvSpPr/>
          <p:nvPr/>
        </p:nvSpPr>
        <p:spPr>
          <a:xfrm>
            <a:off x="822960" y="3520440"/>
            <a:ext cx="1188720" cy="320040"/>
          </a:xfrm>
          <a:prstGeom prst="rect">
            <a:avLst/>
          </a:prstGeom>
          <a:noFill/>
          <a:ln/>
        </p:spPr>
        <p:txBody>
          <a:bodyPr wrap="square" lIns="0" tIns="0" rIns="0" bIns="0" rtlCol="0" anchor="ctr"/>
          <a:lstStyle/>
          <a:p>
            <a:pPr indent="0" marL="0">
              <a:buNone/>
            </a:pPr>
            <a:r>
              <a:rPr lang="en-US" sz="1000" b="1" dirty="0">
                <a:solidFill>
                  <a:srgbClr val="06B6D4"/>
                </a:solidFill>
                <a:latin typeface="Consolas" pitchFamily="34" charset="0"/>
                <a:ea typeface="Consolas" pitchFamily="34" charset="-122"/>
                <a:cs typeface="Consolas" pitchFamily="34" charset="-120"/>
              </a:rPr>
              <a:t>REST API</a:t>
            </a:r>
            <a:endParaRPr lang="en-US" sz="1000" dirty="0"/>
          </a:p>
        </p:txBody>
      </p:sp>
      <p:sp>
        <p:nvSpPr>
          <p:cNvPr id="16" name="Text 14"/>
          <p:cNvSpPr/>
          <p:nvPr/>
        </p:nvSpPr>
        <p:spPr>
          <a:xfrm>
            <a:off x="2011680" y="3520440"/>
            <a:ext cx="1097280" cy="320040"/>
          </a:xfrm>
          <a:prstGeom prst="rect">
            <a:avLst/>
          </a:prstGeom>
          <a:noFill/>
          <a:ln/>
        </p:spPr>
        <p:txBody>
          <a:bodyPr wrap="square" lIns="0" tIns="0" rIns="0" bIns="0" rtlCol="0" anchor="ctr"/>
          <a:lstStyle/>
          <a:p>
            <a:pPr indent="0" marL="0">
              <a:buNone/>
            </a:pPr>
            <a:r>
              <a:rPr lang="en-US" sz="1000" dirty="0">
                <a:solidFill>
                  <a:srgbClr val="94A3B8"/>
                </a:solidFill>
                <a:latin typeface="Calibri" pitchFamily="34" charset="0"/>
                <a:ea typeface="Calibri" pitchFamily="34" charset="-122"/>
                <a:cs typeface="Calibri" pitchFamily="34" charset="-120"/>
              </a:rPr>
              <a:t>Standard HTTP</a:t>
            </a:r>
            <a:endParaRPr lang="en-US" sz="1000" dirty="0"/>
          </a:p>
        </p:txBody>
      </p:sp>
      <p:sp>
        <p:nvSpPr>
          <p:cNvPr id="17" name="Shape 15"/>
          <p:cNvSpPr/>
          <p:nvPr/>
        </p:nvSpPr>
        <p:spPr>
          <a:xfrm>
            <a:off x="3383280" y="3474720"/>
            <a:ext cx="2468880" cy="411480"/>
          </a:xfrm>
          <a:prstGeom prst="rect">
            <a:avLst/>
          </a:prstGeom>
          <a:solidFill>
            <a:srgbClr val="1A2744"/>
          </a:solidFill>
          <a:ln/>
        </p:spPr>
      </p:sp>
      <p:sp>
        <p:nvSpPr>
          <p:cNvPr id="18" name="Text 16"/>
          <p:cNvSpPr/>
          <p:nvPr/>
        </p:nvSpPr>
        <p:spPr>
          <a:xfrm>
            <a:off x="3474720" y="3520440"/>
            <a:ext cx="1188720" cy="320040"/>
          </a:xfrm>
          <a:prstGeom prst="rect">
            <a:avLst/>
          </a:prstGeom>
          <a:noFill/>
          <a:ln/>
        </p:spPr>
        <p:txBody>
          <a:bodyPr wrap="square" lIns="0" tIns="0" rIns="0" bIns="0" rtlCol="0" anchor="ctr"/>
          <a:lstStyle/>
          <a:p>
            <a:pPr indent="0" marL="0">
              <a:buNone/>
            </a:pPr>
            <a:r>
              <a:rPr lang="en-US" sz="1000" b="1" dirty="0">
                <a:solidFill>
                  <a:srgbClr val="06B6D4"/>
                </a:solidFill>
                <a:latin typeface="Consolas" pitchFamily="34" charset="0"/>
                <a:ea typeface="Consolas" pitchFamily="34" charset="-122"/>
                <a:cs typeface="Consolas" pitchFamily="34" charset="-120"/>
              </a:rPr>
              <a:t>gRPC</a:t>
            </a:r>
            <a:endParaRPr lang="en-US" sz="1000" dirty="0"/>
          </a:p>
        </p:txBody>
      </p:sp>
      <p:sp>
        <p:nvSpPr>
          <p:cNvPr id="19" name="Text 17"/>
          <p:cNvSpPr/>
          <p:nvPr/>
        </p:nvSpPr>
        <p:spPr>
          <a:xfrm>
            <a:off x="4663440" y="3520440"/>
            <a:ext cx="1097280" cy="320040"/>
          </a:xfrm>
          <a:prstGeom prst="rect">
            <a:avLst/>
          </a:prstGeom>
          <a:noFill/>
          <a:ln/>
        </p:spPr>
        <p:txBody>
          <a:bodyPr wrap="square" lIns="0" tIns="0" rIns="0" bIns="0" rtlCol="0" anchor="ctr"/>
          <a:lstStyle/>
          <a:p>
            <a:pPr indent="0" marL="0">
              <a:buNone/>
            </a:pPr>
            <a:r>
              <a:rPr lang="en-US" sz="1000" dirty="0">
                <a:solidFill>
                  <a:srgbClr val="94A3B8"/>
                </a:solidFill>
                <a:latin typeface="Calibri" pitchFamily="34" charset="0"/>
                <a:ea typeface="Calibri" pitchFamily="34" charset="-122"/>
                <a:cs typeface="Calibri" pitchFamily="34" charset="-120"/>
              </a:rPr>
              <a:t>High-perf binary</a:t>
            </a:r>
            <a:endParaRPr lang="en-US" sz="1000" dirty="0"/>
          </a:p>
        </p:txBody>
      </p:sp>
      <p:sp>
        <p:nvSpPr>
          <p:cNvPr id="20" name="Shape 18"/>
          <p:cNvSpPr/>
          <p:nvPr/>
        </p:nvSpPr>
        <p:spPr>
          <a:xfrm>
            <a:off x="6035040" y="3474720"/>
            <a:ext cx="2468880" cy="411480"/>
          </a:xfrm>
          <a:prstGeom prst="rect">
            <a:avLst/>
          </a:prstGeom>
          <a:solidFill>
            <a:srgbClr val="1A2744"/>
          </a:solidFill>
          <a:ln/>
        </p:spPr>
      </p:sp>
      <p:sp>
        <p:nvSpPr>
          <p:cNvPr id="21" name="Text 19"/>
          <p:cNvSpPr/>
          <p:nvPr/>
        </p:nvSpPr>
        <p:spPr>
          <a:xfrm>
            <a:off x="6126480" y="3520440"/>
            <a:ext cx="1188720" cy="320040"/>
          </a:xfrm>
          <a:prstGeom prst="rect">
            <a:avLst/>
          </a:prstGeom>
          <a:noFill/>
          <a:ln/>
        </p:spPr>
        <p:txBody>
          <a:bodyPr wrap="square" lIns="0" tIns="0" rIns="0" bIns="0" rtlCol="0" anchor="ctr"/>
          <a:lstStyle/>
          <a:p>
            <a:pPr indent="0" marL="0">
              <a:buNone/>
            </a:pPr>
            <a:r>
              <a:rPr lang="en-US" sz="1000" b="1" dirty="0">
                <a:solidFill>
                  <a:srgbClr val="06B6D4"/>
                </a:solidFill>
                <a:latin typeface="Consolas" pitchFamily="34" charset="0"/>
                <a:ea typeface="Consolas" pitchFamily="34" charset="-122"/>
                <a:cs typeface="Consolas" pitchFamily="34" charset="-120"/>
              </a:rPr>
              <a:t>TypeScript SDK</a:t>
            </a:r>
            <a:endParaRPr lang="en-US" sz="1000" dirty="0"/>
          </a:p>
        </p:txBody>
      </p:sp>
      <p:sp>
        <p:nvSpPr>
          <p:cNvPr id="22" name="Text 20"/>
          <p:cNvSpPr/>
          <p:nvPr/>
        </p:nvSpPr>
        <p:spPr>
          <a:xfrm>
            <a:off x="7315200" y="3520440"/>
            <a:ext cx="1097280" cy="320040"/>
          </a:xfrm>
          <a:prstGeom prst="rect">
            <a:avLst/>
          </a:prstGeom>
          <a:noFill/>
          <a:ln/>
        </p:spPr>
        <p:txBody>
          <a:bodyPr wrap="square" lIns="0" tIns="0" rIns="0" bIns="0" rtlCol="0" anchor="ctr"/>
          <a:lstStyle/>
          <a:p>
            <a:pPr indent="0" marL="0">
              <a:buNone/>
            </a:pPr>
            <a:r>
              <a:rPr lang="en-US" sz="1000" dirty="0">
                <a:solidFill>
                  <a:srgbClr val="94A3B8"/>
                </a:solidFill>
                <a:latin typeface="Calibri" pitchFamily="34" charset="0"/>
                <a:ea typeface="Calibri" pitchFamily="34" charset="-122"/>
                <a:cs typeface="Calibri" pitchFamily="34" charset="-120"/>
              </a:rPr>
              <a:t>Full type safety</a:t>
            </a:r>
            <a:endParaRPr lang="en-US" sz="1000" dirty="0"/>
          </a:p>
        </p:txBody>
      </p:sp>
      <p:sp>
        <p:nvSpPr>
          <p:cNvPr id="23" name="Shape 21"/>
          <p:cNvSpPr/>
          <p:nvPr/>
        </p:nvSpPr>
        <p:spPr>
          <a:xfrm>
            <a:off x="731520" y="4023360"/>
            <a:ext cx="2468880" cy="411480"/>
          </a:xfrm>
          <a:prstGeom prst="rect">
            <a:avLst/>
          </a:prstGeom>
          <a:solidFill>
            <a:srgbClr val="1A2744"/>
          </a:solidFill>
          <a:ln/>
        </p:spPr>
      </p:sp>
      <p:sp>
        <p:nvSpPr>
          <p:cNvPr id="24" name="Text 22"/>
          <p:cNvSpPr/>
          <p:nvPr/>
        </p:nvSpPr>
        <p:spPr>
          <a:xfrm>
            <a:off x="822960" y="4069080"/>
            <a:ext cx="1188720" cy="320040"/>
          </a:xfrm>
          <a:prstGeom prst="rect">
            <a:avLst/>
          </a:prstGeom>
          <a:noFill/>
          <a:ln/>
        </p:spPr>
        <p:txBody>
          <a:bodyPr wrap="square" lIns="0" tIns="0" rIns="0" bIns="0" rtlCol="0" anchor="ctr"/>
          <a:lstStyle/>
          <a:p>
            <a:pPr indent="0" marL="0">
              <a:buNone/>
            </a:pPr>
            <a:r>
              <a:rPr lang="en-US" sz="1000" b="1" dirty="0">
                <a:solidFill>
                  <a:srgbClr val="06B6D4"/>
                </a:solidFill>
                <a:latin typeface="Consolas" pitchFamily="34" charset="0"/>
                <a:ea typeface="Consolas" pitchFamily="34" charset="-122"/>
                <a:cs typeface="Consolas" pitchFamily="34" charset="-120"/>
              </a:rPr>
              <a:t>Python SDK</a:t>
            </a:r>
            <a:endParaRPr lang="en-US" sz="1000" dirty="0"/>
          </a:p>
        </p:txBody>
      </p:sp>
      <p:sp>
        <p:nvSpPr>
          <p:cNvPr id="25" name="Text 23"/>
          <p:cNvSpPr/>
          <p:nvPr/>
        </p:nvSpPr>
        <p:spPr>
          <a:xfrm>
            <a:off x="2011680" y="4069080"/>
            <a:ext cx="1097280" cy="320040"/>
          </a:xfrm>
          <a:prstGeom prst="rect">
            <a:avLst/>
          </a:prstGeom>
          <a:noFill/>
          <a:ln/>
        </p:spPr>
        <p:txBody>
          <a:bodyPr wrap="square" lIns="0" tIns="0" rIns="0" bIns="0" rtlCol="0" anchor="ctr"/>
          <a:lstStyle/>
          <a:p>
            <a:pPr indent="0" marL="0">
              <a:buNone/>
            </a:pPr>
            <a:r>
              <a:rPr lang="en-US" sz="1000" dirty="0">
                <a:solidFill>
                  <a:srgbClr val="94A3B8"/>
                </a:solidFill>
                <a:latin typeface="Calibri" pitchFamily="34" charset="0"/>
                <a:ea typeface="Calibri" pitchFamily="34" charset="-122"/>
                <a:cs typeface="Calibri" pitchFamily="34" charset="-120"/>
              </a:rPr>
              <a:t>ML pipelines</a:t>
            </a:r>
            <a:endParaRPr lang="en-US" sz="1000" dirty="0"/>
          </a:p>
        </p:txBody>
      </p:sp>
      <p:sp>
        <p:nvSpPr>
          <p:cNvPr id="26" name="Shape 24"/>
          <p:cNvSpPr/>
          <p:nvPr/>
        </p:nvSpPr>
        <p:spPr>
          <a:xfrm>
            <a:off x="3383280" y="4023360"/>
            <a:ext cx="2468880" cy="411480"/>
          </a:xfrm>
          <a:prstGeom prst="rect">
            <a:avLst/>
          </a:prstGeom>
          <a:solidFill>
            <a:srgbClr val="1A2744"/>
          </a:solidFill>
          <a:ln/>
        </p:spPr>
      </p:sp>
      <p:sp>
        <p:nvSpPr>
          <p:cNvPr id="27" name="Text 25"/>
          <p:cNvSpPr/>
          <p:nvPr/>
        </p:nvSpPr>
        <p:spPr>
          <a:xfrm>
            <a:off x="3474720" y="4069080"/>
            <a:ext cx="1188720" cy="320040"/>
          </a:xfrm>
          <a:prstGeom prst="rect">
            <a:avLst/>
          </a:prstGeom>
          <a:noFill/>
          <a:ln/>
        </p:spPr>
        <p:txBody>
          <a:bodyPr wrap="square" lIns="0" tIns="0" rIns="0" bIns="0" rtlCol="0" anchor="ctr"/>
          <a:lstStyle/>
          <a:p>
            <a:pPr indent="0" marL="0">
              <a:buNone/>
            </a:pPr>
            <a:r>
              <a:rPr lang="en-US" sz="1000" b="1" dirty="0">
                <a:solidFill>
                  <a:srgbClr val="06B6D4"/>
                </a:solidFill>
                <a:latin typeface="Consolas" pitchFamily="34" charset="0"/>
                <a:ea typeface="Consolas" pitchFamily="34" charset="-122"/>
                <a:cs typeface="Consolas" pitchFamily="34" charset="-120"/>
              </a:rPr>
              <a:t>WASM SDK</a:t>
            </a:r>
            <a:endParaRPr lang="en-US" sz="1000" dirty="0"/>
          </a:p>
        </p:txBody>
      </p:sp>
      <p:sp>
        <p:nvSpPr>
          <p:cNvPr id="28" name="Text 26"/>
          <p:cNvSpPr/>
          <p:nvPr/>
        </p:nvSpPr>
        <p:spPr>
          <a:xfrm>
            <a:off x="4663440" y="4069080"/>
            <a:ext cx="1097280" cy="320040"/>
          </a:xfrm>
          <a:prstGeom prst="rect">
            <a:avLst/>
          </a:prstGeom>
          <a:noFill/>
          <a:ln/>
        </p:spPr>
        <p:txBody>
          <a:bodyPr wrap="square" lIns="0" tIns="0" rIns="0" bIns="0" rtlCol="0" anchor="ctr"/>
          <a:lstStyle/>
          <a:p>
            <a:pPr indent="0" marL="0">
              <a:buNone/>
            </a:pPr>
            <a:r>
              <a:rPr lang="en-US" sz="1000" dirty="0">
                <a:solidFill>
                  <a:srgbClr val="94A3B8"/>
                </a:solidFill>
                <a:latin typeface="Calibri" pitchFamily="34" charset="0"/>
                <a:ea typeface="Calibri" pitchFamily="34" charset="-122"/>
                <a:cs typeface="Calibri" pitchFamily="34" charset="-120"/>
              </a:rPr>
              <a:t>Client-side search</a:t>
            </a:r>
            <a:endParaRPr lang="en-US" sz="1000" dirty="0"/>
          </a:p>
        </p:txBody>
      </p:sp>
      <p:sp>
        <p:nvSpPr>
          <p:cNvPr id="29" name="Shape 27"/>
          <p:cNvSpPr/>
          <p:nvPr/>
        </p:nvSpPr>
        <p:spPr>
          <a:xfrm>
            <a:off x="6035040" y="4023360"/>
            <a:ext cx="2468880" cy="411480"/>
          </a:xfrm>
          <a:prstGeom prst="rect">
            <a:avLst/>
          </a:prstGeom>
          <a:solidFill>
            <a:srgbClr val="1A2744"/>
          </a:solidFill>
          <a:ln/>
        </p:spPr>
      </p:sp>
      <p:sp>
        <p:nvSpPr>
          <p:cNvPr id="30" name="Text 28"/>
          <p:cNvSpPr/>
          <p:nvPr/>
        </p:nvSpPr>
        <p:spPr>
          <a:xfrm>
            <a:off x="6126480" y="4069080"/>
            <a:ext cx="1188720" cy="320040"/>
          </a:xfrm>
          <a:prstGeom prst="rect">
            <a:avLst/>
          </a:prstGeom>
          <a:noFill/>
          <a:ln/>
        </p:spPr>
        <p:txBody>
          <a:bodyPr wrap="square" lIns="0" tIns="0" rIns="0" bIns="0" rtlCol="0" anchor="ctr"/>
          <a:lstStyle/>
          <a:p>
            <a:pPr indent="0" marL="0">
              <a:buNone/>
            </a:pPr>
            <a:r>
              <a:rPr lang="en-US" sz="1000" b="1" dirty="0">
                <a:solidFill>
                  <a:srgbClr val="06B6D4"/>
                </a:solidFill>
                <a:latin typeface="Consolas" pitchFamily="34" charset="0"/>
                <a:ea typeface="Consolas" pitchFamily="34" charset="-122"/>
                <a:cs typeface="Consolas" pitchFamily="34" charset="-120"/>
              </a:rPr>
              <a:t>Webhooks</a:t>
            </a:r>
            <a:endParaRPr lang="en-US" sz="1000" dirty="0"/>
          </a:p>
        </p:txBody>
      </p:sp>
      <p:sp>
        <p:nvSpPr>
          <p:cNvPr id="31" name="Text 29"/>
          <p:cNvSpPr/>
          <p:nvPr/>
        </p:nvSpPr>
        <p:spPr>
          <a:xfrm>
            <a:off x="7315200" y="4069080"/>
            <a:ext cx="1097280" cy="320040"/>
          </a:xfrm>
          <a:prstGeom prst="rect">
            <a:avLst/>
          </a:prstGeom>
          <a:noFill/>
          <a:ln/>
        </p:spPr>
        <p:txBody>
          <a:bodyPr wrap="square" lIns="0" tIns="0" rIns="0" bIns="0" rtlCol="0" anchor="ctr"/>
          <a:lstStyle/>
          <a:p>
            <a:pPr indent="0" marL="0">
              <a:buNone/>
            </a:pPr>
            <a:r>
              <a:rPr lang="en-US" sz="1000" dirty="0">
                <a:solidFill>
                  <a:srgbClr val="94A3B8"/>
                </a:solidFill>
                <a:latin typeface="Calibri" pitchFamily="34" charset="0"/>
                <a:ea typeface="Calibri" pitchFamily="34" charset="-122"/>
                <a:cs typeface="Calibri" pitchFamily="34" charset="-120"/>
              </a:rPr>
              <a:t>Event-driven</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6B6D4"/>
          </a:solidFill>
          <a:ln/>
        </p:spPr>
      </p:sp>
      <p:sp>
        <p:nvSpPr>
          <p:cNvPr id="3" name="Text 1"/>
          <p:cNvSpPr/>
          <p:nvPr/>
        </p:nvSpPr>
        <p:spPr>
          <a:xfrm>
            <a:off x="731520" y="320040"/>
            <a:ext cx="7315200" cy="457200"/>
          </a:xfrm>
          <a:prstGeom prst="rect">
            <a:avLst/>
          </a:prstGeom>
          <a:noFill/>
          <a:ln/>
        </p:spPr>
        <p:txBody>
          <a:bodyPr wrap="square" lIns="0" tIns="0" rIns="0" bIns="0" rtlCol="0" anchor="ctr"/>
          <a:lstStyle/>
          <a:p>
            <a:pPr indent="0" marL="0">
              <a:buNone/>
            </a:pPr>
            <a:r>
              <a:rPr lang="en-US" sz="2800" b="1" dirty="0">
                <a:solidFill>
                  <a:srgbClr val="F8FAFC"/>
                </a:solidFill>
                <a:latin typeface="Cambria" pitchFamily="34" charset="0"/>
                <a:ea typeface="Cambria" pitchFamily="34" charset="-122"/>
                <a:cs typeface="Cambria" pitchFamily="34" charset="-120"/>
              </a:rPr>
              <a:t>Implementation Roadmap</a:t>
            </a:r>
            <a:endParaRPr lang="en-US" sz="2800" dirty="0"/>
          </a:p>
        </p:txBody>
      </p:sp>
      <p:sp>
        <p:nvSpPr>
          <p:cNvPr id="4" name="Text 2"/>
          <p:cNvSpPr/>
          <p:nvPr/>
        </p:nvSpPr>
        <p:spPr>
          <a:xfrm>
            <a:off x="731520" y="777240"/>
            <a:ext cx="7315200" cy="274320"/>
          </a:xfrm>
          <a:prstGeom prst="rect">
            <a:avLst/>
          </a:prstGeom>
          <a:noFill/>
          <a:ln/>
        </p:spPr>
        <p:txBody>
          <a:bodyPr wrap="square" lIns="0" tIns="0" rIns="0" bIns="0" rtlCol="0" anchor="ctr"/>
          <a:lstStyle/>
          <a:p>
            <a:pPr indent="0" marL="0">
              <a:buNone/>
            </a:pPr>
            <a:r>
              <a:rPr lang="en-US" sz="1400" dirty="0">
                <a:solidFill>
                  <a:srgbClr val="94A3B8"/>
                </a:solidFill>
                <a:latin typeface="Calibri" pitchFamily="34" charset="0"/>
                <a:ea typeface="Calibri" pitchFamily="34" charset="-122"/>
                <a:cs typeface="Calibri" pitchFamily="34" charset="-120"/>
              </a:rPr>
              <a:t>From zero to production in 3 months. Incremental value at every phase.</a:t>
            </a:r>
            <a:endParaRPr lang="en-US" sz="1400" dirty="0"/>
          </a:p>
        </p:txBody>
      </p:sp>
      <p:sp>
        <p:nvSpPr>
          <p:cNvPr id="5" name="Shape 3"/>
          <p:cNvSpPr/>
          <p:nvPr/>
        </p:nvSpPr>
        <p:spPr>
          <a:xfrm>
            <a:off x="731520" y="1234440"/>
            <a:ext cx="1874520" cy="2926080"/>
          </a:xfrm>
          <a:prstGeom prst="rect">
            <a:avLst/>
          </a:prstGeom>
          <a:solidFill>
            <a:srgbClr val="1E293B"/>
          </a:solidFill>
          <a:ln/>
          <a:effectLst>
            <a:outerShdw sx="100000" sy="100000" kx="0" ky="0" algn="bl" rotWithShape="0" blurRad="76200" dist="25400" dir="8100000">
              <a:srgbClr val="000000">
                <a:alpha val="25000"/>
              </a:srgbClr>
            </a:outerShdw>
          </a:effectLst>
        </p:spPr>
      </p:sp>
      <p:sp>
        <p:nvSpPr>
          <p:cNvPr id="6" name="Shape 4"/>
          <p:cNvSpPr/>
          <p:nvPr/>
        </p:nvSpPr>
        <p:spPr>
          <a:xfrm>
            <a:off x="731520" y="1234440"/>
            <a:ext cx="1874520" cy="36576"/>
          </a:xfrm>
          <a:prstGeom prst="rect">
            <a:avLst/>
          </a:prstGeom>
          <a:solidFill>
            <a:srgbClr val="06B6D4"/>
          </a:solidFill>
          <a:ln/>
        </p:spPr>
      </p:sp>
      <p:sp>
        <p:nvSpPr>
          <p:cNvPr id="7" name="Text 5"/>
          <p:cNvSpPr/>
          <p:nvPr/>
        </p:nvSpPr>
        <p:spPr>
          <a:xfrm>
            <a:off x="822960" y="1325880"/>
            <a:ext cx="1691640" cy="274320"/>
          </a:xfrm>
          <a:prstGeom prst="rect">
            <a:avLst/>
          </a:prstGeom>
          <a:noFill/>
          <a:ln/>
        </p:spPr>
        <p:txBody>
          <a:bodyPr wrap="square" lIns="0" tIns="0" rIns="0" bIns="0" rtlCol="0" anchor="ctr"/>
          <a:lstStyle/>
          <a:p>
            <a:pPr indent="0" marL="0">
              <a:buNone/>
            </a:pPr>
            <a:r>
              <a:rPr lang="en-US" sz="1100" b="1" dirty="0">
                <a:solidFill>
                  <a:srgbClr val="06B6D4"/>
                </a:solidFill>
                <a:latin typeface="Consolas" pitchFamily="34" charset="0"/>
                <a:ea typeface="Consolas" pitchFamily="34" charset="-122"/>
                <a:cs typeface="Consolas" pitchFamily="34" charset="-120"/>
              </a:rPr>
              <a:t>Phase 1: Foundation</a:t>
            </a:r>
            <a:endParaRPr lang="en-US" sz="1100" dirty="0"/>
          </a:p>
        </p:txBody>
      </p:sp>
      <p:sp>
        <p:nvSpPr>
          <p:cNvPr id="8" name="Text 6"/>
          <p:cNvSpPr/>
          <p:nvPr/>
        </p:nvSpPr>
        <p:spPr>
          <a:xfrm>
            <a:off x="822960" y="1600200"/>
            <a:ext cx="1691640" cy="228600"/>
          </a:xfrm>
          <a:prstGeom prst="rect">
            <a:avLst/>
          </a:prstGeom>
          <a:noFill/>
          <a:ln/>
        </p:spPr>
        <p:txBody>
          <a:bodyPr wrap="square" lIns="0" tIns="0" rIns="0" bIns="0" rtlCol="0" anchor="ctr"/>
          <a:lstStyle/>
          <a:p>
            <a:pPr indent="0" marL="0">
              <a:buNone/>
            </a:pPr>
            <a:r>
              <a:rPr lang="en-US" sz="1000" dirty="0">
                <a:solidFill>
                  <a:srgbClr val="94A3B8"/>
                </a:solidFill>
                <a:latin typeface="Calibri" pitchFamily="34" charset="0"/>
                <a:ea typeface="Calibri" pitchFamily="34" charset="-122"/>
                <a:cs typeface="Calibri" pitchFamily="34" charset="-120"/>
              </a:rPr>
              <a:t>Week 1-2</a:t>
            </a:r>
            <a:endParaRPr lang="en-US" sz="1000" dirty="0"/>
          </a:p>
        </p:txBody>
      </p:sp>
      <p:sp>
        <p:nvSpPr>
          <p:cNvPr id="9" name="Text 7"/>
          <p:cNvSpPr/>
          <p:nvPr/>
        </p:nvSpPr>
        <p:spPr>
          <a:xfrm>
            <a:off x="822960" y="1920240"/>
            <a:ext cx="1691640" cy="2011680"/>
          </a:xfrm>
          <a:prstGeom prst="rect">
            <a:avLst/>
          </a:prstGeom>
          <a:noFill/>
          <a:ln/>
        </p:spPr>
        <p:txBody>
          <a:bodyPr wrap="square" rtlCol="0" anchor="ctr"/>
          <a:lstStyle/>
          <a:p>
            <a:pPr marL="342900" indent="-342900">
              <a:spcAft>
                <a:spcPts val="500"/>
              </a:spcAft>
              <a:buSzPct val="100000"/>
              <a:buChar char="•"/>
            </a:pPr>
            <a:r>
              <a:rPr lang="en-US" sz="950" dirty="0">
                <a:solidFill>
                  <a:srgbClr val="CBD5E1"/>
                </a:solidFill>
                <a:latin typeface="Calibri" pitchFamily="34" charset="0"/>
                <a:ea typeface="Calibri" pitchFamily="34" charset="-122"/>
                <a:cs typeface="Calibri" pitchFamily="34" charset="-120"/>
              </a:rPr>
              <a:t>Core RuVector PostgreSQL extension</a:t>
            </a:r>
            <a:endParaRPr lang="en-US" sz="950" dirty="0"/>
          </a:p>
          <a:p>
            <a:pPr marL="342900" indent="-342900">
              <a:spcAft>
                <a:spcPts val="500"/>
              </a:spcAft>
              <a:buSzPct val="100000"/>
              <a:buChar char="•"/>
            </a:pPr>
            <a:r>
              <a:rPr lang="en-US" sz="950" dirty="0">
                <a:solidFill>
                  <a:srgbClr val="CBD5E1"/>
                </a:solidFill>
                <a:latin typeface="Calibri" pitchFamily="34" charset="0"/>
                <a:ea typeface="Calibri" pitchFamily="34" charset="-122"/>
                <a:cs typeface="Calibri" pitchFamily="34" charset="-120"/>
              </a:rPr>
              <a:t>AIMDS security middleware</a:t>
            </a:r>
            <a:endParaRPr lang="en-US" sz="950" dirty="0"/>
          </a:p>
          <a:p>
            <a:pPr marL="342900" indent="-342900">
              <a:spcAft>
                <a:spcPts val="500"/>
              </a:spcAft>
              <a:buSzPct val="100000"/>
              <a:buChar char="•"/>
            </a:pPr>
            <a:r>
              <a:rPr lang="en-US" sz="950" dirty="0">
                <a:solidFill>
                  <a:srgbClr val="CBD5E1"/>
                </a:solidFill>
                <a:latin typeface="Calibri" pitchFamily="34" charset="0"/>
                <a:ea typeface="Calibri" pitchFamily="34" charset="-122"/>
                <a:cs typeface="Calibri" pitchFamily="34" charset="-120"/>
              </a:rPr>
              <a:t>Basic agent deployment</a:t>
            </a:r>
            <a:endParaRPr lang="en-US" sz="950" dirty="0"/>
          </a:p>
          <a:p>
            <a:pPr marL="342900" indent="-342900">
              <a:spcAft>
                <a:spcPts val="500"/>
              </a:spcAft>
              <a:buSzPct val="100000"/>
              <a:buChar char="•"/>
            </a:pPr>
            <a:r>
              <a:rPr lang="en-US" sz="950" dirty="0">
                <a:solidFill>
                  <a:srgbClr val="CBD5E1"/>
                </a:solidFill>
                <a:latin typeface="Calibri" pitchFamily="34" charset="0"/>
                <a:ea typeface="Calibri" pitchFamily="34" charset="-122"/>
                <a:cs typeface="Calibri" pitchFamily="34" charset="-120"/>
              </a:rPr>
              <a:t>HNSW index configuration</a:t>
            </a:r>
            <a:endParaRPr lang="en-US" sz="950" dirty="0"/>
          </a:p>
        </p:txBody>
      </p:sp>
      <p:sp>
        <p:nvSpPr>
          <p:cNvPr id="10" name="Shape 8"/>
          <p:cNvSpPr/>
          <p:nvPr/>
        </p:nvSpPr>
        <p:spPr>
          <a:xfrm>
            <a:off x="2788920" y="1234440"/>
            <a:ext cx="1874520" cy="2926080"/>
          </a:xfrm>
          <a:prstGeom prst="rect">
            <a:avLst/>
          </a:prstGeom>
          <a:solidFill>
            <a:srgbClr val="1E293B"/>
          </a:solidFill>
          <a:ln/>
          <a:effectLst>
            <a:outerShdw sx="100000" sy="100000" kx="0" ky="0" algn="bl" rotWithShape="0" blurRad="76200" dist="25400" dir="8100000">
              <a:srgbClr val="000000">
                <a:alpha val="25000"/>
              </a:srgbClr>
            </a:outerShdw>
          </a:effectLst>
        </p:spPr>
      </p:sp>
      <p:sp>
        <p:nvSpPr>
          <p:cNvPr id="11" name="Shape 9"/>
          <p:cNvSpPr/>
          <p:nvPr/>
        </p:nvSpPr>
        <p:spPr>
          <a:xfrm>
            <a:off x="2788920" y="1234440"/>
            <a:ext cx="1874520" cy="36576"/>
          </a:xfrm>
          <a:prstGeom prst="rect">
            <a:avLst/>
          </a:prstGeom>
          <a:solidFill>
            <a:srgbClr val="0EA5E9"/>
          </a:solidFill>
          <a:ln/>
        </p:spPr>
      </p:sp>
      <p:sp>
        <p:nvSpPr>
          <p:cNvPr id="12" name="Text 10"/>
          <p:cNvSpPr/>
          <p:nvPr/>
        </p:nvSpPr>
        <p:spPr>
          <a:xfrm>
            <a:off x="2880360" y="1325880"/>
            <a:ext cx="1691640" cy="274320"/>
          </a:xfrm>
          <a:prstGeom prst="rect">
            <a:avLst/>
          </a:prstGeom>
          <a:noFill/>
          <a:ln/>
        </p:spPr>
        <p:txBody>
          <a:bodyPr wrap="square" lIns="0" tIns="0" rIns="0" bIns="0" rtlCol="0" anchor="ctr"/>
          <a:lstStyle/>
          <a:p>
            <a:pPr indent="0" marL="0">
              <a:buNone/>
            </a:pPr>
            <a:r>
              <a:rPr lang="en-US" sz="1100" b="1" dirty="0">
                <a:solidFill>
                  <a:srgbClr val="0EA5E9"/>
                </a:solidFill>
                <a:latin typeface="Consolas" pitchFamily="34" charset="0"/>
                <a:ea typeface="Consolas" pitchFamily="34" charset="-122"/>
                <a:cs typeface="Consolas" pitchFamily="34" charset="-120"/>
              </a:rPr>
              <a:t>Phase 2: Intelligence</a:t>
            </a:r>
            <a:endParaRPr lang="en-US" sz="1100" dirty="0"/>
          </a:p>
        </p:txBody>
      </p:sp>
      <p:sp>
        <p:nvSpPr>
          <p:cNvPr id="13" name="Text 11"/>
          <p:cNvSpPr/>
          <p:nvPr/>
        </p:nvSpPr>
        <p:spPr>
          <a:xfrm>
            <a:off x="2880360" y="1600200"/>
            <a:ext cx="1691640" cy="228600"/>
          </a:xfrm>
          <a:prstGeom prst="rect">
            <a:avLst/>
          </a:prstGeom>
          <a:noFill/>
          <a:ln/>
        </p:spPr>
        <p:txBody>
          <a:bodyPr wrap="square" lIns="0" tIns="0" rIns="0" bIns="0" rtlCol="0" anchor="ctr"/>
          <a:lstStyle/>
          <a:p>
            <a:pPr indent="0" marL="0">
              <a:buNone/>
            </a:pPr>
            <a:r>
              <a:rPr lang="en-US" sz="1000" dirty="0">
                <a:solidFill>
                  <a:srgbClr val="94A3B8"/>
                </a:solidFill>
                <a:latin typeface="Calibri" pitchFamily="34" charset="0"/>
                <a:ea typeface="Calibri" pitchFamily="34" charset="-122"/>
                <a:cs typeface="Calibri" pitchFamily="34" charset="-120"/>
              </a:rPr>
              <a:t>Week 3-4</a:t>
            </a:r>
            <a:endParaRPr lang="en-US" sz="1000" dirty="0"/>
          </a:p>
        </p:txBody>
      </p:sp>
      <p:sp>
        <p:nvSpPr>
          <p:cNvPr id="14" name="Text 12"/>
          <p:cNvSpPr/>
          <p:nvPr/>
        </p:nvSpPr>
        <p:spPr>
          <a:xfrm>
            <a:off x="2880360" y="1920240"/>
            <a:ext cx="1691640" cy="2011680"/>
          </a:xfrm>
          <a:prstGeom prst="rect">
            <a:avLst/>
          </a:prstGeom>
          <a:noFill/>
          <a:ln/>
        </p:spPr>
        <p:txBody>
          <a:bodyPr wrap="square" rtlCol="0" anchor="ctr"/>
          <a:lstStyle/>
          <a:p>
            <a:pPr marL="342900" indent="-342900">
              <a:spcAft>
                <a:spcPts val="500"/>
              </a:spcAft>
              <a:buSzPct val="100000"/>
              <a:buChar char="•"/>
            </a:pPr>
            <a:r>
              <a:rPr lang="en-US" sz="950" dirty="0">
                <a:solidFill>
                  <a:srgbClr val="CBD5E1"/>
                </a:solidFill>
                <a:latin typeface="Calibri" pitchFamily="34" charset="0"/>
                <a:ea typeface="Calibri" pitchFamily="34" charset="-122"/>
                <a:cs typeface="Calibri" pitchFamily="34" charset="-120"/>
              </a:rPr>
              <a:t>AgentDB memory (4 types)</a:t>
            </a:r>
            <a:endParaRPr lang="en-US" sz="950" dirty="0"/>
          </a:p>
          <a:p>
            <a:pPr marL="342900" indent="-342900">
              <a:spcAft>
                <a:spcPts val="500"/>
              </a:spcAft>
              <a:buSzPct val="100000"/>
              <a:buChar char="•"/>
            </a:pPr>
            <a:r>
              <a:rPr lang="en-US" sz="950" dirty="0">
                <a:solidFill>
                  <a:srgbClr val="CBD5E1"/>
                </a:solidFill>
                <a:latin typeface="Calibri" pitchFamily="34" charset="0"/>
                <a:ea typeface="Calibri" pitchFamily="34" charset="-122"/>
                <a:cs typeface="Calibri" pitchFamily="34" charset="-120"/>
              </a:rPr>
              <a:t>ReasoningBank + SONA</a:t>
            </a:r>
            <a:endParaRPr lang="en-US" sz="950" dirty="0"/>
          </a:p>
          <a:p>
            <a:pPr marL="342900" indent="-342900">
              <a:spcAft>
                <a:spcPts val="500"/>
              </a:spcAft>
              <a:buSzPct val="100000"/>
              <a:buChar char="•"/>
            </a:pPr>
            <a:r>
              <a:rPr lang="en-US" sz="950" dirty="0">
                <a:solidFill>
                  <a:srgbClr val="CBD5E1"/>
                </a:solidFill>
                <a:latin typeface="Calibri" pitchFamily="34" charset="0"/>
                <a:ea typeface="Calibri" pitchFamily="34" charset="-122"/>
                <a:cs typeface="Calibri" pitchFamily="34" charset="-120"/>
              </a:rPr>
              <a:t>Ruflo orchestration</a:t>
            </a:r>
            <a:endParaRPr lang="en-US" sz="950" dirty="0"/>
          </a:p>
          <a:p>
            <a:pPr marL="342900" indent="-342900">
              <a:spcAft>
                <a:spcPts val="500"/>
              </a:spcAft>
              <a:buSzPct val="100000"/>
              <a:buChar char="•"/>
            </a:pPr>
            <a:r>
              <a:rPr lang="en-US" sz="950" dirty="0">
                <a:solidFill>
                  <a:srgbClr val="CBD5E1"/>
                </a:solidFill>
                <a:latin typeface="Calibri" pitchFamily="34" charset="0"/>
                <a:ea typeface="Calibri" pitchFamily="34" charset="-122"/>
                <a:cs typeface="Calibri" pitchFamily="34" charset="-120"/>
              </a:rPr>
              <a:t>MCP tool integration</a:t>
            </a:r>
            <a:endParaRPr lang="en-US" sz="950" dirty="0"/>
          </a:p>
        </p:txBody>
      </p:sp>
      <p:sp>
        <p:nvSpPr>
          <p:cNvPr id="15" name="Shape 13"/>
          <p:cNvSpPr/>
          <p:nvPr/>
        </p:nvSpPr>
        <p:spPr>
          <a:xfrm>
            <a:off x="4846320" y="1234440"/>
            <a:ext cx="1874520" cy="2926080"/>
          </a:xfrm>
          <a:prstGeom prst="rect">
            <a:avLst/>
          </a:prstGeom>
          <a:solidFill>
            <a:srgbClr val="1E293B"/>
          </a:solidFill>
          <a:ln/>
          <a:effectLst>
            <a:outerShdw sx="100000" sy="100000" kx="0" ky="0" algn="bl" rotWithShape="0" blurRad="76200" dist="25400" dir="8100000">
              <a:srgbClr val="000000">
                <a:alpha val="25000"/>
              </a:srgbClr>
            </a:outerShdw>
          </a:effectLst>
        </p:spPr>
      </p:sp>
      <p:sp>
        <p:nvSpPr>
          <p:cNvPr id="16" name="Shape 14"/>
          <p:cNvSpPr/>
          <p:nvPr/>
        </p:nvSpPr>
        <p:spPr>
          <a:xfrm>
            <a:off x="4846320" y="1234440"/>
            <a:ext cx="1874520" cy="36576"/>
          </a:xfrm>
          <a:prstGeom prst="rect">
            <a:avLst/>
          </a:prstGeom>
          <a:solidFill>
            <a:srgbClr val="8B5CF6"/>
          </a:solidFill>
          <a:ln/>
        </p:spPr>
      </p:sp>
      <p:sp>
        <p:nvSpPr>
          <p:cNvPr id="17" name="Text 15"/>
          <p:cNvSpPr/>
          <p:nvPr/>
        </p:nvSpPr>
        <p:spPr>
          <a:xfrm>
            <a:off x="4937760" y="1325880"/>
            <a:ext cx="1691640" cy="274320"/>
          </a:xfrm>
          <a:prstGeom prst="rect">
            <a:avLst/>
          </a:prstGeom>
          <a:noFill/>
          <a:ln/>
        </p:spPr>
        <p:txBody>
          <a:bodyPr wrap="square" lIns="0" tIns="0" rIns="0" bIns="0" rtlCol="0" anchor="ctr"/>
          <a:lstStyle/>
          <a:p>
            <a:pPr indent="0" marL="0">
              <a:buNone/>
            </a:pPr>
            <a:r>
              <a:rPr lang="en-US" sz="1100" b="1" dirty="0">
                <a:solidFill>
                  <a:srgbClr val="8B5CF6"/>
                </a:solidFill>
                <a:latin typeface="Consolas" pitchFamily="34" charset="0"/>
                <a:ea typeface="Consolas" pitchFamily="34" charset="-122"/>
                <a:cs typeface="Consolas" pitchFamily="34" charset="-120"/>
              </a:rPr>
              <a:t>Phase 3: Customization</a:t>
            </a:r>
            <a:endParaRPr lang="en-US" sz="1100" dirty="0"/>
          </a:p>
        </p:txBody>
      </p:sp>
      <p:sp>
        <p:nvSpPr>
          <p:cNvPr id="18" name="Text 16"/>
          <p:cNvSpPr/>
          <p:nvPr/>
        </p:nvSpPr>
        <p:spPr>
          <a:xfrm>
            <a:off x="4937760" y="1600200"/>
            <a:ext cx="1691640" cy="228600"/>
          </a:xfrm>
          <a:prstGeom prst="rect">
            <a:avLst/>
          </a:prstGeom>
          <a:noFill/>
          <a:ln/>
        </p:spPr>
        <p:txBody>
          <a:bodyPr wrap="square" lIns="0" tIns="0" rIns="0" bIns="0" rtlCol="0" anchor="ctr"/>
          <a:lstStyle/>
          <a:p>
            <a:pPr indent="0" marL="0">
              <a:buNone/>
            </a:pPr>
            <a:r>
              <a:rPr lang="en-US" sz="1000" dirty="0">
                <a:solidFill>
                  <a:srgbClr val="94A3B8"/>
                </a:solidFill>
                <a:latin typeface="Calibri" pitchFamily="34" charset="0"/>
                <a:ea typeface="Calibri" pitchFamily="34" charset="-122"/>
                <a:cs typeface="Calibri" pitchFamily="34" charset="-120"/>
              </a:rPr>
              <a:t>Month 2</a:t>
            </a:r>
            <a:endParaRPr lang="en-US" sz="1000" dirty="0"/>
          </a:p>
        </p:txBody>
      </p:sp>
      <p:sp>
        <p:nvSpPr>
          <p:cNvPr id="19" name="Text 17"/>
          <p:cNvSpPr/>
          <p:nvPr/>
        </p:nvSpPr>
        <p:spPr>
          <a:xfrm>
            <a:off x="4937760" y="1920240"/>
            <a:ext cx="1691640" cy="2011680"/>
          </a:xfrm>
          <a:prstGeom prst="rect">
            <a:avLst/>
          </a:prstGeom>
          <a:noFill/>
          <a:ln/>
        </p:spPr>
        <p:txBody>
          <a:bodyPr wrap="square" rtlCol="0" anchor="ctr"/>
          <a:lstStyle/>
          <a:p>
            <a:pPr marL="342900" indent="-342900">
              <a:spcAft>
                <a:spcPts val="500"/>
              </a:spcAft>
              <a:buSzPct val="100000"/>
              <a:buChar char="•"/>
            </a:pPr>
            <a:r>
              <a:rPr lang="en-US" sz="950" dirty="0">
                <a:solidFill>
                  <a:srgbClr val="CBD5E1"/>
                </a:solidFill>
                <a:latin typeface="Calibri" pitchFamily="34" charset="0"/>
                <a:ea typeface="Calibri" pitchFamily="34" charset="-122"/>
                <a:cs typeface="Calibri" pitchFamily="34" charset="-120"/>
              </a:rPr>
              <a:t>Custom agent development</a:t>
            </a:r>
            <a:endParaRPr lang="en-US" sz="950" dirty="0"/>
          </a:p>
          <a:p>
            <a:pPr marL="342900" indent="-342900">
              <a:spcAft>
                <a:spcPts val="500"/>
              </a:spcAft>
              <a:buSzPct val="100000"/>
              <a:buChar char="•"/>
            </a:pPr>
            <a:r>
              <a:rPr lang="en-US" sz="950" dirty="0">
                <a:solidFill>
                  <a:srgbClr val="CBD5E1"/>
                </a:solidFill>
                <a:latin typeface="Calibri" pitchFamily="34" charset="0"/>
                <a:ea typeface="Calibri" pitchFamily="34" charset="-122"/>
                <a:cs typeface="Calibri" pitchFamily="34" charset="-120"/>
              </a:rPr>
              <a:t>Domain-specific LoRA training</a:t>
            </a:r>
            <a:endParaRPr lang="en-US" sz="950" dirty="0"/>
          </a:p>
          <a:p>
            <a:pPr marL="342900" indent="-342900">
              <a:spcAft>
                <a:spcPts val="500"/>
              </a:spcAft>
              <a:buSzPct val="100000"/>
              <a:buChar char="•"/>
            </a:pPr>
            <a:r>
              <a:rPr lang="en-US" sz="950" dirty="0">
                <a:solidFill>
                  <a:srgbClr val="CBD5E1"/>
                </a:solidFill>
                <a:latin typeface="Calibri" pitchFamily="34" charset="0"/>
                <a:ea typeface="Calibri" pitchFamily="34" charset="-122"/>
                <a:cs typeface="Calibri" pitchFamily="34" charset="-120"/>
              </a:rPr>
              <a:t>Graph analytics deployment</a:t>
            </a:r>
            <a:endParaRPr lang="en-US" sz="950" dirty="0"/>
          </a:p>
          <a:p>
            <a:pPr marL="342900" indent="-342900">
              <a:spcAft>
                <a:spcPts val="500"/>
              </a:spcAft>
              <a:buSzPct val="100000"/>
              <a:buChar char="•"/>
            </a:pPr>
            <a:r>
              <a:rPr lang="en-US" sz="950" dirty="0">
                <a:solidFill>
                  <a:srgbClr val="CBD5E1"/>
                </a:solidFill>
                <a:latin typeface="Calibri" pitchFamily="34" charset="0"/>
                <a:ea typeface="Calibri" pitchFamily="34" charset="-122"/>
                <a:cs typeface="Calibri" pitchFamily="34" charset="-120"/>
              </a:rPr>
              <a:t>Performance tuning</a:t>
            </a:r>
            <a:endParaRPr lang="en-US" sz="950" dirty="0"/>
          </a:p>
        </p:txBody>
      </p:sp>
      <p:sp>
        <p:nvSpPr>
          <p:cNvPr id="20" name="Shape 18"/>
          <p:cNvSpPr/>
          <p:nvPr/>
        </p:nvSpPr>
        <p:spPr>
          <a:xfrm>
            <a:off x="6903720" y="1234440"/>
            <a:ext cx="1874520" cy="2926080"/>
          </a:xfrm>
          <a:prstGeom prst="rect">
            <a:avLst/>
          </a:prstGeom>
          <a:solidFill>
            <a:srgbClr val="1E293B"/>
          </a:solidFill>
          <a:ln/>
          <a:effectLst>
            <a:outerShdw sx="100000" sy="100000" kx="0" ky="0" algn="bl" rotWithShape="0" blurRad="76200" dist="25400" dir="8100000">
              <a:srgbClr val="000000">
                <a:alpha val="25000"/>
              </a:srgbClr>
            </a:outerShdw>
          </a:effectLst>
        </p:spPr>
      </p:sp>
      <p:sp>
        <p:nvSpPr>
          <p:cNvPr id="21" name="Shape 19"/>
          <p:cNvSpPr/>
          <p:nvPr/>
        </p:nvSpPr>
        <p:spPr>
          <a:xfrm>
            <a:off x="6903720" y="1234440"/>
            <a:ext cx="1874520" cy="36576"/>
          </a:xfrm>
          <a:prstGeom prst="rect">
            <a:avLst/>
          </a:prstGeom>
          <a:solidFill>
            <a:srgbClr val="F59E0B"/>
          </a:solidFill>
          <a:ln/>
        </p:spPr>
      </p:sp>
      <p:sp>
        <p:nvSpPr>
          <p:cNvPr id="22" name="Text 20"/>
          <p:cNvSpPr/>
          <p:nvPr/>
        </p:nvSpPr>
        <p:spPr>
          <a:xfrm>
            <a:off x="6995160" y="1325880"/>
            <a:ext cx="1691640" cy="274320"/>
          </a:xfrm>
          <a:prstGeom prst="rect">
            <a:avLst/>
          </a:prstGeom>
          <a:noFill/>
          <a:ln/>
        </p:spPr>
        <p:txBody>
          <a:bodyPr wrap="square" lIns="0" tIns="0" rIns="0" bIns="0" rtlCol="0" anchor="ctr"/>
          <a:lstStyle/>
          <a:p>
            <a:pPr indent="0" marL="0">
              <a:buNone/>
            </a:pPr>
            <a:r>
              <a:rPr lang="en-US" sz="1100" b="1" dirty="0">
                <a:solidFill>
                  <a:srgbClr val="F59E0B"/>
                </a:solidFill>
                <a:latin typeface="Consolas" pitchFamily="34" charset="0"/>
                <a:ea typeface="Consolas" pitchFamily="34" charset="-122"/>
                <a:cs typeface="Consolas" pitchFamily="34" charset="-120"/>
              </a:rPr>
              <a:t>Phase 4: Scale</a:t>
            </a:r>
            <a:endParaRPr lang="en-US" sz="1100" dirty="0"/>
          </a:p>
        </p:txBody>
      </p:sp>
      <p:sp>
        <p:nvSpPr>
          <p:cNvPr id="23" name="Text 21"/>
          <p:cNvSpPr/>
          <p:nvPr/>
        </p:nvSpPr>
        <p:spPr>
          <a:xfrm>
            <a:off x="6995160" y="1600200"/>
            <a:ext cx="1691640" cy="228600"/>
          </a:xfrm>
          <a:prstGeom prst="rect">
            <a:avLst/>
          </a:prstGeom>
          <a:noFill/>
          <a:ln/>
        </p:spPr>
        <p:txBody>
          <a:bodyPr wrap="square" lIns="0" tIns="0" rIns="0" bIns="0" rtlCol="0" anchor="ctr"/>
          <a:lstStyle/>
          <a:p>
            <a:pPr indent="0" marL="0">
              <a:buNone/>
            </a:pPr>
            <a:r>
              <a:rPr lang="en-US" sz="1000" dirty="0">
                <a:solidFill>
                  <a:srgbClr val="94A3B8"/>
                </a:solidFill>
                <a:latin typeface="Calibri" pitchFamily="34" charset="0"/>
                <a:ea typeface="Calibri" pitchFamily="34" charset="-122"/>
                <a:cs typeface="Calibri" pitchFamily="34" charset="-120"/>
              </a:rPr>
              <a:t>Month 3+</a:t>
            </a:r>
            <a:endParaRPr lang="en-US" sz="1000" dirty="0"/>
          </a:p>
        </p:txBody>
      </p:sp>
      <p:sp>
        <p:nvSpPr>
          <p:cNvPr id="24" name="Text 22"/>
          <p:cNvSpPr/>
          <p:nvPr/>
        </p:nvSpPr>
        <p:spPr>
          <a:xfrm>
            <a:off x="6995160" y="1920240"/>
            <a:ext cx="1691640" cy="2011680"/>
          </a:xfrm>
          <a:prstGeom prst="rect">
            <a:avLst/>
          </a:prstGeom>
          <a:noFill/>
          <a:ln/>
        </p:spPr>
        <p:txBody>
          <a:bodyPr wrap="square" rtlCol="0" anchor="ctr"/>
          <a:lstStyle/>
          <a:p>
            <a:pPr marL="342900" indent="-342900">
              <a:spcAft>
                <a:spcPts val="500"/>
              </a:spcAft>
              <a:buSzPct val="100000"/>
              <a:buChar char="•"/>
            </a:pPr>
            <a:r>
              <a:rPr lang="en-US" sz="950" dirty="0">
                <a:solidFill>
                  <a:srgbClr val="CBD5E1"/>
                </a:solidFill>
                <a:latin typeface="Calibri" pitchFamily="34" charset="0"/>
                <a:ea typeface="Calibri" pitchFamily="34" charset="-122"/>
                <a:cs typeface="Calibri" pitchFamily="34" charset="-120"/>
              </a:rPr>
              <a:t>Production scaling + monitoring</a:t>
            </a:r>
            <a:endParaRPr lang="en-US" sz="950" dirty="0"/>
          </a:p>
          <a:p>
            <a:pPr marL="342900" indent="-342900">
              <a:spcAft>
                <a:spcPts val="500"/>
              </a:spcAft>
              <a:buSzPct val="100000"/>
              <a:buChar char="•"/>
            </a:pPr>
            <a:r>
              <a:rPr lang="en-US" sz="950" dirty="0">
                <a:solidFill>
                  <a:srgbClr val="CBD5E1"/>
                </a:solidFill>
                <a:latin typeface="Calibri" pitchFamily="34" charset="0"/>
                <a:ea typeface="Calibri" pitchFamily="34" charset="-122"/>
                <a:cs typeface="Calibri" pitchFamily="34" charset="-120"/>
              </a:rPr>
              <a:t>WASM edge deployment</a:t>
            </a:r>
            <a:endParaRPr lang="en-US" sz="950" dirty="0"/>
          </a:p>
          <a:p>
            <a:pPr marL="342900" indent="-342900">
              <a:spcAft>
                <a:spcPts val="500"/>
              </a:spcAft>
              <a:buSzPct val="100000"/>
              <a:buChar char="•"/>
            </a:pPr>
            <a:r>
              <a:rPr lang="en-US" sz="950" dirty="0">
                <a:solidFill>
                  <a:srgbClr val="CBD5E1"/>
                </a:solidFill>
                <a:latin typeface="Calibri" pitchFamily="34" charset="0"/>
                <a:ea typeface="Calibri" pitchFamily="34" charset="-122"/>
                <a:cs typeface="Calibri" pitchFamily="34" charset="-120"/>
              </a:rPr>
              <a:t>Multi-tenant RVCOW</a:t>
            </a:r>
            <a:endParaRPr lang="en-US" sz="950" dirty="0"/>
          </a:p>
          <a:p>
            <a:pPr marL="342900" indent="-342900">
              <a:spcAft>
                <a:spcPts val="500"/>
              </a:spcAft>
              <a:buSzPct val="100000"/>
              <a:buChar char="•"/>
            </a:pPr>
            <a:r>
              <a:rPr lang="en-US" sz="950" dirty="0">
                <a:solidFill>
                  <a:srgbClr val="CBD5E1"/>
                </a:solidFill>
                <a:latin typeface="Calibri" pitchFamily="34" charset="0"/>
                <a:ea typeface="Calibri" pitchFamily="34" charset="-122"/>
                <a:cs typeface="Calibri" pitchFamily="34" charset="-120"/>
              </a:rPr>
              <a:t>Advanced swarm topologies</a:t>
            </a:r>
            <a:endParaRPr lang="en-US" sz="950" dirty="0"/>
          </a:p>
        </p:txBody>
      </p:sp>
      <p:sp>
        <p:nvSpPr>
          <p:cNvPr id="25" name="Shape 23"/>
          <p:cNvSpPr/>
          <p:nvPr/>
        </p:nvSpPr>
        <p:spPr>
          <a:xfrm>
            <a:off x="731520" y="4343400"/>
            <a:ext cx="7680960" cy="411480"/>
          </a:xfrm>
          <a:prstGeom prst="rect">
            <a:avLst/>
          </a:prstGeom>
          <a:solidFill>
            <a:srgbClr val="1A2744"/>
          </a:solidFill>
          <a:ln/>
        </p:spPr>
      </p:sp>
      <p:sp>
        <p:nvSpPr>
          <p:cNvPr id="26" name="Text 24"/>
          <p:cNvSpPr/>
          <p:nvPr/>
        </p:nvSpPr>
        <p:spPr>
          <a:xfrm>
            <a:off x="914400" y="4343400"/>
            <a:ext cx="7315200" cy="411480"/>
          </a:xfrm>
          <a:prstGeom prst="rect">
            <a:avLst/>
          </a:prstGeom>
          <a:noFill/>
          <a:ln/>
        </p:spPr>
        <p:txBody>
          <a:bodyPr wrap="square" lIns="0" tIns="0" rIns="0" bIns="0" rtlCol="0" anchor="ctr"/>
          <a:lstStyle/>
          <a:p>
            <a:pPr indent="0" marL="0">
              <a:buNone/>
            </a:pPr>
            <a:r>
              <a:rPr lang="en-US" sz="1200" dirty="0">
                <a:solidFill>
                  <a:srgbClr val="06B6D4"/>
                </a:solidFill>
                <a:latin typeface="Calibri" pitchFamily="34" charset="0"/>
                <a:ea typeface="Calibri" pitchFamily="34" charset="-122"/>
                <a:cs typeface="Calibri" pitchFamily="34" charset="-120"/>
              </a:rPr>
              <a:t>Each phase delivers standalone value. No big-bang migration required.</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6B6D4"/>
          </a:solidFill>
          <a:ln/>
        </p:spPr>
      </p:sp>
      <p:sp>
        <p:nvSpPr>
          <p:cNvPr id="3" name="Text 1"/>
          <p:cNvSpPr/>
          <p:nvPr/>
        </p:nvSpPr>
        <p:spPr>
          <a:xfrm>
            <a:off x="731520" y="914400"/>
            <a:ext cx="7680960" cy="457200"/>
          </a:xfrm>
          <a:prstGeom prst="rect">
            <a:avLst/>
          </a:prstGeom>
          <a:noFill/>
          <a:ln/>
        </p:spPr>
        <p:txBody>
          <a:bodyPr wrap="square" lIns="0" tIns="0" rIns="0" bIns="0" rtlCol="0" anchor="ctr"/>
          <a:lstStyle/>
          <a:p>
            <a:pPr indent="0" marL="0">
              <a:buNone/>
            </a:pPr>
            <a:r>
              <a:rPr lang="en-US" sz="1600" spc="600" kern="0" dirty="0">
                <a:solidFill>
                  <a:srgbClr val="06B6D4"/>
                </a:solidFill>
                <a:latin typeface="Consolas" pitchFamily="34" charset="0"/>
                <a:ea typeface="Consolas" pitchFamily="34" charset="-122"/>
                <a:cs typeface="Consolas" pitchFamily="34" charset="-120"/>
              </a:rPr>
              <a:t>RUVNET</a:t>
            </a:r>
            <a:endParaRPr lang="en-US" sz="1600" dirty="0"/>
          </a:p>
        </p:txBody>
      </p:sp>
      <p:sp>
        <p:nvSpPr>
          <p:cNvPr id="4" name="Text 2"/>
          <p:cNvSpPr/>
          <p:nvPr/>
        </p:nvSpPr>
        <p:spPr>
          <a:xfrm>
            <a:off x="731520" y="1463040"/>
            <a:ext cx="7680960" cy="1188720"/>
          </a:xfrm>
          <a:prstGeom prst="rect">
            <a:avLst/>
          </a:prstGeom>
          <a:noFill/>
          <a:ln/>
        </p:spPr>
        <p:txBody>
          <a:bodyPr wrap="square" lIns="0" tIns="0" rIns="0" bIns="0" rtlCol="0" anchor="ctr"/>
          <a:lstStyle/>
          <a:p>
            <a:pPr indent="0" marL="0">
              <a:buNone/>
            </a:pPr>
            <a:r>
              <a:rPr lang="en-US" sz="4000" b="1" dirty="0">
                <a:solidFill>
                  <a:srgbClr val="F8FAFC"/>
                </a:solidFill>
                <a:latin typeface="Cambria" pitchFamily="34" charset="0"/>
                <a:ea typeface="Cambria" pitchFamily="34" charset="-122"/>
                <a:cs typeface="Cambria" pitchFamily="34" charset="-120"/>
              </a:rPr>
              <a:t>Schedule a 30-Minute</a:t>
            </a:r>
            <a:endParaRPr lang="en-US" sz="4000" dirty="0"/>
          </a:p>
          <a:p>
            <a:pPr indent="0" marL="0">
              <a:buNone/>
            </a:pPr>
            <a:r>
              <a:rPr lang="en-US" sz="4000" b="1" dirty="0">
                <a:solidFill>
                  <a:srgbClr val="F8FAFC"/>
                </a:solidFill>
                <a:latin typeface="Cambria" pitchFamily="34" charset="0"/>
                <a:ea typeface="Cambria" pitchFamily="34" charset="-122"/>
                <a:cs typeface="Cambria" pitchFamily="34" charset="-120"/>
              </a:rPr>
              <a:t>Architecture Review</a:t>
            </a:r>
            <a:endParaRPr lang="en-US" sz="4000" dirty="0"/>
          </a:p>
        </p:txBody>
      </p:sp>
      <p:sp>
        <p:nvSpPr>
          <p:cNvPr id="5" name="Text 3"/>
          <p:cNvSpPr/>
          <p:nvPr/>
        </p:nvSpPr>
        <p:spPr>
          <a:xfrm>
            <a:off x="731520" y="3017520"/>
            <a:ext cx="1828800" cy="365760"/>
          </a:xfrm>
          <a:prstGeom prst="rect">
            <a:avLst/>
          </a:prstGeom>
          <a:noFill/>
          <a:ln/>
        </p:spPr>
        <p:txBody>
          <a:bodyPr wrap="square" lIns="0" tIns="0" rIns="0" bIns="0" rtlCol="0" anchor="ctr"/>
          <a:lstStyle/>
          <a:p>
            <a:pPr indent="0" marL="0">
              <a:buNone/>
            </a:pPr>
            <a:r>
              <a:rPr lang="en-US" sz="2200" b="1" dirty="0">
                <a:solidFill>
                  <a:srgbClr val="06B6D4"/>
                </a:solidFill>
                <a:latin typeface="Consolas" pitchFamily="34" charset="0"/>
                <a:ea typeface="Consolas" pitchFamily="34" charset="-122"/>
                <a:cs typeface="Consolas" pitchFamily="34" charset="-120"/>
              </a:rPr>
              <a:t>148+</a:t>
            </a:r>
            <a:endParaRPr lang="en-US" sz="2200" dirty="0"/>
          </a:p>
        </p:txBody>
      </p:sp>
      <p:sp>
        <p:nvSpPr>
          <p:cNvPr id="6" name="Text 4"/>
          <p:cNvSpPr/>
          <p:nvPr/>
        </p:nvSpPr>
        <p:spPr>
          <a:xfrm>
            <a:off x="731520" y="3337560"/>
            <a:ext cx="1828800" cy="182880"/>
          </a:xfrm>
          <a:prstGeom prst="rect">
            <a:avLst/>
          </a:prstGeom>
          <a:noFill/>
          <a:ln/>
        </p:spPr>
        <p:txBody>
          <a:bodyPr wrap="square" lIns="0" tIns="0" rIns="0" bIns="0" rtlCol="0" anchor="ctr"/>
          <a:lstStyle/>
          <a:p>
            <a:pPr indent="0" marL="0">
              <a:buNone/>
            </a:pPr>
            <a:r>
              <a:rPr lang="en-US" sz="1000" dirty="0">
                <a:solidFill>
                  <a:srgbClr val="94A3B8"/>
                </a:solidFill>
                <a:latin typeface="Calibri" pitchFamily="34" charset="0"/>
                <a:ea typeface="Calibri" pitchFamily="34" charset="-122"/>
                <a:cs typeface="Calibri" pitchFamily="34" charset="-120"/>
              </a:rPr>
              <a:t>Capabilities</a:t>
            </a:r>
            <a:endParaRPr lang="en-US" sz="1000" dirty="0"/>
          </a:p>
        </p:txBody>
      </p:sp>
      <p:sp>
        <p:nvSpPr>
          <p:cNvPr id="7" name="Text 5"/>
          <p:cNvSpPr/>
          <p:nvPr/>
        </p:nvSpPr>
        <p:spPr>
          <a:xfrm>
            <a:off x="2743200" y="3017520"/>
            <a:ext cx="1828800" cy="365760"/>
          </a:xfrm>
          <a:prstGeom prst="rect">
            <a:avLst/>
          </a:prstGeom>
          <a:noFill/>
          <a:ln/>
        </p:spPr>
        <p:txBody>
          <a:bodyPr wrap="square" lIns="0" tIns="0" rIns="0" bIns="0" rtlCol="0" anchor="ctr"/>
          <a:lstStyle/>
          <a:p>
            <a:pPr indent="0" marL="0">
              <a:buNone/>
            </a:pPr>
            <a:r>
              <a:rPr lang="en-US" sz="2200" b="1" dirty="0">
                <a:solidFill>
                  <a:srgbClr val="06B6D4"/>
                </a:solidFill>
                <a:latin typeface="Consolas" pitchFamily="34" charset="0"/>
                <a:ea typeface="Consolas" pitchFamily="34" charset="-122"/>
                <a:cs typeface="Consolas" pitchFamily="34" charset="-120"/>
              </a:rPr>
              <a:t>14</a:t>
            </a:r>
            <a:endParaRPr lang="en-US" sz="2200" dirty="0"/>
          </a:p>
        </p:txBody>
      </p:sp>
      <p:sp>
        <p:nvSpPr>
          <p:cNvPr id="8" name="Text 6"/>
          <p:cNvSpPr/>
          <p:nvPr/>
        </p:nvSpPr>
        <p:spPr>
          <a:xfrm>
            <a:off x="2743200" y="3337560"/>
            <a:ext cx="1828800" cy="182880"/>
          </a:xfrm>
          <a:prstGeom prst="rect">
            <a:avLst/>
          </a:prstGeom>
          <a:noFill/>
          <a:ln/>
        </p:spPr>
        <p:txBody>
          <a:bodyPr wrap="square" lIns="0" tIns="0" rIns="0" bIns="0" rtlCol="0" anchor="ctr"/>
          <a:lstStyle/>
          <a:p>
            <a:pPr indent="0" marL="0">
              <a:buNone/>
            </a:pPr>
            <a:r>
              <a:rPr lang="en-US" sz="1000" dirty="0">
                <a:solidFill>
                  <a:srgbClr val="94A3B8"/>
                </a:solidFill>
                <a:latin typeface="Calibri" pitchFamily="34" charset="0"/>
                <a:ea typeface="Calibri" pitchFamily="34" charset="-122"/>
                <a:cs typeface="Calibri" pitchFamily="34" charset="-120"/>
              </a:rPr>
              <a:t>Modules</a:t>
            </a:r>
            <a:endParaRPr lang="en-US" sz="1000" dirty="0"/>
          </a:p>
        </p:txBody>
      </p:sp>
      <p:sp>
        <p:nvSpPr>
          <p:cNvPr id="9" name="Text 7"/>
          <p:cNvSpPr/>
          <p:nvPr/>
        </p:nvSpPr>
        <p:spPr>
          <a:xfrm>
            <a:off x="4754880" y="3017520"/>
            <a:ext cx="1828800" cy="365760"/>
          </a:xfrm>
          <a:prstGeom prst="rect">
            <a:avLst/>
          </a:prstGeom>
          <a:noFill/>
          <a:ln/>
        </p:spPr>
        <p:txBody>
          <a:bodyPr wrap="square" lIns="0" tIns="0" rIns="0" bIns="0" rtlCol="0" anchor="ctr"/>
          <a:lstStyle/>
          <a:p>
            <a:pPr indent="0" marL="0">
              <a:buNone/>
            </a:pPr>
            <a:r>
              <a:rPr lang="en-US" sz="2200" b="1" dirty="0">
                <a:solidFill>
                  <a:srgbClr val="06B6D4"/>
                </a:solidFill>
                <a:latin typeface="Consolas" pitchFamily="34" charset="0"/>
                <a:ea typeface="Consolas" pitchFamily="34" charset="-122"/>
                <a:cs typeface="Consolas" pitchFamily="34" charset="-120"/>
              </a:rPr>
              <a:t>80+</a:t>
            </a:r>
            <a:endParaRPr lang="en-US" sz="2200" dirty="0"/>
          </a:p>
        </p:txBody>
      </p:sp>
      <p:sp>
        <p:nvSpPr>
          <p:cNvPr id="10" name="Text 8"/>
          <p:cNvSpPr/>
          <p:nvPr/>
        </p:nvSpPr>
        <p:spPr>
          <a:xfrm>
            <a:off x="4754880" y="3337560"/>
            <a:ext cx="1828800" cy="182880"/>
          </a:xfrm>
          <a:prstGeom prst="rect">
            <a:avLst/>
          </a:prstGeom>
          <a:noFill/>
          <a:ln/>
        </p:spPr>
        <p:txBody>
          <a:bodyPr wrap="square" lIns="0" tIns="0" rIns="0" bIns="0" rtlCol="0" anchor="ctr"/>
          <a:lstStyle/>
          <a:p>
            <a:pPr indent="0" marL="0">
              <a:buNone/>
            </a:pPr>
            <a:r>
              <a:rPr lang="en-US" sz="1000" dirty="0">
                <a:solidFill>
                  <a:srgbClr val="94A3B8"/>
                </a:solidFill>
                <a:latin typeface="Calibri" pitchFamily="34" charset="0"/>
                <a:ea typeface="Calibri" pitchFamily="34" charset="-122"/>
                <a:cs typeface="Calibri" pitchFamily="34" charset="-120"/>
              </a:rPr>
              <a:t>Rust Crates</a:t>
            </a:r>
            <a:endParaRPr lang="en-US" sz="1000" dirty="0"/>
          </a:p>
        </p:txBody>
      </p:sp>
      <p:sp>
        <p:nvSpPr>
          <p:cNvPr id="11" name="Text 9"/>
          <p:cNvSpPr/>
          <p:nvPr/>
        </p:nvSpPr>
        <p:spPr>
          <a:xfrm>
            <a:off x="6766560" y="3017520"/>
            <a:ext cx="1828800" cy="365760"/>
          </a:xfrm>
          <a:prstGeom prst="rect">
            <a:avLst/>
          </a:prstGeom>
          <a:noFill/>
          <a:ln/>
        </p:spPr>
        <p:txBody>
          <a:bodyPr wrap="square" lIns="0" tIns="0" rIns="0" bIns="0" rtlCol="0" anchor="ctr"/>
          <a:lstStyle/>
          <a:p>
            <a:pPr indent="0" marL="0">
              <a:buNone/>
            </a:pPr>
            <a:r>
              <a:rPr lang="en-US" sz="2200" b="1" dirty="0">
                <a:solidFill>
                  <a:srgbClr val="06B6D4"/>
                </a:solidFill>
                <a:latin typeface="Consolas" pitchFamily="34" charset="0"/>
                <a:ea typeface="Consolas" pitchFamily="34" charset="-122"/>
                <a:cs typeface="Consolas" pitchFamily="34" charset="-120"/>
              </a:rPr>
              <a:t>290+</a:t>
            </a:r>
            <a:endParaRPr lang="en-US" sz="2200" dirty="0"/>
          </a:p>
        </p:txBody>
      </p:sp>
      <p:sp>
        <p:nvSpPr>
          <p:cNvPr id="12" name="Text 10"/>
          <p:cNvSpPr/>
          <p:nvPr/>
        </p:nvSpPr>
        <p:spPr>
          <a:xfrm>
            <a:off x="6766560" y="3337560"/>
            <a:ext cx="1828800" cy="182880"/>
          </a:xfrm>
          <a:prstGeom prst="rect">
            <a:avLst/>
          </a:prstGeom>
          <a:noFill/>
          <a:ln/>
        </p:spPr>
        <p:txBody>
          <a:bodyPr wrap="square" lIns="0" tIns="0" rIns="0" bIns="0" rtlCol="0" anchor="ctr"/>
          <a:lstStyle/>
          <a:p>
            <a:pPr indent="0" marL="0">
              <a:buNone/>
            </a:pPr>
            <a:r>
              <a:rPr lang="en-US" sz="1000" dirty="0">
                <a:solidFill>
                  <a:srgbClr val="94A3B8"/>
                </a:solidFill>
                <a:latin typeface="Calibri" pitchFamily="34" charset="0"/>
                <a:ea typeface="Calibri" pitchFamily="34" charset="-122"/>
                <a:cs typeface="Calibri" pitchFamily="34" charset="-120"/>
              </a:rPr>
              <a:t>SQL Functions</a:t>
            </a:r>
            <a:endParaRPr lang="en-US" sz="1000" dirty="0"/>
          </a:p>
        </p:txBody>
      </p:sp>
      <p:sp>
        <p:nvSpPr>
          <p:cNvPr id="13" name="Text 11"/>
          <p:cNvSpPr/>
          <p:nvPr/>
        </p:nvSpPr>
        <p:spPr>
          <a:xfrm>
            <a:off x="731520" y="3703320"/>
            <a:ext cx="1828800" cy="320040"/>
          </a:xfrm>
          <a:prstGeom prst="rect">
            <a:avLst/>
          </a:prstGeom>
          <a:noFill/>
          <a:ln/>
        </p:spPr>
        <p:txBody>
          <a:bodyPr wrap="square" lIns="0" tIns="0" rIns="0" bIns="0" rtlCol="0" anchor="ctr"/>
          <a:lstStyle/>
          <a:p>
            <a:pPr indent="0" marL="0">
              <a:buNone/>
            </a:pPr>
            <a:r>
              <a:rPr lang="en-US" sz="2000" b="1" dirty="0">
                <a:solidFill>
                  <a:srgbClr val="0EA5E9"/>
                </a:solidFill>
                <a:latin typeface="Consolas" pitchFamily="34" charset="0"/>
                <a:ea typeface="Consolas" pitchFamily="34" charset="-122"/>
                <a:cs typeface="Consolas" pitchFamily="34" charset="-120"/>
              </a:rPr>
              <a:t>39</a:t>
            </a:r>
            <a:endParaRPr lang="en-US" sz="2000" dirty="0"/>
          </a:p>
        </p:txBody>
      </p:sp>
      <p:sp>
        <p:nvSpPr>
          <p:cNvPr id="14" name="Text 12"/>
          <p:cNvSpPr/>
          <p:nvPr/>
        </p:nvSpPr>
        <p:spPr>
          <a:xfrm>
            <a:off x="731520" y="3977640"/>
            <a:ext cx="1828800" cy="182880"/>
          </a:xfrm>
          <a:prstGeom prst="rect">
            <a:avLst/>
          </a:prstGeom>
          <a:noFill/>
          <a:ln/>
        </p:spPr>
        <p:txBody>
          <a:bodyPr wrap="square" lIns="0" tIns="0" rIns="0" bIns="0" rtlCol="0" anchor="ctr"/>
          <a:lstStyle/>
          <a:p>
            <a:pPr indent="0" marL="0">
              <a:buNone/>
            </a:pPr>
            <a:r>
              <a:rPr lang="en-US" sz="1000" dirty="0">
                <a:solidFill>
                  <a:srgbClr val="94A3B8"/>
                </a:solidFill>
                <a:latin typeface="Calibri" pitchFamily="34" charset="0"/>
                <a:ea typeface="Calibri" pitchFamily="34" charset="-122"/>
                <a:cs typeface="Calibri" pitchFamily="34" charset="-120"/>
              </a:rPr>
              <a:t>Attention Mechanisms</a:t>
            </a:r>
            <a:endParaRPr lang="en-US" sz="1000" dirty="0"/>
          </a:p>
        </p:txBody>
      </p:sp>
      <p:sp>
        <p:nvSpPr>
          <p:cNvPr id="15" name="Text 13"/>
          <p:cNvSpPr/>
          <p:nvPr/>
        </p:nvSpPr>
        <p:spPr>
          <a:xfrm>
            <a:off x="2743200" y="3703320"/>
            <a:ext cx="1828800" cy="320040"/>
          </a:xfrm>
          <a:prstGeom prst="rect">
            <a:avLst/>
          </a:prstGeom>
          <a:noFill/>
          <a:ln/>
        </p:spPr>
        <p:txBody>
          <a:bodyPr wrap="square" lIns="0" tIns="0" rIns="0" bIns="0" rtlCol="0" anchor="ctr"/>
          <a:lstStyle/>
          <a:p>
            <a:pPr indent="0" marL="0">
              <a:buNone/>
            </a:pPr>
            <a:r>
              <a:rPr lang="en-US" sz="2000" b="1" dirty="0">
                <a:solidFill>
                  <a:srgbClr val="0EA5E9"/>
                </a:solidFill>
                <a:latin typeface="Consolas" pitchFamily="34" charset="0"/>
                <a:ea typeface="Consolas" pitchFamily="34" charset="-122"/>
                <a:cs typeface="Consolas" pitchFamily="34" charset="-120"/>
              </a:rPr>
              <a:t>9</a:t>
            </a:r>
            <a:endParaRPr lang="en-US" sz="2000" dirty="0"/>
          </a:p>
        </p:txBody>
      </p:sp>
      <p:sp>
        <p:nvSpPr>
          <p:cNvPr id="16" name="Text 14"/>
          <p:cNvSpPr/>
          <p:nvPr/>
        </p:nvSpPr>
        <p:spPr>
          <a:xfrm>
            <a:off x="2743200" y="3977640"/>
            <a:ext cx="1828800" cy="182880"/>
          </a:xfrm>
          <a:prstGeom prst="rect">
            <a:avLst/>
          </a:prstGeom>
          <a:noFill/>
          <a:ln/>
        </p:spPr>
        <p:txBody>
          <a:bodyPr wrap="square" lIns="0" tIns="0" rIns="0" bIns="0" rtlCol="0" anchor="ctr"/>
          <a:lstStyle/>
          <a:p>
            <a:pPr indent="0" marL="0">
              <a:buNone/>
            </a:pPr>
            <a:r>
              <a:rPr lang="en-US" sz="1000" dirty="0">
                <a:solidFill>
                  <a:srgbClr val="94A3B8"/>
                </a:solidFill>
                <a:latin typeface="Calibri" pitchFamily="34" charset="0"/>
                <a:ea typeface="Calibri" pitchFamily="34" charset="-122"/>
                <a:cs typeface="Calibri" pitchFamily="34" charset="-120"/>
              </a:rPr>
              <a:t>RL Algorithms</a:t>
            </a:r>
            <a:endParaRPr lang="en-US" sz="1000" dirty="0"/>
          </a:p>
        </p:txBody>
      </p:sp>
      <p:sp>
        <p:nvSpPr>
          <p:cNvPr id="17" name="Text 15"/>
          <p:cNvSpPr/>
          <p:nvPr/>
        </p:nvSpPr>
        <p:spPr>
          <a:xfrm>
            <a:off x="4754880" y="3703320"/>
            <a:ext cx="1828800" cy="320040"/>
          </a:xfrm>
          <a:prstGeom prst="rect">
            <a:avLst/>
          </a:prstGeom>
          <a:noFill/>
          <a:ln/>
        </p:spPr>
        <p:txBody>
          <a:bodyPr wrap="square" lIns="0" tIns="0" rIns="0" bIns="0" rtlCol="0" anchor="ctr"/>
          <a:lstStyle/>
          <a:p>
            <a:pPr indent="0" marL="0">
              <a:buNone/>
            </a:pPr>
            <a:r>
              <a:rPr lang="en-US" sz="2000" b="1" dirty="0">
                <a:solidFill>
                  <a:srgbClr val="0EA5E9"/>
                </a:solidFill>
                <a:latin typeface="Consolas" pitchFamily="34" charset="0"/>
                <a:ea typeface="Consolas" pitchFamily="34" charset="-122"/>
                <a:cs typeface="Consolas" pitchFamily="34" charset="-120"/>
              </a:rPr>
              <a:t>5</a:t>
            </a:r>
            <a:endParaRPr lang="en-US" sz="2000" dirty="0"/>
          </a:p>
        </p:txBody>
      </p:sp>
      <p:sp>
        <p:nvSpPr>
          <p:cNvPr id="18" name="Text 16"/>
          <p:cNvSpPr/>
          <p:nvPr/>
        </p:nvSpPr>
        <p:spPr>
          <a:xfrm>
            <a:off x="4754880" y="3977640"/>
            <a:ext cx="1828800" cy="182880"/>
          </a:xfrm>
          <a:prstGeom prst="rect">
            <a:avLst/>
          </a:prstGeom>
          <a:noFill/>
          <a:ln/>
        </p:spPr>
        <p:txBody>
          <a:bodyPr wrap="square" lIns="0" tIns="0" rIns="0" bIns="0" rtlCol="0" anchor="ctr"/>
          <a:lstStyle/>
          <a:p>
            <a:pPr indent="0" marL="0">
              <a:buNone/>
            </a:pPr>
            <a:r>
              <a:rPr lang="en-US" sz="1000" dirty="0">
                <a:solidFill>
                  <a:srgbClr val="94A3B8"/>
                </a:solidFill>
                <a:latin typeface="Calibri" pitchFamily="34" charset="0"/>
                <a:ea typeface="Calibri" pitchFamily="34" charset="-122"/>
                <a:cs typeface="Calibri" pitchFamily="34" charset="-120"/>
              </a:rPr>
              <a:t>Bio-Inspired Layers</a:t>
            </a:r>
            <a:endParaRPr lang="en-US" sz="1000" dirty="0"/>
          </a:p>
        </p:txBody>
      </p:sp>
      <p:sp>
        <p:nvSpPr>
          <p:cNvPr id="19" name="Text 17"/>
          <p:cNvSpPr/>
          <p:nvPr/>
        </p:nvSpPr>
        <p:spPr>
          <a:xfrm>
            <a:off x="6766560" y="3703320"/>
            <a:ext cx="1828800" cy="320040"/>
          </a:xfrm>
          <a:prstGeom prst="rect">
            <a:avLst/>
          </a:prstGeom>
          <a:noFill/>
          <a:ln/>
        </p:spPr>
        <p:txBody>
          <a:bodyPr wrap="square" lIns="0" tIns="0" rIns="0" bIns="0" rtlCol="0" anchor="ctr"/>
          <a:lstStyle/>
          <a:p>
            <a:pPr indent="0" marL="0">
              <a:buNone/>
            </a:pPr>
            <a:r>
              <a:rPr lang="en-US" sz="2000" b="1" dirty="0">
                <a:solidFill>
                  <a:srgbClr val="0EA5E9"/>
                </a:solidFill>
                <a:latin typeface="Consolas" pitchFamily="34" charset="0"/>
                <a:ea typeface="Consolas" pitchFamily="34" charset="-122"/>
                <a:cs typeface="Consolas" pitchFamily="34" charset="-120"/>
              </a:rPr>
              <a:t>24</a:t>
            </a:r>
            <a:endParaRPr lang="en-US" sz="2000" dirty="0"/>
          </a:p>
        </p:txBody>
      </p:sp>
      <p:sp>
        <p:nvSpPr>
          <p:cNvPr id="20" name="Text 18"/>
          <p:cNvSpPr/>
          <p:nvPr/>
        </p:nvSpPr>
        <p:spPr>
          <a:xfrm>
            <a:off x="6766560" y="3977640"/>
            <a:ext cx="1828800" cy="182880"/>
          </a:xfrm>
          <a:prstGeom prst="rect">
            <a:avLst/>
          </a:prstGeom>
          <a:noFill/>
          <a:ln/>
        </p:spPr>
        <p:txBody>
          <a:bodyPr wrap="square" lIns="0" tIns="0" rIns="0" bIns="0" rtlCol="0" anchor="ctr"/>
          <a:lstStyle/>
          <a:p>
            <a:pPr indent="0" marL="0">
              <a:buNone/>
            </a:pPr>
            <a:r>
              <a:rPr lang="en-US" sz="1000" dirty="0">
                <a:solidFill>
                  <a:srgbClr val="94A3B8"/>
                </a:solidFill>
                <a:latin typeface="Calibri" pitchFamily="34" charset="0"/>
                <a:ea typeface="Calibri" pitchFamily="34" charset="-122"/>
                <a:cs typeface="Calibri" pitchFamily="34" charset="-120"/>
              </a:rPr>
              <a:t>RVF Segment Types</a:t>
            </a:r>
            <a:endParaRPr lang="en-US" sz="1000" dirty="0"/>
          </a:p>
        </p:txBody>
      </p:sp>
      <p:sp>
        <p:nvSpPr>
          <p:cNvPr id="21" name="Text 19"/>
          <p:cNvSpPr/>
          <p:nvPr/>
        </p:nvSpPr>
        <p:spPr>
          <a:xfrm>
            <a:off x="731520" y="4389120"/>
            <a:ext cx="7680960" cy="274320"/>
          </a:xfrm>
          <a:prstGeom prst="rect">
            <a:avLst/>
          </a:prstGeom>
          <a:noFill/>
          <a:ln/>
        </p:spPr>
        <p:txBody>
          <a:bodyPr wrap="square" lIns="0" tIns="0" rIns="0" bIns="0" rtlCol="0" anchor="ctr"/>
          <a:lstStyle/>
          <a:p>
            <a:pPr indent="0" marL="0">
              <a:buNone/>
            </a:pPr>
            <a:r>
              <a:rPr lang="en-US" sz="1200" dirty="0">
                <a:solidFill>
                  <a:srgbClr val="94A3B8"/>
                </a:solidFill>
                <a:latin typeface="Calibri" pitchFamily="34" charset="0"/>
                <a:ea typeface="Calibri" pitchFamily="34" charset="-122"/>
                <a:cs typeface="Calibri" pitchFamily="34" charset="-120"/>
              </a:rPr>
              <a:t>MIT License  |  Production Ready  |  Enterprise Support Available</a:t>
            </a:r>
            <a:endParaRPr lang="en-US" sz="1200" dirty="0"/>
          </a:p>
        </p:txBody>
      </p:sp>
      <p:sp>
        <p:nvSpPr>
          <p:cNvPr id="22" name="Text 20"/>
          <p:cNvSpPr/>
          <p:nvPr/>
        </p:nvSpPr>
        <p:spPr>
          <a:xfrm>
            <a:off x="731520" y="4709160"/>
            <a:ext cx="7315200" cy="274320"/>
          </a:xfrm>
          <a:prstGeom prst="rect">
            <a:avLst/>
          </a:prstGeom>
          <a:noFill/>
          <a:ln/>
        </p:spPr>
        <p:txBody>
          <a:bodyPr wrap="square" lIns="0" tIns="0" rIns="0" bIns="0" rtlCol="0" anchor="ctr"/>
          <a:lstStyle/>
          <a:p>
            <a:pPr indent="0" marL="0">
              <a:buNone/>
            </a:pPr>
            <a:r>
              <a:rPr lang="en-US" sz="1300" b="1" dirty="0">
                <a:solidFill>
                  <a:srgbClr val="06B6D4"/>
                </a:solidFill>
                <a:latin typeface="Consolas" pitchFamily="34" charset="0"/>
                <a:ea typeface="Consolas" pitchFamily="34" charset="-122"/>
                <a:cs typeface="Consolas" pitchFamily="34" charset="-120"/>
              </a:rPr>
              <a:t>ruvnet.com  |  hello@ruvnet.com</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RuvNet CTO Architecture Deep Dive</dc:title>
  <dc:subject>PptxGenJS Presentation</dc:subject>
  <dc:creator>RuvNet</dc:creator>
  <cp:lastModifiedBy>RuvNet</cp:lastModifiedBy>
  <cp:revision>1</cp:revision>
  <dcterms:created xsi:type="dcterms:W3CDTF">2026-03-12T17:12:04Z</dcterms:created>
  <dcterms:modified xsi:type="dcterms:W3CDTF">2026-03-12T17:12:04Z</dcterms:modified>
</cp:coreProperties>
</file>