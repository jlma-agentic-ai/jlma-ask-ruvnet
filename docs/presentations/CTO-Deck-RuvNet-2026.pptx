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sp>
        <p:nvSpPr>
          <p:cNvPr id="3" name="Text 1"/>
          <p:cNvSpPr/>
          <p:nvPr/>
        </p:nvSpPr>
        <p:spPr>
          <a:xfrm>
            <a:off x="731520" y="731520"/>
            <a:ext cx="7680960" cy="457200"/>
          </a:xfrm>
          <a:prstGeom prst="rect">
            <a:avLst/>
          </a:prstGeom>
          <a:noFill/>
          <a:ln/>
        </p:spPr>
        <p:txBody>
          <a:bodyPr wrap="square" lIns="0" tIns="0" rIns="0" bIns="0" rtlCol="0" anchor="ctr"/>
          <a:lstStyle/>
          <a:p>
            <a:pPr indent="0" marL="0">
              <a:buNone/>
            </a:pPr>
            <a:r>
              <a:rPr lang="en-US" sz="1600" spc="600" kern="0" dirty="0">
                <a:solidFill>
                  <a:srgbClr val="06B6D4"/>
                </a:solidFill>
                <a:latin typeface="Consolas" pitchFamily="34" charset="0"/>
                <a:ea typeface="Consolas" pitchFamily="34" charset="-122"/>
                <a:cs typeface="Consolas" pitchFamily="34" charset="-120"/>
              </a:rPr>
              <a:t>RUVNET</a:t>
            </a:r>
            <a:endParaRPr lang="en-US" sz="1600" dirty="0"/>
          </a:p>
        </p:txBody>
      </p:sp>
      <p:pic>
        <p:nvPicPr>
          <p:cNvPr id="4" name="Image 0" descr="/Users/stuartkerr/Code/Ask-Ruvnet/Ask-Ruvnet/docs/presentations/images/01-architecture-overview.png">    </p:cNvPr>
          <p:cNvPicPr>
            <a:picLocks noChangeAspect="1"/>
          </p:cNvPicPr>
          <p:nvPr/>
        </p:nvPicPr>
        <p:blipFill>
          <a:blip r:embed="rId1">
            <a:alphaModFix amt="45000"/>
          </a:blip>
          <a:stretch>
            <a:fillRect/>
          </a:stretch>
        </p:blipFill>
        <p:spPr>
          <a:xfrm>
            <a:off x="6217920" y="1097280"/>
            <a:ext cx="2743200" cy="1828800"/>
          </a:xfrm>
          <a:prstGeom prst="rect">
            <a:avLst/>
          </a:prstGeom>
        </p:spPr>
      </p:pic>
      <p:sp>
        <p:nvSpPr>
          <p:cNvPr id="5" name="Text 2"/>
          <p:cNvSpPr/>
          <p:nvPr/>
        </p:nvSpPr>
        <p:spPr>
          <a:xfrm>
            <a:off x="731520" y="1371600"/>
            <a:ext cx="5029200" cy="1280160"/>
          </a:xfrm>
          <a:prstGeom prst="rect">
            <a:avLst/>
          </a:prstGeom>
          <a:noFill/>
          <a:ln/>
        </p:spPr>
        <p:txBody>
          <a:bodyPr wrap="square" lIns="0" tIns="0" rIns="0" bIns="0" rtlCol="0" anchor="ctr"/>
          <a:lstStyle/>
          <a:p>
            <a:pPr indent="0" marL="0">
              <a:buNone/>
            </a:pPr>
            <a:r>
              <a:rPr lang="en-US" sz="4400" b="1" dirty="0">
                <a:solidFill>
                  <a:srgbClr val="F8FAFC"/>
                </a:solidFill>
                <a:latin typeface="Cambria" pitchFamily="34" charset="0"/>
                <a:ea typeface="Cambria" pitchFamily="34" charset="-122"/>
                <a:cs typeface="Cambria" pitchFamily="34" charset="-120"/>
              </a:rPr>
              <a:t>Technical Architecture</a:t>
            </a:r>
            <a:endParaRPr lang="en-US" sz="4400" dirty="0"/>
          </a:p>
          <a:p>
            <a:pPr indent="0" marL="0">
              <a:buNone/>
            </a:pPr>
            <a:r>
              <a:rPr lang="en-US" sz="4400" b="1" dirty="0">
                <a:solidFill>
                  <a:srgbClr val="F8FAFC"/>
                </a:solidFill>
                <a:latin typeface="Cambria" pitchFamily="34" charset="0"/>
                <a:ea typeface="Cambria" pitchFamily="34" charset="-122"/>
                <a:cs typeface="Cambria" pitchFamily="34" charset="-120"/>
              </a:rPr>
              <a:t>Deep Dive</a:t>
            </a:r>
            <a:endParaRPr lang="en-US" sz="4400" dirty="0"/>
          </a:p>
        </p:txBody>
      </p:sp>
      <p:sp>
        <p:nvSpPr>
          <p:cNvPr id="6" name="Text 3"/>
          <p:cNvSpPr/>
          <p:nvPr/>
        </p:nvSpPr>
        <p:spPr>
          <a:xfrm>
            <a:off x="731520" y="2743200"/>
            <a:ext cx="5029200" cy="45720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148 capabilities across 14 modules. Production-grade agentic infrastructure.</a:t>
            </a:r>
            <a:endParaRPr lang="en-US" sz="1600" dirty="0"/>
          </a:p>
        </p:txBody>
      </p:sp>
      <p:sp>
        <p:nvSpPr>
          <p:cNvPr id="7" name="Text 4"/>
          <p:cNvSpPr/>
          <p:nvPr/>
        </p:nvSpPr>
        <p:spPr>
          <a:xfrm>
            <a:off x="731520" y="3840480"/>
            <a:ext cx="1828800" cy="411480"/>
          </a:xfrm>
          <a:prstGeom prst="rect">
            <a:avLst/>
          </a:prstGeom>
          <a:noFill/>
          <a:ln/>
        </p:spPr>
        <p:txBody>
          <a:bodyPr wrap="square" lIns="0" tIns="0" rIns="0" bIns="0" rtlCol="0" anchor="ctr"/>
          <a:lstStyle/>
          <a:p>
            <a:pPr indent="0" marL="0">
              <a:buNone/>
            </a:pPr>
            <a:r>
              <a:rPr lang="en-US" sz="2400" b="1" dirty="0">
                <a:solidFill>
                  <a:srgbClr val="06B6D4"/>
                </a:solidFill>
                <a:latin typeface="Consolas" pitchFamily="34" charset="0"/>
                <a:ea typeface="Consolas" pitchFamily="34" charset="-122"/>
                <a:cs typeface="Consolas" pitchFamily="34" charset="-120"/>
              </a:rPr>
              <a:t>80+</a:t>
            </a:r>
            <a:endParaRPr lang="en-US" sz="2400" dirty="0"/>
          </a:p>
        </p:txBody>
      </p:sp>
      <p:sp>
        <p:nvSpPr>
          <p:cNvPr id="8" name="Text 5"/>
          <p:cNvSpPr/>
          <p:nvPr/>
        </p:nvSpPr>
        <p:spPr>
          <a:xfrm>
            <a:off x="731520" y="4206240"/>
            <a:ext cx="1828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Rust Crates</a:t>
            </a:r>
            <a:endParaRPr lang="en-US" sz="1000" dirty="0"/>
          </a:p>
        </p:txBody>
      </p:sp>
      <p:sp>
        <p:nvSpPr>
          <p:cNvPr id="9" name="Text 6"/>
          <p:cNvSpPr/>
          <p:nvPr/>
        </p:nvSpPr>
        <p:spPr>
          <a:xfrm>
            <a:off x="2743200" y="3840480"/>
            <a:ext cx="1828800" cy="411480"/>
          </a:xfrm>
          <a:prstGeom prst="rect">
            <a:avLst/>
          </a:prstGeom>
          <a:noFill/>
          <a:ln/>
        </p:spPr>
        <p:txBody>
          <a:bodyPr wrap="square" lIns="0" tIns="0" rIns="0" bIns="0" rtlCol="0" anchor="ctr"/>
          <a:lstStyle/>
          <a:p>
            <a:pPr indent="0" marL="0">
              <a:buNone/>
            </a:pPr>
            <a:r>
              <a:rPr lang="en-US" sz="2400" b="1" dirty="0">
                <a:solidFill>
                  <a:srgbClr val="06B6D4"/>
                </a:solidFill>
                <a:latin typeface="Consolas" pitchFamily="34" charset="0"/>
                <a:ea typeface="Consolas" pitchFamily="34" charset="-122"/>
                <a:cs typeface="Consolas" pitchFamily="34" charset="-120"/>
              </a:rPr>
              <a:t>290+</a:t>
            </a:r>
            <a:endParaRPr lang="en-US" sz="2400" dirty="0"/>
          </a:p>
        </p:txBody>
      </p:sp>
      <p:sp>
        <p:nvSpPr>
          <p:cNvPr id="10" name="Text 7"/>
          <p:cNvSpPr/>
          <p:nvPr/>
        </p:nvSpPr>
        <p:spPr>
          <a:xfrm>
            <a:off x="2743200" y="4206240"/>
            <a:ext cx="1828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SQL Functions</a:t>
            </a:r>
            <a:endParaRPr lang="en-US" sz="1000" dirty="0"/>
          </a:p>
        </p:txBody>
      </p:sp>
      <p:sp>
        <p:nvSpPr>
          <p:cNvPr id="11" name="Text 8"/>
          <p:cNvSpPr/>
          <p:nvPr/>
        </p:nvSpPr>
        <p:spPr>
          <a:xfrm>
            <a:off x="4754880" y="3840480"/>
            <a:ext cx="1828800" cy="411480"/>
          </a:xfrm>
          <a:prstGeom prst="rect">
            <a:avLst/>
          </a:prstGeom>
          <a:noFill/>
          <a:ln/>
        </p:spPr>
        <p:txBody>
          <a:bodyPr wrap="square" lIns="0" tIns="0" rIns="0" bIns="0" rtlCol="0" anchor="ctr"/>
          <a:lstStyle/>
          <a:p>
            <a:pPr indent="0" marL="0">
              <a:buNone/>
            </a:pPr>
            <a:r>
              <a:rPr lang="en-US" sz="2400" b="1" dirty="0">
                <a:solidFill>
                  <a:srgbClr val="06B6D4"/>
                </a:solidFill>
                <a:latin typeface="Consolas" pitchFamily="34" charset="0"/>
                <a:ea typeface="Consolas" pitchFamily="34" charset="-122"/>
                <a:cs typeface="Consolas" pitchFamily="34" charset="-120"/>
              </a:rPr>
              <a:t>39</a:t>
            </a:r>
            <a:endParaRPr lang="en-US" sz="2400" dirty="0"/>
          </a:p>
        </p:txBody>
      </p:sp>
      <p:sp>
        <p:nvSpPr>
          <p:cNvPr id="12" name="Text 9"/>
          <p:cNvSpPr/>
          <p:nvPr/>
        </p:nvSpPr>
        <p:spPr>
          <a:xfrm>
            <a:off x="4754880" y="4206240"/>
            <a:ext cx="1828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Attention Mechanisms</a:t>
            </a:r>
            <a:endParaRPr lang="en-US" sz="1000" dirty="0"/>
          </a:p>
        </p:txBody>
      </p:sp>
      <p:sp>
        <p:nvSpPr>
          <p:cNvPr id="13" name="Text 10"/>
          <p:cNvSpPr/>
          <p:nvPr/>
        </p:nvSpPr>
        <p:spPr>
          <a:xfrm>
            <a:off x="6766560" y="3840480"/>
            <a:ext cx="1828800" cy="411480"/>
          </a:xfrm>
          <a:prstGeom prst="rect">
            <a:avLst/>
          </a:prstGeom>
          <a:noFill/>
          <a:ln/>
        </p:spPr>
        <p:txBody>
          <a:bodyPr wrap="square" lIns="0" tIns="0" rIns="0" bIns="0" rtlCol="0" anchor="ctr"/>
          <a:lstStyle/>
          <a:p>
            <a:pPr indent="0" marL="0">
              <a:buNone/>
            </a:pPr>
            <a:r>
              <a:rPr lang="en-US" sz="2400" b="1" dirty="0">
                <a:solidFill>
                  <a:srgbClr val="06B6D4"/>
                </a:solidFill>
                <a:latin typeface="Consolas" pitchFamily="34" charset="0"/>
                <a:ea typeface="Consolas" pitchFamily="34" charset="-122"/>
                <a:cs typeface="Consolas" pitchFamily="34" charset="-120"/>
              </a:rPr>
              <a:t>265K</a:t>
            </a:r>
            <a:endParaRPr lang="en-US" sz="2400" dirty="0"/>
          </a:p>
        </p:txBody>
      </p:sp>
      <p:sp>
        <p:nvSpPr>
          <p:cNvPr id="14" name="Text 11"/>
          <p:cNvSpPr/>
          <p:nvPr/>
        </p:nvSpPr>
        <p:spPr>
          <a:xfrm>
            <a:off x="6766560" y="4206240"/>
            <a:ext cx="1828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Lines of Code</a:t>
            </a:r>
            <a:endParaRPr lang="en-US" sz="1000" dirty="0"/>
          </a:p>
        </p:txBody>
      </p:sp>
      <p:sp>
        <p:nvSpPr>
          <p:cNvPr id="15" name="Text 12"/>
          <p:cNvSpPr/>
          <p:nvPr/>
        </p:nvSpPr>
        <p:spPr>
          <a:xfrm>
            <a:off x="731520" y="4709160"/>
            <a:ext cx="73152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MIT License  |  ruvnet.com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sp>
        <p:nvSpPr>
          <p:cNvPr id="3" name="Text 1"/>
          <p:cNvSpPr/>
          <p:nvPr/>
        </p:nvSpPr>
        <p:spPr>
          <a:xfrm>
            <a:off x="731520" y="320040"/>
            <a:ext cx="7315200" cy="457200"/>
          </a:xfrm>
          <a:prstGeom prst="rect">
            <a:avLst/>
          </a:prstGeom>
          <a:noFill/>
          <a:ln/>
        </p:spPr>
        <p:txBody>
          <a:bodyPr wrap="square" lIns="0" tIns="0" rIns="0" bIns="0" rtlCol="0" anchor="ctr"/>
          <a:lstStyle/>
          <a:p>
            <a:pPr indent="0" marL="0">
              <a:buNone/>
            </a:pPr>
            <a:r>
              <a:rPr lang="en-US" sz="2800" b="1" dirty="0">
                <a:solidFill>
                  <a:srgbClr val="F8FAFC"/>
                </a:solidFill>
                <a:latin typeface="Cambria" pitchFamily="34" charset="0"/>
                <a:ea typeface="Cambria" pitchFamily="34" charset="-122"/>
                <a:cs typeface="Cambria" pitchFamily="34" charset="-120"/>
              </a:rPr>
              <a:t>What Providers Actually Ship</a:t>
            </a:r>
            <a:endParaRPr lang="en-US" sz="2800" dirty="0"/>
          </a:p>
        </p:txBody>
      </p:sp>
      <p:sp>
        <p:nvSpPr>
          <p:cNvPr id="4" name="Text 2"/>
          <p:cNvSpPr/>
          <p:nvPr/>
        </p:nvSpPr>
        <p:spPr>
          <a:xfrm>
            <a:off x="731520" y="777240"/>
            <a:ext cx="7315200" cy="27432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They ship the inference endpoint. You build the other 11 layers.</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2286000"/>
                <a:gridCol w="1005840"/>
                <a:gridCol w="1005840"/>
                <a:gridCol w="1005840"/>
                <a:gridCol w="914400"/>
                <a:gridCol w="1463040"/>
              </a:tblGrid>
              <a:tr h="274320">
                <a:tc>
                  <a:txBody>
                    <a:bodyPr/>
                    <a:lstStyle/>
                    <a:p>
                      <a:pPr indent="0" marL="0">
                        <a:buNone/>
                      </a:pPr>
                      <a:r>
                        <a:rPr lang="en-US" sz="1000" b="1" dirty="0">
                          <a:solidFill>
                            <a:srgbClr val="06B6D4"/>
                          </a:solidFill>
                          <a:latin typeface="Consolas" pitchFamily="34" charset="0"/>
                          <a:ea typeface="Consolas" pitchFamily="34" charset="-122"/>
                          <a:cs typeface="Consolas" pitchFamily="34" charset="-120"/>
                        </a:rPr>
                        <a:t>Capability</a:t>
                      </a:r>
                      <a:endParaRPr lang="en-US" sz="100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94A3B8"/>
                          </a:solidFill>
                          <a:latin typeface="Consolas" pitchFamily="34" charset="0"/>
                          <a:ea typeface="Consolas" pitchFamily="34" charset="-122"/>
                          <a:cs typeface="Consolas" pitchFamily="34" charset="-120"/>
                        </a:rPr>
                        <a:t>OpenAI</a:t>
                      </a:r>
                      <a:endParaRPr lang="en-US" sz="100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94A3B8"/>
                          </a:solidFill>
                          <a:latin typeface="Consolas" pitchFamily="34" charset="0"/>
                          <a:ea typeface="Consolas" pitchFamily="34" charset="-122"/>
                          <a:cs typeface="Consolas" pitchFamily="34" charset="-120"/>
                        </a:rPr>
                        <a:t>Anthropic</a:t>
                      </a:r>
                      <a:endParaRPr lang="en-US" sz="100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94A3B8"/>
                          </a:solidFill>
                          <a:latin typeface="Consolas" pitchFamily="34" charset="0"/>
                          <a:ea typeface="Consolas" pitchFamily="34" charset="-122"/>
                          <a:cs typeface="Consolas" pitchFamily="34" charset="-120"/>
                        </a:rPr>
                        <a:t>Google</a:t>
                      </a:r>
                      <a:endParaRPr lang="en-US" sz="100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94A3B8"/>
                          </a:solidFill>
                          <a:latin typeface="Consolas" pitchFamily="34" charset="0"/>
                          <a:ea typeface="Consolas" pitchFamily="34" charset="-122"/>
                          <a:cs typeface="Consolas" pitchFamily="34" charset="-120"/>
                        </a:rPr>
                        <a:t>AWS</a:t>
                      </a:r>
                      <a:endParaRPr lang="en-US" sz="100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06B6D4"/>
                          </a:solidFill>
                          <a:latin typeface="Consolas" pitchFamily="34" charset="0"/>
                          <a:ea typeface="Consolas" pitchFamily="34" charset="-122"/>
                          <a:cs typeface="Consolas" pitchFamily="34" charset="-120"/>
                        </a:rPr>
                        <a:t>RuvNet</a:t>
                      </a:r>
                      <a:endParaRPr lang="en-US" sz="100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0D2A2E"/>
                    </a:solidFill>
                  </a:tcPr>
                </a:tc>
              </a:tr>
              <a:tr h="246888">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LLM API</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0D2A2E"/>
                    </a:solidFill>
                  </a:tcPr>
                </a:tc>
              </a:tr>
              <a:tr h="246888">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Multi-Agent (150+ types)</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0D2A2E"/>
                    </a:solidFill>
                  </a:tcPr>
                </a:tc>
              </a:tr>
              <a:tr h="246888">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Persistent Memory (4 types)</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0D2A2E"/>
                    </a:solidFill>
                  </a:tcPr>
                </a:tc>
              </a:tr>
              <a:tr h="246888">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Vector Search (&lt;100µs)</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0D2A2E"/>
                    </a:solidFill>
                  </a:tcPr>
                </a:tc>
              </a:tr>
              <a:tr h="246888">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Security Middleware</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0D2A2E"/>
                    </a:solidFill>
                  </a:tcPr>
                </a:tc>
              </a:tr>
              <a:tr h="246888">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Offline / Air-Gapped</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0D2A2E"/>
                    </a:solidFill>
                  </a:tcPr>
                </a:tc>
              </a:tr>
              <a:tr h="246888">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Self-Learning (&lt;1ms)</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0D2A2E"/>
                    </a:solidFill>
                  </a:tcPr>
                </a:tc>
              </a:tr>
              <a:tr h="246888">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WASM Runtime (7.2KB)</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0D2A2E"/>
                    </a:solidFill>
                  </a:tcPr>
                </a:tc>
              </a:tr>
              <a:tr h="246888">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Anti-Hallucination (formal)</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0D2A2E"/>
                    </a:solidFill>
                  </a:tcPr>
                </a:tc>
              </a:tr>
              <a:tr h="246888">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Graph Analytics (GNN)</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0D2A2E"/>
                    </a:solidFill>
                  </a:tcPr>
                </a:tc>
              </a:tr>
              <a:tr h="246888">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MCP Protocol (96 tools)</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94A3B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0D2A2E"/>
                    </a:solidFill>
                  </a:tcPr>
                </a:tc>
              </a:tr>
              <a:tr h="246888">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Data Sovereignty</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94A3B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0D2A2E"/>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sp>
        <p:nvSpPr>
          <p:cNvPr id="3" name="Text 1"/>
          <p:cNvSpPr/>
          <p:nvPr/>
        </p:nvSpPr>
        <p:spPr>
          <a:xfrm>
            <a:off x="731520" y="274320"/>
            <a:ext cx="7315200" cy="457200"/>
          </a:xfrm>
          <a:prstGeom prst="rect">
            <a:avLst/>
          </a:prstGeom>
          <a:noFill/>
          <a:ln/>
        </p:spPr>
        <p:txBody>
          <a:bodyPr wrap="square" lIns="0" tIns="0" rIns="0" bIns="0" rtlCol="0" anchor="ctr"/>
          <a:lstStyle/>
          <a:p>
            <a:pPr indent="0" marL="0">
              <a:buNone/>
            </a:pPr>
            <a:r>
              <a:rPr lang="en-US" sz="2800" b="1" dirty="0">
                <a:solidFill>
                  <a:srgbClr val="F8FAFC"/>
                </a:solidFill>
                <a:latin typeface="Cambria" pitchFamily="34" charset="0"/>
                <a:ea typeface="Cambria" pitchFamily="34" charset="-122"/>
                <a:cs typeface="Cambria" pitchFamily="34" charset="-120"/>
              </a:rPr>
              <a:t>System Architecture</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14 modules. Unified data plane. Security envelope.</a:t>
            </a:r>
            <a:endParaRPr lang="en-US" sz="1300" dirty="0"/>
          </a:p>
        </p:txBody>
      </p:sp>
      <p:pic>
        <p:nvPicPr>
          <p:cNvPr id="5" name="Image 0" descr="/Users/stuartkerr/Code/Ask-Ruvnet/Ask-Ruvnet/docs/presentations/images/01-architecture-overview.png">    </p:cNvPr>
          <p:cNvPicPr>
            <a:picLocks noChangeAspect="1"/>
          </p:cNvPicPr>
          <p:nvPr/>
        </p:nvPicPr>
        <p:blipFill>
          <a:blip r:embed="rId1">
            <a:alphaModFix amt="10000"/>
          </a:blip>
          <a:stretch>
            <a:fillRect/>
          </a:stretch>
        </p:blipFill>
        <p:spPr>
          <a:xfrm>
            <a:off x="914400" y="914400"/>
            <a:ext cx="7315200" cy="3657600"/>
          </a:xfrm>
          <a:prstGeom prst="rect">
            <a:avLst/>
          </a:prstGeom>
        </p:spPr>
      </p:pic>
      <p:sp>
        <p:nvSpPr>
          <p:cNvPr id="6" name="Shape 3"/>
          <p:cNvSpPr/>
          <p:nvPr/>
        </p:nvSpPr>
        <p:spPr>
          <a:xfrm>
            <a:off x="457200" y="1097280"/>
            <a:ext cx="731520" cy="77724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7" name="Shape 4"/>
          <p:cNvSpPr/>
          <p:nvPr/>
        </p:nvSpPr>
        <p:spPr>
          <a:xfrm>
            <a:off x="457200" y="1097280"/>
            <a:ext cx="731520" cy="36576"/>
          </a:xfrm>
          <a:prstGeom prst="rect">
            <a:avLst/>
          </a:prstGeom>
          <a:solidFill>
            <a:srgbClr val="94A3B8"/>
          </a:solidFill>
          <a:ln/>
        </p:spPr>
      </p:sp>
      <p:sp>
        <p:nvSpPr>
          <p:cNvPr id="8" name="Text 5"/>
          <p:cNvSpPr/>
          <p:nvPr/>
        </p:nvSpPr>
        <p:spPr>
          <a:xfrm>
            <a:off x="502920" y="1188720"/>
            <a:ext cx="640080" cy="228600"/>
          </a:xfrm>
          <a:prstGeom prst="rect">
            <a:avLst/>
          </a:prstGeom>
          <a:noFill/>
          <a:ln/>
        </p:spPr>
        <p:txBody>
          <a:bodyPr wrap="square" lIns="0" tIns="0" rIns="0" bIns="0" rtlCol="0" anchor="ctr"/>
          <a:lstStyle/>
          <a:p>
            <a:pPr algn="ctr" indent="0" marL="0">
              <a:buNone/>
            </a:pPr>
            <a:r>
              <a:rPr lang="en-US" sz="1000" b="1" dirty="0">
                <a:solidFill>
                  <a:srgbClr val="94A3B8"/>
                </a:solidFill>
                <a:latin typeface="Consolas" pitchFamily="34" charset="0"/>
                <a:ea typeface="Consolas" pitchFamily="34" charset="-122"/>
                <a:cs typeface="Consolas" pitchFamily="34" charset="-120"/>
              </a:rPr>
              <a:t>Input</a:t>
            </a:r>
            <a:endParaRPr lang="en-US" sz="1000" dirty="0"/>
          </a:p>
        </p:txBody>
      </p:sp>
      <p:sp>
        <p:nvSpPr>
          <p:cNvPr id="9" name="Text 6"/>
          <p:cNvSpPr/>
          <p:nvPr/>
        </p:nvSpPr>
        <p:spPr>
          <a:xfrm>
            <a:off x="1188720" y="1097280"/>
            <a:ext cx="274320" cy="777240"/>
          </a:xfrm>
          <a:prstGeom prst="rect">
            <a:avLst/>
          </a:prstGeom>
          <a:noFill/>
          <a:ln/>
        </p:spPr>
        <p:txBody>
          <a:bodyPr wrap="square" lIns="0" tIns="0" rIns="0" bIns="0" rtlCol="0" anchor="ctr"/>
          <a:lstStyle/>
          <a:p>
            <a:pPr algn="ctr" indent="0" marL="0">
              <a:buNone/>
            </a:pPr>
            <a:r>
              <a:rPr lang="en-US" sz="1200" dirty="0">
                <a:solidFill>
                  <a:srgbClr val="94A3B8"/>
                </a:solidFill>
                <a:latin typeface="Arial" pitchFamily="34" charset="0"/>
                <a:ea typeface="Arial" pitchFamily="34" charset="-122"/>
                <a:cs typeface="Arial" pitchFamily="34" charset="-120"/>
              </a:rPr>
              <a:t>▶</a:t>
            </a:r>
            <a:endParaRPr lang="en-US" sz="1200" dirty="0"/>
          </a:p>
        </p:txBody>
      </p:sp>
      <p:sp>
        <p:nvSpPr>
          <p:cNvPr id="10" name="Shape 7"/>
          <p:cNvSpPr/>
          <p:nvPr/>
        </p:nvSpPr>
        <p:spPr>
          <a:xfrm>
            <a:off x="1463040" y="1097280"/>
            <a:ext cx="1097280" cy="77724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11" name="Shape 8"/>
          <p:cNvSpPr/>
          <p:nvPr/>
        </p:nvSpPr>
        <p:spPr>
          <a:xfrm>
            <a:off x="1463040" y="1097280"/>
            <a:ext cx="1097280" cy="36576"/>
          </a:xfrm>
          <a:prstGeom prst="rect">
            <a:avLst/>
          </a:prstGeom>
          <a:solidFill>
            <a:srgbClr val="EF4444"/>
          </a:solidFill>
          <a:ln/>
        </p:spPr>
      </p:sp>
      <p:sp>
        <p:nvSpPr>
          <p:cNvPr id="12" name="Text 9"/>
          <p:cNvSpPr/>
          <p:nvPr/>
        </p:nvSpPr>
        <p:spPr>
          <a:xfrm>
            <a:off x="1508760" y="1188720"/>
            <a:ext cx="1005840" cy="228600"/>
          </a:xfrm>
          <a:prstGeom prst="rect">
            <a:avLst/>
          </a:prstGeom>
          <a:noFill/>
          <a:ln/>
        </p:spPr>
        <p:txBody>
          <a:bodyPr wrap="square" lIns="0" tIns="0" rIns="0" bIns="0" rtlCol="0" anchor="ctr"/>
          <a:lstStyle/>
          <a:p>
            <a:pPr algn="ctr" indent="0" marL="0">
              <a:buNone/>
            </a:pPr>
            <a:r>
              <a:rPr lang="en-US" sz="1000" b="1" dirty="0">
                <a:solidFill>
                  <a:srgbClr val="EF4444"/>
                </a:solidFill>
                <a:latin typeface="Consolas" pitchFamily="34" charset="0"/>
                <a:ea typeface="Consolas" pitchFamily="34" charset="-122"/>
                <a:cs typeface="Consolas" pitchFamily="34" charset="-120"/>
              </a:rPr>
              <a:t>AIMDS</a:t>
            </a:r>
            <a:endParaRPr lang="en-US" sz="1000" dirty="0"/>
          </a:p>
        </p:txBody>
      </p:sp>
      <p:sp>
        <p:nvSpPr>
          <p:cNvPr id="13" name="Text 10"/>
          <p:cNvSpPr/>
          <p:nvPr/>
        </p:nvSpPr>
        <p:spPr>
          <a:xfrm>
            <a:off x="1508760" y="1417320"/>
            <a:ext cx="1005840" cy="36576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0.06ms scan</a:t>
            </a:r>
            <a:endParaRPr lang="en-US" sz="800" dirty="0"/>
          </a:p>
        </p:txBody>
      </p:sp>
      <p:sp>
        <p:nvSpPr>
          <p:cNvPr id="14" name="Text 11"/>
          <p:cNvSpPr/>
          <p:nvPr/>
        </p:nvSpPr>
        <p:spPr>
          <a:xfrm>
            <a:off x="2560320" y="1097280"/>
            <a:ext cx="274320" cy="777240"/>
          </a:xfrm>
          <a:prstGeom prst="rect">
            <a:avLst/>
          </a:prstGeom>
          <a:noFill/>
          <a:ln/>
        </p:spPr>
        <p:txBody>
          <a:bodyPr wrap="square" lIns="0" tIns="0" rIns="0" bIns="0" rtlCol="0" anchor="ctr"/>
          <a:lstStyle/>
          <a:p>
            <a:pPr algn="ctr" indent="0" marL="0">
              <a:buNone/>
            </a:pPr>
            <a:r>
              <a:rPr lang="en-US" sz="1200" dirty="0">
                <a:solidFill>
                  <a:srgbClr val="94A3B8"/>
                </a:solidFill>
                <a:latin typeface="Arial" pitchFamily="34" charset="0"/>
                <a:ea typeface="Arial" pitchFamily="34" charset="-122"/>
                <a:cs typeface="Arial" pitchFamily="34" charset="-120"/>
              </a:rPr>
              <a:t>▶</a:t>
            </a:r>
            <a:endParaRPr lang="en-US" sz="1200" dirty="0"/>
          </a:p>
        </p:txBody>
      </p:sp>
      <p:sp>
        <p:nvSpPr>
          <p:cNvPr id="15" name="Shape 12"/>
          <p:cNvSpPr/>
          <p:nvPr/>
        </p:nvSpPr>
        <p:spPr>
          <a:xfrm>
            <a:off x="2834640" y="1097280"/>
            <a:ext cx="1188720" cy="77724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16" name="Shape 13"/>
          <p:cNvSpPr/>
          <p:nvPr/>
        </p:nvSpPr>
        <p:spPr>
          <a:xfrm>
            <a:off x="2834640" y="1097280"/>
            <a:ext cx="1188720" cy="36576"/>
          </a:xfrm>
          <a:prstGeom prst="rect">
            <a:avLst/>
          </a:prstGeom>
          <a:solidFill>
            <a:srgbClr val="06B6D4"/>
          </a:solidFill>
          <a:ln/>
        </p:spPr>
      </p:sp>
      <p:sp>
        <p:nvSpPr>
          <p:cNvPr id="17" name="Text 14"/>
          <p:cNvSpPr/>
          <p:nvPr/>
        </p:nvSpPr>
        <p:spPr>
          <a:xfrm>
            <a:off x="2880360" y="1188720"/>
            <a:ext cx="1097280" cy="228600"/>
          </a:xfrm>
          <a:prstGeom prst="rect">
            <a:avLst/>
          </a:prstGeom>
          <a:noFill/>
          <a:ln/>
        </p:spPr>
        <p:txBody>
          <a:bodyPr wrap="square" lIns="0" tIns="0" rIns="0" bIns="0" rtlCol="0" anchor="ctr"/>
          <a:lstStyle/>
          <a:p>
            <a:pPr algn="ctr" indent="0" marL="0">
              <a:buNone/>
            </a:pPr>
            <a:r>
              <a:rPr lang="en-US" sz="1000" b="1" dirty="0">
                <a:solidFill>
                  <a:srgbClr val="06B6D4"/>
                </a:solidFill>
                <a:latin typeface="Consolas" pitchFamily="34" charset="0"/>
                <a:ea typeface="Consolas" pitchFamily="34" charset="-122"/>
                <a:cs typeface="Consolas" pitchFamily="34" charset="-120"/>
              </a:rPr>
              <a:t>Ruflo</a:t>
            </a:r>
            <a:endParaRPr lang="en-US" sz="1000" dirty="0"/>
          </a:p>
        </p:txBody>
      </p:sp>
      <p:sp>
        <p:nvSpPr>
          <p:cNvPr id="18" name="Text 15"/>
          <p:cNvSpPr/>
          <p:nvPr/>
        </p:nvSpPr>
        <p:spPr>
          <a:xfrm>
            <a:off x="2880360" y="1417320"/>
            <a:ext cx="1097280" cy="36576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150+ agents</a:t>
            </a:r>
            <a:endParaRPr lang="en-US" sz="800" dirty="0"/>
          </a:p>
          <a:p>
            <a:pPr algn="ctr" indent="0" marL="0">
              <a:buNone/>
            </a:pPr>
            <a:r>
              <a:rPr lang="en-US" sz="800" dirty="0">
                <a:solidFill>
                  <a:srgbClr val="94A3B8"/>
                </a:solidFill>
                <a:latin typeface="Calibri" pitchFamily="34" charset="0"/>
                <a:ea typeface="Calibri" pitchFamily="34" charset="-122"/>
                <a:cs typeface="Calibri" pitchFamily="34" charset="-120"/>
              </a:rPr>
              <a:t>5 topologies</a:t>
            </a:r>
            <a:endParaRPr lang="en-US" sz="800" dirty="0"/>
          </a:p>
        </p:txBody>
      </p:sp>
      <p:sp>
        <p:nvSpPr>
          <p:cNvPr id="19" name="Text 16"/>
          <p:cNvSpPr/>
          <p:nvPr/>
        </p:nvSpPr>
        <p:spPr>
          <a:xfrm>
            <a:off x="4023360" y="1097280"/>
            <a:ext cx="274320" cy="777240"/>
          </a:xfrm>
          <a:prstGeom prst="rect">
            <a:avLst/>
          </a:prstGeom>
          <a:noFill/>
          <a:ln/>
        </p:spPr>
        <p:txBody>
          <a:bodyPr wrap="square" lIns="0" tIns="0" rIns="0" bIns="0" rtlCol="0" anchor="ctr"/>
          <a:lstStyle/>
          <a:p>
            <a:pPr algn="ctr" indent="0" marL="0">
              <a:buNone/>
            </a:pPr>
            <a:r>
              <a:rPr lang="en-US" sz="1200" dirty="0">
                <a:solidFill>
                  <a:srgbClr val="94A3B8"/>
                </a:solidFill>
                <a:latin typeface="Arial" pitchFamily="34" charset="0"/>
                <a:ea typeface="Arial" pitchFamily="34" charset="-122"/>
                <a:cs typeface="Arial" pitchFamily="34" charset="-120"/>
              </a:rPr>
              <a:t>▶</a:t>
            </a:r>
            <a:endParaRPr lang="en-US" sz="1200" dirty="0"/>
          </a:p>
        </p:txBody>
      </p:sp>
      <p:sp>
        <p:nvSpPr>
          <p:cNvPr id="20" name="Shape 17"/>
          <p:cNvSpPr/>
          <p:nvPr/>
        </p:nvSpPr>
        <p:spPr>
          <a:xfrm>
            <a:off x="4297680" y="1097280"/>
            <a:ext cx="1097280" cy="77724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21" name="Shape 18"/>
          <p:cNvSpPr/>
          <p:nvPr/>
        </p:nvSpPr>
        <p:spPr>
          <a:xfrm>
            <a:off x="4297680" y="1097280"/>
            <a:ext cx="1097280" cy="36576"/>
          </a:xfrm>
          <a:prstGeom prst="rect">
            <a:avLst/>
          </a:prstGeom>
          <a:solidFill>
            <a:srgbClr val="0EA5E9"/>
          </a:solidFill>
          <a:ln/>
        </p:spPr>
      </p:sp>
      <p:sp>
        <p:nvSpPr>
          <p:cNvPr id="22" name="Text 19"/>
          <p:cNvSpPr/>
          <p:nvPr/>
        </p:nvSpPr>
        <p:spPr>
          <a:xfrm>
            <a:off x="4343400" y="1188720"/>
            <a:ext cx="1005840" cy="228600"/>
          </a:xfrm>
          <a:prstGeom prst="rect">
            <a:avLst/>
          </a:prstGeom>
          <a:noFill/>
          <a:ln/>
        </p:spPr>
        <p:txBody>
          <a:bodyPr wrap="square" lIns="0" tIns="0" rIns="0" bIns="0" rtlCol="0" anchor="ctr"/>
          <a:lstStyle/>
          <a:p>
            <a:pPr algn="ctr" indent="0" marL="0">
              <a:buNone/>
            </a:pPr>
            <a:r>
              <a:rPr lang="en-US" sz="1000" b="1" dirty="0">
                <a:solidFill>
                  <a:srgbClr val="0EA5E9"/>
                </a:solidFill>
                <a:latin typeface="Consolas" pitchFamily="34" charset="0"/>
                <a:ea typeface="Consolas" pitchFamily="34" charset="-122"/>
                <a:cs typeface="Consolas" pitchFamily="34" charset="-120"/>
              </a:rPr>
              <a:t>RuVector</a:t>
            </a:r>
            <a:endParaRPr lang="en-US" sz="1000" dirty="0"/>
          </a:p>
        </p:txBody>
      </p:sp>
      <p:sp>
        <p:nvSpPr>
          <p:cNvPr id="23" name="Text 20"/>
          <p:cNvSpPr/>
          <p:nvPr/>
        </p:nvSpPr>
        <p:spPr>
          <a:xfrm>
            <a:off x="4343400" y="1417320"/>
            <a:ext cx="1005840" cy="36576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61µs search</a:t>
            </a:r>
            <a:endParaRPr lang="en-US" sz="800" dirty="0"/>
          </a:p>
        </p:txBody>
      </p:sp>
      <p:sp>
        <p:nvSpPr>
          <p:cNvPr id="24" name="Text 21"/>
          <p:cNvSpPr/>
          <p:nvPr/>
        </p:nvSpPr>
        <p:spPr>
          <a:xfrm>
            <a:off x="5394960" y="1097280"/>
            <a:ext cx="274320" cy="777240"/>
          </a:xfrm>
          <a:prstGeom prst="rect">
            <a:avLst/>
          </a:prstGeom>
          <a:noFill/>
          <a:ln/>
        </p:spPr>
        <p:txBody>
          <a:bodyPr wrap="square" lIns="0" tIns="0" rIns="0" bIns="0" rtlCol="0" anchor="ctr"/>
          <a:lstStyle/>
          <a:p>
            <a:pPr algn="ctr" indent="0" marL="0">
              <a:buNone/>
            </a:pPr>
            <a:r>
              <a:rPr lang="en-US" sz="1200" dirty="0">
                <a:solidFill>
                  <a:srgbClr val="94A3B8"/>
                </a:solidFill>
                <a:latin typeface="Arial" pitchFamily="34" charset="0"/>
                <a:ea typeface="Arial" pitchFamily="34" charset="-122"/>
                <a:cs typeface="Arial" pitchFamily="34" charset="-120"/>
              </a:rPr>
              <a:t>▶</a:t>
            </a:r>
            <a:endParaRPr lang="en-US" sz="1200" dirty="0"/>
          </a:p>
        </p:txBody>
      </p:sp>
      <p:sp>
        <p:nvSpPr>
          <p:cNvPr id="25" name="Shape 22"/>
          <p:cNvSpPr/>
          <p:nvPr/>
        </p:nvSpPr>
        <p:spPr>
          <a:xfrm>
            <a:off x="5669280" y="1097280"/>
            <a:ext cx="1097280" cy="77724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26" name="Shape 23"/>
          <p:cNvSpPr/>
          <p:nvPr/>
        </p:nvSpPr>
        <p:spPr>
          <a:xfrm>
            <a:off x="5669280" y="1097280"/>
            <a:ext cx="1097280" cy="36576"/>
          </a:xfrm>
          <a:prstGeom prst="rect">
            <a:avLst/>
          </a:prstGeom>
          <a:solidFill>
            <a:srgbClr val="8B5CF6"/>
          </a:solidFill>
          <a:ln/>
        </p:spPr>
      </p:sp>
      <p:sp>
        <p:nvSpPr>
          <p:cNvPr id="27" name="Text 24"/>
          <p:cNvSpPr/>
          <p:nvPr/>
        </p:nvSpPr>
        <p:spPr>
          <a:xfrm>
            <a:off x="5715000" y="1188720"/>
            <a:ext cx="1005840" cy="228600"/>
          </a:xfrm>
          <a:prstGeom prst="rect">
            <a:avLst/>
          </a:prstGeom>
          <a:noFill/>
          <a:ln/>
        </p:spPr>
        <p:txBody>
          <a:bodyPr wrap="square" lIns="0" tIns="0" rIns="0" bIns="0" rtlCol="0" anchor="ctr"/>
          <a:lstStyle/>
          <a:p>
            <a:pPr algn="ctr" indent="0" marL="0">
              <a:buNone/>
            </a:pPr>
            <a:r>
              <a:rPr lang="en-US" sz="1000" b="1" dirty="0">
                <a:solidFill>
                  <a:srgbClr val="8B5CF6"/>
                </a:solidFill>
                <a:latin typeface="Consolas" pitchFamily="34" charset="0"/>
                <a:ea typeface="Consolas" pitchFamily="34" charset="-122"/>
                <a:cs typeface="Consolas" pitchFamily="34" charset="-120"/>
              </a:rPr>
              <a:t>AgentDB</a:t>
            </a:r>
            <a:endParaRPr lang="en-US" sz="1000" dirty="0"/>
          </a:p>
        </p:txBody>
      </p:sp>
      <p:sp>
        <p:nvSpPr>
          <p:cNvPr id="28" name="Text 25"/>
          <p:cNvSpPr/>
          <p:nvPr/>
        </p:nvSpPr>
        <p:spPr>
          <a:xfrm>
            <a:off x="5715000" y="1417320"/>
            <a:ext cx="1005840" cy="36576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4 memory types</a:t>
            </a:r>
            <a:endParaRPr lang="en-US" sz="800" dirty="0"/>
          </a:p>
        </p:txBody>
      </p:sp>
      <p:sp>
        <p:nvSpPr>
          <p:cNvPr id="29" name="Text 26"/>
          <p:cNvSpPr/>
          <p:nvPr/>
        </p:nvSpPr>
        <p:spPr>
          <a:xfrm>
            <a:off x="6766560" y="1097280"/>
            <a:ext cx="274320" cy="777240"/>
          </a:xfrm>
          <a:prstGeom prst="rect">
            <a:avLst/>
          </a:prstGeom>
          <a:noFill/>
          <a:ln/>
        </p:spPr>
        <p:txBody>
          <a:bodyPr wrap="square" lIns="0" tIns="0" rIns="0" bIns="0" rtlCol="0" anchor="ctr"/>
          <a:lstStyle/>
          <a:p>
            <a:pPr algn="ctr" indent="0" marL="0">
              <a:buNone/>
            </a:pPr>
            <a:r>
              <a:rPr lang="en-US" sz="1200" dirty="0">
                <a:solidFill>
                  <a:srgbClr val="94A3B8"/>
                </a:solidFill>
                <a:latin typeface="Arial" pitchFamily="34" charset="0"/>
                <a:ea typeface="Arial" pitchFamily="34" charset="-122"/>
                <a:cs typeface="Arial" pitchFamily="34" charset="-120"/>
              </a:rPr>
              <a:t>▶</a:t>
            </a:r>
            <a:endParaRPr lang="en-US" sz="1200" dirty="0"/>
          </a:p>
        </p:txBody>
      </p:sp>
      <p:sp>
        <p:nvSpPr>
          <p:cNvPr id="30" name="Shape 27"/>
          <p:cNvSpPr/>
          <p:nvPr/>
        </p:nvSpPr>
        <p:spPr>
          <a:xfrm>
            <a:off x="7040880" y="1097280"/>
            <a:ext cx="1005840" cy="77724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31" name="Shape 28"/>
          <p:cNvSpPr/>
          <p:nvPr/>
        </p:nvSpPr>
        <p:spPr>
          <a:xfrm>
            <a:off x="7040880" y="1097280"/>
            <a:ext cx="1005840" cy="36576"/>
          </a:xfrm>
          <a:prstGeom prst="rect">
            <a:avLst/>
          </a:prstGeom>
          <a:solidFill>
            <a:srgbClr val="F59E0B"/>
          </a:solidFill>
          <a:ln/>
        </p:spPr>
      </p:sp>
      <p:sp>
        <p:nvSpPr>
          <p:cNvPr id="32" name="Text 29"/>
          <p:cNvSpPr/>
          <p:nvPr/>
        </p:nvSpPr>
        <p:spPr>
          <a:xfrm>
            <a:off x="7086600" y="1188720"/>
            <a:ext cx="914400" cy="228600"/>
          </a:xfrm>
          <a:prstGeom prst="rect">
            <a:avLst/>
          </a:prstGeom>
          <a:noFill/>
          <a:ln/>
        </p:spPr>
        <p:txBody>
          <a:bodyPr wrap="square" lIns="0" tIns="0" rIns="0" bIns="0" rtlCol="0" anchor="ctr"/>
          <a:lstStyle/>
          <a:p>
            <a:pPr algn="ctr" indent="0" marL="0">
              <a:buNone/>
            </a:pPr>
            <a:r>
              <a:rPr lang="en-US" sz="1000" b="1" dirty="0">
                <a:solidFill>
                  <a:srgbClr val="F59E0B"/>
                </a:solidFill>
                <a:latin typeface="Consolas" pitchFamily="34" charset="0"/>
                <a:ea typeface="Consolas" pitchFamily="34" charset="-122"/>
                <a:cs typeface="Consolas" pitchFamily="34" charset="-120"/>
              </a:rPr>
              <a:t>SONA</a:t>
            </a:r>
            <a:endParaRPr lang="en-US" sz="1000" dirty="0"/>
          </a:p>
        </p:txBody>
      </p:sp>
      <p:sp>
        <p:nvSpPr>
          <p:cNvPr id="33" name="Text 30"/>
          <p:cNvSpPr/>
          <p:nvPr/>
        </p:nvSpPr>
        <p:spPr>
          <a:xfrm>
            <a:off x="7086600" y="1417320"/>
            <a:ext cx="914400" cy="36576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9 RL algorithms</a:t>
            </a:r>
            <a:endParaRPr lang="en-US" sz="800" dirty="0"/>
          </a:p>
        </p:txBody>
      </p:sp>
      <p:sp>
        <p:nvSpPr>
          <p:cNvPr id="34" name="Text 31"/>
          <p:cNvSpPr/>
          <p:nvPr/>
        </p:nvSpPr>
        <p:spPr>
          <a:xfrm>
            <a:off x="8046720" y="1097280"/>
            <a:ext cx="274320" cy="777240"/>
          </a:xfrm>
          <a:prstGeom prst="rect">
            <a:avLst/>
          </a:prstGeom>
          <a:noFill/>
          <a:ln/>
        </p:spPr>
        <p:txBody>
          <a:bodyPr wrap="square" lIns="0" tIns="0" rIns="0" bIns="0" rtlCol="0" anchor="ctr"/>
          <a:lstStyle/>
          <a:p>
            <a:pPr algn="ctr" indent="0" marL="0">
              <a:buNone/>
            </a:pPr>
            <a:r>
              <a:rPr lang="en-US" sz="1200" dirty="0">
                <a:solidFill>
                  <a:srgbClr val="94A3B8"/>
                </a:solidFill>
                <a:latin typeface="Arial" pitchFamily="34" charset="0"/>
                <a:ea typeface="Arial" pitchFamily="34" charset="-122"/>
                <a:cs typeface="Arial" pitchFamily="34" charset="-120"/>
              </a:rPr>
              <a:t>▶</a:t>
            </a:r>
            <a:endParaRPr lang="en-US" sz="1200" dirty="0"/>
          </a:p>
        </p:txBody>
      </p:sp>
      <p:sp>
        <p:nvSpPr>
          <p:cNvPr id="35" name="Shape 32"/>
          <p:cNvSpPr/>
          <p:nvPr/>
        </p:nvSpPr>
        <p:spPr>
          <a:xfrm>
            <a:off x="8321040" y="1097280"/>
            <a:ext cx="731520" cy="77724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36" name="Shape 33"/>
          <p:cNvSpPr/>
          <p:nvPr/>
        </p:nvSpPr>
        <p:spPr>
          <a:xfrm>
            <a:off x="8321040" y="1097280"/>
            <a:ext cx="731520" cy="36576"/>
          </a:xfrm>
          <a:prstGeom prst="rect">
            <a:avLst/>
          </a:prstGeom>
          <a:solidFill>
            <a:srgbClr val="94A3B8"/>
          </a:solidFill>
          <a:ln/>
        </p:spPr>
      </p:sp>
      <p:sp>
        <p:nvSpPr>
          <p:cNvPr id="37" name="Text 34"/>
          <p:cNvSpPr/>
          <p:nvPr/>
        </p:nvSpPr>
        <p:spPr>
          <a:xfrm>
            <a:off x="8366760" y="1188720"/>
            <a:ext cx="640080" cy="228600"/>
          </a:xfrm>
          <a:prstGeom prst="rect">
            <a:avLst/>
          </a:prstGeom>
          <a:noFill/>
          <a:ln/>
        </p:spPr>
        <p:txBody>
          <a:bodyPr wrap="square" lIns="0" tIns="0" rIns="0" bIns="0" rtlCol="0" anchor="ctr"/>
          <a:lstStyle/>
          <a:p>
            <a:pPr algn="ctr" indent="0" marL="0">
              <a:buNone/>
            </a:pPr>
            <a:r>
              <a:rPr lang="en-US" sz="1000" b="1" dirty="0">
                <a:solidFill>
                  <a:srgbClr val="94A3B8"/>
                </a:solidFill>
                <a:latin typeface="Consolas" pitchFamily="34" charset="0"/>
                <a:ea typeface="Consolas" pitchFamily="34" charset="-122"/>
                <a:cs typeface="Consolas" pitchFamily="34" charset="-120"/>
              </a:rPr>
              <a:t>Output</a:t>
            </a:r>
            <a:endParaRPr lang="en-US" sz="1000" dirty="0"/>
          </a:p>
        </p:txBody>
      </p:sp>
      <p:sp>
        <p:nvSpPr>
          <p:cNvPr id="38" name="Shape 35"/>
          <p:cNvSpPr/>
          <p:nvPr/>
        </p:nvSpPr>
        <p:spPr>
          <a:xfrm>
            <a:off x="457200" y="2103120"/>
            <a:ext cx="8229600" cy="731520"/>
          </a:xfrm>
          <a:prstGeom prst="rect">
            <a:avLst/>
          </a:prstGeom>
          <a:solidFill>
            <a:srgbClr val="1A2230"/>
          </a:solidFill>
          <a:ln/>
        </p:spPr>
      </p:sp>
      <p:sp>
        <p:nvSpPr>
          <p:cNvPr id="39" name="Text 36"/>
          <p:cNvSpPr/>
          <p:nvPr/>
        </p:nvSpPr>
        <p:spPr>
          <a:xfrm>
            <a:off x="594360" y="2148840"/>
            <a:ext cx="2286000" cy="228600"/>
          </a:xfrm>
          <a:prstGeom prst="rect">
            <a:avLst/>
          </a:prstGeom>
          <a:noFill/>
          <a:ln/>
        </p:spPr>
        <p:txBody>
          <a:bodyPr wrap="square" lIns="0" tIns="0" rIns="0" bIns="0" rtlCol="0" anchor="ctr"/>
          <a:lstStyle/>
          <a:p>
            <a:pPr indent="0" marL="0">
              <a:buNone/>
            </a:pPr>
            <a:r>
              <a:rPr lang="en-US" sz="1000" b="1" dirty="0">
                <a:solidFill>
                  <a:srgbClr val="F59E0B"/>
                </a:solidFill>
                <a:latin typeface="Consolas" pitchFamily="34" charset="0"/>
                <a:ea typeface="Consolas" pitchFamily="34" charset="-122"/>
                <a:cs typeface="Consolas" pitchFamily="34" charset="-120"/>
              </a:rPr>
              <a:t>RVF: 3-Tier Compute</a:t>
            </a:r>
            <a:endParaRPr lang="en-US" sz="1000" dirty="0"/>
          </a:p>
        </p:txBody>
      </p:sp>
      <p:sp>
        <p:nvSpPr>
          <p:cNvPr id="40" name="Text 37"/>
          <p:cNvSpPr/>
          <p:nvPr/>
        </p:nvSpPr>
        <p:spPr>
          <a:xfrm>
            <a:off x="594360" y="2377440"/>
            <a:ext cx="4114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WASM (5.5KB)  |  eBPF (kernel bypass)  |  Unikernel (125ms Linux boot)</a:t>
            </a:r>
            <a:endParaRPr lang="en-US" sz="900" dirty="0"/>
          </a:p>
        </p:txBody>
      </p:sp>
      <p:sp>
        <p:nvSpPr>
          <p:cNvPr id="41" name="Text 38"/>
          <p:cNvSpPr/>
          <p:nvPr/>
        </p:nvSpPr>
        <p:spPr>
          <a:xfrm>
            <a:off x="4754880" y="2148840"/>
            <a:ext cx="3657600" cy="228600"/>
          </a:xfrm>
          <a:prstGeom prst="rect">
            <a:avLst/>
          </a:prstGeom>
          <a:noFill/>
          <a:ln/>
        </p:spPr>
        <p:txBody>
          <a:bodyPr wrap="square" lIns="0" tIns="0" rIns="0" bIns="0" rtlCol="0" anchor="ctr"/>
          <a:lstStyle/>
          <a:p>
            <a:pPr indent="0" marL="0">
              <a:buNone/>
            </a:pPr>
            <a:r>
              <a:rPr lang="en-US" sz="1000" b="1" dirty="0">
                <a:solidFill>
                  <a:srgbClr val="10B981"/>
                </a:solidFill>
                <a:latin typeface="Consolas" pitchFamily="34" charset="0"/>
                <a:ea typeface="Consolas" pitchFamily="34" charset="-122"/>
                <a:cs typeface="Consolas" pitchFamily="34" charset="-120"/>
              </a:rPr>
              <a:t>Nervous System: 5 Bio-Inspired Layers</a:t>
            </a:r>
            <a:endParaRPr lang="en-US" sz="1000" dirty="0"/>
          </a:p>
        </p:txBody>
      </p:sp>
      <p:sp>
        <p:nvSpPr>
          <p:cNvPr id="42" name="Text 39"/>
          <p:cNvSpPr/>
          <p:nvPr/>
        </p:nvSpPr>
        <p:spPr>
          <a:xfrm>
            <a:off x="4754880" y="2377440"/>
            <a:ext cx="3840480" cy="18288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Sensing (&lt;100ns)  |  Reflex (&lt;1µs)  |  Memory (10³⁰ cap)  |  Learning  |  Coherence</a:t>
            </a:r>
            <a:endParaRPr lang="en-US" sz="850" dirty="0"/>
          </a:p>
        </p:txBody>
      </p:sp>
      <p:sp>
        <p:nvSpPr>
          <p:cNvPr id="43" name="Shape 40"/>
          <p:cNvSpPr/>
          <p:nvPr/>
        </p:nvSpPr>
        <p:spPr>
          <a:xfrm>
            <a:off x="457200" y="3017520"/>
            <a:ext cx="8229600" cy="457200"/>
          </a:xfrm>
          <a:prstGeom prst="rect">
            <a:avLst/>
          </a:prstGeom>
          <a:solidFill>
            <a:srgbClr val="0D2A2E"/>
          </a:solidFill>
          <a:ln/>
        </p:spPr>
      </p:sp>
      <p:sp>
        <p:nvSpPr>
          <p:cNvPr id="44" name="Text 41"/>
          <p:cNvSpPr/>
          <p:nvPr/>
        </p:nvSpPr>
        <p:spPr>
          <a:xfrm>
            <a:off x="594360" y="3017520"/>
            <a:ext cx="7955280" cy="457200"/>
          </a:xfrm>
          <a:prstGeom prst="rect">
            <a:avLst/>
          </a:prstGeom>
          <a:noFill/>
          <a:ln/>
        </p:spPr>
        <p:txBody>
          <a:bodyPr wrap="square" lIns="0" tIns="0" rIns="0" bIns="0" rtlCol="0" anchor="ctr"/>
          <a:lstStyle/>
          <a:p>
            <a:pPr indent="0" marL="0">
              <a:buNone/>
            </a:pPr>
            <a:r>
              <a:rPr lang="en-US" sz="1000" dirty="0">
                <a:solidFill>
                  <a:srgbClr val="06B6D4"/>
                </a:solidFill>
                <a:latin typeface="Calibri" pitchFamily="34" charset="0"/>
                <a:ea typeface="Calibri" pitchFamily="34" charset="-122"/>
                <a:cs typeface="Calibri" pitchFamily="34" charset="-120"/>
              </a:rPr>
              <a:t>PostgreSQL Unified Data Plane — 290+ SQL Functions  |  HNSW Indexing  |  RuVector Extension  |  Drop-in pgvector replacement</a:t>
            </a:r>
            <a:endParaRPr lang="en-US" sz="1000" dirty="0"/>
          </a:p>
        </p:txBody>
      </p:sp>
      <p:sp>
        <p:nvSpPr>
          <p:cNvPr id="45" name="Shape 42"/>
          <p:cNvSpPr/>
          <p:nvPr/>
        </p:nvSpPr>
        <p:spPr>
          <a:xfrm>
            <a:off x="457200" y="3657600"/>
            <a:ext cx="8229600" cy="457200"/>
          </a:xfrm>
          <a:prstGeom prst="rect">
            <a:avLst/>
          </a:prstGeom>
          <a:solidFill>
            <a:srgbClr val="1A1520"/>
          </a:solidFill>
          <a:ln/>
        </p:spPr>
      </p:sp>
      <p:sp>
        <p:nvSpPr>
          <p:cNvPr id="46" name="Text 43"/>
          <p:cNvSpPr/>
          <p:nvPr/>
        </p:nvSpPr>
        <p:spPr>
          <a:xfrm>
            <a:off x="594360" y="3657600"/>
            <a:ext cx="7955280" cy="457200"/>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Security Envelope — Witness Chains (ML-DSA-65 Post-Quantum)  |  TEE Attestations  |  PII Redaction  |  DNA Lineage Tracking</a:t>
            </a:r>
            <a:endParaRPr lang="en-US" sz="1000" dirty="0"/>
          </a:p>
        </p:txBody>
      </p:sp>
      <p:sp>
        <p:nvSpPr>
          <p:cNvPr id="47" name="Text 44"/>
          <p:cNvSpPr/>
          <p:nvPr/>
        </p:nvSpPr>
        <p:spPr>
          <a:xfrm>
            <a:off x="457200" y="4297680"/>
            <a:ext cx="1554480" cy="274320"/>
          </a:xfrm>
          <a:prstGeom prst="rect">
            <a:avLst/>
          </a:prstGeom>
          <a:noFill/>
          <a:ln/>
        </p:spPr>
        <p:txBody>
          <a:bodyPr wrap="square" lIns="0" tIns="0" rIns="0" bIns="0" rtlCol="0" anchor="ctr"/>
          <a:lstStyle/>
          <a:p>
            <a:pPr algn="ctr" indent="0" marL="0">
              <a:buNone/>
            </a:pPr>
            <a:r>
              <a:rPr lang="en-US" sz="1000" dirty="0">
                <a:solidFill>
                  <a:srgbClr val="06B6D4"/>
                </a:solidFill>
                <a:latin typeface="Consolas" pitchFamily="34" charset="0"/>
                <a:ea typeface="Consolas" pitchFamily="34" charset="-122"/>
                <a:cs typeface="Consolas" pitchFamily="34" charset="-120"/>
              </a:rPr>
              <a:t>96 MCP Tools</a:t>
            </a:r>
            <a:endParaRPr lang="en-US" sz="1000" dirty="0"/>
          </a:p>
        </p:txBody>
      </p:sp>
      <p:sp>
        <p:nvSpPr>
          <p:cNvPr id="48" name="Text 45"/>
          <p:cNvSpPr/>
          <p:nvPr/>
        </p:nvSpPr>
        <p:spPr>
          <a:xfrm>
            <a:off x="2103120" y="4297680"/>
            <a:ext cx="1554480" cy="274320"/>
          </a:xfrm>
          <a:prstGeom prst="rect">
            <a:avLst/>
          </a:prstGeom>
          <a:noFill/>
          <a:ln/>
        </p:spPr>
        <p:txBody>
          <a:bodyPr wrap="square" lIns="0" tIns="0" rIns="0" bIns="0" rtlCol="0" anchor="ctr"/>
          <a:lstStyle/>
          <a:p>
            <a:pPr algn="ctr" indent="0" marL="0">
              <a:buNone/>
            </a:pPr>
            <a:r>
              <a:rPr lang="en-US" sz="1000" dirty="0">
                <a:solidFill>
                  <a:srgbClr val="06B6D4"/>
                </a:solidFill>
                <a:latin typeface="Consolas" pitchFamily="34" charset="0"/>
                <a:ea typeface="Consolas" pitchFamily="34" charset="-122"/>
                <a:cs typeface="Consolas" pitchFamily="34" charset="-120"/>
              </a:rPr>
              <a:t>80+ Rust Crates</a:t>
            </a:r>
            <a:endParaRPr lang="en-US" sz="1000" dirty="0"/>
          </a:p>
        </p:txBody>
      </p:sp>
      <p:sp>
        <p:nvSpPr>
          <p:cNvPr id="49" name="Text 46"/>
          <p:cNvSpPr/>
          <p:nvPr/>
        </p:nvSpPr>
        <p:spPr>
          <a:xfrm>
            <a:off x="3749040" y="4297680"/>
            <a:ext cx="1554480" cy="274320"/>
          </a:xfrm>
          <a:prstGeom prst="rect">
            <a:avLst/>
          </a:prstGeom>
          <a:noFill/>
          <a:ln/>
        </p:spPr>
        <p:txBody>
          <a:bodyPr wrap="square" lIns="0" tIns="0" rIns="0" bIns="0" rtlCol="0" anchor="ctr"/>
          <a:lstStyle/>
          <a:p>
            <a:pPr algn="ctr" indent="0" marL="0">
              <a:buNone/>
            </a:pPr>
            <a:r>
              <a:rPr lang="en-US" sz="1000" dirty="0">
                <a:solidFill>
                  <a:srgbClr val="06B6D4"/>
                </a:solidFill>
                <a:latin typeface="Consolas" pitchFamily="34" charset="0"/>
                <a:ea typeface="Consolas" pitchFamily="34" charset="-122"/>
                <a:cs typeface="Consolas" pitchFamily="34" charset="-120"/>
              </a:rPr>
              <a:t>49+ npm Packages</a:t>
            </a:r>
            <a:endParaRPr lang="en-US" sz="1000" dirty="0"/>
          </a:p>
        </p:txBody>
      </p:sp>
      <p:sp>
        <p:nvSpPr>
          <p:cNvPr id="50" name="Text 47"/>
          <p:cNvSpPr/>
          <p:nvPr/>
        </p:nvSpPr>
        <p:spPr>
          <a:xfrm>
            <a:off x="5394960" y="4297680"/>
            <a:ext cx="1554480" cy="274320"/>
          </a:xfrm>
          <a:prstGeom prst="rect">
            <a:avLst/>
          </a:prstGeom>
          <a:noFill/>
          <a:ln/>
        </p:spPr>
        <p:txBody>
          <a:bodyPr wrap="square" lIns="0" tIns="0" rIns="0" bIns="0" rtlCol="0" anchor="ctr"/>
          <a:lstStyle/>
          <a:p>
            <a:pPr algn="ctr" indent="0" marL="0">
              <a:buNone/>
            </a:pPr>
            <a:r>
              <a:rPr lang="en-US" sz="1000" dirty="0">
                <a:solidFill>
                  <a:srgbClr val="06B6D4"/>
                </a:solidFill>
                <a:latin typeface="Consolas" pitchFamily="34" charset="0"/>
                <a:ea typeface="Consolas" pitchFamily="34" charset="-122"/>
                <a:cs typeface="Consolas" pitchFamily="34" charset="-120"/>
              </a:rPr>
              <a:t>25+ ADRs</a:t>
            </a:r>
            <a:endParaRPr lang="en-US" sz="1000" dirty="0"/>
          </a:p>
        </p:txBody>
      </p:sp>
      <p:sp>
        <p:nvSpPr>
          <p:cNvPr id="51" name="Text 48"/>
          <p:cNvSpPr/>
          <p:nvPr/>
        </p:nvSpPr>
        <p:spPr>
          <a:xfrm>
            <a:off x="7040880" y="4297680"/>
            <a:ext cx="1554480" cy="274320"/>
          </a:xfrm>
          <a:prstGeom prst="rect">
            <a:avLst/>
          </a:prstGeom>
          <a:noFill/>
          <a:ln/>
        </p:spPr>
        <p:txBody>
          <a:bodyPr wrap="square" lIns="0" tIns="0" rIns="0" bIns="0" rtlCol="0" anchor="ctr"/>
          <a:lstStyle/>
          <a:p>
            <a:pPr algn="ctr" indent="0" marL="0">
              <a:buNone/>
            </a:pPr>
            <a:r>
              <a:rPr lang="en-US" sz="1000" dirty="0">
                <a:solidFill>
                  <a:srgbClr val="06B6D4"/>
                </a:solidFill>
                <a:latin typeface="Consolas" pitchFamily="34" charset="0"/>
                <a:ea typeface="Consolas" pitchFamily="34" charset="-122"/>
                <a:cs typeface="Consolas" pitchFamily="34" charset="-120"/>
              </a:rPr>
              <a:t>14 Modules</a:t>
            </a:r>
            <a:endParaRPr lang="en-US" sz="1000" dirty="0"/>
          </a:p>
        </p:txBody>
      </p:sp>
      <p:sp>
        <p:nvSpPr>
          <p:cNvPr id="52" name="Text 49"/>
          <p:cNvSpPr/>
          <p:nvPr/>
        </p:nvSpPr>
        <p:spPr>
          <a:xfrm>
            <a:off x="731520" y="4709160"/>
            <a:ext cx="7680960" cy="228600"/>
          </a:xfrm>
          <a:prstGeom prst="rect">
            <a:avLst/>
          </a:prstGeom>
          <a:noFill/>
          <a:ln/>
        </p:spPr>
        <p:txBody>
          <a:bodyPr wrap="square" lIns="0" tIns="0" rIns="0" bIns="0" rtlCol="0" anchor="ctr"/>
          <a:lstStyle/>
          <a:p>
            <a:pPr indent="0" marL="0">
              <a:buNone/>
            </a:pPr>
            <a:r>
              <a:rPr lang="en-US" sz="1100" i="1" dirty="0">
                <a:solidFill>
                  <a:srgbClr val="06B6D4"/>
                </a:solidFill>
                <a:latin typeface="Calibri" pitchFamily="34" charset="0"/>
                <a:ea typeface="Calibri" pitchFamily="34" charset="-122"/>
                <a:cs typeface="Calibri" pitchFamily="34" charset="-120"/>
              </a:rPr>
              <a:t>This entire stack is open source. MIT license. Free forever.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pic>
        <p:nvPicPr>
          <p:cNvPr id="3" name="Image 0" descr="/Users/stuartkerr/Code/Ask-Ruvnet/Ask-Ruvnet/docs/presentations/images/02-data-sovereignty.png">    </p:cNvPr>
          <p:cNvPicPr>
            <a:picLocks noChangeAspect="1"/>
          </p:cNvPicPr>
          <p:nvPr/>
        </p:nvPicPr>
        <p:blipFill>
          <a:blip r:embed="rId1">
            <a:alphaModFix amt="15000"/>
          </a:blip>
          <a:stretch>
            <a:fillRect/>
          </a:stretch>
        </p:blipFill>
        <p:spPr>
          <a:xfrm>
            <a:off x="0" y="0"/>
            <a:ext cx="9144000" cy="5143500"/>
          </a:xfrm>
          <a:prstGeom prst="rect">
            <a:avLst/>
          </a:prstGeom>
        </p:spPr>
      </p:pic>
      <p:sp>
        <p:nvSpPr>
          <p:cNvPr id="4" name="Text 1"/>
          <p:cNvSpPr/>
          <p:nvPr/>
        </p:nvSpPr>
        <p:spPr>
          <a:xfrm>
            <a:off x="731520" y="274320"/>
            <a:ext cx="3657600" cy="22860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onsolas" pitchFamily="34" charset="0"/>
                <a:ea typeface="Consolas" pitchFamily="34" charset="-122"/>
                <a:cs typeface="Consolas" pitchFamily="34" charset="-120"/>
              </a:rPr>
              <a:t>ONLY POSSIBLE WITH RUVNET</a:t>
            </a:r>
            <a:endParaRPr lang="en-US" sz="1100" dirty="0"/>
          </a:p>
        </p:txBody>
      </p:sp>
      <p:sp>
        <p:nvSpPr>
          <p:cNvPr id="5" name="Text 2"/>
          <p:cNvSpPr/>
          <p:nvPr/>
        </p:nvSpPr>
        <p:spPr>
          <a:xfrm>
            <a:off x="731520" y="502920"/>
            <a:ext cx="7680960" cy="457200"/>
          </a:xfrm>
          <a:prstGeom prst="rect">
            <a:avLst/>
          </a:prstGeom>
          <a:noFill/>
          <a:ln/>
        </p:spPr>
        <p:txBody>
          <a:bodyPr wrap="square" lIns="0" tIns="0" rIns="0" bIns="0" rtlCol="0" anchor="ctr"/>
          <a:lstStyle/>
          <a:p>
            <a:pPr indent="0" marL="0">
              <a:buNone/>
            </a:pPr>
            <a:r>
              <a:rPr lang="en-US" sz="2600" b="1" dirty="0">
                <a:solidFill>
                  <a:srgbClr val="F8FAFC"/>
                </a:solidFill>
                <a:latin typeface="Cambria" pitchFamily="34" charset="0"/>
                <a:ea typeface="Cambria" pitchFamily="34" charset="-122"/>
                <a:cs typeface="Cambria" pitchFamily="34" charset="-120"/>
              </a:rPr>
              <a:t>Enterprise AI Without Data Leakage</a:t>
            </a:r>
            <a:endParaRPr lang="en-US" sz="2600" dirty="0"/>
          </a:p>
        </p:txBody>
      </p:sp>
      <p:sp>
        <p:nvSpPr>
          <p:cNvPr id="6" name="Text 3"/>
          <p:cNvSpPr/>
          <p:nvPr/>
        </p:nvSpPr>
        <p:spPr>
          <a:xfrm>
            <a:off x="731520" y="960120"/>
            <a:ext cx="7680960" cy="27432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Every AI API sends your data to someone else's servers. RuVector runs inside your PostgreSQL.</a:t>
            </a:r>
            <a:endParaRPr lang="en-US" sz="1300" dirty="0"/>
          </a:p>
        </p:txBody>
      </p:sp>
      <p:sp>
        <p:nvSpPr>
          <p:cNvPr id="7" name="Shape 4"/>
          <p:cNvSpPr/>
          <p:nvPr/>
        </p:nvSpPr>
        <p:spPr>
          <a:xfrm>
            <a:off x="731520" y="1417320"/>
            <a:ext cx="3749040" cy="1645920"/>
          </a:xfrm>
          <a:prstGeom prst="rect">
            <a:avLst/>
          </a:prstGeom>
          <a:solidFill>
            <a:srgbClr val="1A1520"/>
          </a:solidFill>
          <a:ln/>
          <a:effectLst>
            <a:outerShdw sx="100000" sy="100000" kx="0" ky="0" algn="bl" rotWithShape="0" blurRad="76200" dist="25400" dir="8100000">
              <a:srgbClr val="000000">
                <a:alpha val="25000"/>
              </a:srgbClr>
            </a:outerShdw>
          </a:effectLst>
        </p:spPr>
      </p:sp>
      <p:sp>
        <p:nvSpPr>
          <p:cNvPr id="8" name="Shape 5"/>
          <p:cNvSpPr/>
          <p:nvPr/>
        </p:nvSpPr>
        <p:spPr>
          <a:xfrm>
            <a:off x="731520" y="1417320"/>
            <a:ext cx="3749040" cy="36576"/>
          </a:xfrm>
          <a:prstGeom prst="rect">
            <a:avLst/>
          </a:prstGeom>
          <a:solidFill>
            <a:srgbClr val="EF4444"/>
          </a:solidFill>
          <a:ln/>
        </p:spPr>
      </p:sp>
      <p:sp>
        <p:nvSpPr>
          <p:cNvPr id="9" name="Text 6"/>
          <p:cNvSpPr/>
          <p:nvPr/>
        </p:nvSpPr>
        <p:spPr>
          <a:xfrm>
            <a:off x="914400" y="1508760"/>
            <a:ext cx="3383280" cy="228600"/>
          </a:xfrm>
          <a:prstGeom prst="rect">
            <a:avLst/>
          </a:prstGeom>
          <a:noFill/>
          <a:ln/>
        </p:spPr>
        <p:txBody>
          <a:bodyPr wrap="square" lIns="0" tIns="0" rIns="0" bIns="0" rtlCol="0" anchor="ctr"/>
          <a:lstStyle/>
          <a:p>
            <a:pPr indent="0" marL="0">
              <a:buNone/>
            </a:pPr>
            <a:r>
              <a:rPr lang="en-US" sz="1100" b="1" dirty="0">
                <a:solidFill>
                  <a:srgbClr val="EF4444"/>
                </a:solidFill>
                <a:latin typeface="Consolas" pitchFamily="34" charset="0"/>
                <a:ea typeface="Consolas" pitchFamily="34" charset="-122"/>
                <a:cs typeface="Consolas" pitchFamily="34" charset="-120"/>
              </a:rPr>
              <a:t>Standard AI Architecture</a:t>
            </a:r>
            <a:endParaRPr lang="en-US" sz="1100" dirty="0"/>
          </a:p>
        </p:txBody>
      </p:sp>
      <p:sp>
        <p:nvSpPr>
          <p:cNvPr id="10" name="Text 7"/>
          <p:cNvSpPr/>
          <p:nvPr/>
        </p:nvSpPr>
        <p:spPr>
          <a:xfrm>
            <a:off x="914400" y="1783080"/>
            <a:ext cx="3383280" cy="228600"/>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Your Data → Internet → OpenAI/Google Servers → Response</a:t>
            </a:r>
            <a:endParaRPr lang="en-US" sz="1000" dirty="0"/>
          </a:p>
        </p:txBody>
      </p:sp>
      <p:sp>
        <p:nvSpPr>
          <p:cNvPr id="11" name="Text 8"/>
          <p:cNvSpPr/>
          <p:nvPr/>
        </p:nvSpPr>
        <p:spPr>
          <a:xfrm>
            <a:off x="914400" y="2057400"/>
            <a:ext cx="3383280" cy="914400"/>
          </a:xfrm>
          <a:prstGeom prst="rect">
            <a:avLst/>
          </a:prstGeom>
          <a:noFill/>
          <a:ln/>
        </p:spPr>
        <p:txBody>
          <a:bodyPr wrap="square" rtlCol="0" anchor="ctr"/>
          <a:lstStyle/>
          <a:p>
            <a:pPr marL="342900" indent="-342900">
              <a:spcAft>
                <a:spcPts val="300"/>
              </a:spcAft>
              <a:buSzPct val="100000"/>
              <a:buChar char="•"/>
            </a:pPr>
            <a:r>
              <a:rPr lang="en-US" sz="1000" dirty="0">
                <a:solidFill>
                  <a:srgbClr val="94A3B8"/>
                </a:solidFill>
                <a:latin typeface="Calibri" pitchFamily="34" charset="0"/>
                <a:ea typeface="Calibri" pitchFamily="34" charset="-122"/>
                <a:cs typeface="Calibri" pitchFamily="34" charset="-120"/>
              </a:rPr>
              <a:t>Data transmitted to third-party infrastructure</a:t>
            </a:r>
            <a:endParaRPr lang="en-US" sz="1000" dirty="0"/>
          </a:p>
          <a:p>
            <a:pPr marL="342900" indent="-342900">
              <a:spcAft>
                <a:spcPts val="300"/>
              </a:spcAft>
              <a:buSzPct val="100000"/>
              <a:buChar char="•"/>
            </a:pPr>
            <a:r>
              <a:rPr lang="en-US" sz="1000" dirty="0">
                <a:solidFill>
                  <a:srgbClr val="94A3B8"/>
                </a:solidFill>
                <a:latin typeface="Calibri" pitchFamily="34" charset="0"/>
                <a:ea typeface="Calibri" pitchFamily="34" charset="-122"/>
                <a:cs typeface="Calibri" pitchFamily="34" charset="-120"/>
              </a:rPr>
              <a:t>No audit trail of what happens to your data</a:t>
            </a:r>
            <a:endParaRPr lang="en-US" sz="1000" dirty="0"/>
          </a:p>
          <a:p>
            <a:pPr marL="342900" indent="-342900">
              <a:spcAft>
                <a:spcPts val="300"/>
              </a:spcAft>
              <a:buSzPct val="100000"/>
              <a:buChar char="•"/>
            </a:pPr>
            <a:r>
              <a:rPr lang="en-US" sz="1000" dirty="0">
                <a:solidFill>
                  <a:srgbClr val="94A3B8"/>
                </a:solidFill>
                <a:latin typeface="Calibri" pitchFamily="34" charset="0"/>
                <a:ea typeface="Calibri" pitchFamily="34" charset="-122"/>
                <a:cs typeface="Calibri" pitchFamily="34" charset="-120"/>
              </a:rPr>
              <a:t>Compliance teams block adoption</a:t>
            </a:r>
            <a:endParaRPr lang="en-US" sz="1000" dirty="0"/>
          </a:p>
          <a:p>
            <a:pPr marL="342900" indent="-342900">
              <a:spcAft>
                <a:spcPts val="300"/>
              </a:spcAft>
              <a:buSzPct val="100000"/>
              <a:buChar char="•"/>
            </a:pPr>
            <a:r>
              <a:rPr lang="en-US" sz="1000" dirty="0">
                <a:solidFill>
                  <a:srgbClr val="94A3B8"/>
                </a:solidFill>
                <a:latin typeface="Calibri" pitchFamily="34" charset="0"/>
                <a:ea typeface="Calibri" pitchFamily="34" charset="-122"/>
                <a:cs typeface="Calibri" pitchFamily="34" charset="-120"/>
              </a:rPr>
              <a:t>Network dependency = single point of failure</a:t>
            </a:r>
            <a:endParaRPr lang="en-US" sz="1000" dirty="0"/>
          </a:p>
        </p:txBody>
      </p:sp>
      <p:sp>
        <p:nvSpPr>
          <p:cNvPr id="12" name="Shape 9"/>
          <p:cNvSpPr/>
          <p:nvPr/>
        </p:nvSpPr>
        <p:spPr>
          <a:xfrm>
            <a:off x="4663440" y="1417320"/>
            <a:ext cx="3749040" cy="1645920"/>
          </a:xfrm>
          <a:prstGeom prst="rect">
            <a:avLst/>
          </a:prstGeom>
          <a:solidFill>
            <a:srgbClr val="0D2A2E"/>
          </a:solidFill>
          <a:ln/>
          <a:effectLst>
            <a:outerShdw sx="100000" sy="100000" kx="0" ky="0" algn="bl" rotWithShape="0" blurRad="76200" dist="25400" dir="8100000">
              <a:srgbClr val="000000">
                <a:alpha val="25000"/>
              </a:srgbClr>
            </a:outerShdw>
          </a:effectLst>
        </p:spPr>
      </p:sp>
      <p:sp>
        <p:nvSpPr>
          <p:cNvPr id="13" name="Shape 10"/>
          <p:cNvSpPr/>
          <p:nvPr/>
        </p:nvSpPr>
        <p:spPr>
          <a:xfrm>
            <a:off x="4663440" y="1417320"/>
            <a:ext cx="3749040" cy="36576"/>
          </a:xfrm>
          <a:prstGeom prst="rect">
            <a:avLst/>
          </a:prstGeom>
          <a:solidFill>
            <a:srgbClr val="06B6D4"/>
          </a:solidFill>
          <a:ln/>
        </p:spPr>
      </p:sp>
      <p:sp>
        <p:nvSpPr>
          <p:cNvPr id="14" name="Text 11"/>
          <p:cNvSpPr/>
          <p:nvPr/>
        </p:nvSpPr>
        <p:spPr>
          <a:xfrm>
            <a:off x="4846320" y="1508760"/>
            <a:ext cx="3383280" cy="22860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RuvNet Architecture</a:t>
            </a:r>
            <a:endParaRPr lang="en-US" sz="1100" dirty="0"/>
          </a:p>
        </p:txBody>
      </p:sp>
      <p:sp>
        <p:nvSpPr>
          <p:cNvPr id="15" name="Text 12"/>
          <p:cNvSpPr/>
          <p:nvPr/>
        </p:nvSpPr>
        <p:spPr>
          <a:xfrm>
            <a:off x="4846320" y="1783080"/>
            <a:ext cx="3383280" cy="228600"/>
          </a:xfrm>
          <a:prstGeom prst="rect">
            <a:avLst/>
          </a:prstGeom>
          <a:noFill/>
          <a:ln/>
        </p:spPr>
        <p:txBody>
          <a:bodyPr wrap="square" lIns="0" tIns="0" rIns="0" bIns="0" rtlCol="0" anchor="ctr"/>
          <a:lstStyle/>
          <a:p>
            <a:pPr indent="0" marL="0">
              <a:buNone/>
            </a:pPr>
            <a:r>
              <a:rPr lang="en-US" sz="1000" dirty="0">
                <a:solidFill>
                  <a:srgbClr val="06B6D4"/>
                </a:solidFill>
                <a:latin typeface="Consolas" pitchFamily="34" charset="0"/>
                <a:ea typeface="Consolas" pitchFamily="34" charset="-122"/>
                <a:cs typeface="Consolas" pitchFamily="34" charset="-120"/>
              </a:rPr>
              <a:t>Your Data → Your PostgreSQL → RuVector (in-process) → Response</a:t>
            </a:r>
            <a:endParaRPr lang="en-US" sz="1000" dirty="0"/>
          </a:p>
        </p:txBody>
      </p:sp>
      <p:sp>
        <p:nvSpPr>
          <p:cNvPr id="16" name="Text 13"/>
          <p:cNvSpPr/>
          <p:nvPr/>
        </p:nvSpPr>
        <p:spPr>
          <a:xfrm>
            <a:off x="4846320" y="2057400"/>
            <a:ext cx="3383280" cy="914400"/>
          </a:xfrm>
          <a:prstGeom prst="rect">
            <a:avLst/>
          </a:prstGeom>
          <a:noFill/>
          <a:ln/>
        </p:spPr>
        <p:txBody>
          <a:bodyPr wrap="square" rtlCol="0" anchor="ctr"/>
          <a:lstStyle/>
          <a:p>
            <a:pPr marL="342900" indent="-342900">
              <a:spcAft>
                <a:spcPts val="300"/>
              </a:spcAft>
              <a:buSzPct val="100000"/>
              <a:buChar char="•"/>
            </a:pPr>
            <a:r>
              <a:rPr lang="en-US" sz="1000" dirty="0">
                <a:solidFill>
                  <a:srgbClr val="CBD5E1"/>
                </a:solidFill>
                <a:latin typeface="Calibri" pitchFamily="34" charset="0"/>
                <a:ea typeface="Calibri" pitchFamily="34" charset="-122"/>
                <a:cs typeface="Calibri" pitchFamily="34" charset="-120"/>
              </a:rPr>
              <a:t>290+ SQL functions run in your DB process</a:t>
            </a:r>
            <a:endParaRPr lang="en-US" sz="1000" dirty="0"/>
          </a:p>
          <a:p>
            <a:pPr marL="342900" indent="-342900">
              <a:spcAft>
                <a:spcPts val="300"/>
              </a:spcAft>
              <a:buSzPct val="100000"/>
              <a:buChar char="•"/>
            </a:pPr>
            <a:r>
              <a:rPr lang="en-US" sz="1000" dirty="0">
                <a:solidFill>
                  <a:srgbClr val="CBD5E1"/>
                </a:solidFill>
                <a:latin typeface="Calibri" pitchFamily="34" charset="0"/>
                <a:ea typeface="Calibri" pitchFamily="34" charset="-122"/>
                <a:cs typeface="Calibri" pitchFamily="34" charset="-120"/>
              </a:rPr>
              <a:t>AIMDS scans inbound AND outbound for leaks</a:t>
            </a:r>
            <a:endParaRPr lang="en-US" sz="1000" dirty="0"/>
          </a:p>
          <a:p>
            <a:pPr marL="342900" indent="-342900">
              <a:spcAft>
                <a:spcPts val="300"/>
              </a:spcAft>
              <a:buSzPct val="100000"/>
              <a:buChar char="•"/>
            </a:pPr>
            <a:r>
              <a:rPr lang="en-US" sz="1000" dirty="0">
                <a:solidFill>
                  <a:srgbClr val="CBD5E1"/>
                </a:solidFill>
                <a:latin typeface="Calibri" pitchFamily="34" charset="0"/>
                <a:ea typeface="Calibri" pitchFamily="34" charset="-122"/>
                <a:cs typeface="Calibri" pitchFamily="34" charset="-120"/>
              </a:rPr>
              <a:t>Witness chains: cryptographic audit of every op</a:t>
            </a:r>
            <a:endParaRPr lang="en-US" sz="1000" dirty="0"/>
          </a:p>
          <a:p>
            <a:pPr marL="342900" indent="-342900">
              <a:spcAft>
                <a:spcPts val="300"/>
              </a:spcAft>
              <a:buSzPct val="100000"/>
              <a:buChar char="•"/>
            </a:pPr>
            <a:r>
              <a:rPr lang="en-US" sz="1000" dirty="0">
                <a:solidFill>
                  <a:srgbClr val="CBD5E1"/>
                </a:solidFill>
                <a:latin typeface="Calibri" pitchFamily="34" charset="0"/>
                <a:ea typeface="Calibri" pitchFamily="34" charset="-122"/>
                <a:cs typeface="Calibri" pitchFamily="34" charset="-120"/>
              </a:rPr>
              <a:t>Air-gap with RVF containers — zero network code</a:t>
            </a:r>
            <a:endParaRPr lang="en-US" sz="1000" dirty="0"/>
          </a:p>
        </p:txBody>
      </p:sp>
      <p:sp>
        <p:nvSpPr>
          <p:cNvPr id="17" name="Shape 14"/>
          <p:cNvSpPr/>
          <p:nvPr/>
        </p:nvSpPr>
        <p:spPr>
          <a:xfrm>
            <a:off x="731520" y="3291840"/>
            <a:ext cx="7680960" cy="914400"/>
          </a:xfrm>
          <a:prstGeom prst="rect">
            <a:avLst/>
          </a:prstGeom>
          <a:solidFill>
            <a:srgbClr val="1A2744"/>
          </a:solidFill>
          <a:ln/>
        </p:spPr>
      </p:sp>
      <p:sp>
        <p:nvSpPr>
          <p:cNvPr id="18" name="Text 15"/>
          <p:cNvSpPr/>
          <p:nvPr/>
        </p:nvSpPr>
        <p:spPr>
          <a:xfrm>
            <a:off x="914400" y="3337560"/>
            <a:ext cx="3657600" cy="228600"/>
          </a:xfrm>
          <a:prstGeom prst="rect">
            <a:avLst/>
          </a:prstGeom>
          <a:noFill/>
          <a:ln/>
        </p:spPr>
        <p:txBody>
          <a:bodyPr wrap="square" lIns="0" tIns="0" rIns="0" bIns="0" rtlCol="0" anchor="ctr"/>
          <a:lstStyle/>
          <a:p>
            <a:pPr indent="0" marL="0">
              <a:buNone/>
            </a:pPr>
            <a:r>
              <a:rPr lang="en-US" sz="1100" b="1" dirty="0">
                <a:solidFill>
                  <a:srgbClr val="F59E0B"/>
                </a:solidFill>
                <a:latin typeface="Consolas" pitchFamily="34" charset="0"/>
                <a:ea typeface="Consolas" pitchFamily="34" charset="-122"/>
                <a:cs typeface="Consolas" pitchFamily="34" charset="-120"/>
              </a:rPr>
              <a:t>EXAMPLE: Bank Loan Portfolio Analysis</a:t>
            </a:r>
            <a:endParaRPr lang="en-US" sz="1100" dirty="0"/>
          </a:p>
        </p:txBody>
      </p:sp>
      <p:sp>
        <p:nvSpPr>
          <p:cNvPr id="19" name="Text 16"/>
          <p:cNvSpPr/>
          <p:nvPr/>
        </p:nvSpPr>
        <p:spPr>
          <a:xfrm>
            <a:off x="914400" y="3611880"/>
            <a:ext cx="7315200" cy="5486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10 years of loan performance data. Millions of records. With standard AI: compliance blocks the project because data would leave the network. With RuVector: deploy as a PostgreSQL extension on your existing DB. AIMDS enforces PII redaction. AI analyzes everything in-place. HNSW finds similar historical patterns in 61µs. Compliance signs off day one because zero data leaves the building.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sp>
        <p:nvSpPr>
          <p:cNvPr id="3" name="Text 1"/>
          <p:cNvSpPr/>
          <p:nvPr/>
        </p:nvSpPr>
        <p:spPr>
          <a:xfrm>
            <a:off x="731520" y="274320"/>
            <a:ext cx="3657600" cy="22860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onsolas" pitchFamily="34" charset="0"/>
                <a:ea typeface="Consolas" pitchFamily="34" charset="-122"/>
                <a:cs typeface="Consolas" pitchFamily="34" charset="-120"/>
              </a:rPr>
              <a:t>ONLY POSSIBLE WITH RUVNET</a:t>
            </a:r>
            <a:endParaRPr lang="en-US" sz="1100" dirty="0"/>
          </a:p>
        </p:txBody>
      </p:sp>
      <p:sp>
        <p:nvSpPr>
          <p:cNvPr id="4" name="Text 2"/>
          <p:cNvSpPr/>
          <p:nvPr/>
        </p:nvSpPr>
        <p:spPr>
          <a:xfrm>
            <a:off x="731520" y="502920"/>
            <a:ext cx="7680960" cy="457200"/>
          </a:xfrm>
          <a:prstGeom prst="rect">
            <a:avLst/>
          </a:prstGeom>
          <a:noFill/>
          <a:ln/>
        </p:spPr>
        <p:txBody>
          <a:bodyPr wrap="square" lIns="0" tIns="0" rIns="0" bIns="0" rtlCol="0" anchor="ctr"/>
          <a:lstStyle/>
          <a:p>
            <a:pPr indent="0" marL="0">
              <a:buNone/>
            </a:pPr>
            <a:r>
              <a:rPr lang="en-US" sz="2800" b="1" dirty="0">
                <a:solidFill>
                  <a:srgbClr val="F8FAFC"/>
                </a:solidFill>
                <a:latin typeface="Cambria" pitchFamily="34" charset="0"/>
                <a:ea typeface="Cambria" pitchFamily="34" charset="-122"/>
                <a:cs typeface="Cambria" pitchFamily="34" charset="-120"/>
              </a:rPr>
              <a:t>Ship AI in 5.5 Kilobytes</a:t>
            </a:r>
            <a:endParaRPr lang="en-US" sz="2800" dirty="0"/>
          </a:p>
        </p:txBody>
      </p:sp>
      <p:sp>
        <p:nvSpPr>
          <p:cNvPr id="5" name="Text 3"/>
          <p:cNvSpPr/>
          <p:nvPr/>
        </p:nvSpPr>
        <p:spPr>
          <a:xfrm>
            <a:off x="731520" y="960120"/>
            <a:ext cx="7680960" cy="45720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RVF containers pack model + logic + vector search + memory + security into one file.</a:t>
            </a:r>
            <a:endParaRPr lang="en-US" sz="1300" dirty="0"/>
          </a:p>
          <a:p>
            <a:pPr indent="0" marL="0">
              <a:buNone/>
            </a:pPr>
            <a:r>
              <a:rPr lang="en-US" sz="1300" dirty="0">
                <a:solidFill>
                  <a:srgbClr val="94A3B8"/>
                </a:solidFill>
                <a:latin typeface="Calibri" pitchFamily="34" charset="0"/>
                <a:ea typeface="Calibri" pitchFamily="34" charset="-122"/>
                <a:cs typeface="Calibri" pitchFamily="34" charset="-120"/>
              </a:rPr>
              <a:t>The WASM runtime is 5.5KB. That's smaller than this sentence in most fonts.</a:t>
            </a:r>
            <a:endParaRPr lang="en-US" sz="1300" dirty="0"/>
          </a:p>
        </p:txBody>
      </p:sp>
      <p:sp>
        <p:nvSpPr>
          <p:cNvPr id="6" name="Shape 4"/>
          <p:cNvSpPr/>
          <p:nvPr/>
        </p:nvSpPr>
        <p:spPr>
          <a:xfrm>
            <a:off x="731520" y="1600200"/>
            <a:ext cx="7680960" cy="82296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7" name="Shape 5"/>
          <p:cNvSpPr/>
          <p:nvPr/>
        </p:nvSpPr>
        <p:spPr>
          <a:xfrm>
            <a:off x="731520" y="1600200"/>
            <a:ext cx="54864" cy="822960"/>
          </a:xfrm>
          <a:prstGeom prst="rect">
            <a:avLst/>
          </a:prstGeom>
          <a:solidFill>
            <a:srgbClr val="06B6D4"/>
          </a:solidFill>
          <a:ln/>
        </p:spPr>
      </p:sp>
      <p:sp>
        <p:nvSpPr>
          <p:cNvPr id="8" name="Text 6"/>
          <p:cNvSpPr/>
          <p:nvPr/>
        </p:nvSpPr>
        <p:spPr>
          <a:xfrm>
            <a:off x="1005840" y="1645920"/>
            <a:ext cx="3657600" cy="228600"/>
          </a:xfrm>
          <a:prstGeom prst="rect">
            <a:avLst/>
          </a:prstGeom>
          <a:noFill/>
          <a:ln/>
        </p:spPr>
        <p:txBody>
          <a:bodyPr wrap="square" lIns="0" tIns="0" rIns="0" bIns="0" rtlCol="0" anchor="ctr"/>
          <a:lstStyle/>
          <a:p>
            <a:pPr indent="0" marL="0">
              <a:buNone/>
            </a:pPr>
            <a:r>
              <a:rPr lang="en-US" sz="1300" b="1" dirty="0">
                <a:solidFill>
                  <a:srgbClr val="06B6D4"/>
                </a:solidFill>
                <a:latin typeface="Consolas" pitchFamily="34" charset="0"/>
                <a:ea typeface="Consolas" pitchFamily="34" charset="-122"/>
                <a:cs typeface="Consolas" pitchFamily="34" charset="-120"/>
              </a:rPr>
              <a:t>rvDNA: Genomics on a Phone</a:t>
            </a:r>
            <a:endParaRPr lang="en-US" sz="1300" dirty="0"/>
          </a:p>
        </p:txBody>
      </p:sp>
      <p:sp>
        <p:nvSpPr>
          <p:cNvPr id="9" name="Text 7"/>
          <p:cNvSpPr/>
          <p:nvPr/>
        </p:nvSpPr>
        <p:spPr>
          <a:xfrm>
            <a:off x="5029200" y="1645920"/>
            <a:ext cx="3200400" cy="228600"/>
          </a:xfrm>
          <a:prstGeom prst="rect">
            <a:avLst/>
          </a:prstGeom>
          <a:noFill/>
          <a:ln/>
        </p:spPr>
        <p:txBody>
          <a:bodyPr wrap="square" lIns="0" tIns="0" rIns="0" bIns="0" rtlCol="0" anchor="ctr"/>
          <a:lstStyle/>
          <a:p>
            <a:pPr algn="r" indent="0" marL="0">
              <a:buNone/>
            </a:pPr>
            <a:r>
              <a:rPr lang="en-US" sz="1000" dirty="0">
                <a:solidFill>
                  <a:srgbClr val="06B6D4"/>
                </a:solidFill>
                <a:latin typeface="Consolas" pitchFamily="34" charset="0"/>
                <a:ea typeface="Consolas" pitchFamily="34" charset="-122"/>
                <a:cs typeface="Consolas" pitchFamily="34" charset="-120"/>
              </a:rPr>
              <a:t>3B base pairs | &lt;100ms | 7.2KB WASM</a:t>
            </a:r>
            <a:endParaRPr lang="en-US" sz="1000" dirty="0"/>
          </a:p>
        </p:txBody>
      </p:sp>
      <p:sp>
        <p:nvSpPr>
          <p:cNvPr id="10" name="Text 8"/>
          <p:cNvSpPr/>
          <p:nvPr/>
        </p:nvSpPr>
        <p:spPr>
          <a:xfrm>
            <a:off x="1005840" y="1920240"/>
            <a:ext cx="7132320" cy="4572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3 BILLION DNA base pairs processed in &lt;100ms. Variant calling at 155 ns/SNP. Horvath Clock biological age analysis. Pharmacogenomics drug dosing. All in a browser tab. A $50 phone becomes a genomics lab.</a:t>
            </a:r>
            <a:endParaRPr lang="en-US" sz="1050" dirty="0"/>
          </a:p>
        </p:txBody>
      </p:sp>
      <p:sp>
        <p:nvSpPr>
          <p:cNvPr id="11" name="Shape 9"/>
          <p:cNvSpPr/>
          <p:nvPr/>
        </p:nvSpPr>
        <p:spPr>
          <a:xfrm>
            <a:off x="731520" y="2606040"/>
            <a:ext cx="7680960" cy="82296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12" name="Shape 10"/>
          <p:cNvSpPr/>
          <p:nvPr/>
        </p:nvSpPr>
        <p:spPr>
          <a:xfrm>
            <a:off x="731520" y="2606040"/>
            <a:ext cx="54864" cy="822960"/>
          </a:xfrm>
          <a:prstGeom prst="rect">
            <a:avLst/>
          </a:prstGeom>
          <a:solidFill>
            <a:srgbClr val="0EA5E9"/>
          </a:solidFill>
          <a:ln/>
        </p:spPr>
      </p:sp>
      <p:sp>
        <p:nvSpPr>
          <p:cNvPr id="13" name="Text 11"/>
          <p:cNvSpPr/>
          <p:nvPr/>
        </p:nvSpPr>
        <p:spPr>
          <a:xfrm>
            <a:off x="1005840" y="2651760"/>
            <a:ext cx="3657600" cy="228600"/>
          </a:xfrm>
          <a:prstGeom prst="rect">
            <a:avLst/>
          </a:prstGeom>
          <a:noFill/>
          <a:ln/>
        </p:spPr>
        <p:txBody>
          <a:bodyPr wrap="square" lIns="0" tIns="0" rIns="0" bIns="0" rtlCol="0" anchor="ctr"/>
          <a:lstStyle/>
          <a:p>
            <a:pPr indent="0" marL="0">
              <a:buNone/>
            </a:pPr>
            <a:r>
              <a:rPr lang="en-US" sz="1300" b="1" dirty="0">
                <a:solidFill>
                  <a:srgbClr val="0EA5E9"/>
                </a:solidFill>
                <a:latin typeface="Consolas" pitchFamily="34" charset="0"/>
                <a:ea typeface="Consolas" pitchFamily="34" charset="-122"/>
                <a:cs typeface="Consolas" pitchFamily="34" charset="-120"/>
              </a:rPr>
              <a:t>Offline Field Intelligence</a:t>
            </a:r>
            <a:endParaRPr lang="en-US" sz="1300" dirty="0"/>
          </a:p>
        </p:txBody>
      </p:sp>
      <p:sp>
        <p:nvSpPr>
          <p:cNvPr id="14" name="Text 12"/>
          <p:cNvSpPr/>
          <p:nvPr/>
        </p:nvSpPr>
        <p:spPr>
          <a:xfrm>
            <a:off x="5029200" y="2651760"/>
            <a:ext cx="3200400" cy="228600"/>
          </a:xfrm>
          <a:prstGeom prst="rect">
            <a:avLst/>
          </a:prstGeom>
          <a:noFill/>
          <a:ln/>
        </p:spPr>
        <p:txBody>
          <a:bodyPr wrap="square" lIns="0" tIns="0" rIns="0" bIns="0" rtlCol="0" anchor="ctr"/>
          <a:lstStyle/>
          <a:p>
            <a:pPr algn="r" indent="0" marL="0">
              <a:buNone/>
            </a:pPr>
            <a:r>
              <a:rPr lang="en-US" sz="1000" dirty="0">
                <a:solidFill>
                  <a:srgbClr val="0EA5E9"/>
                </a:solidFill>
                <a:latin typeface="Consolas" pitchFamily="34" charset="0"/>
                <a:ea typeface="Consolas" pitchFamily="34" charset="-122"/>
                <a:cs typeface="Consolas" pitchFamily="34" charset="-120"/>
              </a:rPr>
              <a:t>Zero backend | Zero latency | Full AI</a:t>
            </a:r>
            <a:endParaRPr lang="en-US" sz="1000" dirty="0"/>
          </a:p>
        </p:txBody>
      </p:sp>
      <p:sp>
        <p:nvSpPr>
          <p:cNvPr id="15" name="Text 13"/>
          <p:cNvSpPr/>
          <p:nvPr/>
        </p:nvSpPr>
        <p:spPr>
          <a:xfrm>
            <a:off x="1005840" y="2926080"/>
            <a:ext cx="7132320" cy="4572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Entire equipment manual + troubleshooting history + diagnostic AI in one .rvf file. The file IS the server. Works underground, underwater, in a mine shaft. Agent carries full organizational knowledge without connectivity.</a:t>
            </a:r>
            <a:endParaRPr lang="en-US" sz="1050" dirty="0"/>
          </a:p>
        </p:txBody>
      </p:sp>
      <p:sp>
        <p:nvSpPr>
          <p:cNvPr id="16" name="Shape 14"/>
          <p:cNvSpPr/>
          <p:nvPr/>
        </p:nvSpPr>
        <p:spPr>
          <a:xfrm>
            <a:off x="731520" y="3611880"/>
            <a:ext cx="7680960" cy="82296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17" name="Shape 15"/>
          <p:cNvSpPr/>
          <p:nvPr/>
        </p:nvSpPr>
        <p:spPr>
          <a:xfrm>
            <a:off x="731520" y="3611880"/>
            <a:ext cx="54864" cy="822960"/>
          </a:xfrm>
          <a:prstGeom prst="rect">
            <a:avLst/>
          </a:prstGeom>
          <a:solidFill>
            <a:srgbClr val="8B5CF6"/>
          </a:solidFill>
          <a:ln/>
        </p:spPr>
      </p:sp>
      <p:sp>
        <p:nvSpPr>
          <p:cNvPr id="18" name="Text 16"/>
          <p:cNvSpPr/>
          <p:nvPr/>
        </p:nvSpPr>
        <p:spPr>
          <a:xfrm>
            <a:off x="1005840" y="3657600"/>
            <a:ext cx="3657600" cy="228600"/>
          </a:xfrm>
          <a:prstGeom prst="rect">
            <a:avLst/>
          </a:prstGeom>
          <a:noFill/>
          <a:ln/>
        </p:spPr>
        <p:txBody>
          <a:bodyPr wrap="square" lIns="0" tIns="0" rIns="0" bIns="0" rtlCol="0" anchor="ctr"/>
          <a:lstStyle/>
          <a:p>
            <a:pPr indent="0" marL="0">
              <a:buNone/>
            </a:pPr>
            <a:r>
              <a:rPr lang="en-US" sz="1300" b="1" dirty="0">
                <a:solidFill>
                  <a:srgbClr val="8B5CF6"/>
                </a:solidFill>
                <a:latin typeface="Consolas" pitchFamily="34" charset="0"/>
                <a:ea typeface="Consolas" pitchFamily="34" charset="-122"/>
                <a:cs typeface="Consolas" pitchFamily="34" charset="-120"/>
              </a:rPr>
              <a:t>Browser-Native Enterprise Search</a:t>
            </a:r>
            <a:endParaRPr lang="en-US" sz="1300" dirty="0"/>
          </a:p>
        </p:txBody>
      </p:sp>
      <p:sp>
        <p:nvSpPr>
          <p:cNvPr id="19" name="Text 17"/>
          <p:cNvSpPr/>
          <p:nvPr/>
        </p:nvSpPr>
        <p:spPr>
          <a:xfrm>
            <a:off x="5029200" y="3657600"/>
            <a:ext cx="3200400" cy="228600"/>
          </a:xfrm>
          <a:prstGeom prst="rect">
            <a:avLst/>
          </a:prstGeom>
          <a:noFill/>
          <a:ln/>
        </p:spPr>
        <p:txBody>
          <a:bodyPr wrap="square" lIns="0" tIns="0" rIns="0" bIns="0" rtlCol="0" anchor="ctr"/>
          <a:lstStyle/>
          <a:p>
            <a:pPr algn="r" indent="0" marL="0">
              <a:buNone/>
            </a:pPr>
            <a:r>
              <a:rPr lang="en-US" sz="1000" dirty="0">
                <a:solidFill>
                  <a:srgbClr val="8B5CF6"/>
                </a:solidFill>
                <a:latin typeface="Consolas" pitchFamily="34" charset="0"/>
                <a:ea typeface="Consolas" pitchFamily="34" charset="-122"/>
                <a:cs typeface="Consolas" pitchFamily="34" charset="-120"/>
              </a:rPr>
              <a:t>7.2KB engine | Client-side | Zero infra</a:t>
            </a:r>
            <a:endParaRPr lang="en-US" sz="1000" dirty="0"/>
          </a:p>
        </p:txBody>
      </p:sp>
      <p:sp>
        <p:nvSpPr>
          <p:cNvPr id="20" name="Text 18"/>
          <p:cNvSpPr/>
          <p:nvPr/>
        </p:nvSpPr>
        <p:spPr>
          <a:xfrm>
            <a:off x="1005840" y="3931920"/>
            <a:ext cx="7132320" cy="4572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Micro-HNSW runs the complete vector search engine client-side. User opens a web page — no installation, no server, no API keys. Search 100K+ documents semantically in the browser. IT deploys nothing.</a:t>
            </a:r>
            <a:endParaRPr lang="en-US" sz="1050" dirty="0"/>
          </a:p>
        </p:txBody>
      </p:sp>
      <p:sp>
        <p:nvSpPr>
          <p:cNvPr id="21" name="Shape 19"/>
          <p:cNvSpPr/>
          <p:nvPr/>
        </p:nvSpPr>
        <p:spPr>
          <a:xfrm>
            <a:off x="731520" y="4663440"/>
            <a:ext cx="7680960" cy="365760"/>
          </a:xfrm>
          <a:prstGeom prst="rect">
            <a:avLst/>
          </a:prstGeom>
          <a:solidFill>
            <a:srgbClr val="1A2744"/>
          </a:solidFill>
          <a:ln/>
        </p:spPr>
      </p:sp>
      <p:sp>
        <p:nvSpPr>
          <p:cNvPr id="22" name="Text 20"/>
          <p:cNvSpPr/>
          <p:nvPr/>
        </p:nvSpPr>
        <p:spPr>
          <a:xfrm>
            <a:off x="914400" y="4663440"/>
            <a:ext cx="7315200" cy="365760"/>
          </a:xfrm>
          <a:prstGeom prst="rect">
            <a:avLst/>
          </a:prstGeom>
          <a:noFill/>
          <a:ln/>
        </p:spPr>
        <p:txBody>
          <a:bodyPr wrap="square" lIns="0" tIns="0" rIns="0" bIns="0" rtlCol="0" anchor="ctr"/>
          <a:lstStyle/>
          <a:p>
            <a:pPr indent="0" marL="0">
              <a:buNone/>
            </a:pPr>
            <a:r>
              <a:rPr lang="en-US" sz="1050" dirty="0">
                <a:solidFill>
                  <a:srgbClr val="06B6D4"/>
                </a:solidFill>
                <a:latin typeface="Calibri" pitchFamily="34" charset="0"/>
                <a:ea typeface="Calibri" pitchFamily="34" charset="-122"/>
                <a:cs typeface="Calibri" pitchFamily="34" charset="-120"/>
              </a:rPr>
              <a:t>Three compute tiers: WASM (5.5KB, browser) → eBPF (kernel bypass, 10Gbps+) → Unikernel (125ms Linux boot, bare metal)</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sp>
        <p:nvSpPr>
          <p:cNvPr id="3" name="Text 1"/>
          <p:cNvSpPr/>
          <p:nvPr/>
        </p:nvSpPr>
        <p:spPr>
          <a:xfrm>
            <a:off x="731520" y="274320"/>
            <a:ext cx="3657600" cy="22860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onsolas" pitchFamily="34" charset="0"/>
                <a:ea typeface="Consolas" pitchFamily="34" charset="-122"/>
                <a:cs typeface="Consolas" pitchFamily="34" charset="-120"/>
              </a:rPr>
              <a:t>ONLY POSSIBLE WITH RUVNET</a:t>
            </a:r>
            <a:endParaRPr lang="en-US" sz="1100" dirty="0"/>
          </a:p>
        </p:txBody>
      </p:sp>
      <p:sp>
        <p:nvSpPr>
          <p:cNvPr id="4" name="Text 2"/>
          <p:cNvSpPr/>
          <p:nvPr/>
        </p:nvSpPr>
        <p:spPr>
          <a:xfrm>
            <a:off x="731520" y="502920"/>
            <a:ext cx="7680960" cy="457200"/>
          </a:xfrm>
          <a:prstGeom prst="rect">
            <a:avLst/>
          </a:prstGeom>
          <a:noFill/>
          <a:ln/>
        </p:spPr>
        <p:txBody>
          <a:bodyPr wrap="square" lIns="0" tIns="0" rIns="0" bIns="0" rtlCol="0" anchor="ctr"/>
          <a:lstStyle/>
          <a:p>
            <a:pPr indent="0" marL="0">
              <a:buNone/>
            </a:pPr>
            <a:r>
              <a:rPr lang="en-US" sz="2600" b="1" dirty="0">
                <a:solidFill>
                  <a:srgbClr val="F8FAFC"/>
                </a:solidFill>
                <a:latin typeface="Cambria" pitchFamily="34" charset="0"/>
                <a:ea typeface="Cambria" pitchFamily="34" charset="-122"/>
                <a:cs typeface="Cambria" pitchFamily="34" charset="-120"/>
              </a:rPr>
              <a:t>Integrate at the Knowledge Level, Not SQL</a:t>
            </a:r>
            <a:endParaRPr lang="en-US" sz="2600" dirty="0"/>
          </a:p>
        </p:txBody>
      </p:sp>
      <p:sp>
        <p:nvSpPr>
          <p:cNvPr id="5" name="Shape 3"/>
          <p:cNvSpPr/>
          <p:nvPr/>
        </p:nvSpPr>
        <p:spPr>
          <a:xfrm>
            <a:off x="731520" y="1143000"/>
            <a:ext cx="3749040" cy="1371600"/>
          </a:xfrm>
          <a:prstGeom prst="rect">
            <a:avLst/>
          </a:prstGeom>
          <a:solidFill>
            <a:srgbClr val="1A1520"/>
          </a:solidFill>
          <a:ln/>
          <a:effectLst>
            <a:outerShdw sx="100000" sy="100000" kx="0" ky="0" algn="bl" rotWithShape="0" blurRad="76200" dist="25400" dir="8100000">
              <a:srgbClr val="000000">
                <a:alpha val="25000"/>
              </a:srgbClr>
            </a:outerShdw>
          </a:effectLst>
        </p:spPr>
      </p:sp>
      <p:sp>
        <p:nvSpPr>
          <p:cNvPr id="6" name="Shape 4"/>
          <p:cNvSpPr/>
          <p:nvPr/>
        </p:nvSpPr>
        <p:spPr>
          <a:xfrm>
            <a:off x="731520" y="1143000"/>
            <a:ext cx="3749040" cy="36576"/>
          </a:xfrm>
          <a:prstGeom prst="rect">
            <a:avLst/>
          </a:prstGeom>
          <a:solidFill>
            <a:srgbClr val="EF4444"/>
          </a:solidFill>
          <a:ln/>
        </p:spPr>
      </p:sp>
      <p:sp>
        <p:nvSpPr>
          <p:cNvPr id="7" name="Text 5"/>
          <p:cNvSpPr/>
          <p:nvPr/>
        </p:nvSpPr>
        <p:spPr>
          <a:xfrm>
            <a:off x="914400" y="1234440"/>
            <a:ext cx="3383280" cy="228600"/>
          </a:xfrm>
          <a:prstGeom prst="rect">
            <a:avLst/>
          </a:prstGeom>
          <a:noFill/>
          <a:ln/>
        </p:spPr>
        <p:txBody>
          <a:bodyPr wrap="square" lIns="0" tIns="0" rIns="0" bIns="0" rtlCol="0" anchor="ctr"/>
          <a:lstStyle/>
          <a:p>
            <a:pPr indent="0" marL="0">
              <a:buNone/>
            </a:pPr>
            <a:r>
              <a:rPr lang="en-US" sz="1100" b="1" dirty="0">
                <a:solidFill>
                  <a:srgbClr val="EF4444"/>
                </a:solidFill>
                <a:latin typeface="Consolas" pitchFamily="34" charset="0"/>
                <a:ea typeface="Consolas" pitchFamily="34" charset="-122"/>
                <a:cs typeface="Consolas" pitchFamily="34" charset="-120"/>
              </a:rPr>
              <a:t>SQL-Level Integration (Traditional)</a:t>
            </a:r>
            <a:endParaRPr lang="en-US" sz="1100" dirty="0"/>
          </a:p>
        </p:txBody>
      </p:sp>
      <p:sp>
        <p:nvSpPr>
          <p:cNvPr id="8" name="Text 6"/>
          <p:cNvSpPr/>
          <p:nvPr/>
        </p:nvSpPr>
        <p:spPr>
          <a:xfrm>
            <a:off x="914400" y="1508760"/>
            <a:ext cx="3383280" cy="914400"/>
          </a:xfrm>
          <a:prstGeom prst="rect">
            <a:avLst/>
          </a:prstGeom>
          <a:noFill/>
          <a:ln/>
        </p:spPr>
        <p:txBody>
          <a:bodyPr wrap="square" rtlCol="0" anchor="ctr"/>
          <a:lstStyle/>
          <a:p>
            <a:pPr marL="342900" indent="-342900">
              <a:spcAft>
                <a:spcPts val="300"/>
              </a:spcAft>
              <a:buSzPct val="100000"/>
              <a:buChar char="•"/>
            </a:pPr>
            <a:r>
              <a:rPr lang="en-US" sz="1050" dirty="0">
                <a:solidFill>
                  <a:srgbClr val="94A3B8"/>
                </a:solidFill>
                <a:latin typeface="Calibri" pitchFamily="34" charset="0"/>
                <a:ea typeface="Calibri" pitchFamily="34" charset="-122"/>
                <a:cs typeface="Calibri" pitchFamily="34" charset="-120"/>
              </a:rPr>
              <a:t>Months of ETL pipeline development</a:t>
            </a:r>
            <a:endParaRPr lang="en-US" sz="1050" dirty="0"/>
          </a:p>
          <a:p>
            <a:pPr marL="342900" indent="-342900">
              <a:spcAft>
                <a:spcPts val="300"/>
              </a:spcAft>
              <a:buSzPct val="100000"/>
              <a:buChar char="•"/>
            </a:pPr>
            <a:r>
              <a:rPr lang="en-US" sz="1050" dirty="0">
                <a:solidFill>
                  <a:srgbClr val="94A3B8"/>
                </a:solidFill>
                <a:latin typeface="Calibri" pitchFamily="34" charset="0"/>
                <a:ea typeface="Calibri" pitchFamily="34" charset="-122"/>
                <a:cs typeface="Calibri" pitchFamily="34" charset="-120"/>
              </a:rPr>
              <a:t>Breaks when source schemas change</a:t>
            </a:r>
            <a:endParaRPr lang="en-US" sz="1050" dirty="0"/>
          </a:p>
          <a:p>
            <a:pPr marL="342900" indent="-342900">
              <a:spcAft>
                <a:spcPts val="300"/>
              </a:spcAft>
              <a:buSzPct val="100000"/>
              <a:buChar char="•"/>
            </a:pPr>
            <a:r>
              <a:rPr lang="en-US" sz="1050" dirty="0">
                <a:solidFill>
                  <a:srgbClr val="94A3B8"/>
                </a:solidFill>
                <a:latin typeface="Calibri" pitchFamily="34" charset="0"/>
                <a:ea typeface="Calibri" pitchFamily="34" charset="-122"/>
                <a:cs typeface="Calibri" pitchFamily="34" charset="-120"/>
              </a:rPr>
              <a:t>Can't join unstructured data (PDFs, Slack, email)</a:t>
            </a:r>
            <a:endParaRPr lang="en-US" sz="1050" dirty="0"/>
          </a:p>
          <a:p>
            <a:pPr marL="342900" indent="-342900">
              <a:spcAft>
                <a:spcPts val="300"/>
              </a:spcAft>
              <a:buSzPct val="100000"/>
              <a:buChar char="•"/>
            </a:pPr>
            <a:r>
              <a:rPr lang="en-US" sz="1050" dirty="0">
                <a:solidFill>
                  <a:srgbClr val="EF4444"/>
                </a:solidFill>
                <a:latin typeface="Calibri" pitchFamily="34" charset="0"/>
                <a:ea typeface="Calibri" pitchFamily="34" charset="-122"/>
                <a:cs typeface="Calibri" pitchFamily="34" charset="-120"/>
              </a:rPr>
              <a:t>$500K-$2M projects, 6-12 months delivery</a:t>
            </a:r>
            <a:endParaRPr lang="en-US" sz="1050" dirty="0"/>
          </a:p>
        </p:txBody>
      </p:sp>
      <p:sp>
        <p:nvSpPr>
          <p:cNvPr id="9" name="Shape 7"/>
          <p:cNvSpPr/>
          <p:nvPr/>
        </p:nvSpPr>
        <p:spPr>
          <a:xfrm>
            <a:off x="4663440" y="1143000"/>
            <a:ext cx="3749040" cy="1371600"/>
          </a:xfrm>
          <a:prstGeom prst="rect">
            <a:avLst/>
          </a:prstGeom>
          <a:solidFill>
            <a:srgbClr val="0D2A2E"/>
          </a:solidFill>
          <a:ln/>
          <a:effectLst>
            <a:outerShdw sx="100000" sy="100000" kx="0" ky="0" algn="bl" rotWithShape="0" blurRad="76200" dist="25400" dir="8100000">
              <a:srgbClr val="000000">
                <a:alpha val="25000"/>
              </a:srgbClr>
            </a:outerShdw>
          </a:effectLst>
        </p:spPr>
      </p:sp>
      <p:sp>
        <p:nvSpPr>
          <p:cNvPr id="10" name="Shape 8"/>
          <p:cNvSpPr/>
          <p:nvPr/>
        </p:nvSpPr>
        <p:spPr>
          <a:xfrm>
            <a:off x="4663440" y="1143000"/>
            <a:ext cx="3749040" cy="36576"/>
          </a:xfrm>
          <a:prstGeom prst="rect">
            <a:avLst/>
          </a:prstGeom>
          <a:solidFill>
            <a:srgbClr val="06B6D4"/>
          </a:solidFill>
          <a:ln/>
        </p:spPr>
      </p:sp>
      <p:sp>
        <p:nvSpPr>
          <p:cNvPr id="11" name="Text 9"/>
          <p:cNvSpPr/>
          <p:nvPr/>
        </p:nvSpPr>
        <p:spPr>
          <a:xfrm>
            <a:off x="4846320" y="1234440"/>
            <a:ext cx="3383280" cy="22860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Knowledge-Level Integration (RuvNet)</a:t>
            </a:r>
            <a:endParaRPr lang="en-US" sz="1100" dirty="0"/>
          </a:p>
        </p:txBody>
      </p:sp>
      <p:sp>
        <p:nvSpPr>
          <p:cNvPr id="12" name="Text 10"/>
          <p:cNvSpPr/>
          <p:nvPr/>
        </p:nvSpPr>
        <p:spPr>
          <a:xfrm>
            <a:off x="4846320" y="1508760"/>
            <a:ext cx="3383280" cy="914400"/>
          </a:xfrm>
          <a:prstGeom prst="rect">
            <a:avLst/>
          </a:prstGeom>
          <a:noFill/>
          <a:ln/>
        </p:spPr>
        <p:txBody>
          <a:bodyPr wrap="square" rtlCol="0" anchor="ctr"/>
          <a:lstStyle/>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RuVector embeds everything into semantic space</a:t>
            </a:r>
            <a:endParaRPr lang="en-US" sz="1050" dirty="0"/>
          </a:p>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Self-healing: adapts automatically to changes</a:t>
            </a:r>
            <a:endParaRPr lang="en-US" sz="1050" dirty="0"/>
          </a:p>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Joins by meaning: PDFs + SQL + Slack + email</a:t>
            </a:r>
            <a:endParaRPr lang="en-US" sz="1050" dirty="0"/>
          </a:p>
          <a:p>
            <a:pPr marL="342900" indent="-342900">
              <a:spcAft>
                <a:spcPts val="300"/>
              </a:spcAft>
              <a:buSzPct val="100000"/>
              <a:buChar char="•"/>
            </a:pPr>
            <a:r>
              <a:rPr lang="en-US" sz="1050" dirty="0">
                <a:solidFill>
                  <a:srgbClr val="06B6D4"/>
                </a:solidFill>
                <a:latin typeface="Calibri" pitchFamily="34" charset="0"/>
                <a:ea typeface="Calibri" pitchFamily="34" charset="-122"/>
                <a:cs typeface="Calibri" pitchFamily="34" charset="-120"/>
              </a:rPr>
              <a:t>Weeks, not months. Knowledge graphs, not ETL.</a:t>
            </a:r>
            <a:endParaRPr lang="en-US" sz="1050" dirty="0"/>
          </a:p>
        </p:txBody>
      </p:sp>
      <p:sp>
        <p:nvSpPr>
          <p:cNvPr id="13" name="Text 11"/>
          <p:cNvSpPr/>
          <p:nvPr/>
        </p:nvSpPr>
        <p:spPr>
          <a:xfrm>
            <a:off x="731520" y="2743200"/>
            <a:ext cx="3657600" cy="274320"/>
          </a:xfrm>
          <a:prstGeom prst="rect">
            <a:avLst/>
          </a:prstGeom>
          <a:noFill/>
          <a:ln/>
        </p:spPr>
        <p:txBody>
          <a:bodyPr wrap="square" lIns="0" tIns="0" rIns="0" bIns="0" rtlCol="0" anchor="ctr"/>
          <a:lstStyle/>
          <a:p>
            <a:pPr indent="0" marL="0">
              <a:buNone/>
            </a:pPr>
            <a:r>
              <a:rPr lang="en-US" sz="1300" b="1" dirty="0">
                <a:solidFill>
                  <a:srgbClr val="F59E0B"/>
                </a:solidFill>
                <a:latin typeface="Consolas" pitchFamily="34" charset="0"/>
                <a:ea typeface="Consolas" pitchFamily="34" charset="-122"/>
                <a:cs typeface="Consolas" pitchFamily="34" charset="-120"/>
              </a:rPr>
              <a:t>What This Enables</a:t>
            </a:r>
            <a:endParaRPr lang="en-US" sz="1300" dirty="0"/>
          </a:p>
        </p:txBody>
      </p:sp>
      <p:sp>
        <p:nvSpPr>
          <p:cNvPr id="14" name="Shape 12"/>
          <p:cNvSpPr/>
          <p:nvPr/>
        </p:nvSpPr>
        <p:spPr>
          <a:xfrm>
            <a:off x="731520" y="3063240"/>
            <a:ext cx="7680960" cy="457200"/>
          </a:xfrm>
          <a:prstGeom prst="rect">
            <a:avLst/>
          </a:prstGeom>
          <a:solidFill>
            <a:srgbClr val="1E293B"/>
          </a:solidFill>
          <a:ln/>
        </p:spPr>
      </p:sp>
      <p:sp>
        <p:nvSpPr>
          <p:cNvPr id="15" name="Shape 13"/>
          <p:cNvSpPr/>
          <p:nvPr/>
        </p:nvSpPr>
        <p:spPr>
          <a:xfrm>
            <a:off x="731520" y="3063240"/>
            <a:ext cx="54864" cy="457200"/>
          </a:xfrm>
          <a:prstGeom prst="rect">
            <a:avLst/>
          </a:prstGeom>
          <a:solidFill>
            <a:srgbClr val="06B6D4"/>
          </a:solidFill>
          <a:ln/>
        </p:spPr>
      </p:sp>
      <p:sp>
        <p:nvSpPr>
          <p:cNvPr id="16" name="Text 14"/>
          <p:cNvSpPr/>
          <p:nvPr/>
        </p:nvSpPr>
        <p:spPr>
          <a:xfrm>
            <a:off x="1005840" y="3081528"/>
            <a:ext cx="1828800" cy="164592"/>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Microbiome Discovery</a:t>
            </a:r>
            <a:endParaRPr lang="en-US" sz="1000" dirty="0"/>
          </a:p>
        </p:txBody>
      </p:sp>
      <p:sp>
        <p:nvSpPr>
          <p:cNvPr id="17" name="Text 15"/>
          <p:cNvSpPr/>
          <p:nvPr/>
        </p:nvSpPr>
        <p:spPr>
          <a:xfrm>
            <a:off x="1005840" y="3246120"/>
            <a:ext cx="713232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250M agents analyzed 40GB across 8,000 biological samples. GNN + HNSW discovered Huntington's disease ↔ gut microbiome correlations that human researchers hadn't identified. 187M interactions/sec. The AI was the researcher.</a:t>
            </a:r>
            <a:endParaRPr lang="en-US" sz="900" dirty="0"/>
          </a:p>
        </p:txBody>
      </p:sp>
      <p:sp>
        <p:nvSpPr>
          <p:cNvPr id="18" name="Shape 16"/>
          <p:cNvSpPr/>
          <p:nvPr/>
        </p:nvSpPr>
        <p:spPr>
          <a:xfrm>
            <a:off x="731520" y="3630168"/>
            <a:ext cx="7680960" cy="457200"/>
          </a:xfrm>
          <a:prstGeom prst="rect">
            <a:avLst/>
          </a:prstGeom>
          <a:solidFill>
            <a:srgbClr val="1E293B"/>
          </a:solidFill>
          <a:ln/>
        </p:spPr>
      </p:sp>
      <p:sp>
        <p:nvSpPr>
          <p:cNvPr id="19" name="Shape 17"/>
          <p:cNvSpPr/>
          <p:nvPr/>
        </p:nvSpPr>
        <p:spPr>
          <a:xfrm>
            <a:off x="731520" y="3630168"/>
            <a:ext cx="54864" cy="457200"/>
          </a:xfrm>
          <a:prstGeom prst="rect">
            <a:avLst/>
          </a:prstGeom>
          <a:solidFill>
            <a:srgbClr val="0EA5E9"/>
          </a:solidFill>
          <a:ln/>
        </p:spPr>
      </p:sp>
      <p:sp>
        <p:nvSpPr>
          <p:cNvPr id="20" name="Text 18"/>
          <p:cNvSpPr/>
          <p:nvPr/>
        </p:nvSpPr>
        <p:spPr>
          <a:xfrm>
            <a:off x="1005840" y="3648456"/>
            <a:ext cx="1828800" cy="164592"/>
          </a:xfrm>
          <a:prstGeom prst="rect">
            <a:avLst/>
          </a:prstGeom>
          <a:noFill/>
          <a:ln/>
        </p:spPr>
        <p:txBody>
          <a:bodyPr wrap="square" lIns="0" tIns="0" rIns="0" bIns="0" rtlCol="0" anchor="ctr"/>
          <a:lstStyle/>
          <a:p>
            <a:pPr indent="0" marL="0">
              <a:buNone/>
            </a:pPr>
            <a:r>
              <a:rPr lang="en-US" sz="1000" b="1" dirty="0">
                <a:solidFill>
                  <a:srgbClr val="0EA5E9"/>
                </a:solidFill>
                <a:latin typeface="Consolas" pitchFamily="34" charset="0"/>
                <a:ea typeface="Consolas" pitchFamily="34" charset="-122"/>
                <a:cs typeface="Consolas" pitchFamily="34" charset="-120"/>
              </a:rPr>
              <a:t>Enterprise-Wide Search</a:t>
            </a:r>
            <a:endParaRPr lang="en-US" sz="1000" dirty="0"/>
          </a:p>
        </p:txBody>
      </p:sp>
      <p:sp>
        <p:nvSpPr>
          <p:cNvPr id="21" name="Text 19"/>
          <p:cNvSpPr/>
          <p:nvPr/>
        </p:nvSpPr>
        <p:spPr>
          <a:xfrm>
            <a:off x="1005840" y="3813048"/>
            <a:ext cx="713232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"Show me everything about the Acme deal" searches Salesforce, Jira, Confluence, Slack, email, and PDFs — by meaning, not keywords. One HNSW query, 61µs, every system. No connectors, no schema mapping.</a:t>
            </a:r>
            <a:endParaRPr lang="en-US" sz="900" dirty="0"/>
          </a:p>
        </p:txBody>
      </p:sp>
      <p:sp>
        <p:nvSpPr>
          <p:cNvPr id="22" name="Shape 20"/>
          <p:cNvSpPr/>
          <p:nvPr/>
        </p:nvSpPr>
        <p:spPr>
          <a:xfrm>
            <a:off x="731520" y="4197096"/>
            <a:ext cx="7680960" cy="457200"/>
          </a:xfrm>
          <a:prstGeom prst="rect">
            <a:avLst/>
          </a:prstGeom>
          <a:solidFill>
            <a:srgbClr val="1E293B"/>
          </a:solidFill>
          <a:ln/>
        </p:spPr>
      </p:sp>
      <p:sp>
        <p:nvSpPr>
          <p:cNvPr id="23" name="Shape 21"/>
          <p:cNvSpPr/>
          <p:nvPr/>
        </p:nvSpPr>
        <p:spPr>
          <a:xfrm>
            <a:off x="731520" y="4197096"/>
            <a:ext cx="54864" cy="457200"/>
          </a:xfrm>
          <a:prstGeom prst="rect">
            <a:avLst/>
          </a:prstGeom>
          <a:solidFill>
            <a:srgbClr val="8B5CF6"/>
          </a:solidFill>
          <a:ln/>
        </p:spPr>
      </p:sp>
      <p:sp>
        <p:nvSpPr>
          <p:cNvPr id="24" name="Text 22"/>
          <p:cNvSpPr/>
          <p:nvPr/>
        </p:nvSpPr>
        <p:spPr>
          <a:xfrm>
            <a:off x="1005840" y="4215384"/>
            <a:ext cx="1828800" cy="164592"/>
          </a:xfrm>
          <a:prstGeom prst="rect">
            <a:avLst/>
          </a:prstGeom>
          <a:noFill/>
          <a:ln/>
        </p:spPr>
        <p:txBody>
          <a:bodyPr wrap="square" lIns="0" tIns="0" rIns="0" bIns="0" rtlCol="0" anchor="ctr"/>
          <a:lstStyle/>
          <a:p>
            <a:pPr indent="0" marL="0">
              <a:buNone/>
            </a:pPr>
            <a:r>
              <a:rPr lang="en-US" sz="1000" b="1" dirty="0">
                <a:solidFill>
                  <a:srgbClr val="8B5CF6"/>
                </a:solidFill>
                <a:latin typeface="Consolas" pitchFamily="34" charset="0"/>
                <a:ea typeface="Consolas" pitchFamily="34" charset="-122"/>
                <a:cs typeface="Consolas" pitchFamily="34" charset="-120"/>
              </a:rPr>
              <a:t>Legacy COBOL Bridge</a:t>
            </a:r>
            <a:endParaRPr lang="en-US" sz="1000" dirty="0"/>
          </a:p>
        </p:txBody>
      </p:sp>
      <p:sp>
        <p:nvSpPr>
          <p:cNvPr id="25" name="Text 23"/>
          <p:cNvSpPr/>
          <p:nvPr/>
        </p:nvSpPr>
        <p:spPr>
          <a:xfrm>
            <a:off x="1005840" y="4379976"/>
            <a:ext cx="713232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COBOL systems from the 1990s connected to modern REST APIs via knowledge embeddings in one afternoon. No rewrite. No translation layer. The vector embeddings understand both COBOL copybooks and JSON schemas.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sp>
        <p:nvSpPr>
          <p:cNvPr id="3" name="Text 1"/>
          <p:cNvSpPr/>
          <p:nvPr/>
        </p:nvSpPr>
        <p:spPr>
          <a:xfrm>
            <a:off x="731520" y="320040"/>
            <a:ext cx="7315200" cy="457200"/>
          </a:xfrm>
          <a:prstGeom prst="rect">
            <a:avLst/>
          </a:prstGeom>
          <a:noFill/>
          <a:ln/>
        </p:spPr>
        <p:txBody>
          <a:bodyPr wrap="square" lIns="0" tIns="0" rIns="0" bIns="0" rtlCol="0" anchor="ctr"/>
          <a:lstStyle/>
          <a:p>
            <a:pPr indent="0" marL="0">
              <a:buNone/>
            </a:pPr>
            <a:r>
              <a:rPr lang="en-US" sz="2800" b="1" dirty="0">
                <a:solidFill>
                  <a:srgbClr val="F8FAFC"/>
                </a:solidFill>
                <a:latin typeface="Cambria" pitchFamily="34" charset="0"/>
                <a:ea typeface="Cambria" pitchFamily="34" charset="-122"/>
                <a:cs typeface="Cambria" pitchFamily="34" charset="-120"/>
              </a:rPr>
              <a:t>Ruflo: Multi-Agent Orchestration</a:t>
            </a:r>
            <a:endParaRPr lang="en-US" sz="2800" dirty="0"/>
          </a:p>
        </p:txBody>
      </p:sp>
      <p:sp>
        <p:nvSpPr>
          <p:cNvPr id="4" name="Text 2"/>
          <p:cNvSpPr/>
          <p:nvPr/>
        </p:nvSpPr>
        <p:spPr>
          <a:xfrm>
            <a:off x="731520" y="777240"/>
            <a:ext cx="7315200" cy="27432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The brain that coordinates 150+ agent types across 5 network topologies.</a:t>
            </a:r>
            <a:endParaRPr lang="en-US" sz="1400" dirty="0"/>
          </a:p>
        </p:txBody>
      </p:sp>
      <p:sp>
        <p:nvSpPr>
          <p:cNvPr id="5" name="Text 3"/>
          <p:cNvSpPr/>
          <p:nvPr/>
        </p:nvSpPr>
        <p:spPr>
          <a:xfrm>
            <a:off x="731520" y="1234440"/>
            <a:ext cx="3657600" cy="274320"/>
          </a:xfrm>
          <a:prstGeom prst="rect">
            <a:avLst/>
          </a:prstGeom>
          <a:noFill/>
          <a:ln/>
        </p:spPr>
        <p:txBody>
          <a:bodyPr wrap="square" lIns="0" tIns="0" rIns="0" bIns="0" rtlCol="0" anchor="ctr"/>
          <a:lstStyle/>
          <a:p>
            <a:pPr indent="0" marL="0">
              <a:buNone/>
            </a:pPr>
            <a:r>
              <a:rPr lang="en-US" sz="1400" b="1" dirty="0">
                <a:solidFill>
                  <a:srgbClr val="06B6D4"/>
                </a:solidFill>
                <a:latin typeface="Consolas" pitchFamily="34" charset="0"/>
                <a:ea typeface="Consolas" pitchFamily="34" charset="-122"/>
                <a:cs typeface="Consolas" pitchFamily="34" charset="-120"/>
              </a:rPr>
              <a:t>Swarm Topologies</a:t>
            </a:r>
            <a:endParaRPr lang="en-US" sz="1400" dirty="0"/>
          </a:p>
        </p:txBody>
      </p:sp>
      <p:sp>
        <p:nvSpPr>
          <p:cNvPr id="6" name="Text 4"/>
          <p:cNvSpPr/>
          <p:nvPr/>
        </p:nvSpPr>
        <p:spPr>
          <a:xfrm>
            <a:off x="731520" y="1600200"/>
            <a:ext cx="1371600" cy="292608"/>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Hierarchical</a:t>
            </a:r>
            <a:endParaRPr lang="en-US" sz="1100" dirty="0"/>
          </a:p>
        </p:txBody>
      </p:sp>
      <p:sp>
        <p:nvSpPr>
          <p:cNvPr id="7" name="Text 5"/>
          <p:cNvSpPr/>
          <p:nvPr/>
        </p:nvSpPr>
        <p:spPr>
          <a:xfrm>
            <a:off x="2194560" y="1600200"/>
            <a:ext cx="2377440" cy="292608"/>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Queen-led with anti-drift detection</a:t>
            </a:r>
            <a:endParaRPr lang="en-US" sz="1050" dirty="0"/>
          </a:p>
        </p:txBody>
      </p:sp>
      <p:sp>
        <p:nvSpPr>
          <p:cNvPr id="8" name="Text 6"/>
          <p:cNvSpPr/>
          <p:nvPr/>
        </p:nvSpPr>
        <p:spPr>
          <a:xfrm>
            <a:off x="731520" y="1947672"/>
            <a:ext cx="1371600" cy="292608"/>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Mesh</a:t>
            </a:r>
            <a:endParaRPr lang="en-US" sz="1100" dirty="0"/>
          </a:p>
        </p:txBody>
      </p:sp>
      <p:sp>
        <p:nvSpPr>
          <p:cNvPr id="9" name="Text 7"/>
          <p:cNvSpPr/>
          <p:nvPr/>
        </p:nvSpPr>
        <p:spPr>
          <a:xfrm>
            <a:off x="2194560" y="1947672"/>
            <a:ext cx="2377440" cy="292608"/>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Peer-to-peer, Byzantine fault tolerant</a:t>
            </a:r>
            <a:endParaRPr lang="en-US" sz="1050" dirty="0"/>
          </a:p>
        </p:txBody>
      </p:sp>
      <p:sp>
        <p:nvSpPr>
          <p:cNvPr id="10" name="Text 8"/>
          <p:cNvSpPr/>
          <p:nvPr/>
        </p:nvSpPr>
        <p:spPr>
          <a:xfrm>
            <a:off x="731520" y="2295144"/>
            <a:ext cx="1371600" cy="292608"/>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Ring</a:t>
            </a:r>
            <a:endParaRPr lang="en-US" sz="1100" dirty="0"/>
          </a:p>
        </p:txBody>
      </p:sp>
      <p:sp>
        <p:nvSpPr>
          <p:cNvPr id="11" name="Text 9"/>
          <p:cNvSpPr/>
          <p:nvPr/>
        </p:nvSpPr>
        <p:spPr>
          <a:xfrm>
            <a:off x="2194560" y="2295144"/>
            <a:ext cx="2377440" cy="292608"/>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Token-passing coordination</a:t>
            </a:r>
            <a:endParaRPr lang="en-US" sz="1050" dirty="0"/>
          </a:p>
        </p:txBody>
      </p:sp>
      <p:sp>
        <p:nvSpPr>
          <p:cNvPr id="12" name="Text 10"/>
          <p:cNvSpPr/>
          <p:nvPr/>
        </p:nvSpPr>
        <p:spPr>
          <a:xfrm>
            <a:off x="731520" y="2642616"/>
            <a:ext cx="1371600" cy="292608"/>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Star</a:t>
            </a:r>
            <a:endParaRPr lang="en-US" sz="1100" dirty="0"/>
          </a:p>
        </p:txBody>
      </p:sp>
      <p:sp>
        <p:nvSpPr>
          <p:cNvPr id="13" name="Text 11"/>
          <p:cNvSpPr/>
          <p:nvPr/>
        </p:nvSpPr>
        <p:spPr>
          <a:xfrm>
            <a:off x="2194560" y="2642616"/>
            <a:ext cx="2377440" cy="292608"/>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Central hub routing</a:t>
            </a:r>
            <a:endParaRPr lang="en-US" sz="1050" dirty="0"/>
          </a:p>
        </p:txBody>
      </p:sp>
      <p:sp>
        <p:nvSpPr>
          <p:cNvPr id="14" name="Text 12"/>
          <p:cNvSpPr/>
          <p:nvPr/>
        </p:nvSpPr>
        <p:spPr>
          <a:xfrm>
            <a:off x="731520" y="2990088"/>
            <a:ext cx="1371600" cy="292608"/>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Adaptive</a:t>
            </a:r>
            <a:endParaRPr lang="en-US" sz="1100" dirty="0"/>
          </a:p>
        </p:txBody>
      </p:sp>
      <p:sp>
        <p:nvSpPr>
          <p:cNvPr id="15" name="Text 13"/>
          <p:cNvSpPr/>
          <p:nvPr/>
        </p:nvSpPr>
        <p:spPr>
          <a:xfrm>
            <a:off x="2194560" y="2990088"/>
            <a:ext cx="2377440" cy="292608"/>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Topology shifts under load</a:t>
            </a:r>
            <a:endParaRPr lang="en-US" sz="1050" dirty="0"/>
          </a:p>
        </p:txBody>
      </p:sp>
      <p:sp>
        <p:nvSpPr>
          <p:cNvPr id="16" name="Text 14"/>
          <p:cNvSpPr/>
          <p:nvPr/>
        </p:nvSpPr>
        <p:spPr>
          <a:xfrm>
            <a:off x="5029200" y="1234440"/>
            <a:ext cx="3657600" cy="274320"/>
          </a:xfrm>
          <a:prstGeom prst="rect">
            <a:avLst/>
          </a:prstGeom>
          <a:noFill/>
          <a:ln/>
        </p:spPr>
        <p:txBody>
          <a:bodyPr wrap="square" lIns="0" tIns="0" rIns="0" bIns="0" rtlCol="0" anchor="ctr"/>
          <a:lstStyle/>
          <a:p>
            <a:pPr indent="0" marL="0">
              <a:buNone/>
            </a:pPr>
            <a:r>
              <a:rPr lang="en-US" sz="1400" b="1" dirty="0">
                <a:solidFill>
                  <a:srgbClr val="0EA5E9"/>
                </a:solidFill>
                <a:latin typeface="Consolas" pitchFamily="34" charset="0"/>
                <a:ea typeface="Consolas" pitchFamily="34" charset="-122"/>
                <a:cs typeface="Consolas" pitchFamily="34" charset="-120"/>
              </a:rPr>
              <a:t>Scale &amp; Coordination</a:t>
            </a:r>
            <a:endParaRPr lang="en-US" sz="1400" dirty="0"/>
          </a:p>
        </p:txBody>
      </p:sp>
      <p:sp>
        <p:nvSpPr>
          <p:cNvPr id="17" name="Text 15"/>
          <p:cNvSpPr/>
          <p:nvPr/>
        </p:nvSpPr>
        <p:spPr>
          <a:xfrm>
            <a:off x="5029200" y="1600200"/>
            <a:ext cx="1828800" cy="228600"/>
          </a:xfrm>
          <a:prstGeom prst="rect">
            <a:avLst/>
          </a:prstGeom>
          <a:noFill/>
          <a:ln/>
        </p:spPr>
        <p:txBody>
          <a:bodyPr wrap="square" lIns="0" tIns="0" rIns="0" bIns="0" rtlCol="0" anchor="ctr"/>
          <a:lstStyle/>
          <a:p>
            <a:pPr indent="0" marL="0">
              <a:buNone/>
            </a:pPr>
            <a:r>
              <a:rPr lang="en-US" sz="1100" b="1" dirty="0">
                <a:solidFill>
                  <a:srgbClr val="0EA5E9"/>
                </a:solidFill>
                <a:latin typeface="Consolas" pitchFamily="34" charset="0"/>
                <a:ea typeface="Consolas" pitchFamily="34" charset="-122"/>
                <a:cs typeface="Consolas" pitchFamily="34" charset="-120"/>
              </a:rPr>
              <a:t>Hive Mind</a:t>
            </a:r>
            <a:endParaRPr lang="en-US" sz="1100" dirty="0"/>
          </a:p>
        </p:txBody>
      </p:sp>
      <p:sp>
        <p:nvSpPr>
          <p:cNvPr id="18" name="Text 16"/>
          <p:cNvSpPr/>
          <p:nvPr/>
        </p:nvSpPr>
        <p:spPr>
          <a:xfrm>
            <a:off x="5029200" y="1801368"/>
            <a:ext cx="36576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1,000+ agents with sub-ms shared memory via PostgreSQL advisory locks</a:t>
            </a:r>
            <a:endParaRPr lang="en-US" sz="1000" dirty="0"/>
          </a:p>
        </p:txBody>
      </p:sp>
      <p:sp>
        <p:nvSpPr>
          <p:cNvPr id="19" name="Text 17"/>
          <p:cNvSpPr/>
          <p:nvPr/>
        </p:nvSpPr>
        <p:spPr>
          <a:xfrm>
            <a:off x="5029200" y="2103120"/>
            <a:ext cx="1828800" cy="228600"/>
          </a:xfrm>
          <a:prstGeom prst="rect">
            <a:avLst/>
          </a:prstGeom>
          <a:noFill/>
          <a:ln/>
        </p:spPr>
        <p:txBody>
          <a:bodyPr wrap="square" lIns="0" tIns="0" rIns="0" bIns="0" rtlCol="0" anchor="ctr"/>
          <a:lstStyle/>
          <a:p>
            <a:pPr indent="0" marL="0">
              <a:buNone/>
            </a:pPr>
            <a:r>
              <a:rPr lang="en-US" sz="1100" b="1" dirty="0">
                <a:solidFill>
                  <a:srgbClr val="0EA5E9"/>
                </a:solidFill>
                <a:latin typeface="Consolas" pitchFamily="34" charset="0"/>
                <a:ea typeface="Consolas" pitchFamily="34" charset="-122"/>
                <a:cs typeface="Consolas" pitchFamily="34" charset="-120"/>
              </a:rPr>
              <a:t>Emily OS</a:t>
            </a:r>
            <a:endParaRPr lang="en-US" sz="1100" dirty="0"/>
          </a:p>
        </p:txBody>
      </p:sp>
      <p:sp>
        <p:nvSpPr>
          <p:cNvPr id="20" name="Text 18"/>
          <p:cNvSpPr/>
          <p:nvPr/>
        </p:nvSpPr>
        <p:spPr>
          <a:xfrm>
            <a:off x="5029200" y="2304288"/>
            <a:ext cx="36576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2 to 100,000 agents, LLM-agnostic, horizontal scaling</a:t>
            </a:r>
            <a:endParaRPr lang="en-US" sz="1000" dirty="0"/>
          </a:p>
        </p:txBody>
      </p:sp>
      <p:sp>
        <p:nvSpPr>
          <p:cNvPr id="21" name="Text 19"/>
          <p:cNvSpPr/>
          <p:nvPr/>
        </p:nvSpPr>
        <p:spPr>
          <a:xfrm>
            <a:off x="5029200" y="2606040"/>
            <a:ext cx="1828800" cy="228600"/>
          </a:xfrm>
          <a:prstGeom prst="rect">
            <a:avLst/>
          </a:prstGeom>
          <a:noFill/>
          <a:ln/>
        </p:spPr>
        <p:txBody>
          <a:bodyPr wrap="square" lIns="0" tIns="0" rIns="0" bIns="0" rtlCol="0" anchor="ctr"/>
          <a:lstStyle/>
          <a:p>
            <a:pPr indent="0" marL="0">
              <a:buNone/>
            </a:pPr>
            <a:r>
              <a:rPr lang="en-US" sz="1100" b="1" dirty="0">
                <a:solidFill>
                  <a:srgbClr val="0EA5E9"/>
                </a:solidFill>
                <a:latin typeface="Consolas" pitchFamily="34" charset="0"/>
                <a:ea typeface="Consolas" pitchFamily="34" charset="-122"/>
                <a:cs typeface="Consolas" pitchFamily="34" charset="-120"/>
              </a:rPr>
              <a:t>Raft Consensus</a:t>
            </a:r>
            <a:endParaRPr lang="en-US" sz="1100" dirty="0"/>
          </a:p>
        </p:txBody>
      </p:sp>
      <p:sp>
        <p:nvSpPr>
          <p:cNvPr id="22" name="Text 20"/>
          <p:cNvSpPr/>
          <p:nvPr/>
        </p:nvSpPr>
        <p:spPr>
          <a:xfrm>
            <a:off x="5029200" y="2807208"/>
            <a:ext cx="36576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Leader election, multi-master replication with CRDT support</a:t>
            </a:r>
            <a:endParaRPr lang="en-US" sz="1000" dirty="0"/>
          </a:p>
        </p:txBody>
      </p:sp>
      <p:sp>
        <p:nvSpPr>
          <p:cNvPr id="23" name="Text 21"/>
          <p:cNvSpPr/>
          <p:nvPr/>
        </p:nvSpPr>
        <p:spPr>
          <a:xfrm>
            <a:off x="5029200" y="3108960"/>
            <a:ext cx="1828800" cy="228600"/>
          </a:xfrm>
          <a:prstGeom prst="rect">
            <a:avLst/>
          </a:prstGeom>
          <a:noFill/>
          <a:ln/>
        </p:spPr>
        <p:txBody>
          <a:bodyPr wrap="square" lIns="0" tIns="0" rIns="0" bIns="0" rtlCol="0" anchor="ctr"/>
          <a:lstStyle/>
          <a:p>
            <a:pPr indent="0" marL="0">
              <a:buNone/>
            </a:pPr>
            <a:r>
              <a:rPr lang="en-US" sz="1100" b="1" dirty="0">
                <a:solidFill>
                  <a:srgbClr val="0EA5E9"/>
                </a:solidFill>
                <a:latin typeface="Consolas" pitchFamily="34" charset="0"/>
                <a:ea typeface="Consolas" pitchFamily="34" charset="-122"/>
                <a:cs typeface="Consolas" pitchFamily="34" charset="-120"/>
              </a:rPr>
              <a:t>Gossip Protocol</a:t>
            </a:r>
            <a:endParaRPr lang="en-US" sz="1100" dirty="0"/>
          </a:p>
        </p:txBody>
      </p:sp>
      <p:sp>
        <p:nvSpPr>
          <p:cNvPr id="24" name="Text 22"/>
          <p:cNvSpPr/>
          <p:nvPr/>
        </p:nvSpPr>
        <p:spPr>
          <a:xfrm>
            <a:off x="5029200" y="3310128"/>
            <a:ext cx="36576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Drift detection, behavioral monitoring across agents</a:t>
            </a:r>
            <a:endParaRPr lang="en-US" sz="1000" dirty="0"/>
          </a:p>
        </p:txBody>
      </p:sp>
      <p:sp>
        <p:nvSpPr>
          <p:cNvPr id="25" name="Text 23"/>
          <p:cNvSpPr/>
          <p:nvPr/>
        </p:nvSpPr>
        <p:spPr>
          <a:xfrm>
            <a:off x="731520" y="3931920"/>
            <a:ext cx="1828800" cy="411480"/>
          </a:xfrm>
          <a:prstGeom prst="rect">
            <a:avLst/>
          </a:prstGeom>
          <a:noFill/>
          <a:ln/>
        </p:spPr>
        <p:txBody>
          <a:bodyPr wrap="square" lIns="0" tIns="0" rIns="0" bIns="0" rtlCol="0" anchor="ctr"/>
          <a:lstStyle/>
          <a:p>
            <a:pPr indent="0" marL="0">
              <a:buNone/>
            </a:pPr>
            <a:r>
              <a:rPr lang="en-US" sz="2600" b="1" dirty="0">
                <a:solidFill>
                  <a:srgbClr val="06B6D4"/>
                </a:solidFill>
                <a:latin typeface="Consolas" pitchFamily="34" charset="0"/>
                <a:ea typeface="Consolas" pitchFamily="34" charset="-122"/>
                <a:cs typeface="Consolas" pitchFamily="34" charset="-120"/>
              </a:rPr>
              <a:t>150+</a:t>
            </a:r>
            <a:endParaRPr lang="en-US" sz="2600" dirty="0"/>
          </a:p>
        </p:txBody>
      </p:sp>
      <p:sp>
        <p:nvSpPr>
          <p:cNvPr id="26" name="Text 24"/>
          <p:cNvSpPr/>
          <p:nvPr/>
        </p:nvSpPr>
        <p:spPr>
          <a:xfrm>
            <a:off x="731520" y="4297680"/>
            <a:ext cx="1828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Agent Types</a:t>
            </a:r>
            <a:endParaRPr lang="en-US" sz="1000" dirty="0"/>
          </a:p>
        </p:txBody>
      </p:sp>
      <p:sp>
        <p:nvSpPr>
          <p:cNvPr id="27" name="Text 25"/>
          <p:cNvSpPr/>
          <p:nvPr/>
        </p:nvSpPr>
        <p:spPr>
          <a:xfrm>
            <a:off x="2834640" y="3931920"/>
            <a:ext cx="1828800" cy="411480"/>
          </a:xfrm>
          <a:prstGeom prst="rect">
            <a:avLst/>
          </a:prstGeom>
          <a:noFill/>
          <a:ln/>
        </p:spPr>
        <p:txBody>
          <a:bodyPr wrap="square" lIns="0" tIns="0" rIns="0" bIns="0" rtlCol="0" anchor="ctr"/>
          <a:lstStyle/>
          <a:p>
            <a:pPr indent="0" marL="0">
              <a:buNone/>
            </a:pPr>
            <a:r>
              <a:rPr lang="en-US" sz="2600" b="1" dirty="0">
                <a:solidFill>
                  <a:srgbClr val="06B6D4"/>
                </a:solidFill>
                <a:latin typeface="Consolas" pitchFamily="34" charset="0"/>
                <a:ea typeface="Consolas" pitchFamily="34" charset="-122"/>
                <a:cs typeface="Consolas" pitchFamily="34" charset="-120"/>
              </a:rPr>
              <a:t>5</a:t>
            </a:r>
            <a:endParaRPr lang="en-US" sz="2600" dirty="0"/>
          </a:p>
        </p:txBody>
      </p:sp>
      <p:sp>
        <p:nvSpPr>
          <p:cNvPr id="28" name="Text 26"/>
          <p:cNvSpPr/>
          <p:nvPr/>
        </p:nvSpPr>
        <p:spPr>
          <a:xfrm>
            <a:off x="2834640" y="4297680"/>
            <a:ext cx="1828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Topologies</a:t>
            </a:r>
            <a:endParaRPr lang="en-US" sz="1000" dirty="0"/>
          </a:p>
        </p:txBody>
      </p:sp>
      <p:sp>
        <p:nvSpPr>
          <p:cNvPr id="29" name="Text 27"/>
          <p:cNvSpPr/>
          <p:nvPr/>
        </p:nvSpPr>
        <p:spPr>
          <a:xfrm>
            <a:off x="4937760" y="3931920"/>
            <a:ext cx="1828800" cy="411480"/>
          </a:xfrm>
          <a:prstGeom prst="rect">
            <a:avLst/>
          </a:prstGeom>
          <a:noFill/>
          <a:ln/>
        </p:spPr>
        <p:txBody>
          <a:bodyPr wrap="square" lIns="0" tIns="0" rIns="0" bIns="0" rtlCol="0" anchor="ctr"/>
          <a:lstStyle/>
          <a:p>
            <a:pPr indent="0" marL="0">
              <a:buNone/>
            </a:pPr>
            <a:r>
              <a:rPr lang="en-US" sz="2600" b="1" dirty="0">
                <a:solidFill>
                  <a:srgbClr val="06B6D4"/>
                </a:solidFill>
                <a:latin typeface="Consolas" pitchFamily="34" charset="0"/>
                <a:ea typeface="Consolas" pitchFamily="34" charset="-122"/>
                <a:cs typeface="Consolas" pitchFamily="34" charset="-120"/>
              </a:rPr>
              <a:t>100K</a:t>
            </a:r>
            <a:endParaRPr lang="en-US" sz="2600" dirty="0"/>
          </a:p>
        </p:txBody>
      </p:sp>
      <p:sp>
        <p:nvSpPr>
          <p:cNvPr id="30" name="Text 28"/>
          <p:cNvSpPr/>
          <p:nvPr/>
        </p:nvSpPr>
        <p:spPr>
          <a:xfrm>
            <a:off x="4937760" y="4297680"/>
            <a:ext cx="1828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Agent Scale</a:t>
            </a:r>
            <a:endParaRPr lang="en-US" sz="1000" dirty="0"/>
          </a:p>
        </p:txBody>
      </p:sp>
      <p:sp>
        <p:nvSpPr>
          <p:cNvPr id="31" name="Text 29"/>
          <p:cNvSpPr/>
          <p:nvPr/>
        </p:nvSpPr>
        <p:spPr>
          <a:xfrm>
            <a:off x="7040880" y="3931920"/>
            <a:ext cx="1828800" cy="411480"/>
          </a:xfrm>
          <a:prstGeom prst="rect">
            <a:avLst/>
          </a:prstGeom>
          <a:noFill/>
          <a:ln/>
        </p:spPr>
        <p:txBody>
          <a:bodyPr wrap="square" lIns="0" tIns="0" rIns="0" bIns="0" rtlCol="0" anchor="ctr"/>
          <a:lstStyle/>
          <a:p>
            <a:pPr indent="0" marL="0">
              <a:buNone/>
            </a:pPr>
            <a:r>
              <a:rPr lang="en-US" sz="2600" b="1" dirty="0">
                <a:solidFill>
                  <a:srgbClr val="06B6D4"/>
                </a:solidFill>
                <a:latin typeface="Consolas" pitchFamily="34" charset="0"/>
                <a:ea typeface="Consolas" pitchFamily="34" charset="-122"/>
                <a:cs typeface="Consolas" pitchFamily="34" charset="-120"/>
              </a:rPr>
              <a:t>&lt;1ms</a:t>
            </a:r>
            <a:endParaRPr lang="en-US" sz="2600" dirty="0"/>
          </a:p>
        </p:txBody>
      </p:sp>
      <p:sp>
        <p:nvSpPr>
          <p:cNvPr id="32" name="Text 30"/>
          <p:cNvSpPr/>
          <p:nvPr/>
        </p:nvSpPr>
        <p:spPr>
          <a:xfrm>
            <a:off x="7040880" y="4297680"/>
            <a:ext cx="1828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Shared Memory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sp>
        <p:nvSpPr>
          <p:cNvPr id="3" name="Text 1"/>
          <p:cNvSpPr/>
          <p:nvPr/>
        </p:nvSpPr>
        <p:spPr>
          <a:xfrm>
            <a:off x="731520" y="320040"/>
            <a:ext cx="7680960" cy="457200"/>
          </a:xfrm>
          <a:prstGeom prst="rect">
            <a:avLst/>
          </a:prstGeom>
          <a:noFill/>
          <a:ln/>
        </p:spPr>
        <p:txBody>
          <a:bodyPr wrap="square" lIns="0" tIns="0" rIns="0" bIns="0" rtlCol="0" anchor="ctr"/>
          <a:lstStyle/>
          <a:p>
            <a:pPr indent="0" marL="0">
              <a:buNone/>
            </a:pPr>
            <a:r>
              <a:rPr lang="en-US" sz="2600" b="1" dirty="0">
                <a:solidFill>
                  <a:srgbClr val="F8FAFC"/>
                </a:solidFill>
                <a:latin typeface="Cambria" pitchFamily="34" charset="0"/>
                <a:ea typeface="Cambria" pitchFamily="34" charset="-122"/>
                <a:cs typeface="Cambria" pitchFamily="34" charset="-120"/>
              </a:rPr>
              <a:t>RuVector: PostgreSQL-Native Vector Search</a:t>
            </a:r>
            <a:endParaRPr lang="en-US" sz="2600" dirty="0"/>
          </a:p>
        </p:txBody>
      </p:sp>
      <p:sp>
        <p:nvSpPr>
          <p:cNvPr id="4" name="Text 2"/>
          <p:cNvSpPr/>
          <p:nvPr/>
        </p:nvSpPr>
        <p:spPr>
          <a:xfrm>
            <a:off x="731520" y="777240"/>
            <a:ext cx="7315200" cy="27432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Not a separate vector database. A PostgreSQL extension. ACID transactions on vector operations.</a:t>
            </a:r>
            <a:endParaRPr lang="en-US" sz="1300" dirty="0"/>
          </a:p>
        </p:txBody>
      </p:sp>
      <p:sp>
        <p:nvSpPr>
          <p:cNvPr id="5" name="Shape 3"/>
          <p:cNvSpPr/>
          <p:nvPr/>
        </p:nvSpPr>
        <p:spPr>
          <a:xfrm>
            <a:off x="731520" y="1234440"/>
            <a:ext cx="3749040" cy="246888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6" name="Shape 4"/>
          <p:cNvSpPr/>
          <p:nvPr/>
        </p:nvSpPr>
        <p:spPr>
          <a:xfrm>
            <a:off x="731520" y="1234440"/>
            <a:ext cx="3749040" cy="36576"/>
          </a:xfrm>
          <a:prstGeom prst="rect">
            <a:avLst/>
          </a:prstGeom>
          <a:solidFill>
            <a:srgbClr val="0EA5E9"/>
          </a:solidFill>
          <a:ln/>
        </p:spPr>
      </p:sp>
      <p:sp>
        <p:nvSpPr>
          <p:cNvPr id="7" name="Text 5"/>
          <p:cNvSpPr/>
          <p:nvPr/>
        </p:nvSpPr>
        <p:spPr>
          <a:xfrm>
            <a:off x="914400" y="1325880"/>
            <a:ext cx="3383280" cy="274320"/>
          </a:xfrm>
          <a:prstGeom prst="rect">
            <a:avLst/>
          </a:prstGeom>
          <a:noFill/>
          <a:ln/>
        </p:spPr>
        <p:txBody>
          <a:bodyPr wrap="square" lIns="0" tIns="0" rIns="0" bIns="0" rtlCol="0" anchor="ctr"/>
          <a:lstStyle/>
          <a:p>
            <a:pPr indent="0" marL="0">
              <a:buNone/>
            </a:pPr>
            <a:r>
              <a:rPr lang="en-US" sz="1300" b="1" dirty="0">
                <a:solidFill>
                  <a:srgbClr val="0EA5E9"/>
                </a:solidFill>
                <a:latin typeface="Consolas" pitchFamily="34" charset="0"/>
                <a:ea typeface="Consolas" pitchFamily="34" charset="-122"/>
                <a:cs typeface="Consolas" pitchFamily="34" charset="-120"/>
              </a:rPr>
              <a:t>Core Capabilities</a:t>
            </a:r>
            <a:endParaRPr lang="en-US" sz="1300" dirty="0"/>
          </a:p>
        </p:txBody>
      </p:sp>
      <p:sp>
        <p:nvSpPr>
          <p:cNvPr id="8" name="Text 6"/>
          <p:cNvSpPr/>
          <p:nvPr/>
        </p:nvSpPr>
        <p:spPr>
          <a:xfrm>
            <a:off x="914400" y="1691640"/>
            <a:ext cx="3383280" cy="1828800"/>
          </a:xfrm>
          <a:prstGeom prst="rect">
            <a:avLst/>
          </a:prstGeom>
          <a:noFill/>
          <a:ln/>
        </p:spPr>
        <p:txBody>
          <a:bodyPr wrap="square" rtlCol="0" anchor="ctr"/>
          <a:lstStyle/>
          <a:p>
            <a:pPr marL="342900" indent="-342900">
              <a:spcAft>
                <a:spcPts val="500"/>
              </a:spcAft>
              <a:buSzPct val="100000"/>
              <a:buChar char="•"/>
            </a:pPr>
            <a:r>
              <a:rPr lang="en-US" sz="1050" dirty="0">
                <a:solidFill>
                  <a:srgbClr val="CBD5E1"/>
                </a:solidFill>
                <a:latin typeface="Calibri" pitchFamily="34" charset="0"/>
                <a:ea typeface="Calibri" pitchFamily="34" charset="-122"/>
                <a:cs typeface="Calibri" pitchFamily="34" charset="-120"/>
              </a:rPr>
              <a:t>290+ SQL functions in-process</a:t>
            </a:r>
            <a:endParaRPr lang="en-US" sz="1050" dirty="0"/>
          </a:p>
          <a:p>
            <a:pPr marL="342900" indent="-342900">
              <a:spcAft>
                <a:spcPts val="500"/>
              </a:spcAft>
              <a:buSzPct val="100000"/>
              <a:buChar char="•"/>
            </a:pPr>
            <a:r>
              <a:rPr lang="en-US" sz="1050" dirty="0">
                <a:solidFill>
                  <a:srgbClr val="CBD5E1"/>
                </a:solidFill>
                <a:latin typeface="Calibri" pitchFamily="34" charset="0"/>
                <a:ea typeface="Calibri" pitchFamily="34" charset="-122"/>
                <a:cs typeface="Calibri" pitchFamily="34" charset="-120"/>
              </a:rPr>
              <a:t>HNSW indexing (61µs search latency)</a:t>
            </a:r>
            <a:endParaRPr lang="en-US" sz="1050" dirty="0"/>
          </a:p>
          <a:p>
            <a:pPr marL="342900" indent="-342900">
              <a:spcAft>
                <a:spcPts val="500"/>
              </a:spcAft>
              <a:buSzPct val="100000"/>
              <a:buChar char="•"/>
            </a:pPr>
            <a:r>
              <a:rPr lang="en-US" sz="1050" dirty="0">
                <a:solidFill>
                  <a:srgbClr val="CBD5E1"/>
                </a:solidFill>
                <a:latin typeface="Calibri" pitchFamily="34" charset="0"/>
                <a:ea typeface="Calibri" pitchFamily="34" charset="-122"/>
                <a:cs typeface="Calibri" pitchFamily="34" charset="-120"/>
              </a:rPr>
              <a:t>Drop-in pgvector replacement</a:t>
            </a:r>
            <a:endParaRPr lang="en-US" sz="1050" dirty="0"/>
          </a:p>
          <a:p>
            <a:pPr marL="342900" indent="-342900">
              <a:spcAft>
                <a:spcPts val="500"/>
              </a:spcAft>
              <a:buSzPct val="100000"/>
              <a:buChar char="•"/>
            </a:pPr>
            <a:r>
              <a:rPr lang="en-US" sz="1050" dirty="0">
                <a:solidFill>
                  <a:srgbClr val="CBD5E1"/>
                </a:solidFill>
                <a:latin typeface="Calibri" pitchFamily="34" charset="0"/>
                <a:ea typeface="Calibri" pitchFamily="34" charset="-122"/>
                <a:cs typeface="Calibri" pitchFamily="34" charset="-120"/>
              </a:rPr>
              <a:t>ACID transactions on vector ops</a:t>
            </a:r>
            <a:endParaRPr lang="en-US" sz="1050" dirty="0"/>
          </a:p>
          <a:p>
            <a:pPr marL="342900" indent="-342900">
              <a:spcAft>
                <a:spcPts val="500"/>
              </a:spcAft>
              <a:buSzPct val="100000"/>
              <a:buChar char="•"/>
            </a:pPr>
            <a:r>
              <a:rPr lang="en-US" sz="1050" dirty="0">
                <a:solidFill>
                  <a:srgbClr val="CBD5E1"/>
                </a:solidFill>
                <a:latin typeface="Calibri" pitchFamily="34" charset="0"/>
                <a:ea typeface="Calibri" pitchFamily="34" charset="-122"/>
                <a:cs typeface="Calibri" pitchFamily="34" charset="-120"/>
              </a:rPr>
              <a:t>Joins vectors with relational data</a:t>
            </a:r>
            <a:endParaRPr lang="en-US" sz="1050" dirty="0"/>
          </a:p>
          <a:p>
            <a:pPr marL="342900" indent="-342900">
              <a:spcAft>
                <a:spcPts val="500"/>
              </a:spcAft>
              <a:buSzPct val="100000"/>
              <a:buChar char="•"/>
            </a:pPr>
            <a:r>
              <a:rPr lang="en-US" sz="1050" dirty="0">
                <a:solidFill>
                  <a:srgbClr val="CBD5E1"/>
                </a:solidFill>
                <a:latin typeface="Calibri" pitchFamily="34" charset="0"/>
                <a:ea typeface="Calibri" pitchFamily="34" charset="-122"/>
                <a:cs typeface="Calibri" pitchFamily="34" charset="-120"/>
              </a:rPr>
              <a:t>80+ Rust crates for extensions</a:t>
            </a:r>
            <a:endParaRPr lang="en-US" sz="1050" dirty="0"/>
          </a:p>
          <a:p>
            <a:pPr marL="342900" indent="-342900">
              <a:spcAft>
                <a:spcPts val="500"/>
              </a:spcAft>
              <a:buSzPct val="100000"/>
              <a:buChar char="•"/>
            </a:pPr>
            <a:r>
              <a:rPr lang="en-US" sz="1050" dirty="0">
                <a:solidFill>
                  <a:srgbClr val="CBD5E1"/>
                </a:solidFill>
                <a:latin typeface="Calibri" pitchFamily="34" charset="0"/>
                <a:ea typeface="Calibri" pitchFamily="34" charset="-122"/>
                <a:cs typeface="Calibri" pitchFamily="34" charset="-120"/>
              </a:rPr>
              <a:t>Progressive indexing (L0/L1/L2)</a:t>
            </a:r>
            <a:endParaRPr lang="en-US" sz="1050" dirty="0"/>
          </a:p>
          <a:p>
            <a:pPr marL="342900" indent="-342900">
              <a:spcAft>
                <a:spcPts val="500"/>
              </a:spcAft>
              <a:buSzPct val="100000"/>
              <a:buChar char="•"/>
            </a:pPr>
            <a:r>
              <a:rPr lang="en-US" sz="1050" dirty="0">
                <a:solidFill>
                  <a:srgbClr val="CBD5E1"/>
                </a:solidFill>
                <a:latin typeface="Calibri" pitchFamily="34" charset="0"/>
                <a:ea typeface="Calibri" pitchFamily="34" charset="-122"/>
                <a:cs typeface="Calibri" pitchFamily="34" charset="-120"/>
              </a:rPr>
              <a:t>Temperature-tiered quantization</a:t>
            </a:r>
            <a:endParaRPr lang="en-US" sz="1050" dirty="0"/>
          </a:p>
        </p:txBody>
      </p:sp>
      <p:sp>
        <p:nvSpPr>
          <p:cNvPr id="9" name="Shape 7"/>
          <p:cNvSpPr/>
          <p:nvPr/>
        </p:nvSpPr>
        <p:spPr>
          <a:xfrm>
            <a:off x="4663440" y="1234440"/>
            <a:ext cx="3749040" cy="246888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10" name="Shape 8"/>
          <p:cNvSpPr/>
          <p:nvPr/>
        </p:nvSpPr>
        <p:spPr>
          <a:xfrm>
            <a:off x="4663440" y="1234440"/>
            <a:ext cx="3749040" cy="36576"/>
          </a:xfrm>
          <a:prstGeom prst="rect">
            <a:avLst/>
          </a:prstGeom>
          <a:solidFill>
            <a:srgbClr val="F59E0B"/>
          </a:solidFill>
          <a:ln/>
        </p:spPr>
      </p:sp>
      <p:sp>
        <p:nvSpPr>
          <p:cNvPr id="11" name="Text 9"/>
          <p:cNvSpPr/>
          <p:nvPr/>
        </p:nvSpPr>
        <p:spPr>
          <a:xfrm>
            <a:off x="4846320" y="1325880"/>
            <a:ext cx="3383280" cy="274320"/>
          </a:xfrm>
          <a:prstGeom prst="rect">
            <a:avLst/>
          </a:prstGeom>
          <a:noFill/>
          <a:ln/>
        </p:spPr>
        <p:txBody>
          <a:bodyPr wrap="square" lIns="0" tIns="0" rIns="0" bIns="0" rtlCol="0" anchor="ctr"/>
          <a:lstStyle/>
          <a:p>
            <a:pPr indent="0" marL="0">
              <a:buNone/>
            </a:pPr>
            <a:r>
              <a:rPr lang="en-US" sz="1300" b="1" dirty="0">
                <a:solidFill>
                  <a:srgbClr val="F59E0B"/>
                </a:solidFill>
                <a:latin typeface="Consolas" pitchFamily="34" charset="0"/>
                <a:ea typeface="Consolas" pitchFamily="34" charset="-122"/>
                <a:cs typeface="Consolas" pitchFamily="34" charset="-120"/>
              </a:rPr>
              <a:t>RVCOW: Multi-Tenant Economics</a:t>
            </a:r>
            <a:endParaRPr lang="en-US" sz="1300" dirty="0"/>
          </a:p>
        </p:txBody>
      </p:sp>
      <p:sp>
        <p:nvSpPr>
          <p:cNvPr id="12" name="Text 10"/>
          <p:cNvSpPr/>
          <p:nvPr/>
        </p:nvSpPr>
        <p:spPr>
          <a:xfrm>
            <a:off x="4846320" y="1691640"/>
            <a:ext cx="338328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512MB parent + 1,000 tenants = ~2.5MB/tenant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846320" y="2103120"/>
          <a:ext cx="3383280" cy="914400"/>
        </p:xfrm>
        <a:graphic>
          <a:graphicData uri="http://schemas.openxmlformats.org/drawingml/2006/table">
            <a:tbl>
              <a:tblPr/>
              <a:tblGrid>
                <a:gridCol w="1097280"/>
                <a:gridCol w="1097280"/>
                <a:gridCol w="1188720"/>
              </a:tblGrid>
              <a:tr h="256032">
                <a:tc>
                  <a:txBody>
                    <a:bodyPr/>
                    <a:lstStyle/>
                    <a:p>
                      <a:pPr algn="l" indent="0" marL="0">
                        <a:buNone/>
                      </a:pPr>
                      <a:r>
                        <a:rPr lang="en-US" sz="1000" b="1" dirty="0">
                          <a:solidFill>
                            <a:srgbClr val="06B6D4"/>
                          </a:solidFill>
                          <a:latin typeface="Consolas" pitchFamily="34" charset="0"/>
                          <a:ea typeface="Consolas" pitchFamily="34" charset="-122"/>
                          <a:cs typeface="Consolas" pitchFamily="34" charset="-120"/>
                        </a:rPr>
                        <a:t>Approach</a:t>
                      </a:r>
                      <a:endParaRPr lang="en-US" sz="100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A2744"/>
                    </a:solidFill>
                  </a:tcPr>
                </a:tc>
                <a:tc>
                  <a:txBody>
                    <a:bodyPr/>
                    <a:lstStyle/>
                    <a:p>
                      <a:pPr algn="l" indent="0" marL="0">
                        <a:buNone/>
                      </a:pPr>
                      <a:r>
                        <a:rPr lang="en-US" sz="1000" b="1" dirty="0">
                          <a:solidFill>
                            <a:srgbClr val="06B6D4"/>
                          </a:solidFill>
                          <a:latin typeface="Consolas" pitchFamily="34" charset="0"/>
                          <a:ea typeface="Consolas" pitchFamily="34" charset="-122"/>
                          <a:cs typeface="Consolas" pitchFamily="34" charset="-120"/>
                        </a:rPr>
                        <a:t>Storage</a:t>
                      </a:r>
                      <a:endParaRPr lang="en-US" sz="100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A2744"/>
                    </a:solidFill>
                  </a:tcPr>
                </a:tc>
                <a:tc>
                  <a:txBody>
                    <a:bodyPr/>
                    <a:lstStyle/>
                    <a:p>
                      <a:pPr algn="l" indent="0" marL="0">
                        <a:buNone/>
                      </a:pPr>
                      <a:r>
                        <a:rPr lang="en-US" sz="1000" b="1" dirty="0">
                          <a:solidFill>
                            <a:srgbClr val="06B6D4"/>
                          </a:solidFill>
                          <a:latin typeface="Consolas" pitchFamily="34" charset="0"/>
                          <a:ea typeface="Consolas" pitchFamily="34" charset="-122"/>
                          <a:cs typeface="Consolas" pitchFamily="34" charset="-120"/>
                        </a:rPr>
                        <a:t>Cost</a:t>
                      </a:r>
                      <a:endParaRPr lang="en-US" sz="100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A2744"/>
                    </a:solidFill>
                  </a:tcPr>
                </a:tc>
              </a:tr>
              <a:tr h="256032">
                <a:tc>
                  <a:txBody>
                    <a:bodyPr/>
                    <a:lstStyle/>
                    <a:p>
                      <a:pPr algn="ctr" indent="0" marL="0">
                        <a:buNone/>
                      </a:pPr>
                      <a:r>
                        <a:rPr lang="en-US" sz="1000" dirty="0">
                          <a:solidFill>
                            <a:srgbClr val="CBD5E1"/>
                          </a:solidFill>
                          <a:latin typeface="Calibri" pitchFamily="34" charset="0"/>
                          <a:ea typeface="Calibri" pitchFamily="34" charset="-122"/>
                          <a:cs typeface="Calibri" pitchFamily="34" charset="-120"/>
                        </a:rPr>
                        <a:t>Full Copy</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CBD5E1"/>
                          </a:solidFill>
                          <a:latin typeface="Calibri" pitchFamily="34" charset="0"/>
                          <a:ea typeface="Calibri" pitchFamily="34" charset="-122"/>
                          <a:cs typeface="Calibri" pitchFamily="34" charset="-120"/>
                        </a:rPr>
                        <a:t>512GB</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CBD5E1"/>
                          </a:solidFill>
                          <a:latin typeface="Calibri" pitchFamily="34" charset="0"/>
                          <a:ea typeface="Calibri" pitchFamily="34" charset="-122"/>
                          <a:cs typeface="Calibri" pitchFamily="34" charset="-120"/>
                        </a:rPr>
                        <a:t>$51,200/mo</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r>
              <a:tr h="256032">
                <a:tc>
                  <a:txBody>
                    <a:bodyPr/>
                    <a:lstStyle/>
                    <a:p>
                      <a:pPr algn="ctr" indent="0" marL="0">
                        <a:buNone/>
                      </a:pPr>
                      <a:r>
                        <a:rPr lang="en-US" sz="1000" dirty="0">
                          <a:solidFill>
                            <a:srgbClr val="CBD5E1"/>
                          </a:solidFill>
                          <a:latin typeface="Calibri" pitchFamily="34" charset="0"/>
                          <a:ea typeface="Calibri" pitchFamily="34" charset="-122"/>
                          <a:cs typeface="Calibri" pitchFamily="34" charset="-120"/>
                        </a:rPr>
                        <a:t>RVCOW</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CBD5E1"/>
                          </a:solidFill>
                          <a:latin typeface="Calibri" pitchFamily="34" charset="0"/>
                          <a:ea typeface="Calibri" pitchFamily="34" charset="-122"/>
                          <a:cs typeface="Calibri" pitchFamily="34" charset="-120"/>
                        </a:rPr>
                        <a:t>~2.5GB</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dirty="0">
                          <a:solidFill>
                            <a:srgbClr val="CBD5E1"/>
                          </a:solidFill>
                          <a:latin typeface="Calibri" pitchFamily="34" charset="0"/>
                          <a:ea typeface="Calibri" pitchFamily="34" charset="-122"/>
                          <a:cs typeface="Calibri" pitchFamily="34" charset="-120"/>
                        </a:rPr>
                        <a:t>$250/mo</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r>
              <a:tr h="256032">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Savings</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200x</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99.5%</a:t>
                      </a:r>
                      <a:endParaRPr lang="en-US" sz="100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r>
            </a:tbl>
          </a:graphicData>
        </a:graphic>
      </p:graphicFrame>
      <p:sp>
        <p:nvSpPr>
          <p:cNvPr id="14" name="Text 11"/>
          <p:cNvSpPr/>
          <p:nvPr/>
        </p:nvSpPr>
        <p:spPr>
          <a:xfrm>
            <a:off x="4846320" y="3246120"/>
            <a:ext cx="3383280" cy="4572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COW branch creation: </a:t>
            </a:r>
            <a:pPr indent="0" marL="0">
              <a:buNone/>
            </a:pPr>
            <a:r>
              <a:rPr lang="en-US" sz="1000" b="1" dirty="0">
                <a:solidFill>
                  <a:srgbClr val="06B6D4"/>
                </a:solidFill>
                <a:latin typeface="Calibri" pitchFamily="34" charset="0"/>
                <a:ea typeface="Calibri" pitchFamily="34" charset="-122"/>
                <a:cs typeface="Calibri" pitchFamily="34" charset="-120"/>
              </a:rPr>
              <a:t>2.6ms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CowMap cluster lookup: </a:t>
            </a:r>
            <a:pPr indent="0" marL="0">
              <a:buNone/>
            </a:pPr>
            <a:r>
              <a:rPr lang="en-US" sz="1000" b="1" dirty="0">
                <a:solidFill>
                  <a:srgbClr val="06B6D4"/>
                </a:solidFill>
                <a:latin typeface="Calibri" pitchFamily="34" charset="0"/>
                <a:ea typeface="Calibri" pitchFamily="34" charset="-122"/>
                <a:cs typeface="Calibri" pitchFamily="34" charset="-120"/>
              </a:rPr>
              <a:t>28ns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Row-level security per tenant</a:t>
            </a:r>
            <a:endParaRPr lang="en-US" sz="1000" dirty="0"/>
          </a:p>
        </p:txBody>
      </p:sp>
      <p:sp>
        <p:nvSpPr>
          <p:cNvPr id="15" name="Text 12"/>
          <p:cNvSpPr/>
          <p:nvPr/>
        </p:nvSpPr>
        <p:spPr>
          <a:xfrm>
            <a:off x="731520" y="3840480"/>
            <a:ext cx="1828800" cy="320040"/>
          </a:xfrm>
          <a:prstGeom prst="rect">
            <a:avLst/>
          </a:prstGeom>
          <a:noFill/>
          <a:ln/>
        </p:spPr>
        <p:txBody>
          <a:bodyPr wrap="square" lIns="0" tIns="0" rIns="0" bIns="0" rtlCol="0" anchor="ctr"/>
          <a:lstStyle/>
          <a:p>
            <a:pPr indent="0" marL="0">
              <a:buNone/>
            </a:pPr>
            <a:r>
              <a:rPr lang="en-US" sz="2000" b="1" dirty="0">
                <a:solidFill>
                  <a:srgbClr val="06B6D4"/>
                </a:solidFill>
                <a:latin typeface="Consolas" pitchFamily="34" charset="0"/>
                <a:ea typeface="Consolas" pitchFamily="34" charset="-122"/>
                <a:cs typeface="Consolas" pitchFamily="34" charset="-120"/>
              </a:rPr>
              <a:t>61µs</a:t>
            </a:r>
            <a:endParaRPr lang="en-US" sz="2000" dirty="0"/>
          </a:p>
        </p:txBody>
      </p:sp>
      <p:sp>
        <p:nvSpPr>
          <p:cNvPr id="16" name="Text 13"/>
          <p:cNvSpPr/>
          <p:nvPr/>
        </p:nvSpPr>
        <p:spPr>
          <a:xfrm>
            <a:off x="731520" y="411480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HNSW Search</a:t>
            </a:r>
            <a:endParaRPr lang="en-US" sz="1000" dirty="0"/>
          </a:p>
        </p:txBody>
      </p:sp>
      <p:sp>
        <p:nvSpPr>
          <p:cNvPr id="17" name="Text 14"/>
          <p:cNvSpPr/>
          <p:nvPr/>
        </p:nvSpPr>
        <p:spPr>
          <a:xfrm>
            <a:off x="2834640" y="3840480"/>
            <a:ext cx="1828800" cy="320040"/>
          </a:xfrm>
          <a:prstGeom prst="rect">
            <a:avLst/>
          </a:prstGeom>
          <a:noFill/>
          <a:ln/>
        </p:spPr>
        <p:txBody>
          <a:bodyPr wrap="square" lIns="0" tIns="0" rIns="0" bIns="0" rtlCol="0" anchor="ctr"/>
          <a:lstStyle/>
          <a:p>
            <a:pPr indent="0" marL="0">
              <a:buNone/>
            </a:pPr>
            <a:r>
              <a:rPr lang="en-US" sz="2000" b="1" dirty="0">
                <a:solidFill>
                  <a:srgbClr val="06B6D4"/>
                </a:solidFill>
                <a:latin typeface="Consolas" pitchFamily="34" charset="0"/>
                <a:ea typeface="Consolas" pitchFamily="34" charset="-122"/>
                <a:cs typeface="Consolas" pitchFamily="34" charset="-120"/>
              </a:rPr>
              <a:t>8,000x</a:t>
            </a:r>
            <a:endParaRPr lang="en-US" sz="2000" dirty="0"/>
          </a:p>
        </p:txBody>
      </p:sp>
      <p:sp>
        <p:nvSpPr>
          <p:cNvPr id="18" name="Text 15"/>
          <p:cNvSpPr/>
          <p:nvPr/>
        </p:nvSpPr>
        <p:spPr>
          <a:xfrm>
            <a:off x="2834640" y="411480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vs Pinecone</a:t>
            </a:r>
            <a:endParaRPr lang="en-US" sz="1000" dirty="0"/>
          </a:p>
        </p:txBody>
      </p:sp>
      <p:sp>
        <p:nvSpPr>
          <p:cNvPr id="19" name="Text 16"/>
          <p:cNvSpPr/>
          <p:nvPr/>
        </p:nvSpPr>
        <p:spPr>
          <a:xfrm>
            <a:off x="4937760" y="3840480"/>
            <a:ext cx="1828800" cy="320040"/>
          </a:xfrm>
          <a:prstGeom prst="rect">
            <a:avLst/>
          </a:prstGeom>
          <a:noFill/>
          <a:ln/>
        </p:spPr>
        <p:txBody>
          <a:bodyPr wrap="square" lIns="0" tIns="0" rIns="0" bIns="0" rtlCol="0" anchor="ctr"/>
          <a:lstStyle/>
          <a:p>
            <a:pPr indent="0" marL="0">
              <a:buNone/>
            </a:pPr>
            <a:r>
              <a:rPr lang="en-US" sz="2000" b="1" dirty="0">
                <a:solidFill>
                  <a:srgbClr val="06B6D4"/>
                </a:solidFill>
                <a:latin typeface="Consolas" pitchFamily="34" charset="0"/>
                <a:ea typeface="Consolas" pitchFamily="34" charset="-122"/>
                <a:cs typeface="Consolas" pitchFamily="34" charset="-120"/>
              </a:rPr>
              <a:t>290+</a:t>
            </a:r>
            <a:endParaRPr lang="en-US" sz="2000" dirty="0"/>
          </a:p>
        </p:txBody>
      </p:sp>
      <p:sp>
        <p:nvSpPr>
          <p:cNvPr id="20" name="Text 17"/>
          <p:cNvSpPr/>
          <p:nvPr/>
        </p:nvSpPr>
        <p:spPr>
          <a:xfrm>
            <a:off x="4937760" y="411480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SQL Functions</a:t>
            </a:r>
            <a:endParaRPr lang="en-US" sz="1000" dirty="0"/>
          </a:p>
        </p:txBody>
      </p:sp>
      <p:sp>
        <p:nvSpPr>
          <p:cNvPr id="21" name="Text 18"/>
          <p:cNvSpPr/>
          <p:nvPr/>
        </p:nvSpPr>
        <p:spPr>
          <a:xfrm>
            <a:off x="7040880" y="3840480"/>
            <a:ext cx="1828800" cy="320040"/>
          </a:xfrm>
          <a:prstGeom prst="rect">
            <a:avLst/>
          </a:prstGeom>
          <a:noFill/>
          <a:ln/>
        </p:spPr>
        <p:txBody>
          <a:bodyPr wrap="square" lIns="0" tIns="0" rIns="0" bIns="0" rtlCol="0" anchor="ctr"/>
          <a:lstStyle/>
          <a:p>
            <a:pPr indent="0" marL="0">
              <a:buNone/>
            </a:pPr>
            <a:r>
              <a:rPr lang="en-US" sz="2000" b="1" dirty="0">
                <a:solidFill>
                  <a:srgbClr val="06B6D4"/>
                </a:solidFill>
                <a:latin typeface="Consolas" pitchFamily="34" charset="0"/>
                <a:ea typeface="Consolas" pitchFamily="34" charset="-122"/>
                <a:cs typeface="Consolas" pitchFamily="34" charset="-120"/>
              </a:rPr>
              <a:t>200x</a:t>
            </a:r>
            <a:endParaRPr lang="en-US" sz="2000" dirty="0"/>
          </a:p>
        </p:txBody>
      </p:sp>
      <p:sp>
        <p:nvSpPr>
          <p:cNvPr id="22" name="Text 19"/>
          <p:cNvSpPr/>
          <p:nvPr/>
        </p:nvSpPr>
        <p:spPr>
          <a:xfrm>
            <a:off x="7040880" y="411480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COW Savings</a:t>
            </a:r>
            <a:endParaRPr lang="en-US" sz="1000" dirty="0"/>
          </a:p>
        </p:txBody>
      </p:sp>
      <p:sp>
        <p:nvSpPr>
          <p:cNvPr id="23" name="Shape 20"/>
          <p:cNvSpPr/>
          <p:nvPr/>
        </p:nvSpPr>
        <p:spPr>
          <a:xfrm>
            <a:off x="731520" y="4434840"/>
            <a:ext cx="7680960" cy="640080"/>
          </a:xfrm>
          <a:prstGeom prst="rect">
            <a:avLst/>
          </a:prstGeom>
          <a:solidFill>
            <a:srgbClr val="0D2A2E"/>
          </a:solidFill>
          <a:ln/>
        </p:spPr>
      </p:sp>
      <p:sp>
        <p:nvSpPr>
          <p:cNvPr id="24" name="Text 21"/>
          <p:cNvSpPr/>
          <p:nvPr/>
        </p:nvSpPr>
        <p:spPr>
          <a:xfrm>
            <a:off x="914400" y="4462272"/>
            <a:ext cx="7315200" cy="594360"/>
          </a:xfrm>
          <a:prstGeom prst="rect">
            <a:avLst/>
          </a:prstGeom>
          <a:noFill/>
          <a:ln/>
        </p:spPr>
        <p:txBody>
          <a:bodyPr wrap="square" lIns="0" tIns="0" rIns="0" bIns="0" rtlCol="0" anchor="ctr"/>
          <a:lstStyle/>
          <a:p>
            <a:pPr indent="0" marL="0">
              <a:buNone/>
            </a:pPr>
            <a:r>
              <a:rPr lang="en-US" sz="1000" dirty="0">
                <a:solidFill>
                  <a:srgbClr val="06B6D4"/>
                </a:solidFill>
                <a:latin typeface="Calibri" pitchFamily="34" charset="0"/>
                <a:ea typeface="Calibri" pitchFamily="34" charset="-122"/>
                <a:cs typeface="Calibri" pitchFamily="34" charset="-120"/>
              </a:rPr>
              <a:t>RuVector isn't just faster search. It's a fundamentally new data architecture that unlocks capabilities impossible with traditional vector databases — in-process execution, WASM portability, and native PostgreSQL integration that eliminates the 'AI sidecar' pattern entirely.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sp>
        <p:nvSpPr>
          <p:cNvPr id="3" name="Text 1"/>
          <p:cNvSpPr/>
          <p:nvPr/>
        </p:nvSpPr>
        <p:spPr>
          <a:xfrm>
            <a:off x="731520" y="320040"/>
            <a:ext cx="7680960" cy="457200"/>
          </a:xfrm>
          <a:prstGeom prst="rect">
            <a:avLst/>
          </a:prstGeom>
          <a:noFill/>
          <a:ln/>
        </p:spPr>
        <p:txBody>
          <a:bodyPr wrap="square" lIns="0" tIns="0" rIns="0" bIns="0" rtlCol="0" anchor="ctr"/>
          <a:lstStyle/>
          <a:p>
            <a:pPr indent="0" marL="0">
              <a:buNone/>
            </a:pPr>
            <a:r>
              <a:rPr lang="en-US" sz="2800" b="1" dirty="0">
                <a:solidFill>
                  <a:srgbClr val="F8FAFC"/>
                </a:solidFill>
                <a:latin typeface="Cambria" pitchFamily="34" charset="0"/>
                <a:ea typeface="Cambria" pitchFamily="34" charset="-122"/>
                <a:cs typeface="Cambria" pitchFamily="34" charset="-120"/>
              </a:rPr>
              <a:t>RVF: The Executable Knowledge Unit</a:t>
            </a:r>
            <a:endParaRPr lang="en-US" sz="2800" dirty="0"/>
          </a:p>
        </p:txBody>
      </p:sp>
      <p:sp>
        <p:nvSpPr>
          <p:cNvPr id="4" name="Text 2"/>
          <p:cNvSpPr/>
          <p:nvPr/>
        </p:nvSpPr>
        <p:spPr>
          <a:xfrm>
            <a:off x="731520" y="777240"/>
            <a:ext cx="7315200" cy="27432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24-segment binary format. Not a database file — an executable that contains intelligence.</a:t>
            </a:r>
            <a:endParaRPr lang="en-US" sz="1300" dirty="0"/>
          </a:p>
        </p:txBody>
      </p:sp>
      <p:sp>
        <p:nvSpPr>
          <p:cNvPr id="5" name="Shape 3"/>
          <p:cNvSpPr/>
          <p:nvPr/>
        </p:nvSpPr>
        <p:spPr>
          <a:xfrm>
            <a:off x="731520" y="1234440"/>
            <a:ext cx="2468880" cy="100584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6" name="Shape 4"/>
          <p:cNvSpPr/>
          <p:nvPr/>
        </p:nvSpPr>
        <p:spPr>
          <a:xfrm>
            <a:off x="731520" y="1234440"/>
            <a:ext cx="2468880" cy="36576"/>
          </a:xfrm>
          <a:prstGeom prst="rect">
            <a:avLst/>
          </a:prstGeom>
          <a:solidFill>
            <a:srgbClr val="06B6D4"/>
          </a:solidFill>
          <a:ln/>
        </p:spPr>
      </p:sp>
      <p:sp>
        <p:nvSpPr>
          <p:cNvPr id="7" name="Text 5"/>
          <p:cNvSpPr/>
          <p:nvPr/>
        </p:nvSpPr>
        <p:spPr>
          <a:xfrm>
            <a:off x="841248" y="1325880"/>
            <a:ext cx="2286000" cy="22860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Core Data (3)</a:t>
            </a:r>
            <a:endParaRPr lang="en-US" sz="1100" dirty="0"/>
          </a:p>
        </p:txBody>
      </p:sp>
      <p:sp>
        <p:nvSpPr>
          <p:cNvPr id="8" name="Text 6"/>
          <p:cNvSpPr/>
          <p:nvPr/>
        </p:nvSpPr>
        <p:spPr>
          <a:xfrm>
            <a:off x="841248" y="1600200"/>
            <a:ext cx="228600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Vectors, Metadata, Indexes</a:t>
            </a:r>
            <a:endParaRPr lang="en-US" sz="1000" dirty="0"/>
          </a:p>
        </p:txBody>
      </p:sp>
      <p:sp>
        <p:nvSpPr>
          <p:cNvPr id="9" name="Shape 7"/>
          <p:cNvSpPr/>
          <p:nvPr/>
        </p:nvSpPr>
        <p:spPr>
          <a:xfrm>
            <a:off x="3383280" y="1234440"/>
            <a:ext cx="2468880" cy="100584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10" name="Shape 8"/>
          <p:cNvSpPr/>
          <p:nvPr/>
        </p:nvSpPr>
        <p:spPr>
          <a:xfrm>
            <a:off x="3383280" y="1234440"/>
            <a:ext cx="2468880" cy="36576"/>
          </a:xfrm>
          <a:prstGeom prst="rect">
            <a:avLst/>
          </a:prstGeom>
          <a:solidFill>
            <a:srgbClr val="0EA5E9"/>
          </a:solidFill>
          <a:ln/>
        </p:spPr>
      </p:sp>
      <p:sp>
        <p:nvSpPr>
          <p:cNvPr id="11" name="Text 9"/>
          <p:cNvSpPr/>
          <p:nvPr/>
        </p:nvSpPr>
        <p:spPr>
          <a:xfrm>
            <a:off x="3493008" y="1325880"/>
            <a:ext cx="2286000" cy="228600"/>
          </a:xfrm>
          <a:prstGeom prst="rect">
            <a:avLst/>
          </a:prstGeom>
          <a:noFill/>
          <a:ln/>
        </p:spPr>
        <p:txBody>
          <a:bodyPr wrap="square" lIns="0" tIns="0" rIns="0" bIns="0" rtlCol="0" anchor="ctr"/>
          <a:lstStyle/>
          <a:p>
            <a:pPr indent="0" marL="0">
              <a:buNone/>
            </a:pPr>
            <a:r>
              <a:rPr lang="en-US" sz="1100" b="1" dirty="0">
                <a:solidFill>
                  <a:srgbClr val="0EA5E9"/>
                </a:solidFill>
                <a:latin typeface="Consolas" pitchFamily="34" charset="0"/>
                <a:ea typeface="Consolas" pitchFamily="34" charset="-122"/>
                <a:cs typeface="Consolas" pitchFamily="34" charset="-120"/>
              </a:rPr>
              <a:t>AI / Model (3)</a:t>
            </a:r>
            <a:endParaRPr lang="en-US" sz="1100" dirty="0"/>
          </a:p>
        </p:txBody>
      </p:sp>
      <p:sp>
        <p:nvSpPr>
          <p:cNvPr id="12" name="Text 10"/>
          <p:cNvSpPr/>
          <p:nvPr/>
        </p:nvSpPr>
        <p:spPr>
          <a:xfrm>
            <a:off x="3493008" y="1600200"/>
            <a:ext cx="228600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LoRA deltas, GGUF weights, Inference config</a:t>
            </a:r>
            <a:endParaRPr lang="en-US" sz="1000" dirty="0"/>
          </a:p>
        </p:txBody>
      </p:sp>
      <p:sp>
        <p:nvSpPr>
          <p:cNvPr id="13" name="Shape 11"/>
          <p:cNvSpPr/>
          <p:nvPr/>
        </p:nvSpPr>
        <p:spPr>
          <a:xfrm>
            <a:off x="6035040" y="1234440"/>
            <a:ext cx="2468880" cy="100584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14" name="Shape 12"/>
          <p:cNvSpPr/>
          <p:nvPr/>
        </p:nvSpPr>
        <p:spPr>
          <a:xfrm>
            <a:off x="6035040" y="1234440"/>
            <a:ext cx="2468880" cy="36576"/>
          </a:xfrm>
          <a:prstGeom prst="rect">
            <a:avLst/>
          </a:prstGeom>
          <a:solidFill>
            <a:srgbClr val="F59E0B"/>
          </a:solidFill>
          <a:ln/>
        </p:spPr>
      </p:sp>
      <p:sp>
        <p:nvSpPr>
          <p:cNvPr id="15" name="Text 13"/>
          <p:cNvSpPr/>
          <p:nvPr/>
        </p:nvSpPr>
        <p:spPr>
          <a:xfrm>
            <a:off x="6144768" y="1325880"/>
            <a:ext cx="2286000" cy="228600"/>
          </a:xfrm>
          <a:prstGeom prst="rect">
            <a:avLst/>
          </a:prstGeom>
          <a:noFill/>
          <a:ln/>
        </p:spPr>
        <p:txBody>
          <a:bodyPr wrap="square" lIns="0" tIns="0" rIns="0" bIns="0" rtlCol="0" anchor="ctr"/>
          <a:lstStyle/>
          <a:p>
            <a:pPr indent="0" marL="0">
              <a:buNone/>
            </a:pPr>
            <a:r>
              <a:rPr lang="en-US" sz="1100" b="1" dirty="0">
                <a:solidFill>
                  <a:srgbClr val="F59E0B"/>
                </a:solidFill>
                <a:latin typeface="Consolas" pitchFamily="34" charset="0"/>
                <a:ea typeface="Consolas" pitchFamily="34" charset="-122"/>
                <a:cs typeface="Consolas" pitchFamily="34" charset="-120"/>
              </a:rPr>
              <a:t>COW Branching (4)</a:t>
            </a:r>
            <a:endParaRPr lang="en-US" sz="1100" dirty="0"/>
          </a:p>
        </p:txBody>
      </p:sp>
      <p:sp>
        <p:nvSpPr>
          <p:cNvPr id="16" name="Text 14"/>
          <p:cNvSpPr/>
          <p:nvPr/>
        </p:nvSpPr>
        <p:spPr>
          <a:xfrm>
            <a:off x="6144768" y="1600200"/>
            <a:ext cx="228600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Git-like versioning (200x savings)</a:t>
            </a:r>
            <a:endParaRPr lang="en-US" sz="1000" dirty="0"/>
          </a:p>
        </p:txBody>
      </p:sp>
      <p:sp>
        <p:nvSpPr>
          <p:cNvPr id="17" name="Shape 15"/>
          <p:cNvSpPr/>
          <p:nvPr/>
        </p:nvSpPr>
        <p:spPr>
          <a:xfrm>
            <a:off x="731520" y="2468880"/>
            <a:ext cx="2468880" cy="100584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18" name="Shape 16"/>
          <p:cNvSpPr/>
          <p:nvPr/>
        </p:nvSpPr>
        <p:spPr>
          <a:xfrm>
            <a:off x="731520" y="2468880"/>
            <a:ext cx="2468880" cy="36576"/>
          </a:xfrm>
          <a:prstGeom prst="rect">
            <a:avLst/>
          </a:prstGeom>
          <a:solidFill>
            <a:srgbClr val="EF4444"/>
          </a:solidFill>
          <a:ln/>
        </p:spPr>
      </p:sp>
      <p:sp>
        <p:nvSpPr>
          <p:cNvPr id="19" name="Text 17"/>
          <p:cNvSpPr/>
          <p:nvPr/>
        </p:nvSpPr>
        <p:spPr>
          <a:xfrm>
            <a:off x="841248" y="2560320"/>
            <a:ext cx="2286000" cy="228600"/>
          </a:xfrm>
          <a:prstGeom prst="rect">
            <a:avLst/>
          </a:prstGeom>
          <a:noFill/>
          <a:ln/>
        </p:spPr>
        <p:txBody>
          <a:bodyPr wrap="square" lIns="0" tIns="0" rIns="0" bIns="0" rtlCol="0" anchor="ctr"/>
          <a:lstStyle/>
          <a:p>
            <a:pPr indent="0" marL="0">
              <a:buNone/>
            </a:pPr>
            <a:r>
              <a:rPr lang="en-US" sz="1100" b="1" dirty="0">
                <a:solidFill>
                  <a:srgbClr val="EF4444"/>
                </a:solidFill>
                <a:latin typeface="Consolas" pitchFamily="34" charset="0"/>
                <a:ea typeface="Consolas" pitchFamily="34" charset="-122"/>
                <a:cs typeface="Consolas" pitchFamily="34" charset="-120"/>
              </a:rPr>
              <a:t>Security (2)</a:t>
            </a:r>
            <a:endParaRPr lang="en-US" sz="1100" dirty="0"/>
          </a:p>
        </p:txBody>
      </p:sp>
      <p:sp>
        <p:nvSpPr>
          <p:cNvPr id="20" name="Text 18"/>
          <p:cNvSpPr/>
          <p:nvPr/>
        </p:nvSpPr>
        <p:spPr>
          <a:xfrm>
            <a:off x="841248" y="2834640"/>
            <a:ext cx="228600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Witness chains (ML-DSA-65), TEE attestations</a:t>
            </a:r>
            <a:endParaRPr lang="en-US" sz="1000" dirty="0"/>
          </a:p>
        </p:txBody>
      </p:sp>
      <p:sp>
        <p:nvSpPr>
          <p:cNvPr id="21" name="Shape 19"/>
          <p:cNvSpPr/>
          <p:nvPr/>
        </p:nvSpPr>
        <p:spPr>
          <a:xfrm>
            <a:off x="3383280" y="2468880"/>
            <a:ext cx="2468880" cy="100584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22" name="Shape 20"/>
          <p:cNvSpPr/>
          <p:nvPr/>
        </p:nvSpPr>
        <p:spPr>
          <a:xfrm>
            <a:off x="3383280" y="2468880"/>
            <a:ext cx="2468880" cy="36576"/>
          </a:xfrm>
          <a:prstGeom prst="rect">
            <a:avLst/>
          </a:prstGeom>
          <a:solidFill>
            <a:srgbClr val="10B981"/>
          </a:solidFill>
          <a:ln/>
        </p:spPr>
      </p:sp>
      <p:sp>
        <p:nvSpPr>
          <p:cNvPr id="23" name="Text 21"/>
          <p:cNvSpPr/>
          <p:nvPr/>
        </p:nvSpPr>
        <p:spPr>
          <a:xfrm>
            <a:off x="3493008" y="2560320"/>
            <a:ext cx="2286000" cy="228600"/>
          </a:xfrm>
          <a:prstGeom prst="rect">
            <a:avLst/>
          </a:prstGeom>
          <a:noFill/>
          <a:ln/>
        </p:spPr>
        <p:txBody>
          <a:bodyPr wrap="square" lIns="0" tIns="0" rIns="0" bIns="0" rtlCol="0" anchor="ctr"/>
          <a:lstStyle/>
          <a:p>
            <a:pPr indent="0" marL="0">
              <a:buNone/>
            </a:pPr>
            <a:r>
              <a:rPr lang="en-US" sz="1100" b="1" dirty="0">
                <a:solidFill>
                  <a:srgbClr val="10B981"/>
                </a:solidFill>
                <a:latin typeface="Consolas" pitchFamily="34" charset="0"/>
                <a:ea typeface="Consolas" pitchFamily="34" charset="-122"/>
                <a:cs typeface="Consolas" pitchFamily="34" charset="-120"/>
              </a:rPr>
              <a:t>Compute (3+)</a:t>
            </a:r>
            <a:endParaRPr lang="en-US" sz="1100" dirty="0"/>
          </a:p>
        </p:txBody>
      </p:sp>
      <p:sp>
        <p:nvSpPr>
          <p:cNvPr id="24" name="Text 22"/>
          <p:cNvSpPr/>
          <p:nvPr/>
        </p:nvSpPr>
        <p:spPr>
          <a:xfrm>
            <a:off x="3493008" y="2834640"/>
            <a:ext cx="228600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WASM (5.5KB) | eBPF | Unikernel (125ms)</a:t>
            </a:r>
            <a:endParaRPr lang="en-US" sz="1000" dirty="0"/>
          </a:p>
        </p:txBody>
      </p:sp>
      <p:sp>
        <p:nvSpPr>
          <p:cNvPr id="25" name="Shape 23"/>
          <p:cNvSpPr/>
          <p:nvPr/>
        </p:nvSpPr>
        <p:spPr>
          <a:xfrm>
            <a:off x="6035040" y="2468880"/>
            <a:ext cx="2468880" cy="100584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26" name="Shape 24"/>
          <p:cNvSpPr/>
          <p:nvPr/>
        </p:nvSpPr>
        <p:spPr>
          <a:xfrm>
            <a:off x="6035040" y="2468880"/>
            <a:ext cx="2468880" cy="36576"/>
          </a:xfrm>
          <a:prstGeom prst="rect">
            <a:avLst/>
          </a:prstGeom>
          <a:solidFill>
            <a:srgbClr val="8B5CF6"/>
          </a:solidFill>
          <a:ln/>
        </p:spPr>
      </p:sp>
      <p:sp>
        <p:nvSpPr>
          <p:cNvPr id="27" name="Text 25"/>
          <p:cNvSpPr/>
          <p:nvPr/>
        </p:nvSpPr>
        <p:spPr>
          <a:xfrm>
            <a:off x="6144768" y="2560320"/>
            <a:ext cx="2286000" cy="228600"/>
          </a:xfrm>
          <a:prstGeom prst="rect">
            <a:avLst/>
          </a:prstGeom>
          <a:noFill/>
          <a:ln/>
        </p:spPr>
        <p:txBody>
          <a:bodyPr wrap="square" lIns="0" tIns="0" rIns="0" bIns="0" rtlCol="0" anchor="ctr"/>
          <a:lstStyle/>
          <a:p>
            <a:pPr indent="0" marL="0">
              <a:buNone/>
            </a:pPr>
            <a:r>
              <a:rPr lang="en-US" sz="1100" b="1" dirty="0">
                <a:solidFill>
                  <a:srgbClr val="8B5CF6"/>
                </a:solidFill>
                <a:latin typeface="Consolas" pitchFamily="34" charset="0"/>
                <a:ea typeface="Consolas" pitchFamily="34" charset="-122"/>
                <a:cs typeface="Consolas" pitchFamily="34" charset="-120"/>
              </a:rPr>
              <a:t>AGI Container (9)</a:t>
            </a:r>
            <a:endParaRPr lang="en-US" sz="1100" dirty="0"/>
          </a:p>
        </p:txBody>
      </p:sp>
      <p:sp>
        <p:nvSpPr>
          <p:cNvPr id="28" name="Text 26"/>
          <p:cNvSpPr/>
          <p:nvPr/>
        </p:nvSpPr>
        <p:spPr>
          <a:xfrm>
            <a:off x="6144768" y="2834640"/>
            <a:ext cx="228600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Identity + tools + authority + evaluation</a:t>
            </a:r>
            <a:endParaRPr lang="en-US" sz="1000" dirty="0"/>
          </a:p>
        </p:txBody>
      </p:sp>
      <p:sp>
        <p:nvSpPr>
          <p:cNvPr id="29" name="Shape 27"/>
          <p:cNvSpPr/>
          <p:nvPr/>
        </p:nvSpPr>
        <p:spPr>
          <a:xfrm>
            <a:off x="731520" y="3886200"/>
            <a:ext cx="7680960" cy="640080"/>
          </a:xfrm>
          <a:prstGeom prst="rect">
            <a:avLst/>
          </a:prstGeom>
          <a:solidFill>
            <a:srgbClr val="1A2744"/>
          </a:solidFill>
          <a:ln/>
        </p:spPr>
      </p:sp>
      <p:sp>
        <p:nvSpPr>
          <p:cNvPr id="30" name="Text 28"/>
          <p:cNvSpPr/>
          <p:nvPr/>
        </p:nvSpPr>
        <p:spPr>
          <a:xfrm>
            <a:off x="914400" y="3931920"/>
            <a:ext cx="2286000" cy="2286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Docker image: 50-500 MB</a:t>
            </a:r>
            <a:endParaRPr lang="en-US" sz="1100" dirty="0"/>
          </a:p>
        </p:txBody>
      </p:sp>
      <p:sp>
        <p:nvSpPr>
          <p:cNvPr id="31" name="Text 29"/>
          <p:cNvSpPr/>
          <p:nvPr/>
        </p:nvSpPr>
        <p:spPr>
          <a:xfrm>
            <a:off x="3474720" y="3931920"/>
            <a:ext cx="2286000" cy="2286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Minimal container: 5-50 MB</a:t>
            </a:r>
            <a:endParaRPr lang="en-US" sz="1100" dirty="0"/>
          </a:p>
        </p:txBody>
      </p:sp>
      <p:sp>
        <p:nvSpPr>
          <p:cNvPr id="32" name="Text 30"/>
          <p:cNvSpPr/>
          <p:nvPr/>
        </p:nvSpPr>
        <p:spPr>
          <a:xfrm>
            <a:off x="6035040" y="3931920"/>
            <a:ext cx="2286000" cy="22860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RVF WASM runtime: 5.5 KB</a:t>
            </a:r>
            <a:endParaRPr lang="en-US" sz="1100" dirty="0"/>
          </a:p>
        </p:txBody>
      </p:sp>
      <p:sp>
        <p:nvSpPr>
          <p:cNvPr id="33" name="Text 31"/>
          <p:cNvSpPr/>
          <p:nvPr/>
        </p:nvSpPr>
        <p:spPr>
          <a:xfrm>
            <a:off x="914400" y="4206240"/>
            <a:ext cx="7315200" cy="228600"/>
          </a:xfrm>
          <a:prstGeom prst="rect">
            <a:avLst/>
          </a:prstGeom>
          <a:noFill/>
          <a:ln/>
        </p:spPr>
        <p:txBody>
          <a:bodyPr wrap="square" lIns="0" tIns="0" rIns="0" bIns="0" rtlCol="0" anchor="ctr"/>
          <a:lstStyle/>
          <a:p>
            <a:pPr indent="0" marL="0">
              <a:buNone/>
            </a:pPr>
            <a:r>
              <a:rPr lang="en-US" sz="1000" i="1" dirty="0">
                <a:solidFill>
                  <a:srgbClr val="06B6D4"/>
                </a:solidFill>
                <a:latin typeface="Calibri" pitchFamily="34" charset="0"/>
                <a:ea typeface="Calibri" pitchFamily="34" charset="-122"/>
                <a:cs typeface="Calibri" pitchFamily="34" charset="-120"/>
              </a:rPr>
              <a:t>Docker images are megabytes. An RVF WASM runtime is 5.5 kilobytes.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sp>
        <p:nvSpPr>
          <p:cNvPr id="3" name="Text 1"/>
          <p:cNvSpPr/>
          <p:nvPr/>
        </p:nvSpPr>
        <p:spPr>
          <a:xfrm>
            <a:off x="731520" y="320040"/>
            <a:ext cx="7680960" cy="457200"/>
          </a:xfrm>
          <a:prstGeom prst="rect">
            <a:avLst/>
          </a:prstGeom>
          <a:noFill/>
          <a:ln/>
        </p:spPr>
        <p:txBody>
          <a:bodyPr wrap="square" lIns="0" tIns="0" rIns="0" bIns="0" rtlCol="0" anchor="ctr"/>
          <a:lstStyle/>
          <a:p>
            <a:pPr indent="0" marL="0">
              <a:buNone/>
            </a:pPr>
            <a:r>
              <a:rPr lang="en-US" sz="2800" b="1" dirty="0">
                <a:solidFill>
                  <a:srgbClr val="F8FAFC"/>
                </a:solidFill>
                <a:latin typeface="Cambria" pitchFamily="34" charset="0"/>
                <a:ea typeface="Cambria" pitchFamily="34" charset="-122"/>
                <a:cs typeface="Cambria" pitchFamily="34" charset="-120"/>
              </a:rPr>
              <a:t>AIMDS: Security via Chaos Theory</a:t>
            </a:r>
            <a:endParaRPr lang="en-US" sz="2800" dirty="0"/>
          </a:p>
        </p:txBody>
      </p:sp>
      <p:sp>
        <p:nvSpPr>
          <p:cNvPr id="4" name="Text 2"/>
          <p:cNvSpPr/>
          <p:nvPr/>
        </p:nvSpPr>
        <p:spPr>
          <a:xfrm>
            <a:off x="731520" y="777240"/>
            <a:ext cx="7315200" cy="27432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3-layer pipeline. Lyapunov chaos detection. Mathematical certainty, not heuristics.</a:t>
            </a:r>
            <a:endParaRPr lang="en-US" sz="1300" dirty="0"/>
          </a:p>
        </p:txBody>
      </p:sp>
      <p:sp>
        <p:nvSpPr>
          <p:cNvPr id="5" name="Shape 3"/>
          <p:cNvSpPr/>
          <p:nvPr/>
        </p:nvSpPr>
        <p:spPr>
          <a:xfrm>
            <a:off x="731520" y="1234440"/>
            <a:ext cx="2468880" cy="201168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6" name="Shape 4"/>
          <p:cNvSpPr/>
          <p:nvPr/>
        </p:nvSpPr>
        <p:spPr>
          <a:xfrm>
            <a:off x="731520" y="1234440"/>
            <a:ext cx="2468880" cy="36576"/>
          </a:xfrm>
          <a:prstGeom prst="rect">
            <a:avLst/>
          </a:prstGeom>
          <a:solidFill>
            <a:srgbClr val="F59E0B"/>
          </a:solidFill>
          <a:ln/>
        </p:spPr>
      </p:sp>
      <p:sp>
        <p:nvSpPr>
          <p:cNvPr id="7" name="Text 5"/>
          <p:cNvSpPr/>
          <p:nvPr/>
        </p:nvSpPr>
        <p:spPr>
          <a:xfrm>
            <a:off x="841248" y="1325880"/>
            <a:ext cx="2286000" cy="228600"/>
          </a:xfrm>
          <a:prstGeom prst="rect">
            <a:avLst/>
          </a:prstGeom>
          <a:noFill/>
          <a:ln/>
        </p:spPr>
        <p:txBody>
          <a:bodyPr wrap="square" lIns="0" tIns="0" rIns="0" bIns="0" rtlCol="0" anchor="ctr"/>
          <a:lstStyle/>
          <a:p>
            <a:pPr indent="0" marL="0">
              <a:buNone/>
            </a:pPr>
            <a:r>
              <a:rPr lang="en-US" sz="1000" b="1" dirty="0">
                <a:solidFill>
                  <a:srgbClr val="F59E0B"/>
                </a:solidFill>
                <a:latin typeface="Consolas" pitchFamily="34" charset="0"/>
                <a:ea typeface="Consolas" pitchFamily="34" charset="-122"/>
                <a:cs typeface="Consolas" pitchFamily="34" charset="-120"/>
              </a:rPr>
              <a:t>STAGE 1: DETECTION</a:t>
            </a:r>
            <a:endParaRPr lang="en-US" sz="1000" dirty="0"/>
          </a:p>
        </p:txBody>
      </p:sp>
      <p:sp>
        <p:nvSpPr>
          <p:cNvPr id="8" name="Text 6"/>
          <p:cNvSpPr/>
          <p:nvPr/>
        </p:nvSpPr>
        <p:spPr>
          <a:xfrm>
            <a:off x="841248" y="1600200"/>
            <a:ext cx="2286000" cy="320040"/>
          </a:xfrm>
          <a:prstGeom prst="rect">
            <a:avLst/>
          </a:prstGeom>
          <a:noFill/>
          <a:ln/>
        </p:spPr>
        <p:txBody>
          <a:bodyPr wrap="square" lIns="0" tIns="0" rIns="0" bIns="0" rtlCol="0" anchor="ctr"/>
          <a:lstStyle/>
          <a:p>
            <a:pPr indent="0" marL="0">
              <a:buNone/>
            </a:pPr>
            <a:r>
              <a:rPr lang="en-US" sz="2200" b="1" dirty="0">
                <a:solidFill>
                  <a:srgbClr val="F59E0B"/>
                </a:solidFill>
                <a:latin typeface="Consolas" pitchFamily="34" charset="0"/>
                <a:ea typeface="Consolas" pitchFamily="34" charset="-122"/>
                <a:cs typeface="Consolas" pitchFamily="34" charset="-120"/>
              </a:rPr>
              <a:t>0.06ms</a:t>
            </a:r>
            <a:endParaRPr lang="en-US" sz="2200" dirty="0"/>
          </a:p>
        </p:txBody>
      </p:sp>
      <p:sp>
        <p:nvSpPr>
          <p:cNvPr id="9" name="Text 7"/>
          <p:cNvSpPr/>
          <p:nvPr/>
        </p:nvSpPr>
        <p:spPr>
          <a:xfrm>
            <a:off x="841248" y="2011680"/>
            <a:ext cx="2286000" cy="1005840"/>
          </a:xfrm>
          <a:prstGeom prst="rect">
            <a:avLst/>
          </a:prstGeom>
          <a:noFill/>
          <a:ln/>
        </p:spPr>
        <p:txBody>
          <a:bodyPr wrap="square" rtlCol="0" anchor="ctr"/>
          <a:lstStyle/>
          <a:p>
            <a:pPr marL="342900" indent="-342900">
              <a:spcAft>
                <a:spcPts val="400"/>
              </a:spcAft>
              <a:buSzPct val="100000"/>
              <a:buChar char="•"/>
            </a:pPr>
            <a:r>
              <a:rPr lang="en-US" sz="1000" dirty="0">
                <a:solidFill>
                  <a:srgbClr val="94A3B8"/>
                </a:solidFill>
                <a:latin typeface="Calibri" pitchFamily="34" charset="0"/>
                <a:ea typeface="Calibri" pitchFamily="34" charset="-122"/>
                <a:cs typeface="Calibri" pitchFamily="34" charset="-120"/>
              </a:rPr>
              <a:t>50+ detection patterns</a:t>
            </a:r>
            <a:endParaRPr lang="en-US" sz="1000" dirty="0"/>
          </a:p>
          <a:p>
            <a:pPr marL="342900" indent="-342900">
              <a:spcAft>
                <a:spcPts val="400"/>
              </a:spcAft>
              <a:buSzPct val="100000"/>
              <a:buChar char="•"/>
            </a:pPr>
            <a:r>
              <a:rPr lang="en-US" sz="1000" dirty="0">
                <a:solidFill>
                  <a:srgbClr val="94A3B8"/>
                </a:solidFill>
                <a:latin typeface="Calibri" pitchFamily="34" charset="0"/>
                <a:ea typeface="Calibri" pitchFamily="34" charset="-122"/>
                <a:cs typeface="Calibri" pitchFamily="34" charset="-120"/>
              </a:rPr>
              <a:t>Aho-Corasick matching</a:t>
            </a:r>
            <a:endParaRPr lang="en-US" sz="1000" dirty="0"/>
          </a:p>
          <a:p>
            <a:pPr marL="342900" indent="-342900">
              <a:spcAft>
                <a:spcPts val="400"/>
              </a:spcAft>
              <a:buSzPct val="100000"/>
              <a:buChar char="•"/>
            </a:pPr>
            <a:r>
              <a:rPr lang="en-US" sz="1000" dirty="0">
                <a:solidFill>
                  <a:srgbClr val="94A3B8"/>
                </a:solidFill>
                <a:latin typeface="Calibri" pitchFamily="34" charset="0"/>
                <a:ea typeface="Calibri" pitchFamily="34" charset="-122"/>
                <a:cs typeface="Calibri" pitchFamily="34" charset="-120"/>
              </a:rPr>
              <a:t>Real-time stream processing</a:t>
            </a:r>
            <a:endParaRPr lang="en-US" sz="1000" dirty="0"/>
          </a:p>
        </p:txBody>
      </p:sp>
      <p:sp>
        <p:nvSpPr>
          <p:cNvPr id="10" name="Shape 8"/>
          <p:cNvSpPr/>
          <p:nvPr/>
        </p:nvSpPr>
        <p:spPr>
          <a:xfrm>
            <a:off x="3383280" y="1234440"/>
            <a:ext cx="2468880" cy="201168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11" name="Shape 9"/>
          <p:cNvSpPr/>
          <p:nvPr/>
        </p:nvSpPr>
        <p:spPr>
          <a:xfrm>
            <a:off x="3383280" y="1234440"/>
            <a:ext cx="2468880" cy="36576"/>
          </a:xfrm>
          <a:prstGeom prst="rect">
            <a:avLst/>
          </a:prstGeom>
          <a:solidFill>
            <a:srgbClr val="EF4444"/>
          </a:solidFill>
          <a:ln/>
        </p:spPr>
      </p:sp>
      <p:sp>
        <p:nvSpPr>
          <p:cNvPr id="12" name="Text 10"/>
          <p:cNvSpPr/>
          <p:nvPr/>
        </p:nvSpPr>
        <p:spPr>
          <a:xfrm>
            <a:off x="3493008" y="1325880"/>
            <a:ext cx="2286000" cy="228600"/>
          </a:xfrm>
          <a:prstGeom prst="rect">
            <a:avLst/>
          </a:prstGeom>
          <a:noFill/>
          <a:ln/>
        </p:spPr>
        <p:txBody>
          <a:bodyPr wrap="square" lIns="0" tIns="0" rIns="0" bIns="0" rtlCol="0" anchor="ctr"/>
          <a:lstStyle/>
          <a:p>
            <a:pPr indent="0" marL="0">
              <a:buNone/>
            </a:pPr>
            <a:r>
              <a:rPr lang="en-US" sz="1000" b="1" dirty="0">
                <a:solidFill>
                  <a:srgbClr val="EF4444"/>
                </a:solidFill>
                <a:latin typeface="Consolas" pitchFamily="34" charset="0"/>
                <a:ea typeface="Consolas" pitchFamily="34" charset="-122"/>
                <a:cs typeface="Consolas" pitchFamily="34" charset="-120"/>
              </a:rPr>
              <a:t>STAGE 2: ANALYSIS</a:t>
            </a:r>
            <a:endParaRPr lang="en-US" sz="1000" dirty="0"/>
          </a:p>
        </p:txBody>
      </p:sp>
      <p:sp>
        <p:nvSpPr>
          <p:cNvPr id="13" name="Text 11"/>
          <p:cNvSpPr/>
          <p:nvPr/>
        </p:nvSpPr>
        <p:spPr>
          <a:xfrm>
            <a:off x="3493008" y="1600200"/>
            <a:ext cx="2286000" cy="320040"/>
          </a:xfrm>
          <a:prstGeom prst="rect">
            <a:avLst/>
          </a:prstGeom>
          <a:noFill/>
          <a:ln/>
        </p:spPr>
        <p:txBody>
          <a:bodyPr wrap="square" lIns="0" tIns="0" rIns="0" bIns="0" rtlCol="0" anchor="ctr"/>
          <a:lstStyle/>
          <a:p>
            <a:pPr indent="0" marL="0">
              <a:buNone/>
            </a:pPr>
            <a:r>
              <a:rPr lang="en-US" sz="2200" b="1" dirty="0">
                <a:solidFill>
                  <a:srgbClr val="EF4444"/>
                </a:solidFill>
                <a:latin typeface="Consolas" pitchFamily="34" charset="0"/>
                <a:ea typeface="Consolas" pitchFamily="34" charset="-122"/>
                <a:cs typeface="Consolas" pitchFamily="34" charset="-120"/>
              </a:rPr>
              <a:t>80ms</a:t>
            </a:r>
            <a:endParaRPr lang="en-US" sz="2200" dirty="0"/>
          </a:p>
        </p:txBody>
      </p:sp>
      <p:sp>
        <p:nvSpPr>
          <p:cNvPr id="14" name="Text 12"/>
          <p:cNvSpPr/>
          <p:nvPr/>
        </p:nvSpPr>
        <p:spPr>
          <a:xfrm>
            <a:off x="3493008" y="2011680"/>
            <a:ext cx="2286000" cy="1005840"/>
          </a:xfrm>
          <a:prstGeom prst="rect">
            <a:avLst/>
          </a:prstGeom>
          <a:noFill/>
          <a:ln/>
        </p:spPr>
        <p:txBody>
          <a:bodyPr wrap="square" rtlCol="0" anchor="ctr"/>
          <a:lstStyle/>
          <a:p>
            <a:pPr marL="342900" indent="-342900">
              <a:spcAft>
                <a:spcPts val="400"/>
              </a:spcAft>
              <a:buSzPct val="100000"/>
              <a:buChar char="•"/>
            </a:pPr>
            <a:r>
              <a:rPr lang="en-US" sz="1000" dirty="0">
                <a:solidFill>
                  <a:srgbClr val="94A3B8"/>
                </a:solidFill>
                <a:latin typeface="Calibri" pitchFamily="34" charset="0"/>
                <a:ea typeface="Calibri" pitchFamily="34" charset="-122"/>
                <a:cs typeface="Calibri" pitchFamily="34" charset="-120"/>
              </a:rPr>
              <a:t>Lyapunov chaos detection</a:t>
            </a:r>
            <a:endParaRPr lang="en-US" sz="1000" dirty="0"/>
          </a:p>
          <a:p>
            <a:pPr marL="342900" indent="-342900">
              <a:spcAft>
                <a:spcPts val="400"/>
              </a:spcAft>
              <a:buSzPct val="100000"/>
              <a:buChar char="•"/>
            </a:pPr>
            <a:r>
              <a:rPr lang="en-US" sz="1000" dirty="0">
                <a:solidFill>
                  <a:srgbClr val="94A3B8"/>
                </a:solidFill>
                <a:latin typeface="Calibri" pitchFamily="34" charset="0"/>
                <a:ea typeface="Calibri" pitchFamily="34" charset="-122"/>
                <a:cs typeface="Calibri" pitchFamily="34" charset="-120"/>
              </a:rPr>
              <a:t>LTL policy verification</a:t>
            </a:r>
            <a:endParaRPr lang="en-US" sz="1000" dirty="0"/>
          </a:p>
          <a:p>
            <a:pPr marL="342900" indent="-342900">
              <a:spcAft>
                <a:spcPts val="400"/>
              </a:spcAft>
              <a:buSzPct val="100000"/>
              <a:buChar char="•"/>
            </a:pPr>
            <a:r>
              <a:rPr lang="en-US" sz="1000" dirty="0">
                <a:solidFill>
                  <a:srgbClr val="94A3B8"/>
                </a:solidFill>
                <a:latin typeface="Calibri" pitchFamily="34" charset="0"/>
                <a:ea typeface="Calibri" pitchFamily="34" charset="-122"/>
                <a:cs typeface="Calibri" pitchFamily="34" charset="-120"/>
              </a:rPr>
              <a:t>Behavioral divergence</a:t>
            </a:r>
            <a:endParaRPr lang="en-US" sz="1000" dirty="0"/>
          </a:p>
        </p:txBody>
      </p:sp>
      <p:sp>
        <p:nvSpPr>
          <p:cNvPr id="15" name="Shape 13"/>
          <p:cNvSpPr/>
          <p:nvPr/>
        </p:nvSpPr>
        <p:spPr>
          <a:xfrm>
            <a:off x="6035040" y="1234440"/>
            <a:ext cx="2468880" cy="201168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16" name="Shape 14"/>
          <p:cNvSpPr/>
          <p:nvPr/>
        </p:nvSpPr>
        <p:spPr>
          <a:xfrm>
            <a:off x="6035040" y="1234440"/>
            <a:ext cx="2468880" cy="36576"/>
          </a:xfrm>
          <a:prstGeom prst="rect">
            <a:avLst/>
          </a:prstGeom>
          <a:solidFill>
            <a:srgbClr val="10B981"/>
          </a:solidFill>
          <a:ln/>
        </p:spPr>
      </p:sp>
      <p:sp>
        <p:nvSpPr>
          <p:cNvPr id="17" name="Text 15"/>
          <p:cNvSpPr/>
          <p:nvPr/>
        </p:nvSpPr>
        <p:spPr>
          <a:xfrm>
            <a:off x="6144768" y="1325880"/>
            <a:ext cx="2286000" cy="228600"/>
          </a:xfrm>
          <a:prstGeom prst="rect">
            <a:avLst/>
          </a:prstGeom>
          <a:noFill/>
          <a:ln/>
        </p:spPr>
        <p:txBody>
          <a:bodyPr wrap="square" lIns="0" tIns="0" rIns="0" bIns="0" rtlCol="0" anchor="ctr"/>
          <a:lstStyle/>
          <a:p>
            <a:pPr indent="0" marL="0">
              <a:buNone/>
            </a:pPr>
            <a:r>
              <a:rPr lang="en-US" sz="1000" b="1" dirty="0">
                <a:solidFill>
                  <a:srgbClr val="10B981"/>
                </a:solidFill>
                <a:latin typeface="Consolas" pitchFamily="34" charset="0"/>
                <a:ea typeface="Consolas" pitchFamily="34" charset="-122"/>
                <a:cs typeface="Consolas" pitchFamily="34" charset="-120"/>
              </a:rPr>
              <a:t>STAGE 3: RESPONSE</a:t>
            </a:r>
            <a:endParaRPr lang="en-US" sz="1000" dirty="0"/>
          </a:p>
        </p:txBody>
      </p:sp>
      <p:sp>
        <p:nvSpPr>
          <p:cNvPr id="18" name="Text 16"/>
          <p:cNvSpPr/>
          <p:nvPr/>
        </p:nvSpPr>
        <p:spPr>
          <a:xfrm>
            <a:off x="6144768" y="1600200"/>
            <a:ext cx="2286000" cy="320040"/>
          </a:xfrm>
          <a:prstGeom prst="rect">
            <a:avLst/>
          </a:prstGeom>
          <a:noFill/>
          <a:ln/>
        </p:spPr>
        <p:txBody>
          <a:bodyPr wrap="square" lIns="0" tIns="0" rIns="0" bIns="0" rtlCol="0" anchor="ctr"/>
          <a:lstStyle/>
          <a:p>
            <a:pPr indent="0" marL="0">
              <a:buNone/>
            </a:pPr>
            <a:r>
              <a:rPr lang="en-US" sz="2200" b="1" dirty="0">
                <a:solidFill>
                  <a:srgbClr val="10B981"/>
                </a:solidFill>
                <a:latin typeface="Consolas" pitchFamily="34" charset="0"/>
                <a:ea typeface="Consolas" pitchFamily="34" charset="-122"/>
                <a:cs typeface="Consolas" pitchFamily="34" charset="-120"/>
              </a:rPr>
              <a:t>&lt;50ms</a:t>
            </a:r>
            <a:endParaRPr lang="en-US" sz="2200" dirty="0"/>
          </a:p>
        </p:txBody>
      </p:sp>
      <p:sp>
        <p:nvSpPr>
          <p:cNvPr id="19" name="Text 17"/>
          <p:cNvSpPr/>
          <p:nvPr/>
        </p:nvSpPr>
        <p:spPr>
          <a:xfrm>
            <a:off x="6144768" y="2011680"/>
            <a:ext cx="2286000" cy="1005840"/>
          </a:xfrm>
          <a:prstGeom prst="rect">
            <a:avLst/>
          </a:prstGeom>
          <a:noFill/>
          <a:ln/>
        </p:spPr>
        <p:txBody>
          <a:bodyPr wrap="square" rtlCol="0" anchor="ctr"/>
          <a:lstStyle/>
          <a:p>
            <a:pPr marL="342900" indent="-342900">
              <a:spcAft>
                <a:spcPts val="400"/>
              </a:spcAft>
              <a:buSzPct val="100000"/>
              <a:buChar char="•"/>
            </a:pPr>
            <a:r>
              <a:rPr lang="en-US" sz="1000" dirty="0">
                <a:solidFill>
                  <a:srgbClr val="94A3B8"/>
                </a:solidFill>
                <a:latin typeface="Calibri" pitchFamily="34" charset="0"/>
                <a:ea typeface="Calibri" pitchFamily="34" charset="-122"/>
                <a:cs typeface="Calibri" pitchFamily="34" charset="-120"/>
              </a:rPr>
              <a:t>7 adaptive strategies</a:t>
            </a:r>
            <a:endParaRPr lang="en-US" sz="1000" dirty="0"/>
          </a:p>
          <a:p>
            <a:pPr marL="342900" indent="-342900">
              <a:spcAft>
                <a:spcPts val="400"/>
              </a:spcAft>
              <a:buSzPct val="100000"/>
              <a:buChar char="•"/>
            </a:pPr>
            <a:r>
              <a:rPr lang="en-US" sz="1000" dirty="0">
                <a:solidFill>
                  <a:srgbClr val="94A3B8"/>
                </a:solidFill>
                <a:latin typeface="Calibri" pitchFamily="34" charset="0"/>
                <a:ea typeface="Calibri" pitchFamily="34" charset="-122"/>
                <a:cs typeface="Calibri" pitchFamily="34" charset="-120"/>
              </a:rPr>
              <a:t>25-level strange-loop</a:t>
            </a:r>
            <a:endParaRPr lang="en-US" sz="1000" dirty="0"/>
          </a:p>
          <a:p>
            <a:pPr marL="342900" indent="-342900">
              <a:spcAft>
                <a:spcPts val="400"/>
              </a:spcAft>
              <a:buSzPct val="100000"/>
              <a:buChar char="•"/>
            </a:pPr>
            <a:r>
              <a:rPr lang="en-US" sz="1000" dirty="0">
                <a:solidFill>
                  <a:srgbClr val="94A3B8"/>
                </a:solidFill>
                <a:latin typeface="Calibri" pitchFamily="34" charset="0"/>
                <a:ea typeface="Calibri" pitchFamily="34" charset="-122"/>
                <a:cs typeface="Calibri" pitchFamily="34" charset="-120"/>
              </a:rPr>
              <a:t>Real-time mitigation</a:t>
            </a:r>
            <a:endParaRPr lang="en-US" sz="1000" dirty="0"/>
          </a:p>
        </p:txBody>
      </p:sp>
      <p:sp>
        <p:nvSpPr>
          <p:cNvPr id="20" name="Shape 18"/>
          <p:cNvSpPr/>
          <p:nvPr/>
        </p:nvSpPr>
        <p:spPr>
          <a:xfrm>
            <a:off x="731520" y="3474720"/>
            <a:ext cx="7680960" cy="822960"/>
          </a:xfrm>
          <a:prstGeom prst="rect">
            <a:avLst/>
          </a:prstGeom>
          <a:solidFill>
            <a:srgbClr val="1A1520"/>
          </a:solidFill>
          <a:ln/>
        </p:spPr>
      </p:sp>
      <p:sp>
        <p:nvSpPr>
          <p:cNvPr id="21" name="Text 19"/>
          <p:cNvSpPr/>
          <p:nvPr/>
        </p:nvSpPr>
        <p:spPr>
          <a:xfrm>
            <a:off x="914400" y="3520440"/>
            <a:ext cx="2743200" cy="228600"/>
          </a:xfrm>
          <a:prstGeom prst="rect">
            <a:avLst/>
          </a:prstGeom>
          <a:noFill/>
          <a:ln/>
        </p:spPr>
        <p:txBody>
          <a:bodyPr wrap="square" lIns="0" tIns="0" rIns="0" bIns="0" rtlCol="0" anchor="ctr"/>
          <a:lstStyle/>
          <a:p>
            <a:pPr indent="0" marL="0">
              <a:buNone/>
            </a:pPr>
            <a:r>
              <a:rPr lang="en-US" sz="1200" b="1" dirty="0">
                <a:solidFill>
                  <a:srgbClr val="EF4444"/>
                </a:solidFill>
                <a:latin typeface="Consolas" pitchFamily="34" charset="0"/>
                <a:ea typeface="Consolas" pitchFamily="34" charset="-122"/>
                <a:cs typeface="Consolas" pitchFamily="34" charset="-120"/>
              </a:rPr>
              <a:t>Lyapunov Chaos Detection</a:t>
            </a:r>
            <a:endParaRPr lang="en-US" sz="1200" dirty="0"/>
          </a:p>
        </p:txBody>
      </p:sp>
      <p:sp>
        <p:nvSpPr>
          <p:cNvPr id="22" name="Text 20"/>
          <p:cNvSpPr/>
          <p:nvPr/>
        </p:nvSpPr>
        <p:spPr>
          <a:xfrm>
            <a:off x="914400" y="3794760"/>
            <a:ext cx="7315200" cy="41148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Positive Lyapunov exponent = system diverging from expected behavior = adversarial. Same mathematics that predicts weather chaos. Detects novel attacks without pattern libraries.</a:t>
            </a:r>
            <a:endParaRPr lang="en-US" sz="1050" dirty="0"/>
          </a:p>
        </p:txBody>
      </p:sp>
      <p:sp>
        <p:nvSpPr>
          <p:cNvPr id="23" name="Text 21"/>
          <p:cNvSpPr/>
          <p:nvPr/>
        </p:nvSpPr>
        <p:spPr>
          <a:xfrm>
            <a:off x="731520" y="4434840"/>
            <a:ext cx="1828800" cy="320040"/>
          </a:xfrm>
          <a:prstGeom prst="rect">
            <a:avLst/>
          </a:prstGeom>
          <a:noFill/>
          <a:ln/>
        </p:spPr>
        <p:txBody>
          <a:bodyPr wrap="square" lIns="0" tIns="0" rIns="0" bIns="0" rtlCol="0" anchor="ctr"/>
          <a:lstStyle/>
          <a:p>
            <a:pPr indent="0" marL="0">
              <a:buNone/>
            </a:pPr>
            <a:r>
              <a:rPr lang="en-US" sz="2000" b="1" dirty="0">
                <a:solidFill>
                  <a:srgbClr val="06B6D4"/>
                </a:solidFill>
                <a:latin typeface="Consolas" pitchFamily="34" charset="0"/>
                <a:ea typeface="Consolas" pitchFamily="34" charset="-122"/>
                <a:cs typeface="Consolas" pitchFamily="34" charset="-120"/>
              </a:rPr>
              <a:t>782KB</a:t>
            </a:r>
            <a:endParaRPr lang="en-US" sz="2000" dirty="0"/>
          </a:p>
        </p:txBody>
      </p:sp>
      <p:sp>
        <p:nvSpPr>
          <p:cNvPr id="24" name="Text 22"/>
          <p:cNvSpPr/>
          <p:nvPr/>
        </p:nvSpPr>
        <p:spPr>
          <a:xfrm>
            <a:off x="731520" y="470916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Binary Size</a:t>
            </a:r>
            <a:endParaRPr lang="en-US" sz="900" dirty="0"/>
          </a:p>
        </p:txBody>
      </p:sp>
      <p:sp>
        <p:nvSpPr>
          <p:cNvPr id="25" name="Text 23"/>
          <p:cNvSpPr/>
          <p:nvPr/>
        </p:nvSpPr>
        <p:spPr>
          <a:xfrm>
            <a:off x="2834640" y="4434840"/>
            <a:ext cx="1828800" cy="320040"/>
          </a:xfrm>
          <a:prstGeom prst="rect">
            <a:avLst/>
          </a:prstGeom>
          <a:noFill/>
          <a:ln/>
        </p:spPr>
        <p:txBody>
          <a:bodyPr wrap="square" lIns="0" tIns="0" rIns="0" bIns="0" rtlCol="0" anchor="ctr"/>
          <a:lstStyle/>
          <a:p>
            <a:pPr indent="0" marL="0">
              <a:buNone/>
            </a:pPr>
            <a:r>
              <a:rPr lang="en-US" sz="2000" b="1" dirty="0">
                <a:solidFill>
                  <a:srgbClr val="06B6D4"/>
                </a:solidFill>
                <a:latin typeface="Consolas" pitchFamily="34" charset="0"/>
                <a:ea typeface="Consolas" pitchFamily="34" charset="-122"/>
                <a:cs typeface="Consolas" pitchFamily="34" charset="-120"/>
              </a:rPr>
              <a:t>&gt;12K/s</a:t>
            </a:r>
            <a:endParaRPr lang="en-US" sz="2000" dirty="0"/>
          </a:p>
        </p:txBody>
      </p:sp>
      <p:sp>
        <p:nvSpPr>
          <p:cNvPr id="26" name="Text 24"/>
          <p:cNvSpPr/>
          <p:nvPr/>
        </p:nvSpPr>
        <p:spPr>
          <a:xfrm>
            <a:off x="2834640" y="470916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Requests/Sec</a:t>
            </a:r>
            <a:endParaRPr lang="en-US" sz="900" dirty="0"/>
          </a:p>
        </p:txBody>
      </p:sp>
      <p:sp>
        <p:nvSpPr>
          <p:cNvPr id="27" name="Text 25"/>
          <p:cNvSpPr/>
          <p:nvPr/>
        </p:nvSpPr>
        <p:spPr>
          <a:xfrm>
            <a:off x="4937760" y="4434840"/>
            <a:ext cx="1828800" cy="320040"/>
          </a:xfrm>
          <a:prstGeom prst="rect">
            <a:avLst/>
          </a:prstGeom>
          <a:noFill/>
          <a:ln/>
        </p:spPr>
        <p:txBody>
          <a:bodyPr wrap="square" lIns="0" tIns="0" rIns="0" bIns="0" rtlCol="0" anchor="ctr"/>
          <a:lstStyle/>
          <a:p>
            <a:pPr indent="0" marL="0">
              <a:buNone/>
            </a:pPr>
            <a:r>
              <a:rPr lang="en-US" sz="2000" b="1" dirty="0">
                <a:solidFill>
                  <a:srgbClr val="06B6D4"/>
                </a:solidFill>
                <a:latin typeface="Consolas" pitchFamily="34" charset="0"/>
                <a:ea typeface="Consolas" pitchFamily="34" charset="-122"/>
                <a:cs typeface="Consolas" pitchFamily="34" charset="-120"/>
              </a:rPr>
              <a:t>&lt;5%</a:t>
            </a:r>
            <a:endParaRPr lang="en-US" sz="2000" dirty="0"/>
          </a:p>
        </p:txBody>
      </p:sp>
      <p:sp>
        <p:nvSpPr>
          <p:cNvPr id="28" name="Text 26"/>
          <p:cNvSpPr/>
          <p:nvPr/>
        </p:nvSpPr>
        <p:spPr>
          <a:xfrm>
            <a:off x="4937760" y="470916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False Positive</a:t>
            </a:r>
            <a:endParaRPr lang="en-US" sz="900" dirty="0"/>
          </a:p>
        </p:txBody>
      </p:sp>
      <p:sp>
        <p:nvSpPr>
          <p:cNvPr id="29" name="Text 27"/>
          <p:cNvSpPr/>
          <p:nvPr/>
        </p:nvSpPr>
        <p:spPr>
          <a:xfrm>
            <a:off x="7040880" y="4434840"/>
            <a:ext cx="1828800" cy="320040"/>
          </a:xfrm>
          <a:prstGeom prst="rect">
            <a:avLst/>
          </a:prstGeom>
          <a:noFill/>
          <a:ln/>
        </p:spPr>
        <p:txBody>
          <a:bodyPr wrap="square" lIns="0" tIns="0" rIns="0" bIns="0" rtlCol="0" anchor="ctr"/>
          <a:lstStyle/>
          <a:p>
            <a:pPr indent="0" marL="0">
              <a:buNone/>
            </a:pPr>
            <a:r>
              <a:rPr lang="en-US" sz="2000" b="1" dirty="0">
                <a:solidFill>
                  <a:srgbClr val="06B6D4"/>
                </a:solidFill>
                <a:latin typeface="Consolas" pitchFamily="34" charset="0"/>
                <a:ea typeface="Consolas" pitchFamily="34" charset="-122"/>
                <a:cs typeface="Consolas" pitchFamily="34" charset="-120"/>
              </a:rPr>
              <a:t>0.06ms</a:t>
            </a:r>
            <a:endParaRPr lang="en-US" sz="2000" dirty="0"/>
          </a:p>
        </p:txBody>
      </p:sp>
      <p:sp>
        <p:nvSpPr>
          <p:cNvPr id="30" name="Text 28"/>
          <p:cNvSpPr/>
          <p:nvPr/>
        </p:nvSpPr>
        <p:spPr>
          <a:xfrm>
            <a:off x="7040880" y="470916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Detection Time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sp>
        <p:nvSpPr>
          <p:cNvPr id="3" name="Text 1"/>
          <p:cNvSpPr/>
          <p:nvPr/>
        </p:nvSpPr>
        <p:spPr>
          <a:xfrm>
            <a:off x="731520" y="320040"/>
            <a:ext cx="7680960" cy="457200"/>
          </a:xfrm>
          <a:prstGeom prst="rect">
            <a:avLst/>
          </a:prstGeom>
          <a:noFill/>
          <a:ln/>
        </p:spPr>
        <p:txBody>
          <a:bodyPr wrap="square" lIns="0" tIns="0" rIns="0" bIns="0" rtlCol="0" anchor="ctr"/>
          <a:lstStyle/>
          <a:p>
            <a:pPr indent="0" marL="0">
              <a:buNone/>
            </a:pPr>
            <a:r>
              <a:rPr lang="en-US" sz="2600" b="1" dirty="0">
                <a:solidFill>
                  <a:srgbClr val="F8FAFC"/>
                </a:solidFill>
                <a:latin typeface="Cambria" pitchFamily="34" charset="0"/>
                <a:ea typeface="Cambria" pitchFamily="34" charset="-122"/>
                <a:cs typeface="Cambria" pitchFamily="34" charset="-120"/>
              </a:rPr>
              <a:t>SONA + ReasoningBank: Real-Time Learning</a:t>
            </a:r>
            <a:endParaRPr lang="en-US" sz="2600" dirty="0"/>
          </a:p>
        </p:txBody>
      </p:sp>
      <p:sp>
        <p:nvSpPr>
          <p:cNvPr id="4" name="Text 2"/>
          <p:cNvSpPr/>
          <p:nvPr/>
        </p:nvSpPr>
        <p:spPr>
          <a:xfrm>
            <a:off x="731520" y="777240"/>
            <a:ext cx="7315200" cy="27432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Every decision makes the system smarter. Automatically. &lt;1ms. $0.</a:t>
            </a:r>
            <a:endParaRPr lang="en-US" sz="1400" dirty="0"/>
          </a:p>
        </p:txBody>
      </p:sp>
      <p:sp>
        <p:nvSpPr>
          <p:cNvPr id="5" name="Shape 3"/>
          <p:cNvSpPr/>
          <p:nvPr/>
        </p:nvSpPr>
        <p:spPr>
          <a:xfrm>
            <a:off x="731520" y="1234440"/>
            <a:ext cx="3749040" cy="1463040"/>
          </a:xfrm>
          <a:prstGeom prst="rect">
            <a:avLst/>
          </a:prstGeom>
          <a:solidFill>
            <a:srgbClr val="0D2A2E"/>
          </a:solidFill>
          <a:ln/>
          <a:effectLst>
            <a:outerShdw sx="100000" sy="100000" kx="0" ky="0" algn="bl" rotWithShape="0" blurRad="76200" dist="25400" dir="8100000">
              <a:srgbClr val="000000">
                <a:alpha val="25000"/>
              </a:srgbClr>
            </a:outerShdw>
          </a:effectLst>
        </p:spPr>
      </p:sp>
      <p:sp>
        <p:nvSpPr>
          <p:cNvPr id="6" name="Shape 4"/>
          <p:cNvSpPr/>
          <p:nvPr/>
        </p:nvSpPr>
        <p:spPr>
          <a:xfrm>
            <a:off x="731520" y="1234440"/>
            <a:ext cx="3749040" cy="36576"/>
          </a:xfrm>
          <a:prstGeom prst="rect">
            <a:avLst/>
          </a:prstGeom>
          <a:solidFill>
            <a:srgbClr val="06B6D4"/>
          </a:solidFill>
          <a:ln/>
        </p:spPr>
      </p:sp>
      <p:sp>
        <p:nvSpPr>
          <p:cNvPr id="7" name="Text 5"/>
          <p:cNvSpPr/>
          <p:nvPr/>
        </p:nvSpPr>
        <p:spPr>
          <a:xfrm>
            <a:off x="914400" y="1325880"/>
            <a:ext cx="3383280" cy="228600"/>
          </a:xfrm>
          <a:prstGeom prst="rect">
            <a:avLst/>
          </a:prstGeom>
          <a:noFill/>
          <a:ln/>
        </p:spPr>
        <p:txBody>
          <a:bodyPr wrap="square" lIns="0" tIns="0" rIns="0" bIns="0" rtlCol="0" anchor="ctr"/>
          <a:lstStyle/>
          <a:p>
            <a:pPr indent="0" marL="0">
              <a:buNone/>
            </a:pPr>
            <a:r>
              <a:rPr lang="en-US" sz="1200" b="1" dirty="0">
                <a:solidFill>
                  <a:srgbClr val="06B6D4"/>
                </a:solidFill>
                <a:latin typeface="Consolas" pitchFamily="34" charset="0"/>
                <a:ea typeface="Consolas" pitchFamily="34" charset="-122"/>
                <a:cs typeface="Consolas" pitchFamily="34" charset="-120"/>
              </a:rPr>
              <a:t>SONA: Two-Tier LoRA</a:t>
            </a:r>
            <a:endParaRPr lang="en-US" sz="1200" dirty="0"/>
          </a:p>
        </p:txBody>
      </p:sp>
      <p:sp>
        <p:nvSpPr>
          <p:cNvPr id="8" name="Text 6"/>
          <p:cNvSpPr/>
          <p:nvPr/>
        </p:nvSpPr>
        <p:spPr>
          <a:xfrm>
            <a:off x="914400" y="1600200"/>
            <a:ext cx="3383280" cy="1005840"/>
          </a:xfrm>
          <a:prstGeom prst="rect">
            <a:avLst/>
          </a:prstGeom>
          <a:noFill/>
          <a:ln/>
        </p:spPr>
        <p:txBody>
          <a:bodyPr wrap="square" rtlCol="0" anchor="ctr"/>
          <a:lstStyle/>
          <a:p>
            <a:pPr marL="342900" indent="-3429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MicroLoRA (rank-2, ~45µs): instant reactions</a:t>
            </a:r>
            <a:endParaRPr lang="en-US" sz="1050" dirty="0"/>
          </a:p>
          <a:p>
            <a:pPr marL="342900" indent="-3429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BaseLoRA (rank-16, ~500µs): deep learning</a:t>
            </a:r>
            <a:endParaRPr lang="en-US" sz="1050" dirty="0"/>
          </a:p>
          <a:p>
            <a:pPr marL="342900" indent="-3429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$0 cost, &lt;1ms latency, zero downtime</a:t>
            </a:r>
            <a:endParaRPr lang="en-US" sz="1050" dirty="0"/>
          </a:p>
          <a:p>
            <a:pPr marL="342900" indent="-3429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EWC++ prevents catastrophic forgetting (45% less)</a:t>
            </a:r>
            <a:endParaRPr lang="en-US" sz="1050" dirty="0"/>
          </a:p>
        </p:txBody>
      </p:sp>
      <p:sp>
        <p:nvSpPr>
          <p:cNvPr id="9" name="Shape 7"/>
          <p:cNvSpPr/>
          <p:nvPr/>
        </p:nvSpPr>
        <p:spPr>
          <a:xfrm>
            <a:off x="4663440" y="1234440"/>
            <a:ext cx="3749040" cy="1463040"/>
          </a:xfrm>
          <a:prstGeom prst="rect">
            <a:avLst/>
          </a:prstGeom>
          <a:solidFill>
            <a:srgbClr val="1A1520"/>
          </a:solidFill>
          <a:ln/>
          <a:effectLst>
            <a:outerShdw sx="100000" sy="100000" kx="0" ky="0" algn="bl" rotWithShape="0" blurRad="76200" dist="25400" dir="8100000">
              <a:srgbClr val="000000">
                <a:alpha val="25000"/>
              </a:srgbClr>
            </a:outerShdw>
          </a:effectLst>
        </p:spPr>
      </p:sp>
      <p:sp>
        <p:nvSpPr>
          <p:cNvPr id="10" name="Shape 8"/>
          <p:cNvSpPr/>
          <p:nvPr/>
        </p:nvSpPr>
        <p:spPr>
          <a:xfrm>
            <a:off x="4663440" y="1234440"/>
            <a:ext cx="3749040" cy="36576"/>
          </a:xfrm>
          <a:prstGeom prst="rect">
            <a:avLst/>
          </a:prstGeom>
          <a:solidFill>
            <a:srgbClr val="EF4444"/>
          </a:solidFill>
          <a:ln/>
        </p:spPr>
      </p:sp>
      <p:sp>
        <p:nvSpPr>
          <p:cNvPr id="11" name="Text 9"/>
          <p:cNvSpPr/>
          <p:nvPr/>
        </p:nvSpPr>
        <p:spPr>
          <a:xfrm>
            <a:off x="4846320" y="1325880"/>
            <a:ext cx="3383280" cy="228600"/>
          </a:xfrm>
          <a:prstGeom prst="rect">
            <a:avLst/>
          </a:prstGeom>
          <a:noFill/>
          <a:ln/>
        </p:spPr>
        <p:txBody>
          <a:bodyPr wrap="square" lIns="0" tIns="0" rIns="0" bIns="0" rtlCol="0" anchor="ctr"/>
          <a:lstStyle/>
          <a:p>
            <a:pPr indent="0" marL="0">
              <a:buNone/>
            </a:pPr>
            <a:r>
              <a:rPr lang="en-US" sz="1200" b="1" dirty="0">
                <a:solidFill>
                  <a:srgbClr val="EF4444"/>
                </a:solidFill>
                <a:latin typeface="Consolas" pitchFamily="34" charset="0"/>
                <a:ea typeface="Consolas" pitchFamily="34" charset="-122"/>
                <a:cs typeface="Consolas" pitchFamily="34" charset="-120"/>
              </a:rPr>
              <a:t>Traditional Fine-Tuning</a:t>
            </a:r>
            <a:endParaRPr lang="en-US" sz="1200" dirty="0"/>
          </a:p>
        </p:txBody>
      </p:sp>
      <p:sp>
        <p:nvSpPr>
          <p:cNvPr id="12" name="Text 10"/>
          <p:cNvSpPr/>
          <p:nvPr/>
        </p:nvSpPr>
        <p:spPr>
          <a:xfrm>
            <a:off x="4846320" y="1600200"/>
            <a:ext cx="3383280" cy="1005840"/>
          </a:xfrm>
          <a:prstGeom prst="rect">
            <a:avLst/>
          </a:prstGeom>
          <a:noFill/>
          <a:ln/>
        </p:spPr>
        <p:txBody>
          <a:bodyPr wrap="square" rtlCol="0" anchor="ctr"/>
          <a:lstStyle/>
          <a:p>
            <a:pPr marL="342900" indent="-342900">
              <a:spcAft>
                <a:spcPts val="400"/>
              </a:spcAft>
              <a:buSzPct val="100000"/>
              <a:buChar char="•"/>
            </a:pPr>
            <a:r>
              <a:rPr lang="en-US" sz="1050" dirty="0">
                <a:solidFill>
                  <a:srgbClr val="94A3B8"/>
                </a:solidFill>
                <a:latin typeface="Calibri" pitchFamily="34" charset="0"/>
                <a:ea typeface="Calibri" pitchFamily="34" charset="-122"/>
                <a:cs typeface="Calibri" pitchFamily="34" charset="-120"/>
              </a:rPr>
              <a:t>Days to weeks of training time</a:t>
            </a:r>
            <a:endParaRPr lang="en-US" sz="1050" dirty="0"/>
          </a:p>
          <a:p>
            <a:pPr marL="342900" indent="-342900">
              <a:spcAft>
                <a:spcPts val="400"/>
              </a:spcAft>
              <a:buSzPct val="100000"/>
              <a:buChar char="•"/>
            </a:pPr>
            <a:r>
              <a:rPr lang="en-US" sz="1050" dirty="0">
                <a:solidFill>
                  <a:srgbClr val="94A3B8"/>
                </a:solidFill>
                <a:latin typeface="Calibri" pitchFamily="34" charset="0"/>
                <a:ea typeface="Calibri" pitchFamily="34" charset="-122"/>
                <a:cs typeface="Calibri" pitchFamily="34" charset="-120"/>
              </a:rPr>
              <a:t>$1K-$100K per fine-tune cycle</a:t>
            </a:r>
            <a:endParaRPr lang="en-US" sz="1050" dirty="0"/>
          </a:p>
          <a:p>
            <a:pPr marL="342900" indent="-342900">
              <a:spcAft>
                <a:spcPts val="400"/>
              </a:spcAft>
              <a:buSzPct val="100000"/>
              <a:buChar char="•"/>
            </a:pPr>
            <a:r>
              <a:rPr lang="en-US" sz="1050" dirty="0">
                <a:solidFill>
                  <a:srgbClr val="94A3B8"/>
                </a:solidFill>
                <a:latin typeface="Calibri" pitchFamily="34" charset="0"/>
                <a:ea typeface="Calibri" pitchFamily="34" charset="-122"/>
                <a:cs typeface="Calibri" pitchFamily="34" charset="-120"/>
              </a:rPr>
              <a:t>Requires scheduled downtime</a:t>
            </a:r>
            <a:endParaRPr lang="en-US" sz="1050" dirty="0"/>
          </a:p>
          <a:p>
            <a:pPr marL="342900" indent="-342900">
              <a:spcAft>
                <a:spcPts val="400"/>
              </a:spcAft>
              <a:buSzPct val="100000"/>
              <a:buChar char="•"/>
            </a:pPr>
            <a:r>
              <a:rPr lang="en-US" sz="1050" dirty="0">
                <a:solidFill>
                  <a:srgbClr val="94A3B8"/>
                </a:solidFill>
                <a:latin typeface="Calibri" pitchFamily="34" charset="0"/>
                <a:ea typeface="Calibri" pitchFamily="34" charset="-122"/>
                <a:cs typeface="Calibri" pitchFamily="34" charset="-120"/>
              </a:rPr>
              <a:t>Catastrophic forgetting on new domains</a:t>
            </a:r>
            <a:endParaRPr lang="en-US" sz="1050" dirty="0"/>
          </a:p>
        </p:txBody>
      </p:sp>
      <p:sp>
        <p:nvSpPr>
          <p:cNvPr id="13" name="Text 11"/>
          <p:cNvSpPr/>
          <p:nvPr/>
        </p:nvSpPr>
        <p:spPr>
          <a:xfrm>
            <a:off x="731520" y="2926080"/>
            <a:ext cx="3657600" cy="274320"/>
          </a:xfrm>
          <a:prstGeom prst="rect">
            <a:avLst/>
          </a:prstGeom>
          <a:noFill/>
          <a:ln/>
        </p:spPr>
        <p:txBody>
          <a:bodyPr wrap="square" lIns="0" tIns="0" rIns="0" bIns="0" rtlCol="0" anchor="ctr"/>
          <a:lstStyle/>
          <a:p>
            <a:pPr indent="0" marL="0">
              <a:buNone/>
            </a:pPr>
            <a:r>
              <a:rPr lang="en-US" sz="1300" b="1" dirty="0">
                <a:solidFill>
                  <a:srgbClr val="06B6D4"/>
                </a:solidFill>
                <a:latin typeface="Consolas" pitchFamily="34" charset="0"/>
                <a:ea typeface="Consolas" pitchFamily="34" charset="-122"/>
                <a:cs typeface="Consolas" pitchFamily="34" charset="-120"/>
              </a:rPr>
              <a:t>ReasoningBank 4-Step Pipeline</a:t>
            </a:r>
            <a:endParaRPr lang="en-US" sz="1300" dirty="0"/>
          </a:p>
        </p:txBody>
      </p:sp>
      <p:sp>
        <p:nvSpPr>
          <p:cNvPr id="14" name="Shape 12"/>
          <p:cNvSpPr/>
          <p:nvPr/>
        </p:nvSpPr>
        <p:spPr>
          <a:xfrm>
            <a:off x="731520" y="3291840"/>
            <a:ext cx="1874520" cy="640080"/>
          </a:xfrm>
          <a:prstGeom prst="rect">
            <a:avLst/>
          </a:prstGeom>
          <a:solidFill>
            <a:srgbClr val="1E293B"/>
          </a:solidFill>
          <a:ln/>
        </p:spPr>
      </p:sp>
      <p:sp>
        <p:nvSpPr>
          <p:cNvPr id="15" name="Text 13"/>
          <p:cNvSpPr/>
          <p:nvPr/>
        </p:nvSpPr>
        <p:spPr>
          <a:xfrm>
            <a:off x="822960" y="3319272"/>
            <a:ext cx="1691640" cy="22860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1. RETRIEVE</a:t>
            </a:r>
            <a:endParaRPr lang="en-US" sz="1000" dirty="0"/>
          </a:p>
        </p:txBody>
      </p:sp>
      <p:sp>
        <p:nvSpPr>
          <p:cNvPr id="16" name="Text 14"/>
          <p:cNvSpPr/>
          <p:nvPr/>
        </p:nvSpPr>
        <p:spPr>
          <a:xfrm>
            <a:off x="822960" y="3566160"/>
            <a:ext cx="1691640" cy="32004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HNSW search for similar past decisions</a:t>
            </a:r>
            <a:endParaRPr lang="en-US" sz="950" dirty="0"/>
          </a:p>
        </p:txBody>
      </p:sp>
      <p:sp>
        <p:nvSpPr>
          <p:cNvPr id="17" name="Text 15"/>
          <p:cNvSpPr/>
          <p:nvPr/>
        </p:nvSpPr>
        <p:spPr>
          <a:xfrm>
            <a:off x="2606040" y="3291840"/>
            <a:ext cx="182880" cy="640080"/>
          </a:xfrm>
          <a:prstGeom prst="rect">
            <a:avLst/>
          </a:prstGeom>
          <a:noFill/>
          <a:ln/>
        </p:spPr>
        <p:txBody>
          <a:bodyPr wrap="square" lIns="0" tIns="0" rIns="0" bIns="0" rtlCol="0" anchor="ctr"/>
          <a:lstStyle/>
          <a:p>
            <a:pPr algn="ctr" indent="0" marL="0">
              <a:buNone/>
            </a:pPr>
            <a:r>
              <a:rPr lang="en-US" sz="1000" dirty="0">
                <a:solidFill>
                  <a:srgbClr val="94A3B8"/>
                </a:solidFill>
              </a:rPr>
              <a:t>▶</a:t>
            </a:r>
            <a:endParaRPr lang="en-US" sz="1000" dirty="0"/>
          </a:p>
        </p:txBody>
      </p:sp>
      <p:sp>
        <p:nvSpPr>
          <p:cNvPr id="18" name="Shape 16"/>
          <p:cNvSpPr/>
          <p:nvPr/>
        </p:nvSpPr>
        <p:spPr>
          <a:xfrm>
            <a:off x="2788920" y="3291840"/>
            <a:ext cx="1874520" cy="640080"/>
          </a:xfrm>
          <a:prstGeom prst="rect">
            <a:avLst/>
          </a:prstGeom>
          <a:solidFill>
            <a:srgbClr val="1E293B"/>
          </a:solidFill>
          <a:ln/>
        </p:spPr>
      </p:sp>
      <p:sp>
        <p:nvSpPr>
          <p:cNvPr id="19" name="Text 17"/>
          <p:cNvSpPr/>
          <p:nvPr/>
        </p:nvSpPr>
        <p:spPr>
          <a:xfrm>
            <a:off x="2880360" y="3319272"/>
            <a:ext cx="1691640" cy="22860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2. JUDGE</a:t>
            </a:r>
            <a:endParaRPr lang="en-US" sz="1000" dirty="0"/>
          </a:p>
        </p:txBody>
      </p:sp>
      <p:sp>
        <p:nvSpPr>
          <p:cNvPr id="20" name="Text 18"/>
          <p:cNvSpPr/>
          <p:nvPr/>
        </p:nvSpPr>
        <p:spPr>
          <a:xfrm>
            <a:off x="2880360" y="3566160"/>
            <a:ext cx="1691640" cy="32004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Assign verdicts based on outcomes</a:t>
            </a:r>
            <a:endParaRPr lang="en-US" sz="950" dirty="0"/>
          </a:p>
        </p:txBody>
      </p:sp>
      <p:sp>
        <p:nvSpPr>
          <p:cNvPr id="21" name="Text 19"/>
          <p:cNvSpPr/>
          <p:nvPr/>
        </p:nvSpPr>
        <p:spPr>
          <a:xfrm>
            <a:off x="4663440" y="3291840"/>
            <a:ext cx="182880" cy="640080"/>
          </a:xfrm>
          <a:prstGeom prst="rect">
            <a:avLst/>
          </a:prstGeom>
          <a:noFill/>
          <a:ln/>
        </p:spPr>
        <p:txBody>
          <a:bodyPr wrap="square" lIns="0" tIns="0" rIns="0" bIns="0" rtlCol="0" anchor="ctr"/>
          <a:lstStyle/>
          <a:p>
            <a:pPr algn="ctr" indent="0" marL="0">
              <a:buNone/>
            </a:pPr>
            <a:r>
              <a:rPr lang="en-US" sz="1000" dirty="0">
                <a:solidFill>
                  <a:srgbClr val="94A3B8"/>
                </a:solidFill>
              </a:rPr>
              <a:t>▶</a:t>
            </a:r>
            <a:endParaRPr lang="en-US" sz="1000" dirty="0"/>
          </a:p>
        </p:txBody>
      </p:sp>
      <p:sp>
        <p:nvSpPr>
          <p:cNvPr id="22" name="Shape 20"/>
          <p:cNvSpPr/>
          <p:nvPr/>
        </p:nvSpPr>
        <p:spPr>
          <a:xfrm>
            <a:off x="4846320" y="3291840"/>
            <a:ext cx="1874520" cy="640080"/>
          </a:xfrm>
          <a:prstGeom prst="rect">
            <a:avLst/>
          </a:prstGeom>
          <a:solidFill>
            <a:srgbClr val="1E293B"/>
          </a:solidFill>
          <a:ln/>
        </p:spPr>
      </p:sp>
      <p:sp>
        <p:nvSpPr>
          <p:cNvPr id="23" name="Text 21"/>
          <p:cNvSpPr/>
          <p:nvPr/>
        </p:nvSpPr>
        <p:spPr>
          <a:xfrm>
            <a:off x="4937760" y="3319272"/>
            <a:ext cx="1691640" cy="22860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3. DISTILL</a:t>
            </a:r>
            <a:endParaRPr lang="en-US" sz="1000" dirty="0"/>
          </a:p>
        </p:txBody>
      </p:sp>
      <p:sp>
        <p:nvSpPr>
          <p:cNvPr id="24" name="Text 22"/>
          <p:cNvSpPr/>
          <p:nvPr/>
        </p:nvSpPr>
        <p:spPr>
          <a:xfrm>
            <a:off x="4937760" y="3566160"/>
            <a:ext cx="1691640" cy="32004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Micro-LoRA pattern extraction</a:t>
            </a:r>
            <a:endParaRPr lang="en-US" sz="950" dirty="0"/>
          </a:p>
        </p:txBody>
      </p:sp>
      <p:sp>
        <p:nvSpPr>
          <p:cNvPr id="25" name="Text 23"/>
          <p:cNvSpPr/>
          <p:nvPr/>
        </p:nvSpPr>
        <p:spPr>
          <a:xfrm>
            <a:off x="6720840" y="3291840"/>
            <a:ext cx="182880" cy="640080"/>
          </a:xfrm>
          <a:prstGeom prst="rect">
            <a:avLst/>
          </a:prstGeom>
          <a:noFill/>
          <a:ln/>
        </p:spPr>
        <p:txBody>
          <a:bodyPr wrap="square" lIns="0" tIns="0" rIns="0" bIns="0" rtlCol="0" anchor="ctr"/>
          <a:lstStyle/>
          <a:p>
            <a:pPr algn="ctr" indent="0" marL="0">
              <a:buNone/>
            </a:pPr>
            <a:r>
              <a:rPr lang="en-US" sz="1000" dirty="0">
                <a:solidFill>
                  <a:srgbClr val="94A3B8"/>
                </a:solidFill>
              </a:rPr>
              <a:t>▶</a:t>
            </a:r>
            <a:endParaRPr lang="en-US" sz="1000" dirty="0"/>
          </a:p>
        </p:txBody>
      </p:sp>
      <p:sp>
        <p:nvSpPr>
          <p:cNvPr id="26" name="Shape 24"/>
          <p:cNvSpPr/>
          <p:nvPr/>
        </p:nvSpPr>
        <p:spPr>
          <a:xfrm>
            <a:off x="6903720" y="3291840"/>
            <a:ext cx="1874520" cy="640080"/>
          </a:xfrm>
          <a:prstGeom prst="rect">
            <a:avLst/>
          </a:prstGeom>
          <a:solidFill>
            <a:srgbClr val="1E293B"/>
          </a:solidFill>
          <a:ln/>
        </p:spPr>
      </p:sp>
      <p:sp>
        <p:nvSpPr>
          <p:cNvPr id="27" name="Text 25"/>
          <p:cNvSpPr/>
          <p:nvPr/>
        </p:nvSpPr>
        <p:spPr>
          <a:xfrm>
            <a:off x="6995160" y="3319272"/>
            <a:ext cx="1691640" cy="22860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4. CONSOLIDATE</a:t>
            </a:r>
            <a:endParaRPr lang="en-US" sz="1000" dirty="0"/>
          </a:p>
        </p:txBody>
      </p:sp>
      <p:sp>
        <p:nvSpPr>
          <p:cNvPr id="28" name="Text 26"/>
          <p:cNvSpPr/>
          <p:nvPr/>
        </p:nvSpPr>
        <p:spPr>
          <a:xfrm>
            <a:off x="6995160" y="3566160"/>
            <a:ext cx="1691640" cy="32004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EWC++ prevents forgetting</a:t>
            </a:r>
            <a:endParaRPr lang="en-US" sz="950" dirty="0"/>
          </a:p>
        </p:txBody>
      </p:sp>
      <p:sp>
        <p:nvSpPr>
          <p:cNvPr id="29" name="Text 27"/>
          <p:cNvSpPr/>
          <p:nvPr/>
        </p:nvSpPr>
        <p:spPr>
          <a:xfrm>
            <a:off x="731520" y="4160520"/>
            <a:ext cx="1828800" cy="365760"/>
          </a:xfrm>
          <a:prstGeom prst="rect">
            <a:avLst/>
          </a:prstGeom>
          <a:noFill/>
          <a:ln/>
        </p:spPr>
        <p:txBody>
          <a:bodyPr wrap="square" lIns="0" tIns="0" rIns="0" bIns="0" rtlCol="0" anchor="ctr"/>
          <a:lstStyle/>
          <a:p>
            <a:pPr indent="0" marL="0">
              <a:buNone/>
            </a:pPr>
            <a:r>
              <a:rPr lang="en-US" sz="2200" b="1" dirty="0">
                <a:solidFill>
                  <a:srgbClr val="06B6D4"/>
                </a:solidFill>
                <a:latin typeface="Consolas" pitchFamily="34" charset="0"/>
                <a:ea typeface="Consolas" pitchFamily="34" charset="-122"/>
                <a:cs typeface="Consolas" pitchFamily="34" charset="-120"/>
              </a:rPr>
              <a:t>300x</a:t>
            </a:r>
            <a:endParaRPr lang="en-US" sz="2200" dirty="0"/>
          </a:p>
        </p:txBody>
      </p:sp>
      <p:sp>
        <p:nvSpPr>
          <p:cNvPr id="30" name="Text 28"/>
          <p:cNvSpPr/>
          <p:nvPr/>
        </p:nvSpPr>
        <p:spPr>
          <a:xfrm>
            <a:off x="731520" y="448056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Faster Retrieval</a:t>
            </a:r>
            <a:endParaRPr lang="en-US" sz="1000" dirty="0"/>
          </a:p>
        </p:txBody>
      </p:sp>
      <p:sp>
        <p:nvSpPr>
          <p:cNvPr id="31" name="Text 29"/>
          <p:cNvSpPr/>
          <p:nvPr/>
        </p:nvSpPr>
        <p:spPr>
          <a:xfrm>
            <a:off x="2834640" y="4160520"/>
            <a:ext cx="1828800" cy="365760"/>
          </a:xfrm>
          <a:prstGeom prst="rect">
            <a:avLst/>
          </a:prstGeom>
          <a:noFill/>
          <a:ln/>
        </p:spPr>
        <p:txBody>
          <a:bodyPr wrap="square" lIns="0" tIns="0" rIns="0" bIns="0" rtlCol="0" anchor="ctr"/>
          <a:lstStyle/>
          <a:p>
            <a:pPr indent="0" marL="0">
              <a:buNone/>
            </a:pPr>
            <a:r>
              <a:rPr lang="en-US" sz="2200" b="1" dirty="0">
                <a:solidFill>
                  <a:srgbClr val="06B6D4"/>
                </a:solidFill>
                <a:latin typeface="Consolas" pitchFamily="34" charset="0"/>
                <a:ea typeface="Consolas" pitchFamily="34" charset="-122"/>
                <a:cs typeface="Consolas" pitchFamily="34" charset="-120"/>
              </a:rPr>
              <a:t>2,211/s</a:t>
            </a:r>
            <a:endParaRPr lang="en-US" sz="2200" dirty="0"/>
          </a:p>
        </p:txBody>
      </p:sp>
      <p:sp>
        <p:nvSpPr>
          <p:cNvPr id="32" name="Text 30"/>
          <p:cNvSpPr/>
          <p:nvPr/>
        </p:nvSpPr>
        <p:spPr>
          <a:xfrm>
            <a:off x="2834640" y="448056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SIMD Ops/Sec</a:t>
            </a:r>
            <a:endParaRPr lang="en-US" sz="1000" dirty="0"/>
          </a:p>
        </p:txBody>
      </p:sp>
      <p:sp>
        <p:nvSpPr>
          <p:cNvPr id="33" name="Text 31"/>
          <p:cNvSpPr/>
          <p:nvPr/>
        </p:nvSpPr>
        <p:spPr>
          <a:xfrm>
            <a:off x="4937760" y="4160520"/>
            <a:ext cx="1828800" cy="365760"/>
          </a:xfrm>
          <a:prstGeom prst="rect">
            <a:avLst/>
          </a:prstGeom>
          <a:noFill/>
          <a:ln/>
        </p:spPr>
        <p:txBody>
          <a:bodyPr wrap="square" lIns="0" tIns="0" rIns="0" bIns="0" rtlCol="0" anchor="ctr"/>
          <a:lstStyle/>
          <a:p>
            <a:pPr indent="0" marL="0">
              <a:buNone/>
            </a:pPr>
            <a:r>
              <a:rPr lang="en-US" sz="2200" b="1" dirty="0">
                <a:solidFill>
                  <a:srgbClr val="06B6D4"/>
                </a:solidFill>
                <a:latin typeface="Consolas" pitchFamily="34" charset="0"/>
                <a:ea typeface="Consolas" pitchFamily="34" charset="-122"/>
                <a:cs typeface="Consolas" pitchFamily="34" charset="-120"/>
              </a:rPr>
              <a:t>+55%</a:t>
            </a:r>
            <a:endParaRPr lang="en-US" sz="2200" dirty="0"/>
          </a:p>
        </p:txBody>
      </p:sp>
      <p:sp>
        <p:nvSpPr>
          <p:cNvPr id="34" name="Text 32"/>
          <p:cNvSpPr/>
          <p:nvPr/>
        </p:nvSpPr>
        <p:spPr>
          <a:xfrm>
            <a:off x="4937760" y="448056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Quality Improvement</a:t>
            </a:r>
            <a:endParaRPr lang="en-US" sz="1000" dirty="0"/>
          </a:p>
        </p:txBody>
      </p:sp>
      <p:sp>
        <p:nvSpPr>
          <p:cNvPr id="35" name="Text 33"/>
          <p:cNvSpPr/>
          <p:nvPr/>
        </p:nvSpPr>
        <p:spPr>
          <a:xfrm>
            <a:off x="7040880" y="4160520"/>
            <a:ext cx="1828800" cy="365760"/>
          </a:xfrm>
          <a:prstGeom prst="rect">
            <a:avLst/>
          </a:prstGeom>
          <a:noFill/>
          <a:ln/>
        </p:spPr>
        <p:txBody>
          <a:bodyPr wrap="square" lIns="0" tIns="0" rIns="0" bIns="0" rtlCol="0" anchor="ctr"/>
          <a:lstStyle/>
          <a:p>
            <a:pPr indent="0" marL="0">
              <a:buNone/>
            </a:pPr>
            <a:r>
              <a:rPr lang="en-US" sz="2200" b="1" dirty="0">
                <a:solidFill>
                  <a:srgbClr val="06B6D4"/>
                </a:solidFill>
                <a:latin typeface="Consolas" pitchFamily="34" charset="0"/>
                <a:ea typeface="Consolas" pitchFamily="34" charset="-122"/>
                <a:cs typeface="Consolas" pitchFamily="34" charset="-120"/>
              </a:rPr>
              <a:t>$0</a:t>
            </a:r>
            <a:endParaRPr lang="en-US" sz="2200" dirty="0"/>
          </a:p>
        </p:txBody>
      </p:sp>
      <p:sp>
        <p:nvSpPr>
          <p:cNvPr id="36" name="Text 34"/>
          <p:cNvSpPr/>
          <p:nvPr/>
        </p:nvSpPr>
        <p:spPr>
          <a:xfrm>
            <a:off x="7040880" y="448056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Learning Cost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pic>
        <p:nvPicPr>
          <p:cNvPr id="3" name="Image 0" descr="/Users/stuartkerr/Code/Ask-Ruvnet/Ask-Ruvnet/docs/presentations/images/04-code-terminal.png">    </p:cNvPr>
          <p:cNvPicPr>
            <a:picLocks noChangeAspect="1"/>
          </p:cNvPicPr>
          <p:nvPr/>
        </p:nvPicPr>
        <p:blipFill>
          <a:blip r:embed="rId1">
            <a:alphaModFix amt="8000"/>
          </a:blip>
          <a:stretch>
            <a:fillRect/>
          </a:stretch>
        </p:blipFill>
        <p:spPr>
          <a:xfrm>
            <a:off x="0" y="0"/>
            <a:ext cx="9144000" cy="5143500"/>
          </a:xfrm>
          <a:prstGeom prst="rect">
            <a:avLst/>
          </a:prstGeom>
        </p:spPr>
      </p:pic>
      <p:sp>
        <p:nvSpPr>
          <p:cNvPr id="4" name="Text 1"/>
          <p:cNvSpPr/>
          <p:nvPr/>
        </p:nvSpPr>
        <p:spPr>
          <a:xfrm>
            <a:off x="731520" y="274320"/>
            <a:ext cx="7315200" cy="457200"/>
          </a:xfrm>
          <a:prstGeom prst="rect">
            <a:avLst/>
          </a:prstGeom>
          <a:noFill/>
          <a:ln/>
        </p:spPr>
        <p:txBody>
          <a:bodyPr wrap="square" lIns="0" tIns="0" rIns="0" bIns="0" rtlCol="0" anchor="ctr"/>
          <a:lstStyle/>
          <a:p>
            <a:pPr indent="0" marL="0">
              <a:buNone/>
            </a:pPr>
            <a:r>
              <a:rPr lang="en-US" sz="2800" b="1" dirty="0">
                <a:solidFill>
                  <a:srgbClr val="F8FAFC"/>
                </a:solidFill>
                <a:latin typeface="Cambria" pitchFamily="34" charset="0"/>
                <a:ea typeface="Cambria" pitchFamily="34" charset="-122"/>
                <a:cs typeface="Cambria" pitchFamily="34" charset="-120"/>
              </a:rPr>
              <a:t>Ship It In 5 Lines</a:t>
            </a:r>
            <a:endParaRPr lang="en-US" sz="2800" dirty="0"/>
          </a:p>
        </p:txBody>
      </p:sp>
      <p:sp>
        <p:nvSpPr>
          <p:cNvPr id="5" name="Text 2"/>
          <p:cNvSpPr/>
          <p:nvPr/>
        </p:nvSpPr>
        <p:spPr>
          <a:xfrm>
            <a:off x="731520" y="685800"/>
            <a:ext cx="7315200" cy="27432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Production multi-agent swarms. Self-learning. Self-healing. One require statement.</a:t>
            </a:r>
            <a:endParaRPr lang="en-US" sz="1300" dirty="0"/>
          </a:p>
        </p:txBody>
      </p:sp>
      <p:sp>
        <p:nvSpPr>
          <p:cNvPr id="6" name="Shape 3"/>
          <p:cNvSpPr/>
          <p:nvPr/>
        </p:nvSpPr>
        <p:spPr>
          <a:xfrm>
            <a:off x="548640" y="1051560"/>
            <a:ext cx="8046720" cy="3337560"/>
          </a:xfrm>
          <a:prstGeom prst="rect">
            <a:avLst/>
          </a:prstGeom>
          <a:solidFill>
            <a:srgbClr val="151E2E"/>
          </a:solidFill>
          <a:ln/>
          <a:effectLst>
            <a:outerShdw sx="100000" sy="100000" kx="0" ky="0" algn="bl" rotWithShape="0" blurRad="76200" dist="25400" dir="8100000">
              <a:srgbClr val="000000">
                <a:alpha val="25000"/>
              </a:srgbClr>
            </a:outerShdw>
          </a:effectLst>
        </p:spPr>
      </p:sp>
      <p:sp>
        <p:nvSpPr>
          <p:cNvPr id="7" name="Shape 4"/>
          <p:cNvSpPr/>
          <p:nvPr/>
        </p:nvSpPr>
        <p:spPr>
          <a:xfrm>
            <a:off x="548640" y="1051560"/>
            <a:ext cx="8046720" cy="36576"/>
          </a:xfrm>
          <a:prstGeom prst="rect">
            <a:avLst/>
          </a:prstGeom>
          <a:solidFill>
            <a:srgbClr val="06B6D4"/>
          </a:solidFill>
          <a:ln/>
        </p:spPr>
      </p:sp>
      <p:sp>
        <p:nvSpPr>
          <p:cNvPr id="8" name="Text 5"/>
          <p:cNvSpPr/>
          <p:nvPr/>
        </p:nvSpPr>
        <p:spPr>
          <a:xfrm>
            <a:off x="822960" y="1143000"/>
            <a:ext cx="7498080" cy="201168"/>
          </a:xfrm>
          <a:prstGeom prst="rect">
            <a:avLst/>
          </a:prstGeom>
          <a:noFill/>
          <a:ln/>
        </p:spPr>
        <p:txBody>
          <a:bodyPr wrap="square" lIns="0" tIns="0" rIns="0" bIns="0" rtlCol="0" anchor="ctr"/>
          <a:lstStyle/>
          <a:p>
            <a:pPr indent="0" marL="0">
              <a:buNone/>
            </a:pPr>
            <a:r>
              <a:rPr lang="en-US" sz="1000" dirty="0">
                <a:solidFill>
                  <a:srgbClr val="06B6D4"/>
                </a:solidFill>
                <a:latin typeface="Consolas" pitchFamily="34" charset="0"/>
                <a:ea typeface="Consolas" pitchFamily="34" charset="-122"/>
                <a:cs typeface="Consolas" pitchFamily="34" charset="-120"/>
              </a:rPr>
              <a:t>const</a:t>
            </a:r>
            <a:pPr indent="0" marL="0">
              <a:buNone/>
            </a:pPr>
            <a:r>
              <a:rPr lang="en-US" sz="1000" dirty="0">
                <a:solidFill>
                  <a:srgbClr val="F8FAFC"/>
                </a:solidFill>
                <a:latin typeface="Consolas" pitchFamily="34" charset="0"/>
                <a:ea typeface="Consolas" pitchFamily="34" charset="-122"/>
                <a:cs typeface="Consolas" pitchFamily="34" charset="-120"/>
              </a:rPr>
              <a:t> ruflo = </a:t>
            </a:r>
            <a:pPr indent="0" marL="0">
              <a:buNone/>
            </a:pPr>
            <a:r>
              <a:rPr lang="en-US" sz="1000" dirty="0">
                <a:solidFill>
                  <a:srgbClr val="06B6D4"/>
                </a:solidFill>
                <a:latin typeface="Consolas" pitchFamily="34" charset="0"/>
                <a:ea typeface="Consolas" pitchFamily="34" charset="-122"/>
                <a:cs typeface="Consolas" pitchFamily="34" charset="-120"/>
              </a:rPr>
              <a:t>require</a:t>
            </a:r>
            <a:pPr indent="0" marL="0">
              <a:buNone/>
            </a:pPr>
            <a:r>
              <a:rPr lang="en-US" sz="1000" dirty="0">
                <a:solidFill>
                  <a:srgbClr val="F8FAFC"/>
                </a:solidFill>
                <a:latin typeface="Consolas" pitchFamily="34" charset="0"/>
                <a:ea typeface="Consolas" pitchFamily="34" charset="-122"/>
                <a:cs typeface="Consolas" pitchFamily="34" charset="-120"/>
              </a:rPr>
              <a:t>(</a:t>
            </a:r>
            <a:pPr indent="0" marL="0">
              <a:buNone/>
            </a:pPr>
            <a:r>
              <a:rPr lang="en-US" sz="1000" dirty="0">
                <a:solidFill>
                  <a:srgbClr val="10B981"/>
                </a:solidFill>
                <a:latin typeface="Consolas" pitchFamily="34" charset="0"/>
                <a:ea typeface="Consolas" pitchFamily="34" charset="-122"/>
                <a:cs typeface="Consolas" pitchFamily="34" charset="-120"/>
              </a:rPr>
              <a:t>'ruflo'</a:t>
            </a:r>
            <a:pPr indent="0" marL="0">
              <a:buNone/>
            </a:pPr>
            <a:r>
              <a:rPr lang="en-US" sz="1000" dirty="0">
                <a:solidFill>
                  <a:srgbClr val="F8FAFC"/>
                </a:solidFill>
                <a:latin typeface="Consolas" pitchFamily="34" charset="0"/>
                <a:ea typeface="Consolas" pitchFamily="34" charset="-122"/>
                <a:cs typeface="Consolas" pitchFamily="34" charset="-120"/>
              </a:rPr>
              <a:t>);</a:t>
            </a:r>
            <a:endParaRPr lang="en-US" sz="1000" dirty="0"/>
          </a:p>
        </p:txBody>
      </p:sp>
      <p:sp>
        <p:nvSpPr>
          <p:cNvPr id="9" name="Text 6"/>
          <p:cNvSpPr/>
          <p:nvPr/>
        </p:nvSpPr>
        <p:spPr>
          <a:xfrm>
            <a:off x="822960" y="1417320"/>
            <a:ext cx="7498080" cy="201168"/>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 Initialize a self-healing agent swarm</a:t>
            </a:r>
            <a:endParaRPr lang="en-US" sz="1000" dirty="0"/>
          </a:p>
        </p:txBody>
      </p:sp>
      <p:sp>
        <p:nvSpPr>
          <p:cNvPr id="10" name="Text 7"/>
          <p:cNvSpPr/>
          <p:nvPr/>
        </p:nvSpPr>
        <p:spPr>
          <a:xfrm>
            <a:off x="822960" y="1600200"/>
            <a:ext cx="7498080" cy="201168"/>
          </a:xfrm>
          <a:prstGeom prst="rect">
            <a:avLst/>
          </a:prstGeom>
          <a:noFill/>
          <a:ln/>
        </p:spPr>
        <p:txBody>
          <a:bodyPr wrap="square" lIns="0" tIns="0" rIns="0" bIns="0" rtlCol="0" anchor="ctr"/>
          <a:lstStyle/>
          <a:p>
            <a:pPr indent="0" marL="0">
              <a:buNone/>
            </a:pPr>
            <a:r>
              <a:rPr lang="en-US" sz="1000" dirty="0">
                <a:solidFill>
                  <a:srgbClr val="06B6D4"/>
                </a:solidFill>
                <a:latin typeface="Consolas" pitchFamily="34" charset="0"/>
                <a:ea typeface="Consolas" pitchFamily="34" charset="-122"/>
                <a:cs typeface="Consolas" pitchFamily="34" charset="-120"/>
              </a:rPr>
              <a:t>const</a:t>
            </a:r>
            <a:pPr indent="0" marL="0">
              <a:buNone/>
            </a:pPr>
            <a:r>
              <a:rPr lang="en-US" sz="1000" dirty="0">
                <a:solidFill>
                  <a:srgbClr val="8B5CF6"/>
                </a:solidFill>
                <a:latin typeface="Consolas" pitchFamily="34" charset="0"/>
                <a:ea typeface="Consolas" pitchFamily="34" charset="-122"/>
                <a:cs typeface="Consolas" pitchFamily="34" charset="-120"/>
              </a:rPr>
              <a:t> swarm</a:t>
            </a:r>
            <a:pPr indent="0" marL="0">
              <a:buNone/>
            </a:pPr>
            <a:r>
              <a:rPr lang="en-US" sz="1000" dirty="0">
                <a:solidFill>
                  <a:srgbClr val="F8FAFC"/>
                </a:solidFill>
                <a:latin typeface="Consolas" pitchFamily="34" charset="0"/>
                <a:ea typeface="Consolas" pitchFamily="34" charset="-122"/>
                <a:cs typeface="Consolas" pitchFamily="34" charset="-120"/>
              </a:rPr>
              <a:t> = </a:t>
            </a:r>
            <a:pPr indent="0" marL="0">
              <a:buNone/>
            </a:pPr>
            <a:r>
              <a:rPr lang="en-US" sz="1000" dirty="0">
                <a:solidFill>
                  <a:srgbClr val="06B6D4"/>
                </a:solidFill>
                <a:latin typeface="Consolas" pitchFamily="34" charset="0"/>
                <a:ea typeface="Consolas" pitchFamily="34" charset="-122"/>
                <a:cs typeface="Consolas" pitchFamily="34" charset="-120"/>
              </a:rPr>
              <a:t>await</a:t>
            </a:r>
            <a:pPr indent="0" marL="0">
              <a:buNone/>
            </a:pPr>
            <a:r>
              <a:rPr lang="en-US" sz="1000" dirty="0">
                <a:solidFill>
                  <a:srgbClr val="F8FAFC"/>
                </a:solidFill>
                <a:latin typeface="Consolas" pitchFamily="34" charset="0"/>
                <a:ea typeface="Consolas" pitchFamily="34" charset="-122"/>
                <a:cs typeface="Consolas" pitchFamily="34" charset="-120"/>
              </a:rPr>
              <a:t> ruflo.swarm.</a:t>
            </a:r>
            <a:pPr indent="0" marL="0">
              <a:buNone/>
            </a:pPr>
            <a:r>
              <a:rPr lang="en-US" sz="1000" dirty="0">
                <a:solidFill>
                  <a:srgbClr val="06B6D4"/>
                </a:solidFill>
                <a:latin typeface="Consolas" pitchFamily="34" charset="0"/>
                <a:ea typeface="Consolas" pitchFamily="34" charset="-122"/>
                <a:cs typeface="Consolas" pitchFamily="34" charset="-120"/>
              </a:rPr>
              <a:t>init</a:t>
            </a:r>
            <a:pPr indent="0" marL="0">
              <a:buNone/>
            </a:pPr>
            <a:r>
              <a:rPr lang="en-US" sz="1000" dirty="0">
                <a:solidFill>
                  <a:srgbClr val="F8FAFC"/>
                </a:solidFill>
                <a:latin typeface="Consolas" pitchFamily="34" charset="0"/>
                <a:ea typeface="Consolas" pitchFamily="34" charset="-122"/>
                <a:cs typeface="Consolas" pitchFamily="34" charset="-120"/>
              </a:rPr>
              <a:t>({</a:t>
            </a:r>
            <a:endParaRPr lang="en-US" sz="1000" dirty="0"/>
          </a:p>
        </p:txBody>
      </p:sp>
      <p:sp>
        <p:nvSpPr>
          <p:cNvPr id="11" name="Text 8"/>
          <p:cNvSpPr/>
          <p:nvPr/>
        </p:nvSpPr>
        <p:spPr>
          <a:xfrm>
            <a:off x="822960" y="1783080"/>
            <a:ext cx="7498080" cy="201168"/>
          </a:xfrm>
          <a:prstGeom prst="rect">
            <a:avLst/>
          </a:prstGeom>
          <a:noFill/>
          <a:ln/>
        </p:spPr>
        <p:txBody>
          <a:bodyPr wrap="square" lIns="0" tIns="0" rIns="0" bIns="0" rtlCol="0" anchor="ctr"/>
          <a:lstStyle/>
          <a:p>
            <a:pPr indent="0" marL="0">
              <a:buNone/>
            </a:pPr>
            <a:r>
              <a:rPr lang="en-US" sz="1000" dirty="0">
                <a:solidFill>
                  <a:srgbClr val="F8FAFC"/>
                </a:solidFill>
                <a:latin typeface="Consolas" pitchFamily="34" charset="0"/>
                <a:ea typeface="Consolas" pitchFamily="34" charset="-122"/>
                <a:cs typeface="Consolas" pitchFamily="34" charset="-120"/>
              </a:rPr>
              <a:t>  topology: </a:t>
            </a:r>
            <a:pPr indent="0" marL="0">
              <a:buNone/>
            </a:pPr>
            <a:r>
              <a:rPr lang="en-US" sz="1000" dirty="0">
                <a:solidFill>
                  <a:srgbClr val="10B981"/>
                </a:solidFill>
                <a:latin typeface="Consolas" pitchFamily="34" charset="0"/>
                <a:ea typeface="Consolas" pitchFamily="34" charset="-122"/>
                <a:cs typeface="Consolas" pitchFamily="34" charset="-120"/>
              </a:rPr>
              <a:t>'hierarchical'</a:t>
            </a:r>
            <a:pPr indent="0" marL="0">
              <a:buNone/>
            </a:pPr>
            <a:r>
              <a:rPr lang="en-US" sz="1000" dirty="0">
                <a:solidFill>
                  <a:srgbClr val="F8FAFC"/>
                </a:solidFill>
                <a:latin typeface="Consolas" pitchFamily="34" charset="0"/>
                <a:ea typeface="Consolas" pitchFamily="34" charset="-122"/>
                <a:cs typeface="Consolas" pitchFamily="34" charset="-120"/>
              </a:rPr>
              <a:t>, agents: </a:t>
            </a:r>
            <a:pPr indent="0" marL="0">
              <a:buNone/>
            </a:pPr>
            <a:r>
              <a:rPr lang="en-US" sz="1000" dirty="0">
                <a:solidFill>
                  <a:srgbClr val="F59E0B"/>
                </a:solidFill>
                <a:latin typeface="Consolas" pitchFamily="34" charset="0"/>
                <a:ea typeface="Consolas" pitchFamily="34" charset="-122"/>
                <a:cs typeface="Consolas" pitchFamily="34" charset="-120"/>
              </a:rPr>
              <a:t>8</a:t>
            </a:r>
            <a:pPr indent="0" marL="0">
              <a:buNone/>
            </a:pPr>
            <a:r>
              <a:rPr lang="en-US" sz="1000" dirty="0">
                <a:solidFill>
                  <a:srgbClr val="F8FAFC"/>
                </a:solidFill>
                <a:latin typeface="Consolas" pitchFamily="34" charset="0"/>
                <a:ea typeface="Consolas" pitchFamily="34" charset="-122"/>
                <a:cs typeface="Consolas" pitchFamily="34" charset="-120"/>
              </a:rPr>
              <a:t>, strategy: </a:t>
            </a:r>
            <a:pPr indent="0" marL="0">
              <a:buNone/>
            </a:pPr>
            <a:r>
              <a:rPr lang="en-US" sz="1000" dirty="0">
                <a:solidFill>
                  <a:srgbClr val="10B981"/>
                </a:solidFill>
                <a:latin typeface="Consolas" pitchFamily="34" charset="0"/>
                <a:ea typeface="Consolas" pitchFamily="34" charset="-122"/>
                <a:cs typeface="Consolas" pitchFamily="34" charset="-120"/>
              </a:rPr>
              <a:t>'specialized'</a:t>
            </a:r>
            <a:endParaRPr lang="en-US" sz="1000" dirty="0"/>
          </a:p>
        </p:txBody>
      </p:sp>
      <p:sp>
        <p:nvSpPr>
          <p:cNvPr id="12" name="Text 9"/>
          <p:cNvSpPr/>
          <p:nvPr/>
        </p:nvSpPr>
        <p:spPr>
          <a:xfrm>
            <a:off x="822960" y="1965960"/>
            <a:ext cx="7498080" cy="201168"/>
          </a:xfrm>
          <a:prstGeom prst="rect">
            <a:avLst/>
          </a:prstGeom>
          <a:noFill/>
          <a:ln/>
        </p:spPr>
        <p:txBody>
          <a:bodyPr wrap="square" lIns="0" tIns="0" rIns="0" bIns="0" rtlCol="0" anchor="ctr"/>
          <a:lstStyle/>
          <a:p>
            <a:pPr indent="0" marL="0">
              <a:buNone/>
            </a:pPr>
            <a:r>
              <a:rPr lang="en-US" sz="1000" dirty="0">
                <a:solidFill>
                  <a:srgbClr val="F8FAFC"/>
                </a:solidFill>
                <a:latin typeface="Consolas" pitchFamily="34" charset="0"/>
                <a:ea typeface="Consolas" pitchFamily="34" charset="-122"/>
                <a:cs typeface="Consolas" pitchFamily="34" charset="-120"/>
              </a:rPr>
              <a:t>});</a:t>
            </a:r>
            <a:endParaRPr lang="en-US" sz="1000" dirty="0"/>
          </a:p>
        </p:txBody>
      </p:sp>
      <p:sp>
        <p:nvSpPr>
          <p:cNvPr id="13" name="Text 10"/>
          <p:cNvSpPr/>
          <p:nvPr/>
        </p:nvSpPr>
        <p:spPr>
          <a:xfrm>
            <a:off x="822960" y="2212848"/>
            <a:ext cx="7498080" cy="201168"/>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 Deploy 51 autonomous agents in one command</a:t>
            </a:r>
            <a:endParaRPr lang="en-US" sz="1000" dirty="0"/>
          </a:p>
        </p:txBody>
      </p:sp>
      <p:sp>
        <p:nvSpPr>
          <p:cNvPr id="14" name="Text 11"/>
          <p:cNvSpPr/>
          <p:nvPr/>
        </p:nvSpPr>
        <p:spPr>
          <a:xfrm>
            <a:off x="822960" y="2395728"/>
            <a:ext cx="7498080" cy="201168"/>
          </a:xfrm>
          <a:prstGeom prst="rect">
            <a:avLst/>
          </a:prstGeom>
          <a:noFill/>
          <a:ln/>
        </p:spPr>
        <p:txBody>
          <a:bodyPr wrap="square" lIns="0" tIns="0" rIns="0" bIns="0" rtlCol="0" anchor="ctr"/>
          <a:lstStyle/>
          <a:p>
            <a:pPr indent="0" marL="0">
              <a:buNone/>
            </a:pPr>
            <a:r>
              <a:rPr lang="en-US" sz="1000" dirty="0">
                <a:solidFill>
                  <a:srgbClr val="06B6D4"/>
                </a:solidFill>
                <a:latin typeface="Consolas" pitchFamily="34" charset="0"/>
                <a:ea typeface="Consolas" pitchFamily="34" charset="-122"/>
                <a:cs typeface="Consolas" pitchFamily="34" charset="-120"/>
              </a:rPr>
              <a:t>const</a:t>
            </a:r>
            <a:pPr indent="0" marL="0">
              <a:buNone/>
            </a:pPr>
            <a:r>
              <a:rPr lang="en-US" sz="1000" dirty="0">
                <a:solidFill>
                  <a:srgbClr val="8B5CF6"/>
                </a:solidFill>
                <a:latin typeface="Consolas" pitchFamily="34" charset="0"/>
                <a:ea typeface="Consolas" pitchFamily="34" charset="-122"/>
                <a:cs typeface="Consolas" pitchFamily="34" charset="-120"/>
              </a:rPr>
              <a:t> fleet</a:t>
            </a:r>
            <a:pPr indent="0" marL="0">
              <a:buNone/>
            </a:pPr>
            <a:r>
              <a:rPr lang="en-US" sz="1000" dirty="0">
                <a:solidFill>
                  <a:srgbClr val="F8FAFC"/>
                </a:solidFill>
                <a:latin typeface="Consolas" pitchFamily="34" charset="0"/>
                <a:ea typeface="Consolas" pitchFamily="34" charset="-122"/>
                <a:cs typeface="Consolas" pitchFamily="34" charset="-120"/>
              </a:rPr>
              <a:t> = </a:t>
            </a:r>
            <a:pPr indent="0" marL="0">
              <a:buNone/>
            </a:pPr>
            <a:r>
              <a:rPr lang="en-US" sz="1000" dirty="0">
                <a:solidFill>
                  <a:srgbClr val="06B6D4"/>
                </a:solidFill>
                <a:latin typeface="Consolas" pitchFamily="34" charset="0"/>
                <a:ea typeface="Consolas" pitchFamily="34" charset="-122"/>
                <a:cs typeface="Consolas" pitchFamily="34" charset="-120"/>
              </a:rPr>
              <a:t>await</a:t>
            </a:r>
            <a:pPr indent="0" marL="0">
              <a:buNone/>
            </a:pPr>
            <a:r>
              <a:rPr lang="en-US" sz="1000" dirty="0">
                <a:solidFill>
                  <a:srgbClr val="F8FAFC"/>
                </a:solidFill>
                <a:latin typeface="Consolas" pitchFamily="34" charset="0"/>
                <a:ea typeface="Consolas" pitchFamily="34" charset="-122"/>
                <a:cs typeface="Consolas" pitchFamily="34" charset="-120"/>
              </a:rPr>
              <a:t> swarm.</a:t>
            </a:r>
            <a:pPr indent="0" marL="0">
              <a:buNone/>
            </a:pPr>
            <a:r>
              <a:rPr lang="en-US" sz="1000" dirty="0">
                <a:solidFill>
                  <a:srgbClr val="06B6D4"/>
                </a:solidFill>
                <a:latin typeface="Consolas" pitchFamily="34" charset="0"/>
                <a:ea typeface="Consolas" pitchFamily="34" charset="-122"/>
                <a:cs typeface="Consolas" pitchFamily="34" charset="-120"/>
              </a:rPr>
              <a:t>deploy</a:t>
            </a:r>
            <a:pPr indent="0" marL="0">
              <a:buNone/>
            </a:pPr>
            <a:r>
              <a:rPr lang="en-US" sz="1000" dirty="0">
                <a:solidFill>
                  <a:srgbClr val="F8FAFC"/>
                </a:solidFill>
                <a:latin typeface="Consolas" pitchFamily="34" charset="0"/>
                <a:ea typeface="Consolas" pitchFamily="34" charset="-122"/>
                <a:cs typeface="Consolas" pitchFamily="34" charset="-120"/>
              </a:rPr>
              <a:t>({</a:t>
            </a:r>
            <a:endParaRPr lang="en-US" sz="1000" dirty="0"/>
          </a:p>
        </p:txBody>
      </p:sp>
      <p:sp>
        <p:nvSpPr>
          <p:cNvPr id="15" name="Text 12"/>
          <p:cNvSpPr/>
          <p:nvPr/>
        </p:nvSpPr>
        <p:spPr>
          <a:xfrm>
            <a:off x="822960" y="2578608"/>
            <a:ext cx="7498080" cy="201168"/>
          </a:xfrm>
          <a:prstGeom prst="rect">
            <a:avLst/>
          </a:prstGeom>
          <a:noFill/>
          <a:ln/>
        </p:spPr>
        <p:txBody>
          <a:bodyPr wrap="square" lIns="0" tIns="0" rIns="0" bIns="0" rtlCol="0" anchor="ctr"/>
          <a:lstStyle/>
          <a:p>
            <a:pPr indent="0" marL="0">
              <a:buNone/>
            </a:pPr>
            <a:r>
              <a:rPr lang="en-US" sz="1000" dirty="0">
                <a:solidFill>
                  <a:srgbClr val="F8FAFC"/>
                </a:solidFill>
                <a:latin typeface="Consolas" pitchFamily="34" charset="0"/>
                <a:ea typeface="Consolas" pitchFamily="34" charset="-122"/>
                <a:cs typeface="Consolas" pitchFamily="34" charset="-120"/>
              </a:rPr>
              <a:t>  domains: [</a:t>
            </a:r>
            <a:pPr indent="0" marL="0">
              <a:buNone/>
            </a:pPr>
            <a:r>
              <a:rPr lang="en-US" sz="1000" dirty="0">
                <a:solidFill>
                  <a:srgbClr val="10B981"/>
                </a:solidFill>
                <a:latin typeface="Consolas" pitchFamily="34" charset="0"/>
                <a:ea typeface="Consolas" pitchFamily="34" charset="-122"/>
                <a:cs typeface="Consolas" pitchFamily="34" charset="-120"/>
              </a:rPr>
              <a:t>'billing'</a:t>
            </a:r>
            <a:pPr indent="0" marL="0">
              <a:buNone/>
            </a:pPr>
            <a:r>
              <a:rPr lang="en-US" sz="1000" dirty="0">
                <a:solidFill>
                  <a:srgbClr val="F8FAFC"/>
                </a:solidFill>
                <a:latin typeface="Consolas" pitchFamily="34" charset="0"/>
                <a:ea typeface="Consolas" pitchFamily="34" charset="-122"/>
                <a:cs typeface="Consolas" pitchFamily="34" charset="-120"/>
              </a:rPr>
              <a:t>, </a:t>
            </a:r>
            <a:pPr indent="0" marL="0">
              <a:buNone/>
            </a:pPr>
            <a:r>
              <a:rPr lang="en-US" sz="1000" dirty="0">
                <a:solidFill>
                  <a:srgbClr val="10B981"/>
                </a:solidFill>
                <a:latin typeface="Consolas" pitchFamily="34" charset="0"/>
                <a:ea typeface="Consolas" pitchFamily="34" charset="-122"/>
                <a:cs typeface="Consolas" pitchFamily="34" charset="-120"/>
              </a:rPr>
              <a:t>'compliance'</a:t>
            </a:r>
            <a:pPr indent="0" marL="0">
              <a:buNone/>
            </a:pPr>
            <a:r>
              <a:rPr lang="en-US" sz="1000" dirty="0">
                <a:solidFill>
                  <a:srgbClr val="F8FAFC"/>
                </a:solidFill>
                <a:latin typeface="Consolas" pitchFamily="34" charset="0"/>
                <a:ea typeface="Consolas" pitchFamily="34" charset="-122"/>
                <a:cs typeface="Consolas" pitchFamily="34" charset="-120"/>
              </a:rPr>
              <a:t>, </a:t>
            </a:r>
            <a:pPr indent="0" marL="0">
              <a:buNone/>
            </a:pPr>
            <a:r>
              <a:rPr lang="en-US" sz="1000" dirty="0">
                <a:solidFill>
                  <a:srgbClr val="10B981"/>
                </a:solidFill>
                <a:latin typeface="Consolas" pitchFamily="34" charset="0"/>
                <a:ea typeface="Consolas" pitchFamily="34" charset="-122"/>
                <a:cs typeface="Consolas" pitchFamily="34" charset="-120"/>
              </a:rPr>
              <a:t>'support'</a:t>
            </a:r>
            <a:pPr indent="0" marL="0">
              <a:buNone/>
            </a:pPr>
            <a:r>
              <a:rPr lang="en-US" sz="1000" dirty="0">
                <a:solidFill>
                  <a:srgbClr val="F8FAFC"/>
                </a:solidFill>
                <a:latin typeface="Consolas" pitchFamily="34" charset="0"/>
                <a:ea typeface="Consolas" pitchFamily="34" charset="-122"/>
                <a:cs typeface="Consolas" pitchFamily="34" charset="-120"/>
              </a:rPr>
              <a:t>],</a:t>
            </a:r>
            <a:endParaRPr lang="en-US" sz="1000" dirty="0"/>
          </a:p>
        </p:txBody>
      </p:sp>
      <p:sp>
        <p:nvSpPr>
          <p:cNvPr id="16" name="Text 13"/>
          <p:cNvSpPr/>
          <p:nvPr/>
        </p:nvSpPr>
        <p:spPr>
          <a:xfrm>
            <a:off x="822960" y="2761488"/>
            <a:ext cx="7498080" cy="201168"/>
          </a:xfrm>
          <a:prstGeom prst="rect">
            <a:avLst/>
          </a:prstGeom>
          <a:noFill/>
          <a:ln/>
        </p:spPr>
        <p:txBody>
          <a:bodyPr wrap="square" lIns="0" tIns="0" rIns="0" bIns="0" rtlCol="0" anchor="ctr"/>
          <a:lstStyle/>
          <a:p>
            <a:pPr indent="0" marL="0">
              <a:buNone/>
            </a:pPr>
            <a:r>
              <a:rPr lang="en-US" sz="1000" dirty="0">
                <a:solidFill>
                  <a:srgbClr val="F8FAFC"/>
                </a:solidFill>
                <a:latin typeface="Consolas" pitchFamily="34" charset="0"/>
                <a:ea typeface="Consolas" pitchFamily="34" charset="-122"/>
                <a:cs typeface="Consolas" pitchFamily="34" charset="-120"/>
              </a:rPr>
              <a:t>  memory: </a:t>
            </a:r>
            <a:pPr indent="0" marL="0">
              <a:buNone/>
            </a:pPr>
            <a:r>
              <a:rPr lang="en-US" sz="1000" dirty="0">
                <a:solidFill>
                  <a:srgbClr val="10B981"/>
                </a:solidFill>
                <a:latin typeface="Consolas" pitchFamily="34" charset="0"/>
                <a:ea typeface="Consolas" pitchFamily="34" charset="-122"/>
                <a:cs typeface="Consolas" pitchFamily="34" charset="-120"/>
              </a:rPr>
              <a:t>'persistent'</a:t>
            </a:r>
            <a:pPr indent="0" marL="0">
              <a:buNone/>
            </a:pPr>
            <a:r>
              <a:rPr lang="en-US" sz="1000" dirty="0">
                <a:solidFill>
                  <a:srgbClr val="F8FAFC"/>
                </a:solidFill>
                <a:latin typeface="Consolas" pitchFamily="34" charset="0"/>
                <a:ea typeface="Consolas" pitchFamily="34" charset="-122"/>
                <a:cs typeface="Consolas" pitchFamily="34" charset="-120"/>
              </a:rPr>
              <a:t>,       </a:t>
            </a:r>
            <a:pPr indent="0" marL="0">
              <a:buNone/>
            </a:pPr>
            <a:r>
              <a:rPr lang="en-US" sz="1000" dirty="0">
                <a:solidFill>
                  <a:srgbClr val="94A3B8"/>
                </a:solidFill>
                <a:latin typeface="Consolas" pitchFamily="34" charset="0"/>
                <a:ea typeface="Consolas" pitchFamily="34" charset="-122"/>
                <a:cs typeface="Consolas" pitchFamily="34" charset="-120"/>
              </a:rPr>
              <a:t>// AgentDB - agents remember everything</a:t>
            </a:r>
            <a:endParaRPr lang="en-US" sz="1000" dirty="0"/>
          </a:p>
        </p:txBody>
      </p:sp>
      <p:sp>
        <p:nvSpPr>
          <p:cNvPr id="17" name="Text 14"/>
          <p:cNvSpPr/>
          <p:nvPr/>
        </p:nvSpPr>
        <p:spPr>
          <a:xfrm>
            <a:off x="822960" y="2944368"/>
            <a:ext cx="7498080" cy="201168"/>
          </a:xfrm>
          <a:prstGeom prst="rect">
            <a:avLst/>
          </a:prstGeom>
          <a:noFill/>
          <a:ln/>
        </p:spPr>
        <p:txBody>
          <a:bodyPr wrap="square" lIns="0" tIns="0" rIns="0" bIns="0" rtlCol="0" anchor="ctr"/>
          <a:lstStyle/>
          <a:p>
            <a:pPr indent="0" marL="0">
              <a:buNone/>
            </a:pPr>
            <a:r>
              <a:rPr lang="en-US" sz="1000" dirty="0">
                <a:solidFill>
                  <a:srgbClr val="F8FAFC"/>
                </a:solidFill>
                <a:latin typeface="Consolas" pitchFamily="34" charset="0"/>
                <a:ea typeface="Consolas" pitchFamily="34" charset="-122"/>
                <a:cs typeface="Consolas" pitchFamily="34" charset="-120"/>
              </a:rPr>
              <a:t>  security: </a:t>
            </a:r>
            <a:pPr indent="0" marL="0">
              <a:buNone/>
            </a:pPr>
            <a:r>
              <a:rPr lang="en-US" sz="1000" dirty="0">
                <a:solidFill>
                  <a:srgbClr val="10B981"/>
                </a:solidFill>
                <a:latin typeface="Consolas" pitchFamily="34" charset="0"/>
                <a:ea typeface="Consolas" pitchFamily="34" charset="-122"/>
                <a:cs typeface="Consolas" pitchFamily="34" charset="-120"/>
              </a:rPr>
              <a:t>'aimds'</a:t>
            </a:r>
            <a:pPr indent="0" marL="0">
              <a:buNone/>
            </a:pPr>
            <a:r>
              <a:rPr lang="en-US" sz="1000" dirty="0">
                <a:solidFill>
                  <a:srgbClr val="F8FAFC"/>
                </a:solidFill>
                <a:latin typeface="Consolas" pitchFamily="34" charset="0"/>
                <a:ea typeface="Consolas" pitchFamily="34" charset="-122"/>
                <a:cs typeface="Consolas" pitchFamily="34" charset="-120"/>
              </a:rPr>
              <a:t>,          </a:t>
            </a:r>
            <a:pPr indent="0" marL="0">
              <a:buNone/>
            </a:pPr>
            <a:r>
              <a:rPr lang="en-US" sz="1000" dirty="0">
                <a:solidFill>
                  <a:srgbClr val="94A3B8"/>
                </a:solidFill>
                <a:latin typeface="Consolas" pitchFamily="34" charset="0"/>
                <a:ea typeface="Consolas" pitchFamily="34" charset="-122"/>
                <a:cs typeface="Consolas" pitchFamily="34" charset="-120"/>
              </a:rPr>
              <a:t>// Chaos theory threat detection</a:t>
            </a:r>
            <a:endParaRPr lang="en-US" sz="1000" dirty="0"/>
          </a:p>
        </p:txBody>
      </p:sp>
      <p:sp>
        <p:nvSpPr>
          <p:cNvPr id="18" name="Text 15"/>
          <p:cNvSpPr/>
          <p:nvPr/>
        </p:nvSpPr>
        <p:spPr>
          <a:xfrm>
            <a:off x="822960" y="3127248"/>
            <a:ext cx="7498080" cy="201168"/>
          </a:xfrm>
          <a:prstGeom prst="rect">
            <a:avLst/>
          </a:prstGeom>
          <a:noFill/>
          <a:ln/>
        </p:spPr>
        <p:txBody>
          <a:bodyPr wrap="square" lIns="0" tIns="0" rIns="0" bIns="0" rtlCol="0" anchor="ctr"/>
          <a:lstStyle/>
          <a:p>
            <a:pPr indent="0" marL="0">
              <a:buNone/>
            </a:pPr>
            <a:r>
              <a:rPr lang="en-US" sz="1000" dirty="0">
                <a:solidFill>
                  <a:srgbClr val="F8FAFC"/>
                </a:solidFill>
                <a:latin typeface="Consolas" pitchFamily="34" charset="0"/>
                <a:ea typeface="Consolas" pitchFamily="34" charset="-122"/>
                <a:cs typeface="Consolas" pitchFamily="34" charset="-120"/>
              </a:rPr>
              <a:t>  runtime: </a:t>
            </a:r>
            <a:pPr indent="0" marL="0">
              <a:buNone/>
            </a:pPr>
            <a:r>
              <a:rPr lang="en-US" sz="1000" dirty="0">
                <a:solidFill>
                  <a:srgbClr val="10B981"/>
                </a:solidFill>
                <a:latin typeface="Consolas" pitchFamily="34" charset="0"/>
                <a:ea typeface="Consolas" pitchFamily="34" charset="-122"/>
                <a:cs typeface="Consolas" pitchFamily="34" charset="-120"/>
              </a:rPr>
              <a:t>'rvf-wasm'</a:t>
            </a:r>
            <a:pPr indent="0" marL="0">
              <a:buNone/>
            </a:pPr>
            <a:r>
              <a:rPr lang="en-US" sz="1000" dirty="0">
                <a:solidFill>
                  <a:srgbClr val="F8FAFC"/>
                </a:solidFill>
                <a:latin typeface="Consolas" pitchFamily="34" charset="0"/>
                <a:ea typeface="Consolas" pitchFamily="34" charset="-122"/>
                <a:cs typeface="Consolas" pitchFamily="34" charset="-120"/>
              </a:rPr>
              <a:t>        </a:t>
            </a:r>
            <a:pPr indent="0" marL="0">
              <a:buNone/>
            </a:pPr>
            <a:r>
              <a:rPr lang="en-US" sz="1000" dirty="0">
                <a:solidFill>
                  <a:srgbClr val="94A3B8"/>
                </a:solidFill>
                <a:latin typeface="Consolas" pitchFamily="34" charset="0"/>
                <a:ea typeface="Consolas" pitchFamily="34" charset="-122"/>
                <a:cs typeface="Consolas" pitchFamily="34" charset="-120"/>
              </a:rPr>
              <a:t>// 5.5KB - runs anywhere</a:t>
            </a:r>
            <a:endParaRPr lang="en-US" sz="1000" dirty="0"/>
          </a:p>
        </p:txBody>
      </p:sp>
      <p:sp>
        <p:nvSpPr>
          <p:cNvPr id="19" name="Text 16"/>
          <p:cNvSpPr/>
          <p:nvPr/>
        </p:nvSpPr>
        <p:spPr>
          <a:xfrm>
            <a:off x="822960" y="3310128"/>
            <a:ext cx="7498080" cy="201168"/>
          </a:xfrm>
          <a:prstGeom prst="rect">
            <a:avLst/>
          </a:prstGeom>
          <a:noFill/>
          <a:ln/>
        </p:spPr>
        <p:txBody>
          <a:bodyPr wrap="square" lIns="0" tIns="0" rIns="0" bIns="0" rtlCol="0" anchor="ctr"/>
          <a:lstStyle/>
          <a:p>
            <a:pPr indent="0" marL="0">
              <a:buNone/>
            </a:pPr>
            <a:r>
              <a:rPr lang="en-US" sz="1000" dirty="0">
                <a:solidFill>
                  <a:srgbClr val="F8FAFC"/>
                </a:solidFill>
                <a:latin typeface="Consolas" pitchFamily="34" charset="0"/>
                <a:ea typeface="Consolas" pitchFamily="34" charset="-122"/>
                <a:cs typeface="Consolas" pitchFamily="34" charset="-120"/>
              </a:rPr>
              <a:t>});</a:t>
            </a:r>
            <a:endParaRPr lang="en-US" sz="1000" dirty="0"/>
          </a:p>
        </p:txBody>
      </p:sp>
      <p:sp>
        <p:nvSpPr>
          <p:cNvPr id="20" name="Text 17"/>
          <p:cNvSpPr/>
          <p:nvPr/>
        </p:nvSpPr>
        <p:spPr>
          <a:xfrm>
            <a:off x="822960" y="3538728"/>
            <a:ext cx="7498080" cy="201168"/>
          </a:xfrm>
          <a:prstGeom prst="rect">
            <a:avLst/>
          </a:prstGeom>
          <a:noFill/>
          <a:ln/>
        </p:spPr>
        <p:txBody>
          <a:bodyPr wrap="square" lIns="0" tIns="0" rIns="0" bIns="0" rtlCol="0" anchor="ctr"/>
          <a:lstStyle/>
          <a:p>
            <a:pPr indent="0" marL="0">
              <a:buNone/>
            </a:pPr>
            <a:r>
              <a:rPr lang="en-US" sz="1000" dirty="0">
                <a:solidFill>
                  <a:srgbClr val="8B5CF6"/>
                </a:solidFill>
                <a:latin typeface="Consolas" pitchFamily="34" charset="0"/>
                <a:ea typeface="Consolas" pitchFamily="34" charset="-122"/>
                <a:cs typeface="Consolas" pitchFamily="34" charset="-120"/>
              </a:rPr>
              <a:t>fleet</a:t>
            </a:r>
            <a:pPr indent="0" marL="0">
              <a:buNone/>
            </a:pPr>
            <a:r>
              <a:rPr lang="en-US" sz="1000" dirty="0">
                <a:solidFill>
                  <a:srgbClr val="F8FAFC"/>
                </a:solidFill>
                <a:latin typeface="Consolas" pitchFamily="34" charset="0"/>
                <a:ea typeface="Consolas" pitchFamily="34" charset="-122"/>
                <a:cs typeface="Consolas" pitchFamily="34" charset="-120"/>
              </a:rPr>
              <a:t>.</a:t>
            </a:r>
            <a:pPr indent="0" marL="0">
              <a:buNone/>
            </a:pPr>
            <a:r>
              <a:rPr lang="en-US" sz="1000" dirty="0">
                <a:solidFill>
                  <a:srgbClr val="06B6D4"/>
                </a:solidFill>
                <a:latin typeface="Consolas" pitchFamily="34" charset="0"/>
                <a:ea typeface="Consolas" pitchFamily="34" charset="-122"/>
                <a:cs typeface="Consolas" pitchFamily="34" charset="-120"/>
              </a:rPr>
              <a:t>on</a:t>
            </a:r>
            <a:pPr indent="0" marL="0">
              <a:buNone/>
            </a:pPr>
            <a:r>
              <a:rPr lang="en-US" sz="1000" dirty="0">
                <a:solidFill>
                  <a:srgbClr val="F8FAFC"/>
                </a:solidFill>
                <a:latin typeface="Consolas" pitchFamily="34" charset="0"/>
                <a:ea typeface="Consolas" pitchFamily="34" charset="-122"/>
                <a:cs typeface="Consolas" pitchFamily="34" charset="-120"/>
              </a:rPr>
              <a:t>(</a:t>
            </a:r>
            <a:pPr indent="0" marL="0">
              <a:buNone/>
            </a:pPr>
            <a:r>
              <a:rPr lang="en-US" sz="1000" dirty="0">
                <a:solidFill>
                  <a:srgbClr val="10B981"/>
                </a:solidFill>
                <a:latin typeface="Consolas" pitchFamily="34" charset="0"/>
                <a:ea typeface="Consolas" pitchFamily="34" charset="-122"/>
                <a:cs typeface="Consolas" pitchFamily="34" charset="-120"/>
              </a:rPr>
              <a:t>'resolution'</a:t>
            </a:r>
            <a:pPr indent="0" marL="0">
              <a:buNone/>
            </a:pPr>
            <a:r>
              <a:rPr lang="en-US" sz="1000" dirty="0">
                <a:solidFill>
                  <a:srgbClr val="F8FAFC"/>
                </a:solidFill>
                <a:latin typeface="Consolas" pitchFamily="34" charset="0"/>
                <a:ea typeface="Consolas" pitchFamily="34" charset="-122"/>
                <a:cs typeface="Consolas" pitchFamily="34" charset="-120"/>
              </a:rPr>
              <a:t>, (</a:t>
            </a:r>
            <a:pPr indent="0" marL="0">
              <a:buNone/>
            </a:pPr>
            <a:r>
              <a:rPr lang="en-US" sz="1000" dirty="0">
                <a:solidFill>
                  <a:srgbClr val="8B5CF6"/>
                </a:solidFill>
                <a:latin typeface="Consolas" pitchFamily="34" charset="0"/>
                <a:ea typeface="Consolas" pitchFamily="34" charset="-122"/>
                <a:cs typeface="Consolas" pitchFamily="34" charset="-120"/>
              </a:rPr>
              <a:t>data</a:t>
            </a:r>
            <a:pPr indent="0" marL="0">
              <a:buNone/>
            </a:pPr>
            <a:r>
              <a:rPr lang="en-US" sz="1000" dirty="0">
                <a:solidFill>
                  <a:srgbClr val="F8FAFC"/>
                </a:solidFill>
                <a:latin typeface="Consolas" pitchFamily="34" charset="0"/>
                <a:ea typeface="Consolas" pitchFamily="34" charset="-122"/>
                <a:cs typeface="Consolas" pitchFamily="34" charset="-120"/>
              </a:rPr>
              <a:t>) =&gt; {</a:t>
            </a:r>
            <a:endParaRPr lang="en-US" sz="1000" dirty="0"/>
          </a:p>
        </p:txBody>
      </p:sp>
      <p:sp>
        <p:nvSpPr>
          <p:cNvPr id="21" name="Text 18"/>
          <p:cNvSpPr/>
          <p:nvPr/>
        </p:nvSpPr>
        <p:spPr>
          <a:xfrm>
            <a:off x="822960" y="3721608"/>
            <a:ext cx="7498080" cy="201168"/>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  // SONA generates LoRA adapters automatically</a:t>
            </a:r>
            <a:endParaRPr lang="en-US" sz="1000" dirty="0"/>
          </a:p>
        </p:txBody>
      </p:sp>
      <p:sp>
        <p:nvSpPr>
          <p:cNvPr id="22" name="Text 19"/>
          <p:cNvSpPr/>
          <p:nvPr/>
        </p:nvSpPr>
        <p:spPr>
          <a:xfrm>
            <a:off x="822960" y="3858768"/>
            <a:ext cx="7498080" cy="201168"/>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  // Your AI gets smarter. Zero cost. Zero effort.</a:t>
            </a:r>
            <a:endParaRPr lang="en-US" sz="1000" dirty="0"/>
          </a:p>
        </p:txBody>
      </p:sp>
      <p:sp>
        <p:nvSpPr>
          <p:cNvPr id="23" name="Text 20"/>
          <p:cNvSpPr/>
          <p:nvPr/>
        </p:nvSpPr>
        <p:spPr>
          <a:xfrm>
            <a:off x="822960" y="4041648"/>
            <a:ext cx="7498080" cy="201168"/>
          </a:xfrm>
          <a:prstGeom prst="rect">
            <a:avLst/>
          </a:prstGeom>
          <a:noFill/>
          <a:ln/>
        </p:spPr>
        <p:txBody>
          <a:bodyPr wrap="square" lIns="0" tIns="0" rIns="0" bIns="0" rtlCol="0" anchor="ctr"/>
          <a:lstStyle/>
          <a:p>
            <a:pPr indent="0" marL="0">
              <a:buNone/>
            </a:pPr>
            <a:r>
              <a:rPr lang="en-US" sz="1000" dirty="0">
                <a:solidFill>
                  <a:srgbClr val="F8FAFC"/>
                </a:solidFill>
                <a:latin typeface="Consolas" pitchFamily="34" charset="0"/>
                <a:ea typeface="Consolas" pitchFamily="34" charset="-122"/>
                <a:cs typeface="Consolas" pitchFamily="34" charset="-120"/>
              </a:rPr>
              <a:t>});</a:t>
            </a:r>
            <a:endParaRPr lang="en-US" sz="1000" dirty="0"/>
          </a:p>
        </p:txBody>
      </p:sp>
      <p:sp>
        <p:nvSpPr>
          <p:cNvPr id="24" name="Shape 21"/>
          <p:cNvSpPr/>
          <p:nvPr/>
        </p:nvSpPr>
        <p:spPr>
          <a:xfrm>
            <a:off x="548640" y="4297680"/>
            <a:ext cx="8046720" cy="457200"/>
          </a:xfrm>
          <a:prstGeom prst="rect">
            <a:avLst/>
          </a:prstGeom>
          <a:solidFill>
            <a:srgbClr val="1A2744"/>
          </a:solidFill>
          <a:ln/>
        </p:spPr>
      </p:sp>
      <p:sp>
        <p:nvSpPr>
          <p:cNvPr id="25" name="Text 22"/>
          <p:cNvSpPr/>
          <p:nvPr/>
        </p:nvSpPr>
        <p:spPr>
          <a:xfrm>
            <a:off x="731520" y="4297680"/>
            <a:ext cx="7680960" cy="45720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Claude Code shipped sub-agents in March 2026. Ruflo shipped this in August 2025. 8 months earlier.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sp>
        <p:nvSpPr>
          <p:cNvPr id="3" name="Text 1"/>
          <p:cNvSpPr/>
          <p:nvPr/>
        </p:nvSpPr>
        <p:spPr>
          <a:xfrm>
            <a:off x="731520" y="320040"/>
            <a:ext cx="7680960" cy="457200"/>
          </a:xfrm>
          <a:prstGeom prst="rect">
            <a:avLst/>
          </a:prstGeom>
          <a:noFill/>
          <a:ln/>
        </p:spPr>
        <p:txBody>
          <a:bodyPr wrap="square" lIns="0" tIns="0" rIns="0" bIns="0" rtlCol="0" anchor="ctr"/>
          <a:lstStyle/>
          <a:p>
            <a:pPr indent="0" marL="0">
              <a:buNone/>
            </a:pPr>
            <a:r>
              <a:rPr lang="en-US" sz="2800" b="1" dirty="0">
                <a:solidFill>
                  <a:srgbClr val="F8FAFC"/>
                </a:solidFill>
                <a:latin typeface="Cambria" pitchFamily="34" charset="0"/>
                <a:ea typeface="Cambria" pitchFamily="34" charset="-122"/>
                <a:cs typeface="Cambria" pitchFamily="34" charset="-120"/>
              </a:rPr>
              <a:t>Bio-Inspired Nervous System</a:t>
            </a:r>
            <a:endParaRPr lang="en-US" sz="2800" dirty="0"/>
          </a:p>
        </p:txBody>
      </p:sp>
      <p:sp>
        <p:nvSpPr>
          <p:cNvPr id="4" name="Text 2"/>
          <p:cNvSpPr/>
          <p:nvPr/>
        </p:nvSpPr>
        <p:spPr>
          <a:xfrm>
            <a:off x="731520" y="777240"/>
            <a:ext cx="7315200" cy="27432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Not a metaphor — implemented computational neuroscience. 22.9K lines, 359 tests.</a:t>
            </a:r>
            <a:endParaRPr lang="en-US" sz="1300" dirty="0"/>
          </a:p>
        </p:txBody>
      </p:sp>
      <p:sp>
        <p:nvSpPr>
          <p:cNvPr id="5" name="Shape 3"/>
          <p:cNvSpPr/>
          <p:nvPr/>
        </p:nvSpPr>
        <p:spPr>
          <a:xfrm>
            <a:off x="731520" y="1234440"/>
            <a:ext cx="7680960" cy="530352"/>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6" name="Shape 4"/>
          <p:cNvSpPr/>
          <p:nvPr/>
        </p:nvSpPr>
        <p:spPr>
          <a:xfrm>
            <a:off x="731520" y="1234440"/>
            <a:ext cx="54864" cy="530352"/>
          </a:xfrm>
          <a:prstGeom prst="rect">
            <a:avLst/>
          </a:prstGeom>
          <a:solidFill>
            <a:srgbClr val="06B6D4"/>
          </a:solidFill>
          <a:ln/>
        </p:spPr>
      </p:sp>
      <p:sp>
        <p:nvSpPr>
          <p:cNvPr id="7" name="Text 5"/>
          <p:cNvSpPr/>
          <p:nvPr/>
        </p:nvSpPr>
        <p:spPr>
          <a:xfrm>
            <a:off x="1005840" y="1280160"/>
            <a:ext cx="2011680" cy="228600"/>
          </a:xfrm>
          <a:prstGeom prst="rect">
            <a:avLst/>
          </a:prstGeom>
          <a:noFill/>
          <a:ln/>
        </p:spPr>
        <p:txBody>
          <a:bodyPr wrap="square" lIns="0" tIns="0" rIns="0" bIns="0" rtlCol="0" anchor="ctr"/>
          <a:lstStyle/>
          <a:p>
            <a:pPr indent="0" marL="0">
              <a:buNone/>
            </a:pPr>
            <a:r>
              <a:rPr lang="en-US" sz="1200" b="1" dirty="0">
                <a:solidFill>
                  <a:srgbClr val="06B6D4"/>
                </a:solidFill>
                <a:latin typeface="Consolas" pitchFamily="34" charset="0"/>
                <a:ea typeface="Consolas" pitchFamily="34" charset="-122"/>
                <a:cs typeface="Consolas" pitchFamily="34" charset="-120"/>
              </a:rPr>
              <a:t>Layer 1: SENSING</a:t>
            </a:r>
            <a:endParaRPr lang="en-US" sz="1200" dirty="0"/>
          </a:p>
        </p:txBody>
      </p:sp>
      <p:sp>
        <p:nvSpPr>
          <p:cNvPr id="8" name="Text 6"/>
          <p:cNvSpPr/>
          <p:nvPr/>
        </p:nvSpPr>
        <p:spPr>
          <a:xfrm>
            <a:off x="3108960" y="1280160"/>
            <a:ext cx="1280160" cy="228600"/>
          </a:xfrm>
          <a:prstGeom prst="rect">
            <a:avLst/>
          </a:prstGeom>
          <a:noFill/>
          <a:ln/>
        </p:spPr>
        <p:txBody>
          <a:bodyPr wrap="square" lIns="0" tIns="0" rIns="0" bIns="0" rtlCol="0" anchor="ctr"/>
          <a:lstStyle/>
          <a:p>
            <a:pPr indent="0" marL="0">
              <a:buNone/>
            </a:pPr>
            <a:r>
              <a:rPr lang="en-US" sz="1200" dirty="0">
                <a:solidFill>
                  <a:srgbClr val="06B6D4"/>
                </a:solidFill>
                <a:latin typeface="Consolas" pitchFamily="34" charset="0"/>
                <a:ea typeface="Consolas" pitchFamily="34" charset="-122"/>
                <a:cs typeface="Consolas" pitchFamily="34" charset="-120"/>
              </a:rPr>
              <a:t>&lt;100ns</a:t>
            </a:r>
            <a:endParaRPr lang="en-US" sz="1200" dirty="0"/>
          </a:p>
        </p:txBody>
      </p:sp>
      <p:sp>
        <p:nvSpPr>
          <p:cNvPr id="9" name="Text 7"/>
          <p:cNvSpPr/>
          <p:nvPr/>
        </p:nvSpPr>
        <p:spPr>
          <a:xfrm>
            <a:off x="1005840" y="1508760"/>
            <a:ext cx="7132320" cy="2286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Lock-free ring buffers, 10K+ events/ms</a:t>
            </a:r>
            <a:endParaRPr lang="en-US" sz="1050" dirty="0"/>
          </a:p>
        </p:txBody>
      </p:sp>
      <p:sp>
        <p:nvSpPr>
          <p:cNvPr id="10" name="Shape 8"/>
          <p:cNvSpPr/>
          <p:nvPr/>
        </p:nvSpPr>
        <p:spPr>
          <a:xfrm>
            <a:off x="731520" y="1892808"/>
            <a:ext cx="7680960" cy="530352"/>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11" name="Shape 9"/>
          <p:cNvSpPr/>
          <p:nvPr/>
        </p:nvSpPr>
        <p:spPr>
          <a:xfrm>
            <a:off x="731520" y="1892808"/>
            <a:ext cx="54864" cy="530352"/>
          </a:xfrm>
          <a:prstGeom prst="rect">
            <a:avLst/>
          </a:prstGeom>
          <a:solidFill>
            <a:srgbClr val="0EA5E9"/>
          </a:solidFill>
          <a:ln/>
        </p:spPr>
      </p:sp>
      <p:sp>
        <p:nvSpPr>
          <p:cNvPr id="12" name="Text 10"/>
          <p:cNvSpPr/>
          <p:nvPr/>
        </p:nvSpPr>
        <p:spPr>
          <a:xfrm>
            <a:off x="1005840" y="1938528"/>
            <a:ext cx="2011680" cy="228600"/>
          </a:xfrm>
          <a:prstGeom prst="rect">
            <a:avLst/>
          </a:prstGeom>
          <a:noFill/>
          <a:ln/>
        </p:spPr>
        <p:txBody>
          <a:bodyPr wrap="square" lIns="0" tIns="0" rIns="0" bIns="0" rtlCol="0" anchor="ctr"/>
          <a:lstStyle/>
          <a:p>
            <a:pPr indent="0" marL="0">
              <a:buNone/>
            </a:pPr>
            <a:r>
              <a:rPr lang="en-US" sz="1200" b="1" dirty="0">
                <a:solidFill>
                  <a:srgbClr val="0EA5E9"/>
                </a:solidFill>
                <a:latin typeface="Consolas" pitchFamily="34" charset="0"/>
                <a:ea typeface="Consolas" pitchFamily="34" charset="-122"/>
                <a:cs typeface="Consolas" pitchFamily="34" charset="-120"/>
              </a:rPr>
              <a:t>Layer 2: REFLEX</a:t>
            </a:r>
            <a:endParaRPr lang="en-US" sz="1200" dirty="0"/>
          </a:p>
        </p:txBody>
      </p:sp>
      <p:sp>
        <p:nvSpPr>
          <p:cNvPr id="13" name="Text 11"/>
          <p:cNvSpPr/>
          <p:nvPr/>
        </p:nvSpPr>
        <p:spPr>
          <a:xfrm>
            <a:off x="3108960" y="1938528"/>
            <a:ext cx="1280160" cy="228600"/>
          </a:xfrm>
          <a:prstGeom prst="rect">
            <a:avLst/>
          </a:prstGeom>
          <a:noFill/>
          <a:ln/>
        </p:spPr>
        <p:txBody>
          <a:bodyPr wrap="square" lIns="0" tIns="0" rIns="0" bIns="0" rtlCol="0" anchor="ctr"/>
          <a:lstStyle/>
          <a:p>
            <a:pPr indent="0" marL="0">
              <a:buNone/>
            </a:pPr>
            <a:r>
              <a:rPr lang="en-US" sz="1200" dirty="0">
                <a:solidFill>
                  <a:srgbClr val="0EA5E9"/>
                </a:solidFill>
                <a:latin typeface="Consolas" pitchFamily="34" charset="0"/>
                <a:ea typeface="Consolas" pitchFamily="34" charset="-122"/>
                <a:cs typeface="Consolas" pitchFamily="34" charset="-120"/>
              </a:rPr>
              <a:t>&lt;1µs</a:t>
            </a:r>
            <a:endParaRPr lang="en-US" sz="1200" dirty="0"/>
          </a:p>
        </p:txBody>
      </p:sp>
      <p:sp>
        <p:nvSpPr>
          <p:cNvPr id="14" name="Text 12"/>
          <p:cNvSpPr/>
          <p:nvPr/>
        </p:nvSpPr>
        <p:spPr>
          <a:xfrm>
            <a:off x="1005840" y="2167128"/>
            <a:ext cx="7132320" cy="2286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K-Winner-Take-All, dendritic coincidence detection</a:t>
            </a:r>
            <a:endParaRPr lang="en-US" sz="1050" dirty="0"/>
          </a:p>
        </p:txBody>
      </p:sp>
      <p:sp>
        <p:nvSpPr>
          <p:cNvPr id="15" name="Shape 13"/>
          <p:cNvSpPr/>
          <p:nvPr/>
        </p:nvSpPr>
        <p:spPr>
          <a:xfrm>
            <a:off x="731520" y="2551176"/>
            <a:ext cx="7680960" cy="530352"/>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16" name="Shape 14"/>
          <p:cNvSpPr/>
          <p:nvPr/>
        </p:nvSpPr>
        <p:spPr>
          <a:xfrm>
            <a:off x="731520" y="2551176"/>
            <a:ext cx="54864" cy="530352"/>
          </a:xfrm>
          <a:prstGeom prst="rect">
            <a:avLst/>
          </a:prstGeom>
          <a:solidFill>
            <a:srgbClr val="8B5CF6"/>
          </a:solidFill>
          <a:ln/>
        </p:spPr>
      </p:sp>
      <p:sp>
        <p:nvSpPr>
          <p:cNvPr id="17" name="Text 15"/>
          <p:cNvSpPr/>
          <p:nvPr/>
        </p:nvSpPr>
        <p:spPr>
          <a:xfrm>
            <a:off x="1005840" y="2596896"/>
            <a:ext cx="2011680" cy="228600"/>
          </a:xfrm>
          <a:prstGeom prst="rect">
            <a:avLst/>
          </a:prstGeom>
          <a:noFill/>
          <a:ln/>
        </p:spPr>
        <p:txBody>
          <a:bodyPr wrap="square" lIns="0" tIns="0" rIns="0" bIns="0" rtlCol="0" anchor="ctr"/>
          <a:lstStyle/>
          <a:p>
            <a:pPr indent="0" marL="0">
              <a:buNone/>
            </a:pPr>
            <a:r>
              <a:rPr lang="en-US" sz="1200" b="1" dirty="0">
                <a:solidFill>
                  <a:srgbClr val="8B5CF6"/>
                </a:solidFill>
                <a:latin typeface="Consolas" pitchFamily="34" charset="0"/>
                <a:ea typeface="Consolas" pitchFamily="34" charset="-122"/>
                <a:cs typeface="Consolas" pitchFamily="34" charset="-120"/>
              </a:rPr>
              <a:t>Layer 3: MEMORY</a:t>
            </a:r>
            <a:endParaRPr lang="en-US" sz="1200" dirty="0"/>
          </a:p>
        </p:txBody>
      </p:sp>
      <p:sp>
        <p:nvSpPr>
          <p:cNvPr id="18" name="Text 16"/>
          <p:cNvSpPr/>
          <p:nvPr/>
        </p:nvSpPr>
        <p:spPr>
          <a:xfrm>
            <a:off x="3108960" y="2596896"/>
            <a:ext cx="1280160" cy="228600"/>
          </a:xfrm>
          <a:prstGeom prst="rect">
            <a:avLst/>
          </a:prstGeom>
          <a:noFill/>
          <a:ln/>
        </p:spPr>
        <p:txBody>
          <a:bodyPr wrap="square" lIns="0" tIns="0" rIns="0" bIns="0" rtlCol="0" anchor="ctr"/>
          <a:lstStyle/>
          <a:p>
            <a:pPr indent="0" marL="0">
              <a:buNone/>
            </a:pPr>
            <a:r>
              <a:rPr lang="en-US" sz="1200" dirty="0">
                <a:solidFill>
                  <a:srgbClr val="8B5CF6"/>
                </a:solidFill>
                <a:latin typeface="Consolas" pitchFamily="34" charset="0"/>
                <a:ea typeface="Consolas" pitchFamily="34" charset="-122"/>
                <a:cs typeface="Consolas" pitchFamily="34" charset="-120"/>
              </a:rPr>
              <a:t>10³⁰ cap</a:t>
            </a:r>
            <a:endParaRPr lang="en-US" sz="1200" dirty="0"/>
          </a:p>
        </p:txBody>
      </p:sp>
      <p:sp>
        <p:nvSpPr>
          <p:cNvPr id="19" name="Text 17"/>
          <p:cNvSpPr/>
          <p:nvPr/>
        </p:nvSpPr>
        <p:spPr>
          <a:xfrm>
            <a:off x="1005840" y="2825496"/>
            <a:ext cx="7132320" cy="2286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Hyperdimensional Computing, XOR binding &lt;50ns</a:t>
            </a:r>
            <a:endParaRPr lang="en-US" sz="1050" dirty="0"/>
          </a:p>
        </p:txBody>
      </p:sp>
      <p:sp>
        <p:nvSpPr>
          <p:cNvPr id="20" name="Shape 18"/>
          <p:cNvSpPr/>
          <p:nvPr/>
        </p:nvSpPr>
        <p:spPr>
          <a:xfrm>
            <a:off x="731520" y="3209544"/>
            <a:ext cx="7680960" cy="530352"/>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21" name="Shape 19"/>
          <p:cNvSpPr/>
          <p:nvPr/>
        </p:nvSpPr>
        <p:spPr>
          <a:xfrm>
            <a:off x="731520" y="3209544"/>
            <a:ext cx="54864" cy="530352"/>
          </a:xfrm>
          <a:prstGeom prst="rect">
            <a:avLst/>
          </a:prstGeom>
          <a:solidFill>
            <a:srgbClr val="F59E0B"/>
          </a:solidFill>
          <a:ln/>
        </p:spPr>
      </p:sp>
      <p:sp>
        <p:nvSpPr>
          <p:cNvPr id="22" name="Text 20"/>
          <p:cNvSpPr/>
          <p:nvPr/>
        </p:nvSpPr>
        <p:spPr>
          <a:xfrm>
            <a:off x="1005840" y="3255264"/>
            <a:ext cx="2011680" cy="228600"/>
          </a:xfrm>
          <a:prstGeom prst="rect">
            <a:avLst/>
          </a:prstGeom>
          <a:noFill/>
          <a:ln/>
        </p:spPr>
        <p:txBody>
          <a:bodyPr wrap="square" lIns="0" tIns="0" rIns="0" bIns="0" rtlCol="0" anchor="ctr"/>
          <a:lstStyle/>
          <a:p>
            <a:pPr indent="0" marL="0">
              <a:buNone/>
            </a:pPr>
            <a:r>
              <a:rPr lang="en-US" sz="1200" b="1" dirty="0">
                <a:solidFill>
                  <a:srgbClr val="F59E0B"/>
                </a:solidFill>
                <a:latin typeface="Consolas" pitchFamily="34" charset="0"/>
                <a:ea typeface="Consolas" pitchFamily="34" charset="-122"/>
                <a:cs typeface="Consolas" pitchFamily="34" charset="-120"/>
              </a:rPr>
              <a:t>Layer 4: LEARNING</a:t>
            </a:r>
            <a:endParaRPr lang="en-US" sz="1200" dirty="0"/>
          </a:p>
        </p:txBody>
      </p:sp>
      <p:sp>
        <p:nvSpPr>
          <p:cNvPr id="23" name="Text 21"/>
          <p:cNvSpPr/>
          <p:nvPr/>
        </p:nvSpPr>
        <p:spPr>
          <a:xfrm>
            <a:off x="3108960" y="3255264"/>
            <a:ext cx="1280160" cy="228600"/>
          </a:xfrm>
          <a:prstGeom prst="rect">
            <a:avLst/>
          </a:prstGeom>
          <a:noFill/>
          <a:ln/>
        </p:spPr>
        <p:txBody>
          <a:bodyPr wrap="square" lIns="0" tIns="0" rIns="0" bIns="0" rtlCol="0" anchor="ctr"/>
          <a:lstStyle/>
          <a:p>
            <a:pPr indent="0" marL="0">
              <a:buNone/>
            </a:pPr>
            <a:r>
              <a:rPr lang="en-US" sz="1200" dirty="0">
                <a:solidFill>
                  <a:srgbClr val="F59E0B"/>
                </a:solidFill>
                <a:latin typeface="Consolas" pitchFamily="34" charset="0"/>
                <a:ea typeface="Consolas" pitchFamily="34" charset="-122"/>
                <a:cs typeface="Consolas" pitchFamily="34" charset="-120"/>
              </a:rPr>
              <a:t>O(1)/synapse</a:t>
            </a:r>
            <a:endParaRPr lang="en-US" sz="1200" dirty="0"/>
          </a:p>
        </p:txBody>
      </p:sp>
      <p:sp>
        <p:nvSpPr>
          <p:cNvPr id="24" name="Text 22"/>
          <p:cNvSpPr/>
          <p:nvPr/>
        </p:nvSpPr>
        <p:spPr>
          <a:xfrm>
            <a:off x="1005840" y="3483864"/>
            <a:ext cx="7132320" cy="2286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BTSP one-shot, E-prop online, EWC++ anti-forgetting</a:t>
            </a:r>
            <a:endParaRPr lang="en-US" sz="1050" dirty="0"/>
          </a:p>
        </p:txBody>
      </p:sp>
      <p:sp>
        <p:nvSpPr>
          <p:cNvPr id="25" name="Shape 23"/>
          <p:cNvSpPr/>
          <p:nvPr/>
        </p:nvSpPr>
        <p:spPr>
          <a:xfrm>
            <a:off x="731520" y="3867912"/>
            <a:ext cx="7680960" cy="530352"/>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26" name="Shape 24"/>
          <p:cNvSpPr/>
          <p:nvPr/>
        </p:nvSpPr>
        <p:spPr>
          <a:xfrm>
            <a:off x="731520" y="3867912"/>
            <a:ext cx="54864" cy="530352"/>
          </a:xfrm>
          <a:prstGeom prst="rect">
            <a:avLst/>
          </a:prstGeom>
          <a:solidFill>
            <a:srgbClr val="10B981"/>
          </a:solidFill>
          <a:ln/>
        </p:spPr>
      </p:sp>
      <p:sp>
        <p:nvSpPr>
          <p:cNvPr id="27" name="Text 25"/>
          <p:cNvSpPr/>
          <p:nvPr/>
        </p:nvSpPr>
        <p:spPr>
          <a:xfrm>
            <a:off x="1005840" y="3913632"/>
            <a:ext cx="2011680" cy="228600"/>
          </a:xfrm>
          <a:prstGeom prst="rect">
            <a:avLst/>
          </a:prstGeom>
          <a:noFill/>
          <a:ln/>
        </p:spPr>
        <p:txBody>
          <a:bodyPr wrap="square" lIns="0" tIns="0" rIns="0" bIns="0" rtlCol="0" anchor="ctr"/>
          <a:lstStyle/>
          <a:p>
            <a:pPr indent="0" marL="0">
              <a:buNone/>
            </a:pPr>
            <a:r>
              <a:rPr lang="en-US" sz="1200" b="1" dirty="0">
                <a:solidFill>
                  <a:srgbClr val="10B981"/>
                </a:solidFill>
                <a:latin typeface="Consolas" pitchFamily="34" charset="0"/>
                <a:ea typeface="Consolas" pitchFamily="34" charset="-122"/>
                <a:cs typeface="Consolas" pitchFamily="34" charset="-120"/>
              </a:rPr>
              <a:t>Layer 5: COHERENCE</a:t>
            </a:r>
            <a:endParaRPr lang="en-US" sz="1200" dirty="0"/>
          </a:p>
        </p:txBody>
      </p:sp>
      <p:sp>
        <p:nvSpPr>
          <p:cNvPr id="28" name="Text 26"/>
          <p:cNvSpPr/>
          <p:nvPr/>
        </p:nvSpPr>
        <p:spPr>
          <a:xfrm>
            <a:off x="3108960" y="3913632"/>
            <a:ext cx="1280160" cy="228600"/>
          </a:xfrm>
          <a:prstGeom prst="rect">
            <a:avLst/>
          </a:prstGeom>
          <a:noFill/>
          <a:ln/>
        </p:spPr>
        <p:txBody>
          <a:bodyPr wrap="square" lIns="0" tIns="0" rIns="0" bIns="0" rtlCol="0" anchor="ctr"/>
          <a:lstStyle/>
          <a:p>
            <a:pPr indent="0" marL="0">
              <a:buNone/>
            </a:pPr>
            <a:r>
              <a:rPr lang="en-US" sz="1200" dirty="0">
                <a:solidFill>
                  <a:srgbClr val="10B981"/>
                </a:solidFill>
                <a:latin typeface="Consolas" pitchFamily="34" charset="0"/>
                <a:ea typeface="Consolas" pitchFamily="34" charset="-122"/>
                <a:cs typeface="Consolas" pitchFamily="34" charset="-120"/>
              </a:rPr>
              <a:t>40Hz gamma</a:t>
            </a:r>
            <a:endParaRPr lang="en-US" sz="1200" dirty="0"/>
          </a:p>
        </p:txBody>
      </p:sp>
      <p:sp>
        <p:nvSpPr>
          <p:cNvPr id="29" name="Text 27"/>
          <p:cNvSpPr/>
          <p:nvPr/>
        </p:nvSpPr>
        <p:spPr>
          <a:xfrm>
            <a:off x="1005840" y="4142232"/>
            <a:ext cx="7132320" cy="2286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Kuramoto oscillators, global workspace, predictive coding</a:t>
            </a:r>
            <a:endParaRPr lang="en-US" sz="1050" dirty="0"/>
          </a:p>
        </p:txBody>
      </p:sp>
      <p:sp>
        <p:nvSpPr>
          <p:cNvPr id="30" name="Shape 28"/>
          <p:cNvSpPr/>
          <p:nvPr/>
        </p:nvSpPr>
        <p:spPr>
          <a:xfrm>
            <a:off x="731520" y="4389120"/>
            <a:ext cx="7680960" cy="365760"/>
          </a:xfrm>
          <a:prstGeom prst="rect">
            <a:avLst/>
          </a:prstGeom>
          <a:solidFill>
            <a:srgbClr val="1A2744"/>
          </a:solidFill>
          <a:ln/>
        </p:spPr>
      </p:sp>
      <p:sp>
        <p:nvSpPr>
          <p:cNvPr id="31" name="Text 29"/>
          <p:cNvSpPr/>
          <p:nvPr/>
        </p:nvSpPr>
        <p:spPr>
          <a:xfrm>
            <a:off x="914400" y="4389120"/>
            <a:ext cx="7315200" cy="365760"/>
          </a:xfrm>
          <a:prstGeom prst="rect">
            <a:avLst/>
          </a:prstGeom>
          <a:noFill/>
          <a:ln/>
        </p:spPr>
        <p:txBody>
          <a:bodyPr wrap="square" lIns="0" tIns="0" rIns="0" bIns="0" rtlCol="0" anchor="ctr"/>
          <a:lstStyle/>
          <a:p>
            <a:pPr indent="0" marL="0">
              <a:buNone/>
            </a:pPr>
            <a:r>
              <a:rPr lang="en-US" sz="1100" dirty="0">
                <a:solidFill>
                  <a:srgbClr val="06B6D4"/>
                </a:solidFill>
                <a:latin typeface="Calibri" pitchFamily="34" charset="0"/>
                <a:ea typeface="Calibri" pitchFamily="34" charset="-122"/>
                <a:cs typeface="Calibri" pitchFamily="34" charset="-120"/>
              </a:rPr>
              <a:t>Circadian Controller: 5-50x compute savings during quiet periods — the system sleeps when you do</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pic>
        <p:nvPicPr>
          <p:cNvPr id="3" name="Image 0" descr="/Users/stuartkerr/Code/Ask-Ruvnet/Ask-Ruvnet/docs/presentations/images/03-compounding-advantage.png">    </p:cNvPr>
          <p:cNvPicPr>
            <a:picLocks noChangeAspect="1"/>
          </p:cNvPicPr>
          <p:nvPr/>
        </p:nvPicPr>
        <p:blipFill>
          <a:blip r:embed="rId1">
            <a:alphaModFix amt="7000"/>
          </a:blip>
          <a:stretch>
            <a:fillRect/>
          </a:stretch>
        </p:blipFill>
        <p:spPr>
          <a:xfrm>
            <a:off x="0" y="0"/>
            <a:ext cx="9144000" cy="5143500"/>
          </a:xfrm>
          <a:prstGeom prst="rect">
            <a:avLst/>
          </a:prstGeom>
        </p:spPr>
      </p:pic>
      <p:sp>
        <p:nvSpPr>
          <p:cNvPr id="4" name="Text 1"/>
          <p:cNvSpPr/>
          <p:nvPr/>
        </p:nvSpPr>
        <p:spPr>
          <a:xfrm>
            <a:off x="731520" y="320040"/>
            <a:ext cx="7680960" cy="457200"/>
          </a:xfrm>
          <a:prstGeom prst="rect">
            <a:avLst/>
          </a:prstGeom>
          <a:noFill/>
          <a:ln/>
        </p:spPr>
        <p:txBody>
          <a:bodyPr wrap="square" lIns="0" tIns="0" rIns="0" bIns="0" rtlCol="0" anchor="ctr"/>
          <a:lstStyle/>
          <a:p>
            <a:pPr indent="0" marL="0">
              <a:buNone/>
            </a:pPr>
            <a:r>
              <a:rPr lang="en-US" sz="2800" b="1" dirty="0">
                <a:solidFill>
                  <a:srgbClr val="F8FAFC"/>
                </a:solidFill>
                <a:latin typeface="Cambria" pitchFamily="34" charset="0"/>
                <a:ea typeface="Cambria" pitchFamily="34" charset="-122"/>
                <a:cs typeface="Cambria" pitchFamily="34" charset="-120"/>
              </a:rPr>
              <a:t>We Built the Future 8 Months Early</a:t>
            </a:r>
            <a:endParaRPr lang="en-US" sz="2800" dirty="0"/>
          </a:p>
        </p:txBody>
      </p:sp>
      <p:sp>
        <p:nvSpPr>
          <p:cNvPr id="5" name="Text 2"/>
          <p:cNvSpPr/>
          <p:nvPr/>
        </p:nvSpPr>
        <p:spPr>
          <a:xfrm>
            <a:off x="731520" y="777240"/>
            <a:ext cx="7315200" cy="274320"/>
          </a:xfrm>
          <a:prstGeom prst="rect">
            <a:avLst/>
          </a:prstGeom>
          <a:noFill/>
          <a:ln/>
        </p:spPr>
        <p:txBody>
          <a:bodyPr wrap="square" lIns="0" tIns="0" rIns="0" bIns="0" rtlCol="0" anchor="ctr"/>
          <a:lstStyle/>
          <a:p>
            <a:pPr indent="0" marL="0">
              <a:buNone/>
            </a:pPr>
            <a:r>
              <a:rPr lang="en-US" sz="1400" i="1" dirty="0">
                <a:solidFill>
                  <a:srgbClr val="06B6D4"/>
                </a:solidFill>
                <a:latin typeface="Calibri" pitchFamily="34" charset="0"/>
                <a:ea typeface="Calibri" pitchFamily="34" charset="-122"/>
                <a:cs typeface="Calibri" pitchFamily="34" charset="-120"/>
              </a:rPr>
              <a:t>RuvNet doesn't follow the industry roadmap. The industry follows ours.</a:t>
            </a:r>
            <a:endParaRPr lang="en-US" sz="1400" dirty="0"/>
          </a:p>
        </p:txBody>
      </p:sp>
      <p:sp>
        <p:nvSpPr>
          <p:cNvPr id="6" name="Shape 3"/>
          <p:cNvSpPr/>
          <p:nvPr/>
        </p:nvSpPr>
        <p:spPr>
          <a:xfrm>
            <a:off x="868680" y="1389888"/>
            <a:ext cx="146304" cy="146304"/>
          </a:xfrm>
          <a:prstGeom prst="ellipse">
            <a:avLst/>
          </a:prstGeom>
          <a:solidFill>
            <a:srgbClr val="06B6D4"/>
          </a:solidFill>
          <a:ln/>
        </p:spPr>
      </p:sp>
      <p:sp>
        <p:nvSpPr>
          <p:cNvPr id="7" name="Shape 4"/>
          <p:cNvSpPr/>
          <p:nvPr/>
        </p:nvSpPr>
        <p:spPr>
          <a:xfrm>
            <a:off x="923544" y="1536192"/>
            <a:ext cx="36576" cy="566928"/>
          </a:xfrm>
          <a:prstGeom prst="rect">
            <a:avLst/>
          </a:prstGeom>
          <a:solidFill>
            <a:srgbClr val="2A3550"/>
          </a:solidFill>
          <a:ln/>
        </p:spPr>
      </p:sp>
      <p:sp>
        <p:nvSpPr>
          <p:cNvPr id="8" name="Shape 5"/>
          <p:cNvSpPr/>
          <p:nvPr/>
        </p:nvSpPr>
        <p:spPr>
          <a:xfrm>
            <a:off x="1234440" y="1298448"/>
            <a:ext cx="914400" cy="292608"/>
          </a:xfrm>
          <a:prstGeom prst="rect">
            <a:avLst/>
          </a:prstGeom>
          <a:solidFill>
            <a:srgbClr val="0D2A2E"/>
          </a:solidFill>
          <a:ln/>
        </p:spPr>
      </p:sp>
      <p:sp>
        <p:nvSpPr>
          <p:cNvPr id="9" name="Text 6"/>
          <p:cNvSpPr/>
          <p:nvPr/>
        </p:nvSpPr>
        <p:spPr>
          <a:xfrm>
            <a:off x="1234440" y="1298448"/>
            <a:ext cx="914400" cy="292608"/>
          </a:xfrm>
          <a:prstGeom prst="rect">
            <a:avLst/>
          </a:prstGeom>
          <a:noFill/>
          <a:ln/>
        </p:spPr>
        <p:txBody>
          <a:bodyPr wrap="square" lIns="0" tIns="0" rIns="0" bIns="0" rtlCol="0" anchor="ctr"/>
          <a:lstStyle/>
          <a:p>
            <a:pPr algn="ctr" indent="0" marL="0">
              <a:buNone/>
            </a:pPr>
            <a:r>
              <a:rPr lang="en-US" sz="1000" b="1" dirty="0">
                <a:solidFill>
                  <a:srgbClr val="06B6D4"/>
                </a:solidFill>
                <a:latin typeface="Consolas" pitchFamily="34" charset="0"/>
                <a:ea typeface="Consolas" pitchFamily="34" charset="-122"/>
                <a:cs typeface="Consolas" pitchFamily="34" charset="-120"/>
              </a:rPr>
              <a:t>Aug 2025</a:t>
            </a:r>
            <a:endParaRPr lang="en-US" sz="1000" dirty="0"/>
          </a:p>
        </p:txBody>
      </p:sp>
      <p:sp>
        <p:nvSpPr>
          <p:cNvPr id="10" name="Text 7"/>
          <p:cNvSpPr/>
          <p:nvPr/>
        </p:nvSpPr>
        <p:spPr>
          <a:xfrm>
            <a:off x="2286000" y="1280160"/>
            <a:ext cx="5943600" cy="228600"/>
          </a:xfrm>
          <a:prstGeom prst="rect">
            <a:avLst/>
          </a:prstGeom>
          <a:noFill/>
          <a:ln/>
        </p:spPr>
        <p:txBody>
          <a:bodyPr wrap="square" lIns="0" tIns="0" rIns="0" bIns="0"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Ruflo ships multi-agent orchestration</a:t>
            </a:r>
            <a:endParaRPr lang="en-US" sz="1300" dirty="0"/>
          </a:p>
        </p:txBody>
      </p:sp>
      <p:sp>
        <p:nvSpPr>
          <p:cNvPr id="11" name="Text 8"/>
          <p:cNvSpPr/>
          <p:nvPr/>
        </p:nvSpPr>
        <p:spPr>
          <a:xfrm>
            <a:off x="2286000" y="1527048"/>
            <a:ext cx="59436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150+ agent types, 5 topologies, hierarchical swarms with anti-drift detection</a:t>
            </a:r>
            <a:endParaRPr lang="en-US" sz="1000" dirty="0"/>
          </a:p>
        </p:txBody>
      </p:sp>
      <p:sp>
        <p:nvSpPr>
          <p:cNvPr id="12" name="Shape 9"/>
          <p:cNvSpPr/>
          <p:nvPr/>
        </p:nvSpPr>
        <p:spPr>
          <a:xfrm>
            <a:off x="7589520" y="1298448"/>
            <a:ext cx="685800" cy="256032"/>
          </a:xfrm>
          <a:prstGeom prst="rect">
            <a:avLst/>
          </a:prstGeom>
          <a:solidFill>
            <a:srgbClr val="0D2A2E"/>
          </a:solidFill>
          <a:ln/>
        </p:spPr>
      </p:sp>
      <p:sp>
        <p:nvSpPr>
          <p:cNvPr id="13" name="Text 10"/>
          <p:cNvSpPr/>
          <p:nvPr/>
        </p:nvSpPr>
        <p:spPr>
          <a:xfrm>
            <a:off x="7589520" y="1298448"/>
            <a:ext cx="685800" cy="256032"/>
          </a:xfrm>
          <a:prstGeom prst="rect">
            <a:avLst/>
          </a:prstGeom>
          <a:noFill/>
          <a:ln/>
        </p:spPr>
        <p:txBody>
          <a:bodyPr wrap="square" lIns="0" tIns="0" rIns="0" bIns="0" rtlCol="0" anchor="ctr"/>
          <a:lstStyle/>
          <a:p>
            <a:pPr algn="ctr" indent="0" marL="0">
              <a:buNone/>
            </a:pPr>
            <a:r>
              <a:rPr lang="en-US" sz="800" b="1" dirty="0">
                <a:solidFill>
                  <a:srgbClr val="10B981"/>
                </a:solidFill>
                <a:latin typeface="Consolas" pitchFamily="34" charset="0"/>
                <a:ea typeface="Consolas" pitchFamily="34" charset="-122"/>
                <a:cs typeface="Consolas" pitchFamily="34" charset="-120"/>
              </a:rPr>
              <a:t>SHIPPED</a:t>
            </a:r>
            <a:endParaRPr lang="en-US" sz="800" dirty="0"/>
          </a:p>
        </p:txBody>
      </p:sp>
      <p:sp>
        <p:nvSpPr>
          <p:cNvPr id="14" name="Shape 11"/>
          <p:cNvSpPr/>
          <p:nvPr/>
        </p:nvSpPr>
        <p:spPr>
          <a:xfrm>
            <a:off x="868680" y="2075688"/>
            <a:ext cx="146304" cy="146304"/>
          </a:xfrm>
          <a:prstGeom prst="ellipse">
            <a:avLst/>
          </a:prstGeom>
          <a:solidFill>
            <a:srgbClr val="0EA5E9"/>
          </a:solidFill>
          <a:ln/>
        </p:spPr>
      </p:sp>
      <p:sp>
        <p:nvSpPr>
          <p:cNvPr id="15" name="Shape 12"/>
          <p:cNvSpPr/>
          <p:nvPr/>
        </p:nvSpPr>
        <p:spPr>
          <a:xfrm>
            <a:off x="923544" y="2221992"/>
            <a:ext cx="36576" cy="566928"/>
          </a:xfrm>
          <a:prstGeom prst="rect">
            <a:avLst/>
          </a:prstGeom>
          <a:solidFill>
            <a:srgbClr val="2A3550"/>
          </a:solidFill>
          <a:ln/>
        </p:spPr>
      </p:sp>
      <p:sp>
        <p:nvSpPr>
          <p:cNvPr id="16" name="Shape 13"/>
          <p:cNvSpPr/>
          <p:nvPr/>
        </p:nvSpPr>
        <p:spPr>
          <a:xfrm>
            <a:off x="1234440" y="1984248"/>
            <a:ext cx="914400" cy="292608"/>
          </a:xfrm>
          <a:prstGeom prst="rect">
            <a:avLst/>
          </a:prstGeom>
          <a:solidFill>
            <a:srgbClr val="0D2A2E"/>
          </a:solidFill>
          <a:ln/>
        </p:spPr>
      </p:sp>
      <p:sp>
        <p:nvSpPr>
          <p:cNvPr id="17" name="Text 14"/>
          <p:cNvSpPr/>
          <p:nvPr/>
        </p:nvSpPr>
        <p:spPr>
          <a:xfrm>
            <a:off x="1234440" y="1984248"/>
            <a:ext cx="914400" cy="292608"/>
          </a:xfrm>
          <a:prstGeom prst="rect">
            <a:avLst/>
          </a:prstGeom>
          <a:noFill/>
          <a:ln/>
        </p:spPr>
        <p:txBody>
          <a:bodyPr wrap="square" lIns="0" tIns="0" rIns="0" bIns="0" rtlCol="0" anchor="ctr"/>
          <a:lstStyle/>
          <a:p>
            <a:pPr algn="ctr" indent="0" marL="0">
              <a:buNone/>
            </a:pPr>
            <a:r>
              <a:rPr lang="en-US" sz="1000" b="1" dirty="0">
                <a:solidFill>
                  <a:srgbClr val="0EA5E9"/>
                </a:solidFill>
                <a:latin typeface="Consolas" pitchFamily="34" charset="0"/>
                <a:ea typeface="Consolas" pitchFamily="34" charset="-122"/>
                <a:cs typeface="Consolas" pitchFamily="34" charset="-120"/>
              </a:rPr>
              <a:t>Oct 2025</a:t>
            </a:r>
            <a:endParaRPr lang="en-US" sz="1000" dirty="0"/>
          </a:p>
        </p:txBody>
      </p:sp>
      <p:sp>
        <p:nvSpPr>
          <p:cNvPr id="18" name="Text 15"/>
          <p:cNvSpPr/>
          <p:nvPr/>
        </p:nvSpPr>
        <p:spPr>
          <a:xfrm>
            <a:off x="2286000" y="1965960"/>
            <a:ext cx="5943600" cy="228600"/>
          </a:xfrm>
          <a:prstGeom prst="rect">
            <a:avLst/>
          </a:prstGeom>
          <a:noFill/>
          <a:ln/>
        </p:spPr>
        <p:txBody>
          <a:bodyPr wrap="square" lIns="0" tIns="0" rIns="0" bIns="0"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RVF cognitive containers ship (5.5KB)</a:t>
            </a:r>
            <a:endParaRPr lang="en-US" sz="1300" dirty="0"/>
          </a:p>
        </p:txBody>
      </p:sp>
      <p:sp>
        <p:nvSpPr>
          <p:cNvPr id="19" name="Text 16"/>
          <p:cNvSpPr/>
          <p:nvPr/>
        </p:nvSpPr>
        <p:spPr>
          <a:xfrm>
            <a:off x="2286000" y="2212848"/>
            <a:ext cx="59436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24-segment binary format. WASM runtime. Self-booting intelligence units.</a:t>
            </a:r>
            <a:endParaRPr lang="en-US" sz="1000" dirty="0"/>
          </a:p>
        </p:txBody>
      </p:sp>
      <p:sp>
        <p:nvSpPr>
          <p:cNvPr id="20" name="Shape 17"/>
          <p:cNvSpPr/>
          <p:nvPr/>
        </p:nvSpPr>
        <p:spPr>
          <a:xfrm>
            <a:off x="7589520" y="1984248"/>
            <a:ext cx="685800" cy="256032"/>
          </a:xfrm>
          <a:prstGeom prst="rect">
            <a:avLst/>
          </a:prstGeom>
          <a:solidFill>
            <a:srgbClr val="0D2A2E"/>
          </a:solidFill>
          <a:ln/>
        </p:spPr>
      </p:sp>
      <p:sp>
        <p:nvSpPr>
          <p:cNvPr id="21" name="Text 18"/>
          <p:cNvSpPr/>
          <p:nvPr/>
        </p:nvSpPr>
        <p:spPr>
          <a:xfrm>
            <a:off x="7589520" y="1984248"/>
            <a:ext cx="685800" cy="256032"/>
          </a:xfrm>
          <a:prstGeom prst="rect">
            <a:avLst/>
          </a:prstGeom>
          <a:noFill/>
          <a:ln/>
        </p:spPr>
        <p:txBody>
          <a:bodyPr wrap="square" lIns="0" tIns="0" rIns="0" bIns="0" rtlCol="0" anchor="ctr"/>
          <a:lstStyle/>
          <a:p>
            <a:pPr algn="ctr" indent="0" marL="0">
              <a:buNone/>
            </a:pPr>
            <a:r>
              <a:rPr lang="en-US" sz="800" b="1" dirty="0">
                <a:solidFill>
                  <a:srgbClr val="10B981"/>
                </a:solidFill>
                <a:latin typeface="Consolas" pitchFamily="34" charset="0"/>
                <a:ea typeface="Consolas" pitchFamily="34" charset="-122"/>
                <a:cs typeface="Consolas" pitchFamily="34" charset="-120"/>
              </a:rPr>
              <a:t>SHIPPED</a:t>
            </a:r>
            <a:endParaRPr lang="en-US" sz="800" dirty="0"/>
          </a:p>
        </p:txBody>
      </p:sp>
      <p:sp>
        <p:nvSpPr>
          <p:cNvPr id="22" name="Shape 19"/>
          <p:cNvSpPr/>
          <p:nvPr/>
        </p:nvSpPr>
        <p:spPr>
          <a:xfrm>
            <a:off x="868680" y="2761488"/>
            <a:ext cx="146304" cy="146304"/>
          </a:xfrm>
          <a:prstGeom prst="ellipse">
            <a:avLst/>
          </a:prstGeom>
          <a:solidFill>
            <a:srgbClr val="8B5CF6"/>
          </a:solidFill>
          <a:ln/>
        </p:spPr>
      </p:sp>
      <p:sp>
        <p:nvSpPr>
          <p:cNvPr id="23" name="Shape 20"/>
          <p:cNvSpPr/>
          <p:nvPr/>
        </p:nvSpPr>
        <p:spPr>
          <a:xfrm>
            <a:off x="923544" y="2907792"/>
            <a:ext cx="36576" cy="566928"/>
          </a:xfrm>
          <a:prstGeom prst="rect">
            <a:avLst/>
          </a:prstGeom>
          <a:solidFill>
            <a:srgbClr val="2A3550"/>
          </a:solidFill>
          <a:ln/>
        </p:spPr>
      </p:sp>
      <p:sp>
        <p:nvSpPr>
          <p:cNvPr id="24" name="Shape 21"/>
          <p:cNvSpPr/>
          <p:nvPr/>
        </p:nvSpPr>
        <p:spPr>
          <a:xfrm>
            <a:off x="1234440" y="2670048"/>
            <a:ext cx="914400" cy="292608"/>
          </a:xfrm>
          <a:prstGeom prst="rect">
            <a:avLst/>
          </a:prstGeom>
          <a:solidFill>
            <a:srgbClr val="0D2A2E"/>
          </a:solidFill>
          <a:ln/>
        </p:spPr>
      </p:sp>
      <p:sp>
        <p:nvSpPr>
          <p:cNvPr id="25" name="Text 22"/>
          <p:cNvSpPr/>
          <p:nvPr/>
        </p:nvSpPr>
        <p:spPr>
          <a:xfrm>
            <a:off x="1234440" y="2670048"/>
            <a:ext cx="914400" cy="292608"/>
          </a:xfrm>
          <a:prstGeom prst="rect">
            <a:avLst/>
          </a:prstGeom>
          <a:noFill/>
          <a:ln/>
        </p:spPr>
        <p:txBody>
          <a:bodyPr wrap="square" lIns="0" tIns="0" rIns="0" bIns="0" rtlCol="0" anchor="ctr"/>
          <a:lstStyle/>
          <a:p>
            <a:pPr algn="ctr" indent="0" marL="0">
              <a:buNone/>
            </a:pPr>
            <a:r>
              <a:rPr lang="en-US" sz="1000" b="1" dirty="0">
                <a:solidFill>
                  <a:srgbClr val="8B5CF6"/>
                </a:solidFill>
                <a:latin typeface="Consolas" pitchFamily="34" charset="0"/>
                <a:ea typeface="Consolas" pitchFamily="34" charset="-122"/>
                <a:cs typeface="Consolas" pitchFamily="34" charset="-120"/>
              </a:rPr>
              <a:t>Dec 2025</a:t>
            </a:r>
            <a:endParaRPr lang="en-US" sz="1000" dirty="0"/>
          </a:p>
        </p:txBody>
      </p:sp>
      <p:sp>
        <p:nvSpPr>
          <p:cNvPr id="26" name="Text 23"/>
          <p:cNvSpPr/>
          <p:nvPr/>
        </p:nvSpPr>
        <p:spPr>
          <a:xfrm>
            <a:off x="2286000" y="2651760"/>
            <a:ext cx="5943600" cy="228600"/>
          </a:xfrm>
          <a:prstGeom prst="rect">
            <a:avLst/>
          </a:prstGeom>
          <a:noFill/>
          <a:ln/>
        </p:spPr>
        <p:txBody>
          <a:bodyPr wrap="square" lIns="0" tIns="0" rIns="0" bIns="0"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MinCut dynamic partitioning ships</a:t>
            </a:r>
            <a:endParaRPr lang="en-US" sz="1300" dirty="0"/>
          </a:p>
        </p:txBody>
      </p:sp>
      <p:sp>
        <p:nvSpPr>
          <p:cNvPr id="27" name="Text 24"/>
          <p:cNvSpPr/>
          <p:nvPr/>
        </p:nvSpPr>
        <p:spPr>
          <a:xfrm>
            <a:off x="2286000" y="2898648"/>
            <a:ext cx="59436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Stoer-Wagner algorithm. Self-healing graph analytics. 448+ tests.</a:t>
            </a:r>
            <a:endParaRPr lang="en-US" sz="1000" dirty="0"/>
          </a:p>
        </p:txBody>
      </p:sp>
      <p:sp>
        <p:nvSpPr>
          <p:cNvPr id="28" name="Shape 25"/>
          <p:cNvSpPr/>
          <p:nvPr/>
        </p:nvSpPr>
        <p:spPr>
          <a:xfrm>
            <a:off x="7589520" y="2670048"/>
            <a:ext cx="685800" cy="256032"/>
          </a:xfrm>
          <a:prstGeom prst="rect">
            <a:avLst/>
          </a:prstGeom>
          <a:solidFill>
            <a:srgbClr val="0D2A2E"/>
          </a:solidFill>
          <a:ln/>
        </p:spPr>
      </p:sp>
      <p:sp>
        <p:nvSpPr>
          <p:cNvPr id="29" name="Text 26"/>
          <p:cNvSpPr/>
          <p:nvPr/>
        </p:nvSpPr>
        <p:spPr>
          <a:xfrm>
            <a:off x="7589520" y="2670048"/>
            <a:ext cx="685800" cy="256032"/>
          </a:xfrm>
          <a:prstGeom prst="rect">
            <a:avLst/>
          </a:prstGeom>
          <a:noFill/>
          <a:ln/>
        </p:spPr>
        <p:txBody>
          <a:bodyPr wrap="square" lIns="0" tIns="0" rIns="0" bIns="0" rtlCol="0" anchor="ctr"/>
          <a:lstStyle/>
          <a:p>
            <a:pPr algn="ctr" indent="0" marL="0">
              <a:buNone/>
            </a:pPr>
            <a:r>
              <a:rPr lang="en-US" sz="800" b="1" dirty="0">
                <a:solidFill>
                  <a:srgbClr val="10B981"/>
                </a:solidFill>
                <a:latin typeface="Consolas" pitchFamily="34" charset="0"/>
                <a:ea typeface="Consolas" pitchFamily="34" charset="-122"/>
                <a:cs typeface="Consolas" pitchFamily="34" charset="-120"/>
              </a:rPr>
              <a:t>SHIPPED</a:t>
            </a:r>
            <a:endParaRPr lang="en-US" sz="800" dirty="0"/>
          </a:p>
        </p:txBody>
      </p:sp>
      <p:sp>
        <p:nvSpPr>
          <p:cNvPr id="30" name="Shape 27"/>
          <p:cNvSpPr/>
          <p:nvPr/>
        </p:nvSpPr>
        <p:spPr>
          <a:xfrm>
            <a:off x="868680" y="3447288"/>
            <a:ext cx="146304" cy="146304"/>
          </a:xfrm>
          <a:prstGeom prst="ellipse">
            <a:avLst/>
          </a:prstGeom>
          <a:solidFill>
            <a:srgbClr val="F59E0B"/>
          </a:solidFill>
          <a:ln/>
        </p:spPr>
      </p:sp>
      <p:sp>
        <p:nvSpPr>
          <p:cNvPr id="31" name="Shape 28"/>
          <p:cNvSpPr/>
          <p:nvPr/>
        </p:nvSpPr>
        <p:spPr>
          <a:xfrm>
            <a:off x="923544" y="3593592"/>
            <a:ext cx="36576" cy="566928"/>
          </a:xfrm>
          <a:prstGeom prst="rect">
            <a:avLst/>
          </a:prstGeom>
          <a:solidFill>
            <a:srgbClr val="2A3550"/>
          </a:solidFill>
          <a:ln/>
        </p:spPr>
      </p:sp>
      <p:sp>
        <p:nvSpPr>
          <p:cNvPr id="32" name="Shape 29"/>
          <p:cNvSpPr/>
          <p:nvPr/>
        </p:nvSpPr>
        <p:spPr>
          <a:xfrm>
            <a:off x="1234440" y="3355848"/>
            <a:ext cx="914400" cy="292608"/>
          </a:xfrm>
          <a:prstGeom prst="rect">
            <a:avLst/>
          </a:prstGeom>
          <a:solidFill>
            <a:srgbClr val="1E293B"/>
          </a:solidFill>
          <a:ln/>
        </p:spPr>
      </p:sp>
      <p:sp>
        <p:nvSpPr>
          <p:cNvPr id="33" name="Text 30"/>
          <p:cNvSpPr/>
          <p:nvPr/>
        </p:nvSpPr>
        <p:spPr>
          <a:xfrm>
            <a:off x="1234440" y="3355848"/>
            <a:ext cx="914400" cy="292608"/>
          </a:xfrm>
          <a:prstGeom prst="rect">
            <a:avLst/>
          </a:prstGeom>
          <a:noFill/>
          <a:ln/>
        </p:spPr>
        <p:txBody>
          <a:bodyPr wrap="square" lIns="0" tIns="0" rIns="0" bIns="0" rtlCol="0" anchor="ctr"/>
          <a:lstStyle/>
          <a:p>
            <a:pPr algn="ctr" indent="0" marL="0">
              <a:buNone/>
            </a:pPr>
            <a:r>
              <a:rPr lang="en-US" sz="1000" b="1" dirty="0">
                <a:solidFill>
                  <a:srgbClr val="F59E0B"/>
                </a:solidFill>
                <a:latin typeface="Consolas" pitchFamily="34" charset="0"/>
                <a:ea typeface="Consolas" pitchFamily="34" charset="-122"/>
                <a:cs typeface="Consolas" pitchFamily="34" charset="-120"/>
              </a:rPr>
              <a:t>Mar 2026</a:t>
            </a:r>
            <a:endParaRPr lang="en-US" sz="1000" dirty="0"/>
          </a:p>
        </p:txBody>
      </p:sp>
      <p:sp>
        <p:nvSpPr>
          <p:cNvPr id="34" name="Text 31"/>
          <p:cNvSpPr/>
          <p:nvPr/>
        </p:nvSpPr>
        <p:spPr>
          <a:xfrm>
            <a:off x="2286000" y="3337560"/>
            <a:ext cx="5943600" cy="228600"/>
          </a:xfrm>
          <a:prstGeom prst="rect">
            <a:avLst/>
          </a:prstGeom>
          <a:noFill/>
          <a:ln/>
        </p:spPr>
        <p:txBody>
          <a:bodyPr wrap="square" lIns="0" tIns="0" rIns="0" bIns="0" rtlCol="0" anchor="ctr"/>
          <a:lstStyle/>
          <a:p>
            <a:pPr indent="0" marL="0">
              <a:buNone/>
            </a:pPr>
            <a:r>
              <a:rPr lang="en-US" sz="1300" b="1" dirty="0">
                <a:solidFill>
                  <a:srgbClr val="94A3B8"/>
                </a:solidFill>
                <a:latin typeface="Calibri" pitchFamily="34" charset="0"/>
                <a:ea typeface="Calibri" pitchFamily="34" charset="-122"/>
                <a:cs typeface="Calibri" pitchFamily="34" charset="-120"/>
              </a:rPr>
              <a:t>Claude Code ships "sub-agents"</a:t>
            </a:r>
            <a:endParaRPr lang="en-US" sz="1300" dirty="0"/>
          </a:p>
        </p:txBody>
      </p:sp>
      <p:sp>
        <p:nvSpPr>
          <p:cNvPr id="35" name="Text 32"/>
          <p:cNvSpPr/>
          <p:nvPr/>
        </p:nvSpPr>
        <p:spPr>
          <a:xfrm>
            <a:off x="2286000" y="3584448"/>
            <a:ext cx="59436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Anthropic announces sub-agent capability. 8 months after Ruflo.</a:t>
            </a:r>
            <a:endParaRPr lang="en-US" sz="1000" dirty="0"/>
          </a:p>
        </p:txBody>
      </p:sp>
      <p:sp>
        <p:nvSpPr>
          <p:cNvPr id="36" name="Shape 33"/>
          <p:cNvSpPr/>
          <p:nvPr/>
        </p:nvSpPr>
        <p:spPr>
          <a:xfrm>
            <a:off x="868680" y="4133088"/>
            <a:ext cx="146304" cy="146304"/>
          </a:xfrm>
          <a:prstGeom prst="ellipse">
            <a:avLst/>
          </a:prstGeom>
          <a:solidFill>
            <a:srgbClr val="94A3B8"/>
          </a:solidFill>
          <a:ln/>
        </p:spPr>
      </p:sp>
      <p:sp>
        <p:nvSpPr>
          <p:cNvPr id="37" name="Shape 34"/>
          <p:cNvSpPr/>
          <p:nvPr/>
        </p:nvSpPr>
        <p:spPr>
          <a:xfrm>
            <a:off x="1234440" y="4041648"/>
            <a:ext cx="914400" cy="292608"/>
          </a:xfrm>
          <a:prstGeom prst="rect">
            <a:avLst/>
          </a:prstGeom>
          <a:solidFill>
            <a:srgbClr val="1E293B"/>
          </a:solidFill>
          <a:ln/>
        </p:spPr>
      </p:sp>
      <p:sp>
        <p:nvSpPr>
          <p:cNvPr id="38" name="Text 35"/>
          <p:cNvSpPr/>
          <p:nvPr/>
        </p:nvSpPr>
        <p:spPr>
          <a:xfrm>
            <a:off x="1234440" y="4041648"/>
            <a:ext cx="914400" cy="292608"/>
          </a:xfrm>
          <a:prstGeom prst="rect">
            <a:avLst/>
          </a:prstGeom>
          <a:noFill/>
          <a:ln/>
        </p:spPr>
        <p:txBody>
          <a:bodyPr wrap="square" lIns="0" tIns="0" rIns="0" bIns="0" rtlCol="0" anchor="ctr"/>
          <a:lstStyle/>
          <a:p>
            <a:pPr algn="ctr" indent="0" marL="0">
              <a:buNone/>
            </a:pPr>
            <a:r>
              <a:rPr lang="en-US" sz="1000" b="1" dirty="0">
                <a:solidFill>
                  <a:srgbClr val="94A3B8"/>
                </a:solidFill>
                <a:latin typeface="Consolas" pitchFamily="34" charset="0"/>
                <a:ea typeface="Consolas" pitchFamily="34" charset="-122"/>
                <a:cs typeface="Consolas" pitchFamily="34" charset="-120"/>
              </a:rPr>
              <a:t>???</a:t>
            </a:r>
            <a:endParaRPr lang="en-US" sz="1000" dirty="0"/>
          </a:p>
        </p:txBody>
      </p:sp>
      <p:sp>
        <p:nvSpPr>
          <p:cNvPr id="39" name="Text 36"/>
          <p:cNvSpPr/>
          <p:nvPr/>
        </p:nvSpPr>
        <p:spPr>
          <a:xfrm>
            <a:off x="2286000" y="4023360"/>
            <a:ext cx="5943600" cy="228600"/>
          </a:xfrm>
          <a:prstGeom prst="rect">
            <a:avLst/>
          </a:prstGeom>
          <a:noFill/>
          <a:ln/>
        </p:spPr>
        <p:txBody>
          <a:bodyPr wrap="square" lIns="0" tIns="0" rIns="0" bIns="0" rtlCol="0" anchor="ctr"/>
          <a:lstStyle/>
          <a:p>
            <a:pPr indent="0" marL="0">
              <a:buNone/>
            </a:pPr>
            <a:r>
              <a:rPr lang="en-US" sz="1300" b="1" dirty="0">
                <a:solidFill>
                  <a:srgbClr val="94A3B8"/>
                </a:solidFill>
                <a:latin typeface="Calibri" pitchFamily="34" charset="0"/>
                <a:ea typeface="Calibri" pitchFamily="34" charset="-122"/>
                <a:cs typeface="Calibri" pitchFamily="34" charset="-120"/>
              </a:rPr>
              <a:t>Industry catches up on vector search, WASM, chaos security</a:t>
            </a:r>
            <a:endParaRPr lang="en-US" sz="1300" dirty="0"/>
          </a:p>
        </p:txBody>
      </p:sp>
      <p:sp>
        <p:nvSpPr>
          <p:cNvPr id="40" name="Text 37"/>
          <p:cNvSpPr/>
          <p:nvPr/>
        </p:nvSpPr>
        <p:spPr>
          <a:xfrm>
            <a:off x="2286000" y="4270248"/>
            <a:ext cx="59436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Still waiting for anyone to match RuVector, RVF, or AIMDS.</a:t>
            </a:r>
            <a:endParaRPr lang="en-US" sz="1000" dirty="0"/>
          </a:p>
        </p:txBody>
      </p:sp>
      <p:sp>
        <p:nvSpPr>
          <p:cNvPr id="41" name="Shape 38"/>
          <p:cNvSpPr/>
          <p:nvPr/>
        </p:nvSpPr>
        <p:spPr>
          <a:xfrm>
            <a:off x="731520" y="4572000"/>
            <a:ext cx="7680960" cy="411480"/>
          </a:xfrm>
          <a:prstGeom prst="rect">
            <a:avLst/>
          </a:prstGeom>
          <a:solidFill>
            <a:srgbClr val="0D2A2E"/>
          </a:solidFill>
          <a:ln/>
        </p:spPr>
      </p:sp>
      <p:sp>
        <p:nvSpPr>
          <p:cNvPr id="42" name="Text 39"/>
          <p:cNvSpPr/>
          <p:nvPr/>
        </p:nvSpPr>
        <p:spPr>
          <a:xfrm>
            <a:off x="914400" y="4572000"/>
            <a:ext cx="7315200" cy="411480"/>
          </a:xfrm>
          <a:prstGeom prst="rect">
            <a:avLst/>
          </a:prstGeom>
          <a:noFill/>
          <a:ln/>
        </p:spPr>
        <p:txBody>
          <a:bodyPr wrap="square" lIns="0" tIns="0" rIns="0" bIns="0"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Two standard deviations beyond state of the art. Open source. MIT license. Free.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sp>
        <p:nvSpPr>
          <p:cNvPr id="3" name="Text 1"/>
          <p:cNvSpPr/>
          <p:nvPr/>
        </p:nvSpPr>
        <p:spPr>
          <a:xfrm>
            <a:off x="731520" y="320040"/>
            <a:ext cx="7680960" cy="457200"/>
          </a:xfrm>
          <a:prstGeom prst="rect">
            <a:avLst/>
          </a:prstGeom>
          <a:noFill/>
          <a:ln/>
        </p:spPr>
        <p:txBody>
          <a:bodyPr wrap="square" lIns="0" tIns="0" rIns="0" bIns="0" rtlCol="0" anchor="ctr"/>
          <a:lstStyle/>
          <a:p>
            <a:pPr indent="0" marL="0">
              <a:buNone/>
            </a:pPr>
            <a:r>
              <a:rPr lang="en-US" sz="2600" b="1" dirty="0">
                <a:solidFill>
                  <a:srgbClr val="F8FAFC"/>
                </a:solidFill>
                <a:latin typeface="Cambria" pitchFamily="34" charset="0"/>
                <a:ea typeface="Cambria" pitchFamily="34" charset="-122"/>
                <a:cs typeface="Cambria" pitchFamily="34" charset="-120"/>
              </a:rPr>
              <a:t>Graph Analytics: MinCut + GNN + HNSW</a:t>
            </a:r>
            <a:endParaRPr lang="en-US" sz="2600" dirty="0"/>
          </a:p>
        </p:txBody>
      </p:sp>
      <p:sp>
        <p:nvSpPr>
          <p:cNvPr id="4" name="Text 2"/>
          <p:cNvSpPr/>
          <p:nvPr/>
        </p:nvSpPr>
        <p:spPr>
          <a:xfrm>
            <a:off x="731520" y="777240"/>
            <a:ext cx="7315200" cy="27432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Stoer-Wagner algorithm. 448+ tests. Production graph intelligence.</a:t>
            </a:r>
            <a:endParaRPr lang="en-US" sz="1300" dirty="0"/>
          </a:p>
        </p:txBody>
      </p:sp>
      <p:sp>
        <p:nvSpPr>
          <p:cNvPr id="5" name="Shape 3"/>
          <p:cNvSpPr/>
          <p:nvPr/>
        </p:nvSpPr>
        <p:spPr>
          <a:xfrm>
            <a:off x="731520" y="1234440"/>
            <a:ext cx="3749040" cy="210312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6" name="Shape 4"/>
          <p:cNvSpPr/>
          <p:nvPr/>
        </p:nvSpPr>
        <p:spPr>
          <a:xfrm>
            <a:off x="731520" y="1234440"/>
            <a:ext cx="3749040" cy="36576"/>
          </a:xfrm>
          <a:prstGeom prst="rect">
            <a:avLst/>
          </a:prstGeom>
          <a:solidFill>
            <a:srgbClr val="06B6D4"/>
          </a:solidFill>
          <a:ln/>
        </p:spPr>
      </p:sp>
      <p:sp>
        <p:nvSpPr>
          <p:cNvPr id="7" name="Text 5"/>
          <p:cNvSpPr/>
          <p:nvPr/>
        </p:nvSpPr>
        <p:spPr>
          <a:xfrm>
            <a:off x="914400" y="1325880"/>
            <a:ext cx="3383280" cy="228600"/>
          </a:xfrm>
          <a:prstGeom prst="rect">
            <a:avLst/>
          </a:prstGeom>
          <a:noFill/>
          <a:ln/>
        </p:spPr>
        <p:txBody>
          <a:bodyPr wrap="square" lIns="0" tIns="0" rIns="0" bIns="0" rtlCol="0" anchor="ctr"/>
          <a:lstStyle/>
          <a:p>
            <a:pPr indent="0" marL="0">
              <a:buNone/>
            </a:pPr>
            <a:r>
              <a:rPr lang="en-US" sz="1200" b="1" dirty="0">
                <a:solidFill>
                  <a:srgbClr val="06B6D4"/>
                </a:solidFill>
                <a:latin typeface="Consolas" pitchFamily="34" charset="0"/>
                <a:ea typeface="Consolas" pitchFamily="34" charset="-122"/>
                <a:cs typeface="Consolas" pitchFamily="34" charset="-120"/>
              </a:rPr>
              <a:t>MinCut Applications</a:t>
            </a:r>
            <a:endParaRPr lang="en-US" sz="1200" dirty="0"/>
          </a:p>
        </p:txBody>
      </p:sp>
      <p:sp>
        <p:nvSpPr>
          <p:cNvPr id="8" name="Text 6"/>
          <p:cNvSpPr/>
          <p:nvPr/>
        </p:nvSpPr>
        <p:spPr>
          <a:xfrm>
            <a:off x="914400" y="1645920"/>
            <a:ext cx="3383280" cy="1554480"/>
          </a:xfrm>
          <a:prstGeom prst="rect">
            <a:avLst/>
          </a:prstGeom>
          <a:noFill/>
          <a:ln/>
        </p:spPr>
        <p:txBody>
          <a:bodyPr wrap="square" rtlCol="0" anchor="ctr"/>
          <a:lstStyle/>
          <a:p>
            <a:pPr marL="342900" indent="-3429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Finding architectural bottlenecks</a:t>
            </a:r>
            <a:endParaRPr lang="en-US" sz="1050" dirty="0"/>
          </a:p>
          <a:p>
            <a:pPr marL="342900" indent="-3429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Identifying weak points in distributed systems</a:t>
            </a:r>
            <a:endParaRPr lang="en-US" sz="1050" dirty="0"/>
          </a:p>
          <a:p>
            <a:pPr marL="342900" indent="-3429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Detecting natural module boundaries</a:t>
            </a:r>
            <a:endParaRPr lang="en-US" sz="1050" dirty="0"/>
          </a:p>
          <a:p>
            <a:pPr marL="342900" indent="-3429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Measuring attack surface</a:t>
            </a:r>
            <a:endParaRPr lang="en-US" sz="1050" dirty="0"/>
          </a:p>
          <a:p>
            <a:pPr marL="342900" indent="-3429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Swarm topology optimization</a:t>
            </a:r>
            <a:endParaRPr lang="en-US" sz="1050" dirty="0"/>
          </a:p>
          <a:p>
            <a:pPr marL="342900" indent="-3429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Anti-pattern detection via absence analysis</a:t>
            </a:r>
            <a:endParaRPr lang="en-US" sz="1050" dirty="0"/>
          </a:p>
        </p:txBody>
      </p:sp>
      <p:sp>
        <p:nvSpPr>
          <p:cNvPr id="9" name="Shape 7"/>
          <p:cNvSpPr/>
          <p:nvPr/>
        </p:nvSpPr>
        <p:spPr>
          <a:xfrm>
            <a:off x="4663440" y="1234440"/>
            <a:ext cx="3749040" cy="210312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10" name="Shape 8"/>
          <p:cNvSpPr/>
          <p:nvPr/>
        </p:nvSpPr>
        <p:spPr>
          <a:xfrm>
            <a:off x="4663440" y="1234440"/>
            <a:ext cx="3749040" cy="36576"/>
          </a:xfrm>
          <a:prstGeom prst="rect">
            <a:avLst/>
          </a:prstGeom>
          <a:solidFill>
            <a:srgbClr val="0EA5E9"/>
          </a:solidFill>
          <a:ln/>
        </p:spPr>
      </p:sp>
      <p:sp>
        <p:nvSpPr>
          <p:cNvPr id="11" name="Text 9"/>
          <p:cNvSpPr/>
          <p:nvPr/>
        </p:nvSpPr>
        <p:spPr>
          <a:xfrm>
            <a:off x="4846320" y="1325880"/>
            <a:ext cx="3383280" cy="228600"/>
          </a:xfrm>
          <a:prstGeom prst="rect">
            <a:avLst/>
          </a:prstGeom>
          <a:noFill/>
          <a:ln/>
        </p:spPr>
        <p:txBody>
          <a:bodyPr wrap="square" lIns="0" tIns="0" rIns="0" bIns="0" rtlCol="0" anchor="ctr"/>
          <a:lstStyle/>
          <a:p>
            <a:pPr indent="0" marL="0">
              <a:buNone/>
            </a:pPr>
            <a:r>
              <a:rPr lang="en-US" sz="1200" b="1" dirty="0">
                <a:solidFill>
                  <a:srgbClr val="0EA5E9"/>
                </a:solidFill>
                <a:latin typeface="Consolas" pitchFamily="34" charset="0"/>
                <a:ea typeface="Consolas" pitchFamily="34" charset="-122"/>
                <a:cs typeface="Consolas" pitchFamily="34" charset="-120"/>
              </a:rPr>
              <a:t>GNN on HNSW Topology</a:t>
            </a:r>
            <a:endParaRPr lang="en-US" sz="1200" dirty="0"/>
          </a:p>
        </p:txBody>
      </p:sp>
      <p:sp>
        <p:nvSpPr>
          <p:cNvPr id="12" name="Text 10"/>
          <p:cNvSpPr/>
          <p:nvPr/>
        </p:nvSpPr>
        <p:spPr>
          <a:xfrm>
            <a:off x="4846320" y="1645920"/>
            <a:ext cx="3383280" cy="1554480"/>
          </a:xfrm>
          <a:prstGeom prst="rect">
            <a:avLst/>
          </a:prstGeom>
          <a:noFill/>
          <a:ln/>
        </p:spPr>
        <p:txBody>
          <a:bodyPr wrap="square" rtlCol="0" anchor="ctr"/>
          <a:lstStyle/>
          <a:p>
            <a:pPr marL="342900" indent="-3429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GCN, GAT, GraphSAGE implementations</a:t>
            </a:r>
            <a:endParaRPr lang="en-US" sz="1050" dirty="0"/>
          </a:p>
          <a:p>
            <a:pPr marL="342900" indent="-3429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GraphRoPE: hop-distance-aware embeddings</a:t>
            </a:r>
            <a:endParaRPr lang="en-US" sz="1050" dirty="0"/>
          </a:p>
          <a:p>
            <a:pPr marL="342900" indent="-3429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Louvain community detection</a:t>
            </a:r>
            <a:endParaRPr lang="en-US" sz="1050" dirty="0"/>
          </a:p>
          <a:p>
            <a:pPr marL="342900" indent="-3429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Spectral clustering (K-way)</a:t>
            </a:r>
            <a:endParaRPr lang="en-US" sz="1050" dirty="0"/>
          </a:p>
          <a:p>
            <a:pPr marL="342900" indent="-3429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Bridge/articulation point detection</a:t>
            </a:r>
            <a:endParaRPr lang="en-US" sz="1050" dirty="0"/>
          </a:p>
          <a:p>
            <a:pPr marL="342900" indent="-3429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Dynamic MinCut for real-time health</a:t>
            </a:r>
            <a:endParaRPr lang="en-US" sz="1050" dirty="0"/>
          </a:p>
        </p:txBody>
      </p:sp>
      <p:sp>
        <p:nvSpPr>
          <p:cNvPr id="13" name="Text 11"/>
          <p:cNvSpPr/>
          <p:nvPr/>
        </p:nvSpPr>
        <p:spPr>
          <a:xfrm>
            <a:off x="731520" y="3566160"/>
            <a:ext cx="3657600" cy="274320"/>
          </a:xfrm>
          <a:prstGeom prst="rect">
            <a:avLst/>
          </a:prstGeom>
          <a:noFill/>
          <a:ln/>
        </p:spPr>
        <p:txBody>
          <a:bodyPr wrap="square" lIns="0" tIns="0" rIns="0" bIns="0" rtlCol="0" anchor="ctr"/>
          <a:lstStyle/>
          <a:p>
            <a:pPr indent="0" marL="0">
              <a:buNone/>
            </a:pPr>
            <a:r>
              <a:rPr lang="en-US" sz="1200" b="1" dirty="0">
                <a:solidFill>
                  <a:srgbClr val="F59E0B"/>
                </a:solidFill>
                <a:latin typeface="Consolas" pitchFamily="34" charset="0"/>
                <a:ea typeface="Consolas" pitchFamily="34" charset="-122"/>
                <a:cs typeface="Consolas" pitchFamily="34" charset="-120"/>
              </a:rPr>
              <a:t>Industry Proof Points</a:t>
            </a:r>
            <a:endParaRPr lang="en-US" sz="1200" dirty="0"/>
          </a:p>
        </p:txBody>
      </p:sp>
      <p:sp>
        <p:nvSpPr>
          <p:cNvPr id="14" name="Shape 12"/>
          <p:cNvSpPr/>
          <p:nvPr/>
        </p:nvSpPr>
        <p:spPr>
          <a:xfrm>
            <a:off x="731520" y="3886200"/>
            <a:ext cx="2468880" cy="640080"/>
          </a:xfrm>
          <a:prstGeom prst="rect">
            <a:avLst/>
          </a:prstGeom>
          <a:solidFill>
            <a:srgbClr val="1A2744"/>
          </a:solidFill>
          <a:ln/>
        </p:spPr>
      </p:sp>
      <p:sp>
        <p:nvSpPr>
          <p:cNvPr id="15" name="Text 13"/>
          <p:cNvSpPr/>
          <p:nvPr/>
        </p:nvSpPr>
        <p:spPr>
          <a:xfrm>
            <a:off x="822960" y="3913632"/>
            <a:ext cx="2286000" cy="182880"/>
          </a:xfrm>
          <a:prstGeom prst="rect">
            <a:avLst/>
          </a:prstGeom>
          <a:noFill/>
          <a:ln/>
        </p:spPr>
        <p:txBody>
          <a:bodyPr wrap="square" lIns="0" tIns="0" rIns="0" bIns="0" rtlCol="0" anchor="ctr"/>
          <a:lstStyle/>
          <a:p>
            <a:pPr indent="0" marL="0">
              <a:buNone/>
            </a:pPr>
            <a:r>
              <a:rPr lang="en-US" sz="1000" b="1" dirty="0">
                <a:solidFill>
                  <a:srgbClr val="F59E0B"/>
                </a:solidFill>
                <a:latin typeface="Consolas" pitchFamily="34" charset="0"/>
                <a:ea typeface="Consolas" pitchFamily="34" charset="-122"/>
                <a:cs typeface="Consolas" pitchFamily="34" charset="-120"/>
              </a:rPr>
              <a:t>Pinterest</a:t>
            </a:r>
            <a:endParaRPr lang="en-US" sz="1000" dirty="0"/>
          </a:p>
        </p:txBody>
      </p:sp>
      <p:sp>
        <p:nvSpPr>
          <p:cNvPr id="16" name="Text 14"/>
          <p:cNvSpPr/>
          <p:nvPr/>
        </p:nvSpPr>
        <p:spPr>
          <a:xfrm>
            <a:off x="822960" y="4096512"/>
            <a:ext cx="2286000" cy="1828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150% hit-rate improvement</a:t>
            </a:r>
            <a:endParaRPr lang="en-US" sz="1000" dirty="0"/>
          </a:p>
        </p:txBody>
      </p:sp>
      <p:sp>
        <p:nvSpPr>
          <p:cNvPr id="17" name="Text 15"/>
          <p:cNvSpPr/>
          <p:nvPr/>
        </p:nvSpPr>
        <p:spPr>
          <a:xfrm>
            <a:off x="822960" y="4279392"/>
            <a:ext cx="22860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Graph-based recommendation</a:t>
            </a:r>
            <a:endParaRPr lang="en-US" sz="900" dirty="0"/>
          </a:p>
        </p:txBody>
      </p:sp>
      <p:sp>
        <p:nvSpPr>
          <p:cNvPr id="18" name="Shape 16"/>
          <p:cNvSpPr/>
          <p:nvPr/>
        </p:nvSpPr>
        <p:spPr>
          <a:xfrm>
            <a:off x="3383280" y="3886200"/>
            <a:ext cx="2468880" cy="640080"/>
          </a:xfrm>
          <a:prstGeom prst="rect">
            <a:avLst/>
          </a:prstGeom>
          <a:solidFill>
            <a:srgbClr val="1A2744"/>
          </a:solidFill>
          <a:ln/>
        </p:spPr>
      </p:sp>
      <p:sp>
        <p:nvSpPr>
          <p:cNvPr id="19" name="Text 17"/>
          <p:cNvSpPr/>
          <p:nvPr/>
        </p:nvSpPr>
        <p:spPr>
          <a:xfrm>
            <a:off x="3474720" y="3913632"/>
            <a:ext cx="2286000" cy="182880"/>
          </a:xfrm>
          <a:prstGeom prst="rect">
            <a:avLst/>
          </a:prstGeom>
          <a:noFill/>
          <a:ln/>
        </p:spPr>
        <p:txBody>
          <a:bodyPr wrap="square" lIns="0" tIns="0" rIns="0" bIns="0" rtlCol="0" anchor="ctr"/>
          <a:lstStyle/>
          <a:p>
            <a:pPr indent="0" marL="0">
              <a:buNone/>
            </a:pPr>
            <a:r>
              <a:rPr lang="en-US" sz="1000" b="1" dirty="0">
                <a:solidFill>
                  <a:srgbClr val="F59E0B"/>
                </a:solidFill>
                <a:latin typeface="Consolas" pitchFamily="34" charset="0"/>
                <a:ea typeface="Consolas" pitchFamily="34" charset="-122"/>
                <a:cs typeface="Consolas" pitchFamily="34" charset="-120"/>
              </a:rPr>
              <a:t>Google Maps</a:t>
            </a:r>
            <a:endParaRPr lang="en-US" sz="1000" dirty="0"/>
          </a:p>
        </p:txBody>
      </p:sp>
      <p:sp>
        <p:nvSpPr>
          <p:cNvPr id="20" name="Text 18"/>
          <p:cNvSpPr/>
          <p:nvPr/>
        </p:nvSpPr>
        <p:spPr>
          <a:xfrm>
            <a:off x="3474720" y="4096512"/>
            <a:ext cx="2286000" cy="1828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50% better ETA</a:t>
            </a:r>
            <a:endParaRPr lang="en-US" sz="1000" dirty="0"/>
          </a:p>
        </p:txBody>
      </p:sp>
      <p:sp>
        <p:nvSpPr>
          <p:cNvPr id="21" name="Text 19"/>
          <p:cNvSpPr/>
          <p:nvPr/>
        </p:nvSpPr>
        <p:spPr>
          <a:xfrm>
            <a:off x="3474720" y="4279392"/>
            <a:ext cx="22860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Graph routing optimization</a:t>
            </a:r>
            <a:endParaRPr lang="en-US" sz="900" dirty="0"/>
          </a:p>
        </p:txBody>
      </p:sp>
      <p:sp>
        <p:nvSpPr>
          <p:cNvPr id="22" name="Shape 20"/>
          <p:cNvSpPr/>
          <p:nvPr/>
        </p:nvSpPr>
        <p:spPr>
          <a:xfrm>
            <a:off x="6035040" y="3886200"/>
            <a:ext cx="2468880" cy="640080"/>
          </a:xfrm>
          <a:prstGeom prst="rect">
            <a:avLst/>
          </a:prstGeom>
          <a:solidFill>
            <a:srgbClr val="1A2744"/>
          </a:solidFill>
          <a:ln/>
        </p:spPr>
      </p:sp>
      <p:sp>
        <p:nvSpPr>
          <p:cNvPr id="23" name="Text 21"/>
          <p:cNvSpPr/>
          <p:nvPr/>
        </p:nvSpPr>
        <p:spPr>
          <a:xfrm>
            <a:off x="6126480" y="3913632"/>
            <a:ext cx="2286000" cy="182880"/>
          </a:xfrm>
          <a:prstGeom prst="rect">
            <a:avLst/>
          </a:prstGeom>
          <a:noFill/>
          <a:ln/>
        </p:spPr>
        <p:txBody>
          <a:bodyPr wrap="square" lIns="0" tIns="0" rIns="0" bIns="0" rtlCol="0" anchor="ctr"/>
          <a:lstStyle/>
          <a:p>
            <a:pPr indent="0" marL="0">
              <a:buNone/>
            </a:pPr>
            <a:r>
              <a:rPr lang="en-US" sz="1000" b="1" dirty="0">
                <a:solidFill>
                  <a:srgbClr val="F59E0B"/>
                </a:solidFill>
                <a:latin typeface="Consolas" pitchFamily="34" charset="0"/>
                <a:ea typeface="Consolas" pitchFamily="34" charset="-122"/>
                <a:cs typeface="Consolas" pitchFamily="34" charset="-120"/>
              </a:rPr>
              <a:t>Uber Eats</a:t>
            </a:r>
            <a:endParaRPr lang="en-US" sz="1000" dirty="0"/>
          </a:p>
        </p:txBody>
      </p:sp>
      <p:sp>
        <p:nvSpPr>
          <p:cNvPr id="24" name="Text 22"/>
          <p:cNvSpPr/>
          <p:nvPr/>
        </p:nvSpPr>
        <p:spPr>
          <a:xfrm>
            <a:off x="6126480" y="4096512"/>
            <a:ext cx="2286000" cy="1828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20%+ engagement</a:t>
            </a:r>
            <a:endParaRPr lang="en-US" sz="1000" dirty="0"/>
          </a:p>
        </p:txBody>
      </p:sp>
      <p:sp>
        <p:nvSpPr>
          <p:cNvPr id="25" name="Text 23"/>
          <p:cNvSpPr/>
          <p:nvPr/>
        </p:nvSpPr>
        <p:spPr>
          <a:xfrm>
            <a:off x="6126480" y="4279392"/>
            <a:ext cx="22860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Graph-ranked discovery</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pic>
        <p:nvPicPr>
          <p:cNvPr id="3" name="Image 0" descr="/Users/stuartkerr/Code/Ask-Ruvnet/Ask-Ruvnet/docs/presentations/images/video-thumb-How_Ruflo_Actually_Works-mid.jpg">    </p:cNvPr>
          <p:cNvPicPr>
            <a:picLocks noChangeAspect="1"/>
          </p:cNvPicPr>
          <p:nvPr/>
        </p:nvPicPr>
        <p:blipFill>
          <a:blip r:embed="rId1">
            <a:alphaModFix amt="25000"/>
          </a:blip>
          <a:stretch>
            <a:fillRect/>
          </a:stretch>
        </p:blipFill>
        <p:spPr>
          <a:xfrm>
            <a:off x="5486400" y="182880"/>
            <a:ext cx="3200400" cy="1828800"/>
          </a:xfrm>
          <a:prstGeom prst="rect">
            <a:avLst/>
          </a:prstGeom>
        </p:spPr>
      </p:pic>
      <p:sp>
        <p:nvSpPr>
          <p:cNvPr id="4" name="Text 1"/>
          <p:cNvSpPr/>
          <p:nvPr/>
        </p:nvSpPr>
        <p:spPr>
          <a:xfrm>
            <a:off x="731520" y="320040"/>
            <a:ext cx="7315200" cy="457200"/>
          </a:xfrm>
          <a:prstGeom prst="rect">
            <a:avLst/>
          </a:prstGeom>
          <a:noFill/>
          <a:ln/>
        </p:spPr>
        <p:txBody>
          <a:bodyPr wrap="square" lIns="0" tIns="0" rIns="0" bIns="0" rtlCol="0" anchor="ctr"/>
          <a:lstStyle/>
          <a:p>
            <a:pPr indent="0" marL="0">
              <a:buNone/>
            </a:pPr>
            <a:r>
              <a:rPr lang="en-US" sz="2800" b="1" dirty="0">
                <a:solidFill>
                  <a:srgbClr val="F8FAFC"/>
                </a:solidFill>
                <a:latin typeface="Cambria" pitchFamily="34" charset="0"/>
                <a:ea typeface="Cambria" pitchFamily="34" charset="-122"/>
                <a:cs typeface="Cambria" pitchFamily="34" charset="-120"/>
              </a:rPr>
              <a:t>Performance Benchmarks</a:t>
            </a:r>
            <a:endParaRPr lang="en-US" sz="2800" dirty="0"/>
          </a:p>
        </p:txBody>
      </p:sp>
      <p:sp>
        <p:nvSpPr>
          <p:cNvPr id="5" name="Text 2"/>
          <p:cNvSpPr/>
          <p:nvPr/>
        </p:nvSpPr>
        <p:spPr>
          <a:xfrm>
            <a:off x="731520" y="777240"/>
            <a:ext cx="7315200" cy="27432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Measured results against best-in-class competitors.</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1234440"/>
          <a:ext cx="7680960" cy="914400"/>
        </p:xfrm>
        <a:graphic>
          <a:graphicData uri="http://schemas.openxmlformats.org/drawingml/2006/table">
            <a:tbl>
              <a:tblPr/>
              <a:tblGrid>
                <a:gridCol w="2011680"/>
                <a:gridCol w="1645920"/>
                <a:gridCol w="2194560"/>
                <a:gridCol w="1828800"/>
              </a:tblGrid>
              <a:tr h="292608">
                <a:tc>
                  <a:txBody>
                    <a:bodyPr/>
                    <a:lstStyle/>
                    <a:p>
                      <a:pPr indent="0" marL="0">
                        <a:buNone/>
                      </a:pPr>
                      <a:r>
                        <a:rPr lang="en-US" sz="1000" b="1" dirty="0">
                          <a:solidFill>
                            <a:srgbClr val="06B6D4"/>
                          </a:solidFill>
                          <a:latin typeface="Consolas" pitchFamily="34" charset="0"/>
                          <a:ea typeface="Consolas" pitchFamily="34" charset="-122"/>
                          <a:cs typeface="Consolas" pitchFamily="34" charset="-120"/>
                        </a:rPr>
                        <a:t>Metric</a:t>
                      </a:r>
                      <a:endParaRPr lang="en-US" sz="100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06B6D4"/>
                          </a:solidFill>
                          <a:latin typeface="Consolas" pitchFamily="34" charset="0"/>
                          <a:ea typeface="Consolas" pitchFamily="34" charset="-122"/>
                          <a:cs typeface="Consolas" pitchFamily="34" charset="-120"/>
                        </a:rPr>
                        <a:t>RuVector</a:t>
                      </a:r>
                      <a:endParaRPr lang="en-US" sz="100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94A3B8"/>
                          </a:solidFill>
                          <a:latin typeface="Consolas" pitchFamily="34" charset="0"/>
                          <a:ea typeface="Consolas" pitchFamily="34" charset="-122"/>
                          <a:cs typeface="Consolas" pitchFamily="34" charset="-120"/>
                        </a:rPr>
                        <a:t>Best Competitor</a:t>
                      </a:r>
                      <a:endParaRPr lang="en-US" sz="100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59E0B"/>
                          </a:solidFill>
                          <a:latin typeface="Consolas" pitchFamily="34" charset="0"/>
                          <a:ea typeface="Consolas" pitchFamily="34" charset="-122"/>
                          <a:cs typeface="Consolas" pitchFamily="34" charset="-120"/>
                        </a:rPr>
                        <a:t>Advantage</a:t>
                      </a:r>
                      <a:endParaRPr lang="en-US" sz="100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A2744"/>
                    </a:solidFill>
                  </a:tcPr>
                </a:tc>
              </a:tr>
              <a:tr h="256032">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HNSW Search</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06B6D4"/>
                          </a:solidFill>
                          <a:latin typeface="Consolas" pitchFamily="34" charset="0"/>
                          <a:ea typeface="Consolas" pitchFamily="34" charset="-122"/>
                          <a:cs typeface="Consolas" pitchFamily="34" charset="-120"/>
                        </a:rPr>
                        <a:t>61µs</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dirty="0">
                          <a:solidFill>
                            <a:srgbClr val="94A3B8"/>
                          </a:solidFill>
                          <a:latin typeface="Calibri" pitchFamily="34" charset="0"/>
                          <a:ea typeface="Calibri" pitchFamily="34" charset="-122"/>
                          <a:cs typeface="Calibri" pitchFamily="34" charset="-120"/>
                        </a:rPr>
                        <a:t>500ms+ (Pinecone)</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F59E0B"/>
                          </a:solidFill>
                          <a:latin typeface="Consolas" pitchFamily="34" charset="0"/>
                          <a:ea typeface="Consolas" pitchFamily="34" charset="-122"/>
                          <a:cs typeface="Consolas" pitchFamily="34" charset="-120"/>
                        </a:rPr>
                        <a:t>8,000x</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r>
              <a:tr h="256032">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Fox Flow QPS</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06B6D4"/>
                          </a:solidFill>
                          <a:latin typeface="Consolas" pitchFamily="34" charset="0"/>
                          <a:ea typeface="Consolas" pitchFamily="34" charset="-122"/>
                          <a:cs typeface="Consolas" pitchFamily="34" charset="-120"/>
                        </a:rPr>
                        <a:t>12.8M</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dirty="0">
                          <a:solidFill>
                            <a:srgbClr val="94A3B8"/>
                          </a:solidFill>
                          <a:latin typeface="Calibri" pitchFamily="34" charset="0"/>
                          <a:ea typeface="Calibri" pitchFamily="34" charset="-122"/>
                          <a:cs typeface="Calibri" pitchFamily="34" charset="-120"/>
                        </a:rPr>
                        <a:t>3K (Redis)</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F59E0B"/>
                          </a:solidFill>
                          <a:latin typeface="Consolas" pitchFamily="34" charset="0"/>
                          <a:ea typeface="Consolas" pitchFamily="34" charset="-122"/>
                          <a:cs typeface="Consolas" pitchFamily="34" charset="-120"/>
                        </a:rPr>
                        <a:t>4,000x</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r>
              <a:tr h="256032">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Detection Time</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06B6D4"/>
                          </a:solidFill>
                          <a:latin typeface="Consolas" pitchFamily="34" charset="0"/>
                          <a:ea typeface="Consolas" pitchFamily="34" charset="-122"/>
                          <a:cs typeface="Consolas" pitchFamily="34" charset="-120"/>
                        </a:rPr>
                        <a:t>0.06ms</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dirty="0">
                          <a:solidFill>
                            <a:srgbClr val="94A3B8"/>
                          </a:solidFill>
                          <a:latin typeface="Calibri" pitchFamily="34" charset="0"/>
                          <a:ea typeface="Calibri" pitchFamily="34" charset="-122"/>
                          <a:cs typeface="Calibri" pitchFamily="34" charset="-120"/>
                        </a:rPr>
                        <a:t>~10ms (rule-based)</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F59E0B"/>
                          </a:solidFill>
                          <a:latin typeface="Consolas" pitchFamily="34" charset="0"/>
                          <a:ea typeface="Consolas" pitchFamily="34" charset="-122"/>
                          <a:cs typeface="Consolas" pitchFamily="34" charset="-120"/>
                        </a:rPr>
                        <a:t>167x</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r>
              <a:tr h="256032">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WASM Runtime</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06B6D4"/>
                          </a:solidFill>
                          <a:latin typeface="Consolas" pitchFamily="34" charset="0"/>
                          <a:ea typeface="Consolas" pitchFamily="34" charset="-122"/>
                          <a:cs typeface="Consolas" pitchFamily="34" charset="-120"/>
                        </a:rPr>
                        <a:t>5.5KB</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dirty="0">
                          <a:solidFill>
                            <a:srgbClr val="94A3B8"/>
                          </a:solidFill>
                          <a:latin typeface="Calibri" pitchFamily="34" charset="0"/>
                          <a:ea typeface="Calibri" pitchFamily="34" charset="-122"/>
                          <a:cs typeface="Calibri" pitchFamily="34" charset="-120"/>
                        </a:rPr>
                        <a:t>100MB+ (containers)</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F59E0B"/>
                          </a:solidFill>
                          <a:latin typeface="Consolas" pitchFamily="34" charset="0"/>
                          <a:ea typeface="Consolas" pitchFamily="34" charset="-122"/>
                          <a:cs typeface="Consolas" pitchFamily="34" charset="-120"/>
                        </a:rPr>
                        <a:t>18,000x</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r>
              <a:tr h="256032">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Learning Latency</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06B6D4"/>
                          </a:solidFill>
                          <a:latin typeface="Consolas" pitchFamily="34" charset="0"/>
                          <a:ea typeface="Consolas" pitchFamily="34" charset="-122"/>
                          <a:cs typeface="Consolas" pitchFamily="34" charset="-120"/>
                        </a:rPr>
                        <a:t>&lt;1ms</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dirty="0">
                          <a:solidFill>
                            <a:srgbClr val="94A3B8"/>
                          </a:solidFill>
                          <a:latin typeface="Calibri" pitchFamily="34" charset="0"/>
                          <a:ea typeface="Calibri" pitchFamily="34" charset="-122"/>
                          <a:cs typeface="Calibri" pitchFamily="34" charset="-120"/>
                        </a:rPr>
                        <a:t>Days-weeks</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F59E0B"/>
                          </a:solidFill>
                          <a:latin typeface="Consolas" pitchFamily="34" charset="0"/>
                          <a:ea typeface="Consolas" pitchFamily="34" charset="-122"/>
                          <a:cs typeface="Consolas" pitchFamily="34" charset="-120"/>
                        </a:rPr>
                        <a:t>&gt;86Mx</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r>
              <a:tr h="256032">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Reflex Response</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06B6D4"/>
                          </a:solidFill>
                          <a:latin typeface="Consolas" pitchFamily="34" charset="0"/>
                          <a:ea typeface="Consolas" pitchFamily="34" charset="-122"/>
                          <a:cs typeface="Consolas" pitchFamily="34" charset="-120"/>
                        </a:rPr>
                        <a:t>&lt;1µs</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dirty="0">
                          <a:solidFill>
                            <a:srgbClr val="94A3B8"/>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F59E0B"/>
                          </a:solidFill>
                          <a:latin typeface="Consolas" pitchFamily="34" charset="0"/>
                          <a:ea typeface="Consolas" pitchFamily="34" charset="-122"/>
                          <a:cs typeface="Consolas" pitchFamily="34" charset="-120"/>
                        </a:rPr>
                        <a:t>Unique</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r>
              <a:tr h="256032">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Agent Scale</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06B6D4"/>
                          </a:solidFill>
                          <a:latin typeface="Consolas" pitchFamily="34" charset="0"/>
                          <a:ea typeface="Consolas" pitchFamily="34" charset="-122"/>
                          <a:cs typeface="Consolas" pitchFamily="34" charset="-120"/>
                        </a:rPr>
                        <a:t>100K</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dirty="0">
                          <a:solidFill>
                            <a:srgbClr val="94A3B8"/>
                          </a:solidFill>
                          <a:latin typeface="Calibri" pitchFamily="34" charset="0"/>
                          <a:ea typeface="Calibri" pitchFamily="34" charset="-122"/>
                          <a:cs typeface="Calibri" pitchFamily="34" charset="-120"/>
                        </a:rPr>
                        <a:t>~10-50</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F59E0B"/>
                          </a:solidFill>
                          <a:latin typeface="Consolas" pitchFamily="34" charset="0"/>
                          <a:ea typeface="Consolas" pitchFamily="34" charset="-122"/>
                          <a:cs typeface="Consolas" pitchFamily="34" charset="-120"/>
                        </a:rPr>
                        <a:t>2,000x+</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r>
              <a:tr h="256032">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SWE-Bench</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06B6D4"/>
                          </a:solidFill>
                          <a:latin typeface="Consolas" pitchFamily="34" charset="0"/>
                          <a:ea typeface="Consolas" pitchFamily="34" charset="-122"/>
                          <a:cs typeface="Consolas" pitchFamily="34" charset="-120"/>
                        </a:rPr>
                        <a:t>84.8%</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dirty="0">
                          <a:solidFill>
                            <a:srgbClr val="94A3B8"/>
                          </a:solidFill>
                          <a:latin typeface="Calibri" pitchFamily="34" charset="0"/>
                          <a:ea typeface="Calibri" pitchFamily="34" charset="-122"/>
                          <a:cs typeface="Calibri" pitchFamily="34" charset="-120"/>
                        </a:rPr>
                        <a:t>33.2% (GPT-4o)</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F59E0B"/>
                          </a:solidFill>
                          <a:latin typeface="Consolas" pitchFamily="34" charset="0"/>
                          <a:ea typeface="Consolas" pitchFamily="34" charset="-122"/>
                          <a:cs typeface="Consolas" pitchFamily="34" charset="-120"/>
                        </a:rPr>
                        <a:t>2.5x</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r>
              <a:tr h="256032">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Attention Mechanisms</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06B6D4"/>
                          </a:solidFill>
                          <a:latin typeface="Consolas" pitchFamily="34" charset="0"/>
                          <a:ea typeface="Consolas" pitchFamily="34" charset="-122"/>
                          <a:cs typeface="Consolas" pitchFamily="34" charset="-120"/>
                        </a:rPr>
                        <a:t>39 types</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dirty="0">
                          <a:solidFill>
                            <a:srgbClr val="94A3B8"/>
                          </a:solidFill>
                          <a:latin typeface="Calibri" pitchFamily="34" charset="0"/>
                          <a:ea typeface="Calibri" pitchFamily="34" charset="-122"/>
                          <a:cs typeface="Calibri" pitchFamily="34" charset="-120"/>
                        </a:rPr>
                        <a:t>1-3 types</a:t>
                      </a:r>
                      <a:endParaRPr lang="en-US" sz="1050" dirty="0">
                        <a:latin typeface="Calibri" charset="0"/>
                        <a:ea typeface="Calibri" charset="0"/>
                        <a:cs typeface="Calibri"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c>
                  <a:txBody>
                    <a:bodyPr/>
                    <a:lstStyle/>
                    <a:p>
                      <a:pPr algn="ctr" indent="0" marL="0">
                        <a:buNone/>
                      </a:pPr>
                      <a:r>
                        <a:rPr lang="en-US" sz="1050" b="1" dirty="0">
                          <a:solidFill>
                            <a:srgbClr val="F59E0B"/>
                          </a:solidFill>
                          <a:latin typeface="Consolas" pitchFamily="34" charset="0"/>
                          <a:ea typeface="Consolas" pitchFamily="34" charset="-122"/>
                          <a:cs typeface="Consolas" pitchFamily="34" charset="-120"/>
                        </a:rPr>
                        <a:t>13-39x</a:t>
                      </a:r>
                      <a:endParaRPr lang="en-US" sz="1050" dirty="0">
                        <a:latin typeface="Consolas" charset="0"/>
                        <a:ea typeface="Consolas" charset="0"/>
                        <a:cs typeface="Consolas" charset="0"/>
                      </a:endParaRPr>
                    </a:p>
                  </a:txBody>
                  <a:tcPr marL="91440" marR="91440" marT="45720" marB="45720">
                    <a:lnL w="6350" cap="flat" cmpd="sng" algn="ctr">
                      <a:solidFill>
                        <a:srgbClr val="2A3550"/>
                      </a:solidFill>
                      <a:prstDash val="solid"/>
                      <a:round/>
                      <a:headEnd type="none" w="med" len="med"/>
                      <a:tailEnd type="none" w="med" len="med"/>
                    </a:lnL>
                    <a:lnR w="6350" cap="flat" cmpd="sng" algn="ctr">
                      <a:solidFill>
                        <a:srgbClr val="2A3550"/>
                      </a:solidFill>
                      <a:prstDash val="solid"/>
                      <a:round/>
                      <a:headEnd type="none" w="med" len="med"/>
                      <a:tailEnd type="none" w="med" len="med"/>
                    </a:lnR>
                    <a:lnT w="6350" cap="flat" cmpd="sng" algn="ctr">
                      <a:solidFill>
                        <a:srgbClr val="2A3550"/>
                      </a:solidFill>
                      <a:prstDash val="solid"/>
                      <a:round/>
                      <a:headEnd type="none" w="med" len="med"/>
                      <a:tailEnd type="none" w="med" len="med"/>
                    </a:lnT>
                    <a:lnB w="6350" cap="flat" cmpd="sng" algn="ctr">
                      <a:solidFill>
                        <a:srgbClr val="2A3550"/>
                      </a:solidFill>
                      <a:prstDash val="solid"/>
                      <a:round/>
                      <a:headEnd type="none" w="med" len="med"/>
                      <a:tailEnd type="none" w="med" len="med"/>
                    </a:lnB>
                    <a:solidFill>
                      <a:srgbClr val="1E293B"/>
                    </a:solidFill>
                  </a:tcPr>
                </a:tc>
              </a:tr>
            </a:tbl>
          </a:graphicData>
        </a:graphic>
      </p:graphicFrame>
      <p:sp>
        <p:nvSpPr>
          <p:cNvPr id="7" name="Text 3"/>
          <p:cNvSpPr/>
          <p:nvPr/>
        </p:nvSpPr>
        <p:spPr>
          <a:xfrm>
            <a:off x="731520" y="4023360"/>
            <a:ext cx="1828800" cy="365760"/>
          </a:xfrm>
          <a:prstGeom prst="rect">
            <a:avLst/>
          </a:prstGeom>
          <a:noFill/>
          <a:ln/>
        </p:spPr>
        <p:txBody>
          <a:bodyPr wrap="square" lIns="0" tIns="0" rIns="0" bIns="0" rtlCol="0" anchor="ctr"/>
          <a:lstStyle/>
          <a:p>
            <a:pPr indent="0" marL="0">
              <a:buNone/>
            </a:pPr>
            <a:r>
              <a:rPr lang="en-US" sz="2200" b="1" dirty="0">
                <a:solidFill>
                  <a:srgbClr val="06B6D4"/>
                </a:solidFill>
                <a:latin typeface="Consolas" pitchFamily="34" charset="0"/>
                <a:ea typeface="Consolas" pitchFamily="34" charset="-122"/>
                <a:cs typeface="Consolas" pitchFamily="34" charset="-120"/>
              </a:rPr>
              <a:t>8,000x</a:t>
            </a:r>
            <a:endParaRPr lang="en-US" sz="2200" dirty="0"/>
          </a:p>
        </p:txBody>
      </p:sp>
      <p:sp>
        <p:nvSpPr>
          <p:cNvPr id="8" name="Text 4"/>
          <p:cNvSpPr/>
          <p:nvPr/>
        </p:nvSpPr>
        <p:spPr>
          <a:xfrm>
            <a:off x="731520" y="434340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Vector Search</a:t>
            </a:r>
            <a:endParaRPr lang="en-US" sz="1000" dirty="0"/>
          </a:p>
        </p:txBody>
      </p:sp>
      <p:sp>
        <p:nvSpPr>
          <p:cNvPr id="9" name="Text 5"/>
          <p:cNvSpPr/>
          <p:nvPr/>
        </p:nvSpPr>
        <p:spPr>
          <a:xfrm>
            <a:off x="2834640" y="4023360"/>
            <a:ext cx="1828800" cy="365760"/>
          </a:xfrm>
          <a:prstGeom prst="rect">
            <a:avLst/>
          </a:prstGeom>
          <a:noFill/>
          <a:ln/>
        </p:spPr>
        <p:txBody>
          <a:bodyPr wrap="square" lIns="0" tIns="0" rIns="0" bIns="0" rtlCol="0" anchor="ctr"/>
          <a:lstStyle/>
          <a:p>
            <a:pPr indent="0" marL="0">
              <a:buNone/>
            </a:pPr>
            <a:r>
              <a:rPr lang="en-US" sz="2200" b="1" dirty="0">
                <a:solidFill>
                  <a:srgbClr val="06B6D4"/>
                </a:solidFill>
                <a:latin typeface="Consolas" pitchFamily="34" charset="0"/>
                <a:ea typeface="Consolas" pitchFamily="34" charset="-122"/>
                <a:cs typeface="Consolas" pitchFamily="34" charset="-120"/>
              </a:rPr>
              <a:t>4,000x</a:t>
            </a:r>
            <a:endParaRPr lang="en-US" sz="2200" dirty="0"/>
          </a:p>
        </p:txBody>
      </p:sp>
      <p:sp>
        <p:nvSpPr>
          <p:cNvPr id="10" name="Text 6"/>
          <p:cNvSpPr/>
          <p:nvPr/>
        </p:nvSpPr>
        <p:spPr>
          <a:xfrm>
            <a:off x="2834640" y="434340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Stream Processing</a:t>
            </a:r>
            <a:endParaRPr lang="en-US" sz="1000" dirty="0"/>
          </a:p>
        </p:txBody>
      </p:sp>
      <p:sp>
        <p:nvSpPr>
          <p:cNvPr id="11" name="Text 7"/>
          <p:cNvSpPr/>
          <p:nvPr/>
        </p:nvSpPr>
        <p:spPr>
          <a:xfrm>
            <a:off x="4937760" y="4023360"/>
            <a:ext cx="1828800" cy="365760"/>
          </a:xfrm>
          <a:prstGeom prst="rect">
            <a:avLst/>
          </a:prstGeom>
          <a:noFill/>
          <a:ln/>
        </p:spPr>
        <p:txBody>
          <a:bodyPr wrap="square" lIns="0" tIns="0" rIns="0" bIns="0" rtlCol="0" anchor="ctr"/>
          <a:lstStyle/>
          <a:p>
            <a:pPr indent="0" marL="0">
              <a:buNone/>
            </a:pPr>
            <a:r>
              <a:rPr lang="en-US" sz="2200" b="1" dirty="0">
                <a:solidFill>
                  <a:srgbClr val="06B6D4"/>
                </a:solidFill>
                <a:latin typeface="Consolas" pitchFamily="34" charset="0"/>
                <a:ea typeface="Consolas" pitchFamily="34" charset="-122"/>
                <a:cs typeface="Consolas" pitchFamily="34" charset="-120"/>
              </a:rPr>
              <a:t>167x</a:t>
            </a:r>
            <a:endParaRPr lang="en-US" sz="2200" dirty="0"/>
          </a:p>
        </p:txBody>
      </p:sp>
      <p:sp>
        <p:nvSpPr>
          <p:cNvPr id="12" name="Text 8"/>
          <p:cNvSpPr/>
          <p:nvPr/>
        </p:nvSpPr>
        <p:spPr>
          <a:xfrm>
            <a:off x="4937760" y="434340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Threat Detection</a:t>
            </a:r>
            <a:endParaRPr lang="en-US" sz="1000" dirty="0"/>
          </a:p>
        </p:txBody>
      </p:sp>
      <p:sp>
        <p:nvSpPr>
          <p:cNvPr id="13" name="Text 9"/>
          <p:cNvSpPr/>
          <p:nvPr/>
        </p:nvSpPr>
        <p:spPr>
          <a:xfrm>
            <a:off x="7040880" y="4023360"/>
            <a:ext cx="1828800" cy="365760"/>
          </a:xfrm>
          <a:prstGeom prst="rect">
            <a:avLst/>
          </a:prstGeom>
          <a:noFill/>
          <a:ln/>
        </p:spPr>
        <p:txBody>
          <a:bodyPr wrap="square" lIns="0" tIns="0" rIns="0" bIns="0" rtlCol="0" anchor="ctr"/>
          <a:lstStyle/>
          <a:p>
            <a:pPr indent="0" marL="0">
              <a:buNone/>
            </a:pPr>
            <a:r>
              <a:rPr lang="en-US" sz="2200" b="1" dirty="0">
                <a:solidFill>
                  <a:srgbClr val="06B6D4"/>
                </a:solidFill>
                <a:latin typeface="Consolas" pitchFamily="34" charset="0"/>
                <a:ea typeface="Consolas" pitchFamily="34" charset="-122"/>
                <a:cs typeface="Consolas" pitchFamily="34" charset="-120"/>
              </a:rPr>
              <a:t>18,000x</a:t>
            </a:r>
            <a:endParaRPr lang="en-US" sz="2200" dirty="0"/>
          </a:p>
        </p:txBody>
      </p:sp>
      <p:sp>
        <p:nvSpPr>
          <p:cNvPr id="14" name="Text 10"/>
          <p:cNvSpPr/>
          <p:nvPr/>
        </p:nvSpPr>
        <p:spPr>
          <a:xfrm>
            <a:off x="7040880" y="434340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Smaller Runtime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sp>
        <p:nvSpPr>
          <p:cNvPr id="3" name="Text 1"/>
          <p:cNvSpPr/>
          <p:nvPr/>
        </p:nvSpPr>
        <p:spPr>
          <a:xfrm>
            <a:off x="731520" y="320040"/>
            <a:ext cx="7315200" cy="457200"/>
          </a:xfrm>
          <a:prstGeom prst="rect">
            <a:avLst/>
          </a:prstGeom>
          <a:noFill/>
          <a:ln/>
        </p:spPr>
        <p:txBody>
          <a:bodyPr wrap="square" lIns="0" tIns="0" rIns="0" bIns="0" rtlCol="0" anchor="ctr"/>
          <a:lstStyle/>
          <a:p>
            <a:pPr indent="0" marL="0">
              <a:buNone/>
            </a:pPr>
            <a:r>
              <a:rPr lang="en-US" sz="2800" b="1" dirty="0">
                <a:solidFill>
                  <a:srgbClr val="F8FAFC"/>
                </a:solidFill>
                <a:latin typeface="Cambria" pitchFamily="34" charset="0"/>
                <a:ea typeface="Cambria" pitchFamily="34" charset="-122"/>
                <a:cs typeface="Cambria" pitchFamily="34" charset="-120"/>
              </a:rPr>
              <a:t>Integration Architecture</a:t>
            </a:r>
            <a:endParaRPr lang="en-US" sz="2800" dirty="0"/>
          </a:p>
        </p:txBody>
      </p:sp>
      <p:sp>
        <p:nvSpPr>
          <p:cNvPr id="4" name="Text 2"/>
          <p:cNvSpPr/>
          <p:nvPr/>
        </p:nvSpPr>
        <p:spPr>
          <a:xfrm>
            <a:off x="731520" y="777240"/>
            <a:ext cx="7315200" cy="27432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MCP protocol. PostgreSQL-native. Drop-in pgvector replacement.</a:t>
            </a:r>
            <a:endParaRPr lang="en-US" sz="1300" dirty="0"/>
          </a:p>
        </p:txBody>
      </p:sp>
      <p:sp>
        <p:nvSpPr>
          <p:cNvPr id="5" name="Shape 3"/>
          <p:cNvSpPr/>
          <p:nvPr/>
        </p:nvSpPr>
        <p:spPr>
          <a:xfrm>
            <a:off x="731520" y="1188720"/>
            <a:ext cx="3749040" cy="164592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6" name="Shape 4"/>
          <p:cNvSpPr/>
          <p:nvPr/>
        </p:nvSpPr>
        <p:spPr>
          <a:xfrm>
            <a:off x="731520" y="1188720"/>
            <a:ext cx="3749040" cy="36576"/>
          </a:xfrm>
          <a:prstGeom prst="rect">
            <a:avLst/>
          </a:prstGeom>
          <a:solidFill>
            <a:srgbClr val="06B6D4"/>
          </a:solidFill>
          <a:ln/>
        </p:spPr>
      </p:sp>
      <p:sp>
        <p:nvSpPr>
          <p:cNvPr id="7" name="Text 5"/>
          <p:cNvSpPr/>
          <p:nvPr/>
        </p:nvSpPr>
        <p:spPr>
          <a:xfrm>
            <a:off x="914400" y="1280160"/>
            <a:ext cx="3383280" cy="228600"/>
          </a:xfrm>
          <a:prstGeom prst="rect">
            <a:avLst/>
          </a:prstGeom>
          <a:noFill/>
          <a:ln/>
        </p:spPr>
        <p:txBody>
          <a:bodyPr wrap="square" lIns="0" tIns="0" rIns="0" bIns="0" rtlCol="0" anchor="ctr"/>
          <a:lstStyle/>
          <a:p>
            <a:pPr indent="0" marL="0">
              <a:buNone/>
            </a:pPr>
            <a:r>
              <a:rPr lang="en-US" sz="1200" b="1" dirty="0">
                <a:solidFill>
                  <a:srgbClr val="06B6D4"/>
                </a:solidFill>
                <a:latin typeface="Consolas" pitchFamily="34" charset="0"/>
                <a:ea typeface="Consolas" pitchFamily="34" charset="-122"/>
                <a:cs typeface="Consolas" pitchFamily="34" charset="-120"/>
              </a:rPr>
              <a:t>MCP Protocol: 96 Tools</a:t>
            </a:r>
            <a:endParaRPr lang="en-US" sz="1200" dirty="0"/>
          </a:p>
        </p:txBody>
      </p:sp>
      <p:sp>
        <p:nvSpPr>
          <p:cNvPr id="8" name="Text 6"/>
          <p:cNvSpPr/>
          <p:nvPr/>
        </p:nvSpPr>
        <p:spPr>
          <a:xfrm>
            <a:off x="914400" y="1600200"/>
            <a:ext cx="3383280" cy="1097280"/>
          </a:xfrm>
          <a:prstGeom prst="rect">
            <a:avLst/>
          </a:prstGeom>
          <a:noFill/>
          <a:ln/>
        </p:spPr>
        <p:txBody>
          <a:bodyPr wrap="square" rtlCol="0" anchor="ctr"/>
          <a:lstStyle/>
          <a:p>
            <a:pPr marL="342900" indent="-342900">
              <a:spcAft>
                <a:spcPts val="500"/>
              </a:spcAft>
              <a:buSzPct val="100000"/>
              <a:buChar char="•"/>
            </a:pPr>
            <a:r>
              <a:rPr lang="en-US" sz="1050" dirty="0">
                <a:solidFill>
                  <a:srgbClr val="CBD5E1"/>
                </a:solidFill>
                <a:latin typeface="Calibri" pitchFamily="34" charset="0"/>
                <a:ea typeface="Calibri" pitchFamily="34" charset="-122"/>
                <a:cs typeface="Calibri" pitchFamily="34" charset="-120"/>
              </a:rPr>
              <a:t>Deferred loading for performance</a:t>
            </a:r>
            <a:endParaRPr lang="en-US" sz="1050" dirty="0"/>
          </a:p>
          <a:p>
            <a:pPr marL="342900" indent="-342900">
              <a:spcAft>
                <a:spcPts val="500"/>
              </a:spcAft>
              <a:buSzPct val="100000"/>
              <a:buChar char="•"/>
            </a:pPr>
            <a:r>
              <a:rPr lang="en-US" sz="1050" dirty="0">
                <a:solidFill>
                  <a:srgbClr val="CBD5E1"/>
                </a:solidFill>
                <a:latin typeface="Calibri" pitchFamily="34" charset="0"/>
                <a:ea typeface="Calibri" pitchFamily="34" charset="-122"/>
                <a:cs typeface="Calibri" pitchFamily="34" charset="-120"/>
              </a:rPr>
              <a:t>Agent orchestration + memory + search</a:t>
            </a:r>
            <a:endParaRPr lang="en-US" sz="1050" dirty="0"/>
          </a:p>
          <a:p>
            <a:pPr marL="342900" indent="-342900">
              <a:spcAft>
                <a:spcPts val="500"/>
              </a:spcAft>
              <a:buSzPct val="100000"/>
              <a:buChar char="•"/>
            </a:pPr>
            <a:r>
              <a:rPr lang="en-US" sz="1050" dirty="0">
                <a:solidFill>
                  <a:srgbClr val="CBD5E1"/>
                </a:solidFill>
                <a:latin typeface="Calibri" pitchFamily="34" charset="0"/>
                <a:ea typeface="Calibri" pitchFamily="34" charset="-122"/>
                <a:cs typeface="Calibri" pitchFamily="34" charset="-120"/>
              </a:rPr>
              <a:t>Task management + workflow engine</a:t>
            </a:r>
            <a:endParaRPr lang="en-US" sz="1050" dirty="0"/>
          </a:p>
          <a:p>
            <a:pPr marL="342900" indent="-342900">
              <a:spcAft>
                <a:spcPts val="500"/>
              </a:spcAft>
              <a:buSzPct val="100000"/>
              <a:buChar char="•"/>
            </a:pPr>
            <a:r>
              <a:rPr lang="en-US" sz="1050" dirty="0">
                <a:solidFill>
                  <a:srgbClr val="CBD5E1"/>
                </a:solidFill>
                <a:latin typeface="Calibri" pitchFamily="34" charset="0"/>
                <a:ea typeface="Calibri" pitchFamily="34" charset="-122"/>
                <a:cs typeface="Calibri" pitchFamily="34" charset="-120"/>
              </a:rPr>
              <a:t>Security scanning + graph analytics</a:t>
            </a:r>
            <a:endParaRPr lang="en-US" sz="1050" dirty="0"/>
          </a:p>
        </p:txBody>
      </p:sp>
      <p:sp>
        <p:nvSpPr>
          <p:cNvPr id="9" name="Shape 7"/>
          <p:cNvSpPr/>
          <p:nvPr/>
        </p:nvSpPr>
        <p:spPr>
          <a:xfrm>
            <a:off x="4663440" y="1188720"/>
            <a:ext cx="3749040" cy="164592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10" name="Shape 8"/>
          <p:cNvSpPr/>
          <p:nvPr/>
        </p:nvSpPr>
        <p:spPr>
          <a:xfrm>
            <a:off x="4663440" y="1188720"/>
            <a:ext cx="3749040" cy="36576"/>
          </a:xfrm>
          <a:prstGeom prst="rect">
            <a:avLst/>
          </a:prstGeom>
          <a:solidFill>
            <a:srgbClr val="0EA5E9"/>
          </a:solidFill>
          <a:ln/>
        </p:spPr>
      </p:sp>
      <p:sp>
        <p:nvSpPr>
          <p:cNvPr id="11" name="Text 9"/>
          <p:cNvSpPr/>
          <p:nvPr/>
        </p:nvSpPr>
        <p:spPr>
          <a:xfrm>
            <a:off x="4846320" y="1280160"/>
            <a:ext cx="3383280" cy="228600"/>
          </a:xfrm>
          <a:prstGeom prst="rect">
            <a:avLst/>
          </a:prstGeom>
          <a:noFill/>
          <a:ln/>
        </p:spPr>
        <p:txBody>
          <a:bodyPr wrap="square" lIns="0" tIns="0" rIns="0" bIns="0" rtlCol="0" anchor="ctr"/>
          <a:lstStyle/>
          <a:p>
            <a:pPr indent="0" marL="0">
              <a:buNone/>
            </a:pPr>
            <a:r>
              <a:rPr lang="en-US" sz="1200" b="1" dirty="0">
                <a:solidFill>
                  <a:srgbClr val="0EA5E9"/>
                </a:solidFill>
                <a:latin typeface="Consolas" pitchFamily="34" charset="0"/>
                <a:ea typeface="Consolas" pitchFamily="34" charset="-122"/>
                <a:cs typeface="Consolas" pitchFamily="34" charset="-120"/>
              </a:rPr>
              <a:t>PostgreSQL-Native</a:t>
            </a:r>
            <a:endParaRPr lang="en-US" sz="1200" dirty="0"/>
          </a:p>
        </p:txBody>
      </p:sp>
      <p:sp>
        <p:nvSpPr>
          <p:cNvPr id="12" name="Text 10"/>
          <p:cNvSpPr/>
          <p:nvPr/>
        </p:nvSpPr>
        <p:spPr>
          <a:xfrm>
            <a:off x="4846320" y="1600200"/>
            <a:ext cx="3383280" cy="1097280"/>
          </a:xfrm>
          <a:prstGeom prst="rect">
            <a:avLst/>
          </a:prstGeom>
          <a:noFill/>
          <a:ln/>
        </p:spPr>
        <p:txBody>
          <a:bodyPr wrap="square" rtlCol="0" anchor="ctr"/>
          <a:lstStyle/>
          <a:p>
            <a:pPr marL="342900" indent="-342900">
              <a:spcAft>
                <a:spcPts val="500"/>
              </a:spcAft>
              <a:buSzPct val="100000"/>
              <a:buChar char="•"/>
            </a:pPr>
            <a:r>
              <a:rPr lang="en-US" sz="1050" dirty="0">
                <a:solidFill>
                  <a:srgbClr val="CBD5E1"/>
                </a:solidFill>
                <a:latin typeface="Calibri" pitchFamily="34" charset="0"/>
                <a:ea typeface="Calibri" pitchFamily="34" charset="-122"/>
                <a:cs typeface="Calibri" pitchFamily="34" charset="-120"/>
              </a:rPr>
              <a:t>No separate vector database deployment</a:t>
            </a:r>
            <a:endParaRPr lang="en-US" sz="1050" dirty="0"/>
          </a:p>
          <a:p>
            <a:pPr marL="342900" indent="-342900">
              <a:spcAft>
                <a:spcPts val="500"/>
              </a:spcAft>
              <a:buSzPct val="100000"/>
              <a:buChar char="•"/>
            </a:pPr>
            <a:r>
              <a:rPr lang="en-US" sz="1050" dirty="0">
                <a:solidFill>
                  <a:srgbClr val="CBD5E1"/>
                </a:solidFill>
                <a:latin typeface="Calibri" pitchFamily="34" charset="0"/>
                <a:ea typeface="Calibri" pitchFamily="34" charset="-122"/>
                <a:cs typeface="Calibri" pitchFamily="34" charset="-120"/>
              </a:rPr>
              <a:t>290+ SQL functions in-process</a:t>
            </a:r>
            <a:endParaRPr lang="en-US" sz="1050" dirty="0"/>
          </a:p>
          <a:p>
            <a:pPr marL="342900" indent="-342900">
              <a:spcAft>
                <a:spcPts val="500"/>
              </a:spcAft>
              <a:buSzPct val="100000"/>
              <a:buChar char="•"/>
            </a:pPr>
            <a:r>
              <a:rPr lang="en-US" sz="1050" dirty="0">
                <a:solidFill>
                  <a:srgbClr val="CBD5E1"/>
                </a:solidFill>
                <a:latin typeface="Calibri" pitchFamily="34" charset="0"/>
                <a:ea typeface="Calibri" pitchFamily="34" charset="-122"/>
                <a:cs typeface="Calibri" pitchFamily="34" charset="-120"/>
              </a:rPr>
              <a:t>ACID transactions on vector ops</a:t>
            </a:r>
            <a:endParaRPr lang="en-US" sz="1050" dirty="0"/>
          </a:p>
          <a:p>
            <a:pPr marL="342900" indent="-342900">
              <a:spcAft>
                <a:spcPts val="500"/>
              </a:spcAft>
              <a:buSzPct val="100000"/>
              <a:buChar char="•"/>
            </a:pPr>
            <a:r>
              <a:rPr lang="en-US" sz="1050" dirty="0">
                <a:solidFill>
                  <a:srgbClr val="CBD5E1"/>
                </a:solidFill>
                <a:latin typeface="Calibri" pitchFamily="34" charset="0"/>
                <a:ea typeface="Calibri" pitchFamily="34" charset="-122"/>
                <a:cs typeface="Calibri" pitchFamily="34" charset="-120"/>
              </a:rPr>
              <a:t>Drop-in pgvector migration</a:t>
            </a:r>
            <a:endParaRPr lang="en-US" sz="1050" dirty="0"/>
          </a:p>
        </p:txBody>
      </p:sp>
      <p:sp>
        <p:nvSpPr>
          <p:cNvPr id="13" name="Text 11"/>
          <p:cNvSpPr/>
          <p:nvPr/>
        </p:nvSpPr>
        <p:spPr>
          <a:xfrm>
            <a:off x="731520" y="3108960"/>
            <a:ext cx="3657600" cy="274320"/>
          </a:xfrm>
          <a:prstGeom prst="rect">
            <a:avLst/>
          </a:prstGeom>
          <a:noFill/>
          <a:ln/>
        </p:spPr>
        <p:txBody>
          <a:bodyPr wrap="square" lIns="0" tIns="0" rIns="0" bIns="0" rtlCol="0" anchor="ctr"/>
          <a:lstStyle/>
          <a:p>
            <a:pPr indent="0" marL="0">
              <a:buNone/>
            </a:pPr>
            <a:r>
              <a:rPr lang="en-US" sz="1200" b="1" dirty="0">
                <a:solidFill>
                  <a:srgbClr val="F59E0B"/>
                </a:solidFill>
                <a:latin typeface="Consolas" pitchFamily="34" charset="0"/>
                <a:ea typeface="Consolas" pitchFamily="34" charset="-122"/>
                <a:cs typeface="Consolas" pitchFamily="34" charset="-120"/>
              </a:rPr>
              <a:t>APIs, SDKs &amp; Integration Points</a:t>
            </a:r>
            <a:endParaRPr lang="en-US" sz="1200" dirty="0"/>
          </a:p>
        </p:txBody>
      </p:sp>
      <p:sp>
        <p:nvSpPr>
          <p:cNvPr id="14" name="Shape 12"/>
          <p:cNvSpPr/>
          <p:nvPr/>
        </p:nvSpPr>
        <p:spPr>
          <a:xfrm>
            <a:off x="731520" y="3474720"/>
            <a:ext cx="2468880" cy="411480"/>
          </a:xfrm>
          <a:prstGeom prst="rect">
            <a:avLst/>
          </a:prstGeom>
          <a:solidFill>
            <a:srgbClr val="1A2744"/>
          </a:solidFill>
          <a:ln/>
        </p:spPr>
      </p:sp>
      <p:sp>
        <p:nvSpPr>
          <p:cNvPr id="15" name="Text 13"/>
          <p:cNvSpPr/>
          <p:nvPr/>
        </p:nvSpPr>
        <p:spPr>
          <a:xfrm>
            <a:off x="822960" y="3520440"/>
            <a:ext cx="1188720" cy="32004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REST API</a:t>
            </a:r>
            <a:endParaRPr lang="en-US" sz="1000" dirty="0"/>
          </a:p>
        </p:txBody>
      </p:sp>
      <p:sp>
        <p:nvSpPr>
          <p:cNvPr id="16" name="Text 14"/>
          <p:cNvSpPr/>
          <p:nvPr/>
        </p:nvSpPr>
        <p:spPr>
          <a:xfrm>
            <a:off x="2011680" y="3520440"/>
            <a:ext cx="109728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Standard HTTP</a:t>
            </a:r>
            <a:endParaRPr lang="en-US" sz="1000" dirty="0"/>
          </a:p>
        </p:txBody>
      </p:sp>
      <p:sp>
        <p:nvSpPr>
          <p:cNvPr id="17" name="Shape 15"/>
          <p:cNvSpPr/>
          <p:nvPr/>
        </p:nvSpPr>
        <p:spPr>
          <a:xfrm>
            <a:off x="3383280" y="3474720"/>
            <a:ext cx="2468880" cy="411480"/>
          </a:xfrm>
          <a:prstGeom prst="rect">
            <a:avLst/>
          </a:prstGeom>
          <a:solidFill>
            <a:srgbClr val="1A2744"/>
          </a:solidFill>
          <a:ln/>
        </p:spPr>
      </p:sp>
      <p:sp>
        <p:nvSpPr>
          <p:cNvPr id="18" name="Text 16"/>
          <p:cNvSpPr/>
          <p:nvPr/>
        </p:nvSpPr>
        <p:spPr>
          <a:xfrm>
            <a:off x="3474720" y="3520440"/>
            <a:ext cx="1188720" cy="32004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gRPC</a:t>
            </a:r>
            <a:endParaRPr lang="en-US" sz="1000" dirty="0"/>
          </a:p>
        </p:txBody>
      </p:sp>
      <p:sp>
        <p:nvSpPr>
          <p:cNvPr id="19" name="Text 17"/>
          <p:cNvSpPr/>
          <p:nvPr/>
        </p:nvSpPr>
        <p:spPr>
          <a:xfrm>
            <a:off x="4663440" y="3520440"/>
            <a:ext cx="109728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High-perf binary</a:t>
            </a:r>
            <a:endParaRPr lang="en-US" sz="1000" dirty="0"/>
          </a:p>
        </p:txBody>
      </p:sp>
      <p:sp>
        <p:nvSpPr>
          <p:cNvPr id="20" name="Shape 18"/>
          <p:cNvSpPr/>
          <p:nvPr/>
        </p:nvSpPr>
        <p:spPr>
          <a:xfrm>
            <a:off x="6035040" y="3474720"/>
            <a:ext cx="2468880" cy="411480"/>
          </a:xfrm>
          <a:prstGeom prst="rect">
            <a:avLst/>
          </a:prstGeom>
          <a:solidFill>
            <a:srgbClr val="1A2744"/>
          </a:solidFill>
          <a:ln/>
        </p:spPr>
      </p:sp>
      <p:sp>
        <p:nvSpPr>
          <p:cNvPr id="21" name="Text 19"/>
          <p:cNvSpPr/>
          <p:nvPr/>
        </p:nvSpPr>
        <p:spPr>
          <a:xfrm>
            <a:off x="6126480" y="3520440"/>
            <a:ext cx="1188720" cy="32004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TypeScript SDK</a:t>
            </a:r>
            <a:endParaRPr lang="en-US" sz="1000" dirty="0"/>
          </a:p>
        </p:txBody>
      </p:sp>
      <p:sp>
        <p:nvSpPr>
          <p:cNvPr id="22" name="Text 20"/>
          <p:cNvSpPr/>
          <p:nvPr/>
        </p:nvSpPr>
        <p:spPr>
          <a:xfrm>
            <a:off x="7315200" y="3520440"/>
            <a:ext cx="109728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Full type safety</a:t>
            </a:r>
            <a:endParaRPr lang="en-US" sz="1000" dirty="0"/>
          </a:p>
        </p:txBody>
      </p:sp>
      <p:sp>
        <p:nvSpPr>
          <p:cNvPr id="23" name="Shape 21"/>
          <p:cNvSpPr/>
          <p:nvPr/>
        </p:nvSpPr>
        <p:spPr>
          <a:xfrm>
            <a:off x="731520" y="4023360"/>
            <a:ext cx="2468880" cy="411480"/>
          </a:xfrm>
          <a:prstGeom prst="rect">
            <a:avLst/>
          </a:prstGeom>
          <a:solidFill>
            <a:srgbClr val="1A2744"/>
          </a:solidFill>
          <a:ln/>
        </p:spPr>
      </p:sp>
      <p:sp>
        <p:nvSpPr>
          <p:cNvPr id="24" name="Text 22"/>
          <p:cNvSpPr/>
          <p:nvPr/>
        </p:nvSpPr>
        <p:spPr>
          <a:xfrm>
            <a:off x="822960" y="4069080"/>
            <a:ext cx="1188720" cy="32004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Python SDK</a:t>
            </a:r>
            <a:endParaRPr lang="en-US" sz="1000" dirty="0"/>
          </a:p>
        </p:txBody>
      </p:sp>
      <p:sp>
        <p:nvSpPr>
          <p:cNvPr id="25" name="Text 23"/>
          <p:cNvSpPr/>
          <p:nvPr/>
        </p:nvSpPr>
        <p:spPr>
          <a:xfrm>
            <a:off x="2011680" y="4069080"/>
            <a:ext cx="109728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ML pipelines</a:t>
            </a:r>
            <a:endParaRPr lang="en-US" sz="1000" dirty="0"/>
          </a:p>
        </p:txBody>
      </p:sp>
      <p:sp>
        <p:nvSpPr>
          <p:cNvPr id="26" name="Shape 24"/>
          <p:cNvSpPr/>
          <p:nvPr/>
        </p:nvSpPr>
        <p:spPr>
          <a:xfrm>
            <a:off x="3383280" y="4023360"/>
            <a:ext cx="2468880" cy="411480"/>
          </a:xfrm>
          <a:prstGeom prst="rect">
            <a:avLst/>
          </a:prstGeom>
          <a:solidFill>
            <a:srgbClr val="1A2744"/>
          </a:solidFill>
          <a:ln/>
        </p:spPr>
      </p:sp>
      <p:sp>
        <p:nvSpPr>
          <p:cNvPr id="27" name="Text 25"/>
          <p:cNvSpPr/>
          <p:nvPr/>
        </p:nvSpPr>
        <p:spPr>
          <a:xfrm>
            <a:off x="3474720" y="4069080"/>
            <a:ext cx="1188720" cy="32004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WASM SDK</a:t>
            </a:r>
            <a:endParaRPr lang="en-US" sz="1000" dirty="0"/>
          </a:p>
        </p:txBody>
      </p:sp>
      <p:sp>
        <p:nvSpPr>
          <p:cNvPr id="28" name="Text 26"/>
          <p:cNvSpPr/>
          <p:nvPr/>
        </p:nvSpPr>
        <p:spPr>
          <a:xfrm>
            <a:off x="4663440" y="4069080"/>
            <a:ext cx="109728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Client-side search</a:t>
            </a:r>
            <a:endParaRPr lang="en-US" sz="1000" dirty="0"/>
          </a:p>
        </p:txBody>
      </p:sp>
      <p:sp>
        <p:nvSpPr>
          <p:cNvPr id="29" name="Shape 27"/>
          <p:cNvSpPr/>
          <p:nvPr/>
        </p:nvSpPr>
        <p:spPr>
          <a:xfrm>
            <a:off x="6035040" y="4023360"/>
            <a:ext cx="2468880" cy="411480"/>
          </a:xfrm>
          <a:prstGeom prst="rect">
            <a:avLst/>
          </a:prstGeom>
          <a:solidFill>
            <a:srgbClr val="1A2744"/>
          </a:solidFill>
          <a:ln/>
        </p:spPr>
      </p:sp>
      <p:sp>
        <p:nvSpPr>
          <p:cNvPr id="30" name="Text 28"/>
          <p:cNvSpPr/>
          <p:nvPr/>
        </p:nvSpPr>
        <p:spPr>
          <a:xfrm>
            <a:off x="6126480" y="4069080"/>
            <a:ext cx="1188720" cy="32004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Webhooks</a:t>
            </a:r>
            <a:endParaRPr lang="en-US" sz="1000" dirty="0"/>
          </a:p>
        </p:txBody>
      </p:sp>
      <p:sp>
        <p:nvSpPr>
          <p:cNvPr id="31" name="Text 29"/>
          <p:cNvSpPr/>
          <p:nvPr/>
        </p:nvSpPr>
        <p:spPr>
          <a:xfrm>
            <a:off x="7315200" y="4069080"/>
            <a:ext cx="109728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Event-driven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sp>
        <p:nvSpPr>
          <p:cNvPr id="3" name="Text 1"/>
          <p:cNvSpPr/>
          <p:nvPr/>
        </p:nvSpPr>
        <p:spPr>
          <a:xfrm>
            <a:off x="731520" y="320040"/>
            <a:ext cx="7315200" cy="457200"/>
          </a:xfrm>
          <a:prstGeom prst="rect">
            <a:avLst/>
          </a:prstGeom>
          <a:noFill/>
          <a:ln/>
        </p:spPr>
        <p:txBody>
          <a:bodyPr wrap="square" lIns="0" tIns="0" rIns="0" bIns="0" rtlCol="0" anchor="ctr"/>
          <a:lstStyle/>
          <a:p>
            <a:pPr indent="0" marL="0">
              <a:buNone/>
            </a:pPr>
            <a:r>
              <a:rPr lang="en-US" sz="2800" b="1" dirty="0">
                <a:solidFill>
                  <a:srgbClr val="F8FAFC"/>
                </a:solidFill>
                <a:latin typeface="Cambria" pitchFamily="34" charset="0"/>
                <a:ea typeface="Cambria" pitchFamily="34" charset="-122"/>
                <a:cs typeface="Cambria" pitchFamily="34" charset="-120"/>
              </a:rPr>
              <a:t>Implementation Roadmap</a:t>
            </a:r>
            <a:endParaRPr lang="en-US" sz="2800" dirty="0"/>
          </a:p>
        </p:txBody>
      </p:sp>
      <p:sp>
        <p:nvSpPr>
          <p:cNvPr id="4" name="Text 2"/>
          <p:cNvSpPr/>
          <p:nvPr/>
        </p:nvSpPr>
        <p:spPr>
          <a:xfrm>
            <a:off x="731520" y="777240"/>
            <a:ext cx="7315200" cy="27432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From zero to production in 3 months. Incremental value at every phase.</a:t>
            </a:r>
            <a:endParaRPr lang="en-US" sz="1400" dirty="0"/>
          </a:p>
        </p:txBody>
      </p:sp>
      <p:sp>
        <p:nvSpPr>
          <p:cNvPr id="5" name="Shape 3"/>
          <p:cNvSpPr/>
          <p:nvPr/>
        </p:nvSpPr>
        <p:spPr>
          <a:xfrm>
            <a:off x="731520" y="1234440"/>
            <a:ext cx="1874520" cy="292608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6" name="Shape 4"/>
          <p:cNvSpPr/>
          <p:nvPr/>
        </p:nvSpPr>
        <p:spPr>
          <a:xfrm>
            <a:off x="731520" y="1234440"/>
            <a:ext cx="1874520" cy="36576"/>
          </a:xfrm>
          <a:prstGeom prst="rect">
            <a:avLst/>
          </a:prstGeom>
          <a:solidFill>
            <a:srgbClr val="06B6D4"/>
          </a:solidFill>
          <a:ln/>
        </p:spPr>
      </p:sp>
      <p:sp>
        <p:nvSpPr>
          <p:cNvPr id="7" name="Text 5"/>
          <p:cNvSpPr/>
          <p:nvPr/>
        </p:nvSpPr>
        <p:spPr>
          <a:xfrm>
            <a:off x="822960" y="1325880"/>
            <a:ext cx="1691640" cy="27432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1: Foundation</a:t>
            </a:r>
            <a:endParaRPr lang="en-US" sz="1100" dirty="0"/>
          </a:p>
        </p:txBody>
      </p:sp>
      <p:sp>
        <p:nvSpPr>
          <p:cNvPr id="8" name="Text 6"/>
          <p:cNvSpPr/>
          <p:nvPr/>
        </p:nvSpPr>
        <p:spPr>
          <a:xfrm>
            <a:off x="822960" y="1600200"/>
            <a:ext cx="169164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Week 1-2</a:t>
            </a:r>
            <a:endParaRPr lang="en-US" sz="1000" dirty="0"/>
          </a:p>
        </p:txBody>
      </p:sp>
      <p:sp>
        <p:nvSpPr>
          <p:cNvPr id="9" name="Text 7"/>
          <p:cNvSpPr/>
          <p:nvPr/>
        </p:nvSpPr>
        <p:spPr>
          <a:xfrm>
            <a:off x="822960" y="1920240"/>
            <a:ext cx="1691640" cy="2011680"/>
          </a:xfrm>
          <a:prstGeom prst="rect">
            <a:avLst/>
          </a:prstGeom>
          <a:noFill/>
          <a:ln/>
        </p:spPr>
        <p:txBody>
          <a:bodyPr wrap="square" rtlCol="0" anchor="ctr"/>
          <a:lstStyle/>
          <a:p>
            <a:pPr marL="342900" indent="-342900">
              <a:spcAft>
                <a:spcPts val="500"/>
              </a:spcAft>
              <a:buSzPct val="100000"/>
              <a:buChar char="•"/>
            </a:pPr>
            <a:r>
              <a:rPr lang="en-US" sz="950" dirty="0">
                <a:solidFill>
                  <a:srgbClr val="CBD5E1"/>
                </a:solidFill>
                <a:latin typeface="Calibri" pitchFamily="34" charset="0"/>
                <a:ea typeface="Calibri" pitchFamily="34" charset="-122"/>
                <a:cs typeface="Calibri" pitchFamily="34" charset="-120"/>
              </a:rPr>
              <a:t>Core RuVector PostgreSQL extension</a:t>
            </a:r>
            <a:endParaRPr lang="en-US" sz="950" dirty="0"/>
          </a:p>
          <a:p>
            <a:pPr marL="342900" indent="-342900">
              <a:spcAft>
                <a:spcPts val="500"/>
              </a:spcAft>
              <a:buSzPct val="100000"/>
              <a:buChar char="•"/>
            </a:pPr>
            <a:r>
              <a:rPr lang="en-US" sz="950" dirty="0">
                <a:solidFill>
                  <a:srgbClr val="CBD5E1"/>
                </a:solidFill>
                <a:latin typeface="Calibri" pitchFamily="34" charset="0"/>
                <a:ea typeface="Calibri" pitchFamily="34" charset="-122"/>
                <a:cs typeface="Calibri" pitchFamily="34" charset="-120"/>
              </a:rPr>
              <a:t>AIMDS security middleware</a:t>
            </a:r>
            <a:endParaRPr lang="en-US" sz="950" dirty="0"/>
          </a:p>
          <a:p>
            <a:pPr marL="342900" indent="-342900">
              <a:spcAft>
                <a:spcPts val="500"/>
              </a:spcAft>
              <a:buSzPct val="100000"/>
              <a:buChar char="•"/>
            </a:pPr>
            <a:r>
              <a:rPr lang="en-US" sz="950" dirty="0">
                <a:solidFill>
                  <a:srgbClr val="CBD5E1"/>
                </a:solidFill>
                <a:latin typeface="Calibri" pitchFamily="34" charset="0"/>
                <a:ea typeface="Calibri" pitchFamily="34" charset="-122"/>
                <a:cs typeface="Calibri" pitchFamily="34" charset="-120"/>
              </a:rPr>
              <a:t>Basic agent deployment</a:t>
            </a:r>
            <a:endParaRPr lang="en-US" sz="950" dirty="0"/>
          </a:p>
          <a:p>
            <a:pPr marL="342900" indent="-342900">
              <a:spcAft>
                <a:spcPts val="500"/>
              </a:spcAft>
              <a:buSzPct val="100000"/>
              <a:buChar char="•"/>
            </a:pPr>
            <a:r>
              <a:rPr lang="en-US" sz="950" dirty="0">
                <a:solidFill>
                  <a:srgbClr val="CBD5E1"/>
                </a:solidFill>
                <a:latin typeface="Calibri" pitchFamily="34" charset="0"/>
                <a:ea typeface="Calibri" pitchFamily="34" charset="-122"/>
                <a:cs typeface="Calibri" pitchFamily="34" charset="-120"/>
              </a:rPr>
              <a:t>HNSW index configuration</a:t>
            </a:r>
            <a:endParaRPr lang="en-US" sz="950" dirty="0"/>
          </a:p>
        </p:txBody>
      </p:sp>
      <p:sp>
        <p:nvSpPr>
          <p:cNvPr id="10" name="Shape 8"/>
          <p:cNvSpPr/>
          <p:nvPr/>
        </p:nvSpPr>
        <p:spPr>
          <a:xfrm>
            <a:off x="2788920" y="1234440"/>
            <a:ext cx="1874520" cy="292608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11" name="Shape 9"/>
          <p:cNvSpPr/>
          <p:nvPr/>
        </p:nvSpPr>
        <p:spPr>
          <a:xfrm>
            <a:off x="2788920" y="1234440"/>
            <a:ext cx="1874520" cy="36576"/>
          </a:xfrm>
          <a:prstGeom prst="rect">
            <a:avLst/>
          </a:prstGeom>
          <a:solidFill>
            <a:srgbClr val="0EA5E9"/>
          </a:solidFill>
          <a:ln/>
        </p:spPr>
      </p:sp>
      <p:sp>
        <p:nvSpPr>
          <p:cNvPr id="12" name="Text 10"/>
          <p:cNvSpPr/>
          <p:nvPr/>
        </p:nvSpPr>
        <p:spPr>
          <a:xfrm>
            <a:off x="2880360" y="1325880"/>
            <a:ext cx="1691640" cy="274320"/>
          </a:xfrm>
          <a:prstGeom prst="rect">
            <a:avLst/>
          </a:prstGeom>
          <a:noFill/>
          <a:ln/>
        </p:spPr>
        <p:txBody>
          <a:bodyPr wrap="square" lIns="0" tIns="0" rIns="0" bIns="0" rtlCol="0" anchor="ctr"/>
          <a:lstStyle/>
          <a:p>
            <a:pPr indent="0" marL="0">
              <a:buNone/>
            </a:pPr>
            <a:r>
              <a:rPr lang="en-US" sz="1100" b="1" dirty="0">
                <a:solidFill>
                  <a:srgbClr val="0EA5E9"/>
                </a:solidFill>
                <a:latin typeface="Consolas" pitchFamily="34" charset="0"/>
                <a:ea typeface="Consolas" pitchFamily="34" charset="-122"/>
                <a:cs typeface="Consolas" pitchFamily="34" charset="-120"/>
              </a:rPr>
              <a:t>2: Intelligence</a:t>
            </a:r>
            <a:endParaRPr lang="en-US" sz="1100" dirty="0"/>
          </a:p>
        </p:txBody>
      </p:sp>
      <p:sp>
        <p:nvSpPr>
          <p:cNvPr id="13" name="Text 11"/>
          <p:cNvSpPr/>
          <p:nvPr/>
        </p:nvSpPr>
        <p:spPr>
          <a:xfrm>
            <a:off x="2880360" y="1600200"/>
            <a:ext cx="169164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Week 3-4</a:t>
            </a:r>
            <a:endParaRPr lang="en-US" sz="1000" dirty="0"/>
          </a:p>
        </p:txBody>
      </p:sp>
      <p:sp>
        <p:nvSpPr>
          <p:cNvPr id="14" name="Text 12"/>
          <p:cNvSpPr/>
          <p:nvPr/>
        </p:nvSpPr>
        <p:spPr>
          <a:xfrm>
            <a:off x="2880360" y="1920240"/>
            <a:ext cx="1691640" cy="2011680"/>
          </a:xfrm>
          <a:prstGeom prst="rect">
            <a:avLst/>
          </a:prstGeom>
          <a:noFill/>
          <a:ln/>
        </p:spPr>
        <p:txBody>
          <a:bodyPr wrap="square" rtlCol="0" anchor="ctr"/>
          <a:lstStyle/>
          <a:p>
            <a:pPr marL="342900" indent="-342900">
              <a:spcAft>
                <a:spcPts val="500"/>
              </a:spcAft>
              <a:buSzPct val="100000"/>
              <a:buChar char="•"/>
            </a:pPr>
            <a:r>
              <a:rPr lang="en-US" sz="950" dirty="0">
                <a:solidFill>
                  <a:srgbClr val="CBD5E1"/>
                </a:solidFill>
                <a:latin typeface="Calibri" pitchFamily="34" charset="0"/>
                <a:ea typeface="Calibri" pitchFamily="34" charset="-122"/>
                <a:cs typeface="Calibri" pitchFamily="34" charset="-120"/>
              </a:rPr>
              <a:t>AgentDB memory (4 types)</a:t>
            </a:r>
            <a:endParaRPr lang="en-US" sz="950" dirty="0"/>
          </a:p>
          <a:p>
            <a:pPr marL="342900" indent="-342900">
              <a:spcAft>
                <a:spcPts val="500"/>
              </a:spcAft>
              <a:buSzPct val="100000"/>
              <a:buChar char="•"/>
            </a:pPr>
            <a:r>
              <a:rPr lang="en-US" sz="950" dirty="0">
                <a:solidFill>
                  <a:srgbClr val="CBD5E1"/>
                </a:solidFill>
                <a:latin typeface="Calibri" pitchFamily="34" charset="0"/>
                <a:ea typeface="Calibri" pitchFamily="34" charset="-122"/>
                <a:cs typeface="Calibri" pitchFamily="34" charset="-120"/>
              </a:rPr>
              <a:t>ReasoningBank + SONA</a:t>
            </a:r>
            <a:endParaRPr lang="en-US" sz="950" dirty="0"/>
          </a:p>
          <a:p>
            <a:pPr marL="342900" indent="-342900">
              <a:spcAft>
                <a:spcPts val="500"/>
              </a:spcAft>
              <a:buSzPct val="100000"/>
              <a:buChar char="•"/>
            </a:pPr>
            <a:r>
              <a:rPr lang="en-US" sz="950" dirty="0">
                <a:solidFill>
                  <a:srgbClr val="CBD5E1"/>
                </a:solidFill>
                <a:latin typeface="Calibri" pitchFamily="34" charset="0"/>
                <a:ea typeface="Calibri" pitchFamily="34" charset="-122"/>
                <a:cs typeface="Calibri" pitchFamily="34" charset="-120"/>
              </a:rPr>
              <a:t>Ruflo orchestration</a:t>
            </a:r>
            <a:endParaRPr lang="en-US" sz="950" dirty="0"/>
          </a:p>
          <a:p>
            <a:pPr marL="342900" indent="-342900">
              <a:spcAft>
                <a:spcPts val="500"/>
              </a:spcAft>
              <a:buSzPct val="100000"/>
              <a:buChar char="•"/>
            </a:pPr>
            <a:r>
              <a:rPr lang="en-US" sz="950" dirty="0">
                <a:solidFill>
                  <a:srgbClr val="CBD5E1"/>
                </a:solidFill>
                <a:latin typeface="Calibri" pitchFamily="34" charset="0"/>
                <a:ea typeface="Calibri" pitchFamily="34" charset="-122"/>
                <a:cs typeface="Calibri" pitchFamily="34" charset="-120"/>
              </a:rPr>
              <a:t>MCP tool integration</a:t>
            </a:r>
            <a:endParaRPr lang="en-US" sz="950" dirty="0"/>
          </a:p>
        </p:txBody>
      </p:sp>
      <p:sp>
        <p:nvSpPr>
          <p:cNvPr id="15" name="Shape 13"/>
          <p:cNvSpPr/>
          <p:nvPr/>
        </p:nvSpPr>
        <p:spPr>
          <a:xfrm>
            <a:off x="4846320" y="1234440"/>
            <a:ext cx="1874520" cy="292608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16" name="Shape 14"/>
          <p:cNvSpPr/>
          <p:nvPr/>
        </p:nvSpPr>
        <p:spPr>
          <a:xfrm>
            <a:off x="4846320" y="1234440"/>
            <a:ext cx="1874520" cy="36576"/>
          </a:xfrm>
          <a:prstGeom prst="rect">
            <a:avLst/>
          </a:prstGeom>
          <a:solidFill>
            <a:srgbClr val="8B5CF6"/>
          </a:solidFill>
          <a:ln/>
        </p:spPr>
      </p:sp>
      <p:sp>
        <p:nvSpPr>
          <p:cNvPr id="17" name="Text 15"/>
          <p:cNvSpPr/>
          <p:nvPr/>
        </p:nvSpPr>
        <p:spPr>
          <a:xfrm>
            <a:off x="4937760" y="1325880"/>
            <a:ext cx="1691640" cy="274320"/>
          </a:xfrm>
          <a:prstGeom prst="rect">
            <a:avLst/>
          </a:prstGeom>
          <a:noFill/>
          <a:ln/>
        </p:spPr>
        <p:txBody>
          <a:bodyPr wrap="square" lIns="0" tIns="0" rIns="0" bIns="0" rtlCol="0" anchor="ctr"/>
          <a:lstStyle/>
          <a:p>
            <a:pPr indent="0" marL="0">
              <a:buNone/>
            </a:pPr>
            <a:r>
              <a:rPr lang="en-US" sz="1100" b="1" dirty="0">
                <a:solidFill>
                  <a:srgbClr val="8B5CF6"/>
                </a:solidFill>
                <a:latin typeface="Consolas" pitchFamily="34" charset="0"/>
                <a:ea typeface="Consolas" pitchFamily="34" charset="-122"/>
                <a:cs typeface="Consolas" pitchFamily="34" charset="-120"/>
              </a:rPr>
              <a:t>3: Customize</a:t>
            </a:r>
            <a:endParaRPr lang="en-US" sz="1100" dirty="0"/>
          </a:p>
        </p:txBody>
      </p:sp>
      <p:sp>
        <p:nvSpPr>
          <p:cNvPr id="18" name="Text 16"/>
          <p:cNvSpPr/>
          <p:nvPr/>
        </p:nvSpPr>
        <p:spPr>
          <a:xfrm>
            <a:off x="4937760" y="1600200"/>
            <a:ext cx="169164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Month 2</a:t>
            </a:r>
            <a:endParaRPr lang="en-US" sz="1000" dirty="0"/>
          </a:p>
        </p:txBody>
      </p:sp>
      <p:sp>
        <p:nvSpPr>
          <p:cNvPr id="19" name="Text 17"/>
          <p:cNvSpPr/>
          <p:nvPr/>
        </p:nvSpPr>
        <p:spPr>
          <a:xfrm>
            <a:off x="4937760" y="1920240"/>
            <a:ext cx="1691640" cy="2011680"/>
          </a:xfrm>
          <a:prstGeom prst="rect">
            <a:avLst/>
          </a:prstGeom>
          <a:noFill/>
          <a:ln/>
        </p:spPr>
        <p:txBody>
          <a:bodyPr wrap="square" rtlCol="0" anchor="ctr"/>
          <a:lstStyle/>
          <a:p>
            <a:pPr marL="342900" indent="-342900">
              <a:spcAft>
                <a:spcPts val="500"/>
              </a:spcAft>
              <a:buSzPct val="100000"/>
              <a:buChar char="•"/>
            </a:pPr>
            <a:r>
              <a:rPr lang="en-US" sz="950" dirty="0">
                <a:solidFill>
                  <a:srgbClr val="CBD5E1"/>
                </a:solidFill>
                <a:latin typeface="Calibri" pitchFamily="34" charset="0"/>
                <a:ea typeface="Calibri" pitchFamily="34" charset="-122"/>
                <a:cs typeface="Calibri" pitchFamily="34" charset="-120"/>
              </a:rPr>
              <a:t>Custom agent development</a:t>
            </a:r>
            <a:endParaRPr lang="en-US" sz="950" dirty="0"/>
          </a:p>
          <a:p>
            <a:pPr marL="342900" indent="-342900">
              <a:spcAft>
                <a:spcPts val="500"/>
              </a:spcAft>
              <a:buSzPct val="100000"/>
              <a:buChar char="•"/>
            </a:pPr>
            <a:r>
              <a:rPr lang="en-US" sz="950" dirty="0">
                <a:solidFill>
                  <a:srgbClr val="CBD5E1"/>
                </a:solidFill>
                <a:latin typeface="Calibri" pitchFamily="34" charset="0"/>
                <a:ea typeface="Calibri" pitchFamily="34" charset="-122"/>
                <a:cs typeface="Calibri" pitchFamily="34" charset="-120"/>
              </a:rPr>
              <a:t>Domain-specific LoRA training</a:t>
            </a:r>
            <a:endParaRPr lang="en-US" sz="950" dirty="0"/>
          </a:p>
          <a:p>
            <a:pPr marL="342900" indent="-342900">
              <a:spcAft>
                <a:spcPts val="500"/>
              </a:spcAft>
              <a:buSzPct val="100000"/>
              <a:buChar char="•"/>
            </a:pPr>
            <a:r>
              <a:rPr lang="en-US" sz="950" dirty="0">
                <a:solidFill>
                  <a:srgbClr val="CBD5E1"/>
                </a:solidFill>
                <a:latin typeface="Calibri" pitchFamily="34" charset="0"/>
                <a:ea typeface="Calibri" pitchFamily="34" charset="-122"/>
                <a:cs typeface="Calibri" pitchFamily="34" charset="-120"/>
              </a:rPr>
              <a:t>Graph analytics deployment</a:t>
            </a:r>
            <a:endParaRPr lang="en-US" sz="950" dirty="0"/>
          </a:p>
          <a:p>
            <a:pPr marL="342900" indent="-342900">
              <a:spcAft>
                <a:spcPts val="500"/>
              </a:spcAft>
              <a:buSzPct val="100000"/>
              <a:buChar char="•"/>
            </a:pPr>
            <a:r>
              <a:rPr lang="en-US" sz="950" dirty="0">
                <a:solidFill>
                  <a:srgbClr val="CBD5E1"/>
                </a:solidFill>
                <a:latin typeface="Calibri" pitchFamily="34" charset="0"/>
                <a:ea typeface="Calibri" pitchFamily="34" charset="-122"/>
                <a:cs typeface="Calibri" pitchFamily="34" charset="-120"/>
              </a:rPr>
              <a:t>Performance tuning</a:t>
            </a:r>
            <a:endParaRPr lang="en-US" sz="950" dirty="0"/>
          </a:p>
        </p:txBody>
      </p:sp>
      <p:sp>
        <p:nvSpPr>
          <p:cNvPr id="20" name="Shape 18"/>
          <p:cNvSpPr/>
          <p:nvPr/>
        </p:nvSpPr>
        <p:spPr>
          <a:xfrm>
            <a:off x="6903720" y="1234440"/>
            <a:ext cx="1874520" cy="2926080"/>
          </a:xfrm>
          <a:prstGeom prst="rect">
            <a:avLst/>
          </a:prstGeom>
          <a:solidFill>
            <a:srgbClr val="1E293B"/>
          </a:solidFill>
          <a:ln/>
          <a:effectLst>
            <a:outerShdw sx="100000" sy="100000" kx="0" ky="0" algn="bl" rotWithShape="0" blurRad="76200" dist="25400" dir="8100000">
              <a:srgbClr val="000000">
                <a:alpha val="25000"/>
              </a:srgbClr>
            </a:outerShdw>
          </a:effectLst>
        </p:spPr>
      </p:sp>
      <p:sp>
        <p:nvSpPr>
          <p:cNvPr id="21" name="Shape 19"/>
          <p:cNvSpPr/>
          <p:nvPr/>
        </p:nvSpPr>
        <p:spPr>
          <a:xfrm>
            <a:off x="6903720" y="1234440"/>
            <a:ext cx="1874520" cy="36576"/>
          </a:xfrm>
          <a:prstGeom prst="rect">
            <a:avLst/>
          </a:prstGeom>
          <a:solidFill>
            <a:srgbClr val="F59E0B"/>
          </a:solidFill>
          <a:ln/>
        </p:spPr>
      </p:sp>
      <p:sp>
        <p:nvSpPr>
          <p:cNvPr id="22" name="Text 20"/>
          <p:cNvSpPr/>
          <p:nvPr/>
        </p:nvSpPr>
        <p:spPr>
          <a:xfrm>
            <a:off x="6995160" y="1325880"/>
            <a:ext cx="1691640" cy="274320"/>
          </a:xfrm>
          <a:prstGeom prst="rect">
            <a:avLst/>
          </a:prstGeom>
          <a:noFill/>
          <a:ln/>
        </p:spPr>
        <p:txBody>
          <a:bodyPr wrap="square" lIns="0" tIns="0" rIns="0" bIns="0" rtlCol="0" anchor="ctr"/>
          <a:lstStyle/>
          <a:p>
            <a:pPr indent="0" marL="0">
              <a:buNone/>
            </a:pPr>
            <a:r>
              <a:rPr lang="en-US" sz="1100" b="1" dirty="0">
                <a:solidFill>
                  <a:srgbClr val="F59E0B"/>
                </a:solidFill>
                <a:latin typeface="Consolas" pitchFamily="34" charset="0"/>
                <a:ea typeface="Consolas" pitchFamily="34" charset="-122"/>
                <a:cs typeface="Consolas" pitchFamily="34" charset="-120"/>
              </a:rPr>
              <a:t>4: Scale</a:t>
            </a:r>
            <a:endParaRPr lang="en-US" sz="1100" dirty="0"/>
          </a:p>
        </p:txBody>
      </p:sp>
      <p:sp>
        <p:nvSpPr>
          <p:cNvPr id="23" name="Text 21"/>
          <p:cNvSpPr/>
          <p:nvPr/>
        </p:nvSpPr>
        <p:spPr>
          <a:xfrm>
            <a:off x="6995160" y="1600200"/>
            <a:ext cx="169164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Month 3+</a:t>
            </a:r>
            <a:endParaRPr lang="en-US" sz="1000" dirty="0"/>
          </a:p>
        </p:txBody>
      </p:sp>
      <p:sp>
        <p:nvSpPr>
          <p:cNvPr id="24" name="Text 22"/>
          <p:cNvSpPr/>
          <p:nvPr/>
        </p:nvSpPr>
        <p:spPr>
          <a:xfrm>
            <a:off x="6995160" y="1920240"/>
            <a:ext cx="1691640" cy="2011680"/>
          </a:xfrm>
          <a:prstGeom prst="rect">
            <a:avLst/>
          </a:prstGeom>
          <a:noFill/>
          <a:ln/>
        </p:spPr>
        <p:txBody>
          <a:bodyPr wrap="square" rtlCol="0" anchor="ctr"/>
          <a:lstStyle/>
          <a:p>
            <a:pPr marL="342900" indent="-342900">
              <a:spcAft>
                <a:spcPts val="500"/>
              </a:spcAft>
              <a:buSzPct val="100000"/>
              <a:buChar char="•"/>
            </a:pPr>
            <a:r>
              <a:rPr lang="en-US" sz="950" dirty="0">
                <a:solidFill>
                  <a:srgbClr val="CBD5E1"/>
                </a:solidFill>
                <a:latin typeface="Calibri" pitchFamily="34" charset="0"/>
                <a:ea typeface="Calibri" pitchFamily="34" charset="-122"/>
                <a:cs typeface="Calibri" pitchFamily="34" charset="-120"/>
              </a:rPr>
              <a:t>Production scaling + monitoring</a:t>
            </a:r>
            <a:endParaRPr lang="en-US" sz="950" dirty="0"/>
          </a:p>
          <a:p>
            <a:pPr marL="342900" indent="-342900">
              <a:spcAft>
                <a:spcPts val="500"/>
              </a:spcAft>
              <a:buSzPct val="100000"/>
              <a:buChar char="•"/>
            </a:pPr>
            <a:r>
              <a:rPr lang="en-US" sz="950" dirty="0">
                <a:solidFill>
                  <a:srgbClr val="CBD5E1"/>
                </a:solidFill>
                <a:latin typeface="Calibri" pitchFamily="34" charset="0"/>
                <a:ea typeface="Calibri" pitchFamily="34" charset="-122"/>
                <a:cs typeface="Calibri" pitchFamily="34" charset="-120"/>
              </a:rPr>
              <a:t>WASM edge deployment</a:t>
            </a:r>
            <a:endParaRPr lang="en-US" sz="950" dirty="0"/>
          </a:p>
          <a:p>
            <a:pPr marL="342900" indent="-342900">
              <a:spcAft>
                <a:spcPts val="500"/>
              </a:spcAft>
              <a:buSzPct val="100000"/>
              <a:buChar char="•"/>
            </a:pPr>
            <a:r>
              <a:rPr lang="en-US" sz="950" dirty="0">
                <a:solidFill>
                  <a:srgbClr val="CBD5E1"/>
                </a:solidFill>
                <a:latin typeface="Calibri" pitchFamily="34" charset="0"/>
                <a:ea typeface="Calibri" pitchFamily="34" charset="-122"/>
                <a:cs typeface="Calibri" pitchFamily="34" charset="-120"/>
              </a:rPr>
              <a:t>Multi-tenant RVCOW</a:t>
            </a:r>
            <a:endParaRPr lang="en-US" sz="950" dirty="0"/>
          </a:p>
          <a:p>
            <a:pPr marL="342900" indent="-342900">
              <a:spcAft>
                <a:spcPts val="500"/>
              </a:spcAft>
              <a:buSzPct val="100000"/>
              <a:buChar char="•"/>
            </a:pPr>
            <a:r>
              <a:rPr lang="en-US" sz="950" dirty="0">
                <a:solidFill>
                  <a:srgbClr val="CBD5E1"/>
                </a:solidFill>
                <a:latin typeface="Calibri" pitchFamily="34" charset="0"/>
                <a:ea typeface="Calibri" pitchFamily="34" charset="-122"/>
                <a:cs typeface="Calibri" pitchFamily="34" charset="-120"/>
              </a:rPr>
              <a:t>Advanced swarm topologies</a:t>
            </a:r>
            <a:endParaRPr lang="en-US" sz="950" dirty="0"/>
          </a:p>
        </p:txBody>
      </p:sp>
      <p:sp>
        <p:nvSpPr>
          <p:cNvPr id="25" name="Shape 23"/>
          <p:cNvSpPr/>
          <p:nvPr/>
        </p:nvSpPr>
        <p:spPr>
          <a:xfrm>
            <a:off x="731520" y="4343400"/>
            <a:ext cx="7680960" cy="411480"/>
          </a:xfrm>
          <a:prstGeom prst="rect">
            <a:avLst/>
          </a:prstGeom>
          <a:solidFill>
            <a:srgbClr val="1A2744"/>
          </a:solidFill>
          <a:ln/>
        </p:spPr>
      </p:sp>
      <p:sp>
        <p:nvSpPr>
          <p:cNvPr id="26" name="Text 24"/>
          <p:cNvSpPr/>
          <p:nvPr/>
        </p:nvSpPr>
        <p:spPr>
          <a:xfrm>
            <a:off x="914400" y="4343400"/>
            <a:ext cx="7315200" cy="411480"/>
          </a:xfrm>
          <a:prstGeom prst="rect">
            <a:avLst/>
          </a:prstGeom>
          <a:noFill/>
          <a:ln/>
        </p:spPr>
        <p:txBody>
          <a:bodyPr wrap="square" lIns="0" tIns="0" rIns="0" bIns="0" rtlCol="0" anchor="ctr"/>
          <a:lstStyle/>
          <a:p>
            <a:pPr indent="0" marL="0">
              <a:buNone/>
            </a:pPr>
            <a:r>
              <a:rPr lang="en-US" sz="1200" dirty="0">
                <a:solidFill>
                  <a:srgbClr val="06B6D4"/>
                </a:solidFill>
                <a:latin typeface="Calibri" pitchFamily="34" charset="0"/>
                <a:ea typeface="Calibri" pitchFamily="34" charset="-122"/>
                <a:cs typeface="Calibri" pitchFamily="34" charset="-120"/>
              </a:rPr>
              <a:t>Each phase delivers standalone value. No big-bang migration required.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sp>
      <p:sp>
        <p:nvSpPr>
          <p:cNvPr id="3" name="Text 1"/>
          <p:cNvSpPr/>
          <p:nvPr/>
        </p:nvSpPr>
        <p:spPr>
          <a:xfrm>
            <a:off x="731520" y="914400"/>
            <a:ext cx="7680960" cy="457200"/>
          </a:xfrm>
          <a:prstGeom prst="rect">
            <a:avLst/>
          </a:prstGeom>
          <a:noFill/>
          <a:ln/>
        </p:spPr>
        <p:txBody>
          <a:bodyPr wrap="square" lIns="0" tIns="0" rIns="0" bIns="0" rtlCol="0" anchor="ctr"/>
          <a:lstStyle/>
          <a:p>
            <a:pPr indent="0" marL="0">
              <a:buNone/>
            </a:pPr>
            <a:r>
              <a:rPr lang="en-US" sz="1600" spc="600" kern="0" dirty="0">
                <a:solidFill>
                  <a:srgbClr val="06B6D4"/>
                </a:solidFill>
                <a:latin typeface="Consolas" pitchFamily="34" charset="0"/>
                <a:ea typeface="Consolas" pitchFamily="34" charset="-122"/>
                <a:cs typeface="Consolas" pitchFamily="34" charset="-120"/>
              </a:rPr>
              <a:t>RUVNET</a:t>
            </a:r>
            <a:endParaRPr lang="en-US" sz="1600" dirty="0"/>
          </a:p>
        </p:txBody>
      </p:sp>
      <p:sp>
        <p:nvSpPr>
          <p:cNvPr id="4" name="Text 2"/>
          <p:cNvSpPr/>
          <p:nvPr/>
        </p:nvSpPr>
        <p:spPr>
          <a:xfrm>
            <a:off x="731520" y="1463040"/>
            <a:ext cx="7680960" cy="1188720"/>
          </a:xfrm>
          <a:prstGeom prst="rect">
            <a:avLst/>
          </a:prstGeom>
          <a:noFill/>
          <a:ln/>
        </p:spPr>
        <p:txBody>
          <a:bodyPr wrap="square" lIns="0" tIns="0" rIns="0" bIns="0" rtlCol="0" anchor="ctr"/>
          <a:lstStyle/>
          <a:p>
            <a:pPr indent="0" marL="0">
              <a:buNone/>
            </a:pPr>
            <a:r>
              <a:rPr lang="en-US" sz="4000" b="1" dirty="0">
                <a:solidFill>
                  <a:srgbClr val="F8FAFC"/>
                </a:solidFill>
                <a:latin typeface="Cambria" pitchFamily="34" charset="0"/>
                <a:ea typeface="Cambria" pitchFamily="34" charset="-122"/>
                <a:cs typeface="Cambria" pitchFamily="34" charset="-120"/>
              </a:rPr>
              <a:t>Schedule a 30-Minute</a:t>
            </a:r>
            <a:endParaRPr lang="en-US" sz="4000" dirty="0"/>
          </a:p>
          <a:p>
            <a:pPr indent="0" marL="0">
              <a:buNone/>
            </a:pPr>
            <a:r>
              <a:rPr lang="en-US" sz="4000" b="1" dirty="0">
                <a:solidFill>
                  <a:srgbClr val="F8FAFC"/>
                </a:solidFill>
                <a:latin typeface="Cambria" pitchFamily="34" charset="0"/>
                <a:ea typeface="Cambria" pitchFamily="34" charset="-122"/>
                <a:cs typeface="Cambria" pitchFamily="34" charset="-120"/>
              </a:rPr>
              <a:t>Architecture Review</a:t>
            </a:r>
            <a:endParaRPr lang="en-US" sz="4000" dirty="0"/>
          </a:p>
        </p:txBody>
      </p:sp>
      <p:sp>
        <p:nvSpPr>
          <p:cNvPr id="5" name="Text 3"/>
          <p:cNvSpPr/>
          <p:nvPr/>
        </p:nvSpPr>
        <p:spPr>
          <a:xfrm>
            <a:off x="731520" y="3017520"/>
            <a:ext cx="1828800" cy="365760"/>
          </a:xfrm>
          <a:prstGeom prst="rect">
            <a:avLst/>
          </a:prstGeom>
          <a:noFill/>
          <a:ln/>
        </p:spPr>
        <p:txBody>
          <a:bodyPr wrap="square" lIns="0" tIns="0" rIns="0" bIns="0" rtlCol="0" anchor="ctr"/>
          <a:lstStyle/>
          <a:p>
            <a:pPr indent="0" marL="0">
              <a:buNone/>
            </a:pPr>
            <a:r>
              <a:rPr lang="en-US" sz="2200" b="1" dirty="0">
                <a:solidFill>
                  <a:srgbClr val="06B6D4"/>
                </a:solidFill>
                <a:latin typeface="Consolas" pitchFamily="34" charset="0"/>
                <a:ea typeface="Consolas" pitchFamily="34" charset="-122"/>
                <a:cs typeface="Consolas" pitchFamily="34" charset="-120"/>
              </a:rPr>
              <a:t>148+</a:t>
            </a:r>
            <a:endParaRPr lang="en-US" sz="2200" dirty="0"/>
          </a:p>
        </p:txBody>
      </p:sp>
      <p:sp>
        <p:nvSpPr>
          <p:cNvPr id="6" name="Text 4"/>
          <p:cNvSpPr/>
          <p:nvPr/>
        </p:nvSpPr>
        <p:spPr>
          <a:xfrm>
            <a:off x="731520" y="333756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Capabilities</a:t>
            </a:r>
            <a:endParaRPr lang="en-US" sz="1000" dirty="0"/>
          </a:p>
        </p:txBody>
      </p:sp>
      <p:sp>
        <p:nvSpPr>
          <p:cNvPr id="7" name="Text 5"/>
          <p:cNvSpPr/>
          <p:nvPr/>
        </p:nvSpPr>
        <p:spPr>
          <a:xfrm>
            <a:off x="2743200" y="3017520"/>
            <a:ext cx="1828800" cy="365760"/>
          </a:xfrm>
          <a:prstGeom prst="rect">
            <a:avLst/>
          </a:prstGeom>
          <a:noFill/>
          <a:ln/>
        </p:spPr>
        <p:txBody>
          <a:bodyPr wrap="square" lIns="0" tIns="0" rIns="0" bIns="0" rtlCol="0" anchor="ctr"/>
          <a:lstStyle/>
          <a:p>
            <a:pPr indent="0" marL="0">
              <a:buNone/>
            </a:pPr>
            <a:r>
              <a:rPr lang="en-US" sz="2200" b="1" dirty="0">
                <a:solidFill>
                  <a:srgbClr val="06B6D4"/>
                </a:solidFill>
                <a:latin typeface="Consolas" pitchFamily="34" charset="0"/>
                <a:ea typeface="Consolas" pitchFamily="34" charset="-122"/>
                <a:cs typeface="Consolas" pitchFamily="34" charset="-120"/>
              </a:rPr>
              <a:t>14</a:t>
            </a:r>
            <a:endParaRPr lang="en-US" sz="2200" dirty="0"/>
          </a:p>
        </p:txBody>
      </p:sp>
      <p:sp>
        <p:nvSpPr>
          <p:cNvPr id="8" name="Text 6"/>
          <p:cNvSpPr/>
          <p:nvPr/>
        </p:nvSpPr>
        <p:spPr>
          <a:xfrm>
            <a:off x="2743200" y="333756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Modules</a:t>
            </a:r>
            <a:endParaRPr lang="en-US" sz="1000" dirty="0"/>
          </a:p>
        </p:txBody>
      </p:sp>
      <p:sp>
        <p:nvSpPr>
          <p:cNvPr id="9" name="Text 7"/>
          <p:cNvSpPr/>
          <p:nvPr/>
        </p:nvSpPr>
        <p:spPr>
          <a:xfrm>
            <a:off x="4754880" y="3017520"/>
            <a:ext cx="1828800" cy="365760"/>
          </a:xfrm>
          <a:prstGeom prst="rect">
            <a:avLst/>
          </a:prstGeom>
          <a:noFill/>
          <a:ln/>
        </p:spPr>
        <p:txBody>
          <a:bodyPr wrap="square" lIns="0" tIns="0" rIns="0" bIns="0" rtlCol="0" anchor="ctr"/>
          <a:lstStyle/>
          <a:p>
            <a:pPr indent="0" marL="0">
              <a:buNone/>
            </a:pPr>
            <a:r>
              <a:rPr lang="en-US" sz="2200" b="1" dirty="0">
                <a:solidFill>
                  <a:srgbClr val="06B6D4"/>
                </a:solidFill>
                <a:latin typeface="Consolas" pitchFamily="34" charset="0"/>
                <a:ea typeface="Consolas" pitchFamily="34" charset="-122"/>
                <a:cs typeface="Consolas" pitchFamily="34" charset="-120"/>
              </a:rPr>
              <a:t>80+</a:t>
            </a:r>
            <a:endParaRPr lang="en-US" sz="2200" dirty="0"/>
          </a:p>
        </p:txBody>
      </p:sp>
      <p:sp>
        <p:nvSpPr>
          <p:cNvPr id="10" name="Text 8"/>
          <p:cNvSpPr/>
          <p:nvPr/>
        </p:nvSpPr>
        <p:spPr>
          <a:xfrm>
            <a:off x="4754880" y="333756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Rust Crates</a:t>
            </a:r>
            <a:endParaRPr lang="en-US" sz="1000" dirty="0"/>
          </a:p>
        </p:txBody>
      </p:sp>
      <p:sp>
        <p:nvSpPr>
          <p:cNvPr id="11" name="Text 9"/>
          <p:cNvSpPr/>
          <p:nvPr/>
        </p:nvSpPr>
        <p:spPr>
          <a:xfrm>
            <a:off x="6766560" y="3017520"/>
            <a:ext cx="1828800" cy="365760"/>
          </a:xfrm>
          <a:prstGeom prst="rect">
            <a:avLst/>
          </a:prstGeom>
          <a:noFill/>
          <a:ln/>
        </p:spPr>
        <p:txBody>
          <a:bodyPr wrap="square" lIns="0" tIns="0" rIns="0" bIns="0" rtlCol="0" anchor="ctr"/>
          <a:lstStyle/>
          <a:p>
            <a:pPr indent="0" marL="0">
              <a:buNone/>
            </a:pPr>
            <a:r>
              <a:rPr lang="en-US" sz="2200" b="1" dirty="0">
                <a:solidFill>
                  <a:srgbClr val="06B6D4"/>
                </a:solidFill>
                <a:latin typeface="Consolas" pitchFamily="34" charset="0"/>
                <a:ea typeface="Consolas" pitchFamily="34" charset="-122"/>
                <a:cs typeface="Consolas" pitchFamily="34" charset="-120"/>
              </a:rPr>
              <a:t>290+</a:t>
            </a:r>
            <a:endParaRPr lang="en-US" sz="2200" dirty="0"/>
          </a:p>
        </p:txBody>
      </p:sp>
      <p:sp>
        <p:nvSpPr>
          <p:cNvPr id="12" name="Text 10"/>
          <p:cNvSpPr/>
          <p:nvPr/>
        </p:nvSpPr>
        <p:spPr>
          <a:xfrm>
            <a:off x="6766560" y="333756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SQL Functions</a:t>
            </a:r>
            <a:endParaRPr lang="en-US" sz="1000" dirty="0"/>
          </a:p>
        </p:txBody>
      </p:sp>
      <p:sp>
        <p:nvSpPr>
          <p:cNvPr id="13" name="Text 11"/>
          <p:cNvSpPr/>
          <p:nvPr/>
        </p:nvSpPr>
        <p:spPr>
          <a:xfrm>
            <a:off x="731520" y="3703320"/>
            <a:ext cx="1828800" cy="320040"/>
          </a:xfrm>
          <a:prstGeom prst="rect">
            <a:avLst/>
          </a:prstGeom>
          <a:noFill/>
          <a:ln/>
        </p:spPr>
        <p:txBody>
          <a:bodyPr wrap="square" lIns="0" tIns="0" rIns="0" bIns="0" rtlCol="0" anchor="ctr"/>
          <a:lstStyle/>
          <a:p>
            <a:pPr indent="0" marL="0">
              <a:buNone/>
            </a:pPr>
            <a:r>
              <a:rPr lang="en-US" sz="2000" b="1" dirty="0">
                <a:solidFill>
                  <a:srgbClr val="0EA5E9"/>
                </a:solidFill>
                <a:latin typeface="Consolas" pitchFamily="34" charset="0"/>
                <a:ea typeface="Consolas" pitchFamily="34" charset="-122"/>
                <a:cs typeface="Consolas" pitchFamily="34" charset="-120"/>
              </a:rPr>
              <a:t>39</a:t>
            </a:r>
            <a:endParaRPr lang="en-US" sz="2000" dirty="0"/>
          </a:p>
        </p:txBody>
      </p:sp>
      <p:sp>
        <p:nvSpPr>
          <p:cNvPr id="14" name="Text 12"/>
          <p:cNvSpPr/>
          <p:nvPr/>
        </p:nvSpPr>
        <p:spPr>
          <a:xfrm>
            <a:off x="731520" y="397764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Attention Mechanisms</a:t>
            </a:r>
            <a:endParaRPr lang="en-US" sz="1000" dirty="0"/>
          </a:p>
        </p:txBody>
      </p:sp>
      <p:sp>
        <p:nvSpPr>
          <p:cNvPr id="15" name="Text 13"/>
          <p:cNvSpPr/>
          <p:nvPr/>
        </p:nvSpPr>
        <p:spPr>
          <a:xfrm>
            <a:off x="2743200" y="3703320"/>
            <a:ext cx="1828800" cy="320040"/>
          </a:xfrm>
          <a:prstGeom prst="rect">
            <a:avLst/>
          </a:prstGeom>
          <a:noFill/>
          <a:ln/>
        </p:spPr>
        <p:txBody>
          <a:bodyPr wrap="square" lIns="0" tIns="0" rIns="0" bIns="0" rtlCol="0" anchor="ctr"/>
          <a:lstStyle/>
          <a:p>
            <a:pPr indent="0" marL="0">
              <a:buNone/>
            </a:pPr>
            <a:r>
              <a:rPr lang="en-US" sz="2000" b="1" dirty="0">
                <a:solidFill>
                  <a:srgbClr val="0EA5E9"/>
                </a:solidFill>
                <a:latin typeface="Consolas" pitchFamily="34" charset="0"/>
                <a:ea typeface="Consolas" pitchFamily="34" charset="-122"/>
                <a:cs typeface="Consolas" pitchFamily="34" charset="-120"/>
              </a:rPr>
              <a:t>9</a:t>
            </a:r>
            <a:endParaRPr lang="en-US" sz="2000" dirty="0"/>
          </a:p>
        </p:txBody>
      </p:sp>
      <p:sp>
        <p:nvSpPr>
          <p:cNvPr id="16" name="Text 14"/>
          <p:cNvSpPr/>
          <p:nvPr/>
        </p:nvSpPr>
        <p:spPr>
          <a:xfrm>
            <a:off x="2743200" y="397764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RL Algorithms</a:t>
            </a:r>
            <a:endParaRPr lang="en-US" sz="1000" dirty="0"/>
          </a:p>
        </p:txBody>
      </p:sp>
      <p:sp>
        <p:nvSpPr>
          <p:cNvPr id="17" name="Text 15"/>
          <p:cNvSpPr/>
          <p:nvPr/>
        </p:nvSpPr>
        <p:spPr>
          <a:xfrm>
            <a:off x="4754880" y="3703320"/>
            <a:ext cx="1828800" cy="320040"/>
          </a:xfrm>
          <a:prstGeom prst="rect">
            <a:avLst/>
          </a:prstGeom>
          <a:noFill/>
          <a:ln/>
        </p:spPr>
        <p:txBody>
          <a:bodyPr wrap="square" lIns="0" tIns="0" rIns="0" bIns="0" rtlCol="0" anchor="ctr"/>
          <a:lstStyle/>
          <a:p>
            <a:pPr indent="0" marL="0">
              <a:buNone/>
            </a:pPr>
            <a:r>
              <a:rPr lang="en-US" sz="2000" b="1" dirty="0">
                <a:solidFill>
                  <a:srgbClr val="0EA5E9"/>
                </a:solidFill>
                <a:latin typeface="Consolas" pitchFamily="34" charset="0"/>
                <a:ea typeface="Consolas" pitchFamily="34" charset="-122"/>
                <a:cs typeface="Consolas" pitchFamily="34" charset="-120"/>
              </a:rPr>
              <a:t>5</a:t>
            </a:r>
            <a:endParaRPr lang="en-US" sz="2000" dirty="0"/>
          </a:p>
        </p:txBody>
      </p:sp>
      <p:sp>
        <p:nvSpPr>
          <p:cNvPr id="18" name="Text 16"/>
          <p:cNvSpPr/>
          <p:nvPr/>
        </p:nvSpPr>
        <p:spPr>
          <a:xfrm>
            <a:off x="4754880" y="397764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Bio-Inspired Layers</a:t>
            </a:r>
            <a:endParaRPr lang="en-US" sz="1000" dirty="0"/>
          </a:p>
        </p:txBody>
      </p:sp>
      <p:sp>
        <p:nvSpPr>
          <p:cNvPr id="19" name="Text 17"/>
          <p:cNvSpPr/>
          <p:nvPr/>
        </p:nvSpPr>
        <p:spPr>
          <a:xfrm>
            <a:off x="6766560" y="3703320"/>
            <a:ext cx="1828800" cy="320040"/>
          </a:xfrm>
          <a:prstGeom prst="rect">
            <a:avLst/>
          </a:prstGeom>
          <a:noFill/>
          <a:ln/>
        </p:spPr>
        <p:txBody>
          <a:bodyPr wrap="square" lIns="0" tIns="0" rIns="0" bIns="0" rtlCol="0" anchor="ctr"/>
          <a:lstStyle/>
          <a:p>
            <a:pPr indent="0" marL="0">
              <a:buNone/>
            </a:pPr>
            <a:r>
              <a:rPr lang="en-US" sz="2000" b="1" dirty="0">
                <a:solidFill>
                  <a:srgbClr val="0EA5E9"/>
                </a:solidFill>
                <a:latin typeface="Consolas" pitchFamily="34" charset="0"/>
                <a:ea typeface="Consolas" pitchFamily="34" charset="-122"/>
                <a:cs typeface="Consolas" pitchFamily="34" charset="-120"/>
              </a:rPr>
              <a:t>24</a:t>
            </a:r>
            <a:endParaRPr lang="en-US" sz="2000" dirty="0"/>
          </a:p>
        </p:txBody>
      </p:sp>
      <p:sp>
        <p:nvSpPr>
          <p:cNvPr id="20" name="Text 18"/>
          <p:cNvSpPr/>
          <p:nvPr/>
        </p:nvSpPr>
        <p:spPr>
          <a:xfrm>
            <a:off x="6766560" y="3977640"/>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RVF Segment Types</a:t>
            </a:r>
            <a:endParaRPr lang="en-US" sz="1000" dirty="0"/>
          </a:p>
        </p:txBody>
      </p:sp>
      <p:sp>
        <p:nvSpPr>
          <p:cNvPr id="21" name="Text 19"/>
          <p:cNvSpPr/>
          <p:nvPr/>
        </p:nvSpPr>
        <p:spPr>
          <a:xfrm>
            <a:off x="731520" y="4297680"/>
            <a:ext cx="7680960" cy="274320"/>
          </a:xfrm>
          <a:prstGeom prst="rect">
            <a:avLst/>
          </a:prstGeom>
          <a:noFill/>
          <a:ln/>
        </p:spPr>
        <p:txBody>
          <a:bodyPr wrap="square" lIns="0" tIns="0" rIns="0" bIns="0" rtlCol="0" anchor="ctr"/>
          <a:lstStyle/>
          <a:p>
            <a:pPr indent="0" marL="0">
              <a:buNone/>
            </a:pPr>
            <a:r>
              <a:rPr lang="en-US" sz="1200" i="1" dirty="0">
                <a:solidFill>
                  <a:srgbClr val="06B6D4"/>
                </a:solidFill>
                <a:latin typeface="Calibri" pitchFamily="34" charset="0"/>
                <a:ea typeface="Calibri" pitchFamily="34" charset="-122"/>
                <a:cs typeface="Calibri" pitchFamily="34" charset="-120"/>
              </a:rPr>
              <a:t>Two standard deviations beyond state of the art. Open source. Free. The architecture everyone will use.</a:t>
            </a:r>
            <a:endParaRPr lang="en-US" sz="1200" dirty="0"/>
          </a:p>
        </p:txBody>
      </p:sp>
      <p:sp>
        <p:nvSpPr>
          <p:cNvPr id="22" name="Text 20"/>
          <p:cNvSpPr/>
          <p:nvPr/>
        </p:nvSpPr>
        <p:spPr>
          <a:xfrm>
            <a:off x="731520" y="4709160"/>
            <a:ext cx="7315200" cy="274320"/>
          </a:xfrm>
          <a:prstGeom prst="rect">
            <a:avLst/>
          </a:prstGeom>
          <a:noFill/>
          <a:ln/>
        </p:spPr>
        <p:txBody>
          <a:bodyPr wrap="square" lIns="0" tIns="0" rIns="0" bIns="0" rtlCol="0" anchor="ctr"/>
          <a:lstStyle/>
          <a:p>
            <a:pPr indent="0" marL="0">
              <a:buNone/>
            </a:pPr>
            <a:r>
              <a:rPr lang="en-US" sz="1300" b="1" dirty="0">
                <a:solidFill>
                  <a:srgbClr val="06B6D4"/>
                </a:solidFill>
                <a:latin typeface="Consolas" pitchFamily="34" charset="0"/>
                <a:ea typeface="Consolas" pitchFamily="34" charset="-122"/>
                <a:cs typeface="Consolas" pitchFamily="34" charset="-120"/>
              </a:rPr>
              <a:t>ruvnet.com  |  hello@ruvnet.com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RuvNet CTO Architecture Deep Dive</dc:title>
  <dc:subject>PptxGenJS Presentation</dc:subject>
  <dc:creator>RuvNet</dc:creator>
  <cp:lastModifiedBy>RuvNet</cp:lastModifiedBy>
  <cp:revision>1</cp:revision>
  <dcterms:created xsi:type="dcterms:W3CDTF">2026-03-12T19:36:40Z</dcterms:created>
  <dcterms:modified xsi:type="dcterms:W3CDTF">2026-03-12T19:36:40Z</dcterms:modified>
</cp:coreProperties>
</file>