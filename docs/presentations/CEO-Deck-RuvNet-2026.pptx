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pic>
        <p:nvPicPr>
          <p:cNvPr id="3" name="Image 0" descr="/Users/stuartkerr/Code/Ask-Ruvnet/Ask-Ruvnet/docs/presentations/images/01-architecture-overview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5029200" y="731520"/>
            <a:ext cx="3840480" cy="2926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731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 U  V  N  E  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13716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AI Projects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 Failing.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731520" y="30175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of enterprise AI pilots never reach production.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RuvNet is the infrastructure that fixes that.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4023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500K+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31520" y="43708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743200" y="4023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12K+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2743200" y="43708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Stars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754880" y="4023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100K+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4754880" y="43708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766560" y="4023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80+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766560" y="43708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Crates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31520" y="4709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 |  MIT License  |  ruvnet.com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$2.4 Trillion Problem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spending is massive. But 87% of enterprise pilots never reach production.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2468880" cy="11887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417320"/>
            <a:ext cx="246888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1874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coordinates 50+ AI agents?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1417320"/>
            <a:ext cx="2468880" cy="11887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83280" y="1417320"/>
            <a:ext cx="2468880" cy="45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1" name="Text 9"/>
          <p:cNvSpPr/>
          <p:nvPr/>
        </p:nvSpPr>
        <p:spPr>
          <a:xfrm>
            <a:off x="3520440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20440" y="1874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agents remember yesterday?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417320"/>
            <a:ext cx="2468880" cy="11887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417320"/>
            <a:ext cx="246888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1874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find context in &lt;100µs?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2834640"/>
            <a:ext cx="2468880" cy="11887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2834640"/>
            <a:ext cx="246888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2971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8680" y="32918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stops prompt injection?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83280" y="2834640"/>
            <a:ext cx="2468880" cy="11887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383280" y="2834640"/>
            <a:ext cx="2468880" cy="457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23" name="Text 21"/>
          <p:cNvSpPr/>
          <p:nvPr/>
        </p:nvSpPr>
        <p:spPr>
          <a:xfrm>
            <a:off x="3520440" y="2971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520440" y="32918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run AI without internet?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35040" y="2834640"/>
            <a:ext cx="2468880" cy="11887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35040" y="2834640"/>
            <a:ext cx="2468880" cy="45720"/>
          </a:xfrm>
          <a:prstGeom prst="rect">
            <a:avLst/>
          </a:prstGeom>
          <a:solidFill>
            <a:srgbClr val="E879F9"/>
          </a:solidFill>
          <a:ln/>
        </p:spPr>
      </p:sp>
      <p:sp>
        <p:nvSpPr>
          <p:cNvPr id="27" name="Text 25"/>
          <p:cNvSpPr/>
          <p:nvPr/>
        </p:nvSpPr>
        <p:spPr>
          <a:xfrm>
            <a:off x="6172200" y="2971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9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72200" y="32918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agents improve over time?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31520" y="4343400"/>
            <a:ext cx="7680960" cy="502920"/>
          </a:xfrm>
          <a:prstGeom prst="rect">
            <a:avLst/>
          </a:prstGeom>
          <a:solidFill>
            <a:srgbClr val="1A2035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43434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major provider ships all six. Most ship zero.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Competitive Landscape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provider excels at the model layer. None provide the other 8.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188720"/>
                <a:gridCol w="15544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RuvNet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API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Orchestration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 Memory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Search (&lt;100µs)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Middleware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/ Air-Gapped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Self-Learning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Anti-Hallucination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WASM Runtime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RuvNet: The Complete Agentic Stack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integrated modules that turn AI models into production-grade autonomous systems.</a:t>
            </a:r>
            <a:endParaRPr lang="en-US" sz="1500" dirty="0"/>
          </a:p>
        </p:txBody>
      </p:sp>
      <p:pic>
        <p:nvPicPr>
          <p:cNvPr id="5" name="Image 0" descr="/Users/stuartkerr/Code/Ask-Ruvnet/Ask-Ruvnet/docs/presentations/images/01-architecture-overview.png">    </p:cNvPr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1371600" y="1097280"/>
            <a:ext cx="6400800" cy="3657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1325880"/>
            <a:ext cx="2468880" cy="15087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325880"/>
            <a:ext cx="246888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14356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Ruflo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68680" y="167335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Brain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1892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150+ agent types, 5 topologies.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Orchestrates autonomous fleets.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68680" y="24688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500K downloads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383280" y="1325880"/>
            <a:ext cx="2468880" cy="15087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83280" y="1325880"/>
            <a:ext cx="2468880" cy="45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4" name="Text 11"/>
          <p:cNvSpPr/>
          <p:nvPr/>
        </p:nvSpPr>
        <p:spPr>
          <a:xfrm>
            <a:off x="3520440" y="14356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RuVector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20440" y="167335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Search Engine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520440" y="1892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61µs HNSW search.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PostgreSQL integration.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20440" y="24688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8,000x faster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035040" y="1325880"/>
            <a:ext cx="2468880" cy="15087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035040" y="1325880"/>
            <a:ext cx="246888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20" name="Text 17"/>
          <p:cNvSpPr/>
          <p:nvPr/>
        </p:nvSpPr>
        <p:spPr>
          <a:xfrm>
            <a:off x="6172200" y="14356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AgentDB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172200" y="167335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Memory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172200" y="1892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memory types across sessions.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remember everything.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172200" y="24688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6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12,500x retrieval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31520" y="3017520"/>
            <a:ext cx="2468880" cy="15087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31520" y="3017520"/>
            <a:ext cx="246888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6" name="Text 23"/>
          <p:cNvSpPr/>
          <p:nvPr/>
        </p:nvSpPr>
        <p:spPr>
          <a:xfrm>
            <a:off x="868680" y="31272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AIMDS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868680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Immune System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68680" y="35844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0.06ms threat detection.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Chaos theory-based security.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868680" y="41605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12K+ req/sec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3383280" y="3017520"/>
            <a:ext cx="2468880" cy="15087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3383280" y="3017520"/>
            <a:ext cx="2468880" cy="457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32" name="Text 29"/>
          <p:cNvSpPr/>
          <p:nvPr/>
        </p:nvSpPr>
        <p:spPr>
          <a:xfrm>
            <a:off x="3520440" y="31272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RVF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3520440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Container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520440" y="35844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5.5KB WASM runtime.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file deployment.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3520440" y="41605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9,000x smaller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035040" y="3017520"/>
            <a:ext cx="2468880" cy="15087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035040" y="3017520"/>
            <a:ext cx="2468880" cy="45720"/>
          </a:xfrm>
          <a:prstGeom prst="rect">
            <a:avLst/>
          </a:prstGeom>
          <a:solidFill>
            <a:srgbClr val="E879F9"/>
          </a:solidFill>
          <a:ln/>
        </p:spPr>
      </p:sp>
      <p:sp>
        <p:nvSpPr>
          <p:cNvPr id="38" name="Text 35"/>
          <p:cNvSpPr/>
          <p:nvPr/>
        </p:nvSpPr>
        <p:spPr>
          <a:xfrm>
            <a:off x="6172200" y="31272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9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6172200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6172200" y="35844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&lt;1ms learning at $0.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forgetting.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6172200" y="41605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$0 per cycle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20040"/>
            <a:ext cx="1097280" cy="32004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320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Pi: The Shared AI Brain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Decentralized collective intelligence network at π.ruv.io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solidFill>
            <a:srgbClr val="1A1535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1371600"/>
            <a:ext cx="7680960" cy="54864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1554480"/>
            <a:ext cx="54864" cy="45720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0" name="Text 8"/>
          <p:cNvSpPr/>
          <p:nvPr/>
        </p:nvSpPr>
        <p:spPr>
          <a:xfrm>
            <a:off x="118872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Wikipedia, but for AI memory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178308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embeddings instead of articles. Machines AND humans contribute.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14400" y="2148840"/>
            <a:ext cx="54864" cy="45720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21488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contribute and access knowledge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237744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interaction enriches the collective. Knowledge compounds across the network.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" y="2743200"/>
            <a:ext cx="54864" cy="45720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6" name="Text 14"/>
          <p:cNvSpPr/>
          <p:nvPr/>
        </p:nvSpPr>
        <p:spPr>
          <a:xfrm>
            <a:off x="1188720" y="27432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verification ensures quality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29718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Witness chains prove provenance. Bad data cannot corrupt the knowledge graph.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4400" y="3337560"/>
            <a:ext cx="54864" cy="45720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9" name="Text 17"/>
          <p:cNvSpPr/>
          <p:nvPr/>
        </p:nvSpPr>
        <p:spPr>
          <a:xfrm>
            <a:off x="1188720" y="3337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Decentralized — no single point of failure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35661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across nodes. No central server to attack, censor, or shut down.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343400"/>
            <a:ext cx="7680960" cy="502920"/>
          </a:xfrm>
          <a:prstGeom prst="rect">
            <a:avLst/>
          </a:prstGeom>
          <a:solidFill>
            <a:srgbClr val="0D292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3434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first collective intelligence network purpose-built for AI agents.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Data Never Leaves Your Building</a:t>
            </a:r>
            <a:endParaRPr lang="en-US" sz="2800" dirty="0"/>
          </a:p>
        </p:txBody>
      </p:sp>
      <p:pic>
        <p:nvPicPr>
          <p:cNvPr id="4" name="Image 0" descr="/Users/stuartkerr/Code/Ask-Ruvnet/Ask-Ruvnet/docs/presentations/images/02-data-sovereignty.pn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1520" y="1051560"/>
            <a:ext cx="3749040" cy="2377440"/>
          </a:xfrm>
          <a:prstGeom prst="rect">
            <a:avLst/>
          </a:prstGeom>
          <a:solidFill>
            <a:srgbClr val="1A152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051560"/>
            <a:ext cx="374904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188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AI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914400" y="1554480"/>
            <a:ext cx="3383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→ Internet → OpenAI servers → Response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secrets transmitted externally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audit what happens to your data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teams block AI adoption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project dies in legal review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051560"/>
            <a:ext cx="3749040" cy="2377440"/>
          </a:xfrm>
          <a:prstGeom prst="rect">
            <a:avLst/>
          </a:prstGeom>
          <a:solidFill>
            <a:srgbClr val="0D292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63440" y="1051560"/>
            <a:ext cx="374904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8"/>
          <p:cNvSpPr/>
          <p:nvPr/>
        </p:nvSpPr>
        <p:spPr>
          <a:xfrm>
            <a:off x="4846320" y="1188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RuvNet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846320" y="1554480"/>
            <a:ext cx="3383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→ Your PostgreSQL → RuVector → Response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RuVector runs inside your infrastructure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AIMDS scans every input AND output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RVF containers run air-gapped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approves day one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31520" y="3657600"/>
            <a:ext cx="7680960" cy="1097280"/>
          </a:xfrm>
          <a:prstGeom prst="rect">
            <a:avLst/>
          </a:prstGeom>
          <a:solidFill>
            <a:srgbClr val="1A2035"/>
          </a:solidFill>
          <a:ln/>
        </p:spPr>
      </p:sp>
      <p:sp>
        <p:nvSpPr>
          <p:cNvPr id="14" name="Text 11"/>
          <p:cNvSpPr/>
          <p:nvPr/>
        </p:nvSpPr>
        <p:spPr>
          <a:xfrm>
            <a:off x="914400" y="3703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Bank Loan Analysis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14400" y="40233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OpenAI: Upload millions of loan records to their servers. Compliance says no. Project dies.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RuvNet: Deploy RuVector on your existing PostgreSQL. Add AIMDS middleware. AI analyzes everything locally. Zero data leaves the building. Compliance approves day one.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AI on Your Phone.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Cloud. No Backend.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502920"/>
          </a:xfrm>
          <a:prstGeom prst="rect">
            <a:avLst/>
          </a:prstGeom>
          <a:solidFill>
            <a:srgbClr val="1A2035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0972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image: 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194560" y="10972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50-500 MB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566160" y="10972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container: 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46320" y="10972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5-50 MB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10972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RVF WASM: 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498080" y="10972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5.5 KB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1828800"/>
            <a:ext cx="2468880" cy="12344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1828800"/>
            <a:ext cx="246888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193852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248" y="21762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trivially solved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41248" y="2423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Diagnostics on the device. Patient data never leaves the hospital.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83280" y="1828800"/>
            <a:ext cx="2468880" cy="12344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383280" y="1828800"/>
            <a:ext cx="2468880" cy="45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8" name="Text 16"/>
          <p:cNvSpPr/>
          <p:nvPr/>
        </p:nvSpPr>
        <p:spPr>
          <a:xfrm>
            <a:off x="3493008" y="193852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93008" y="21762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AI, zero network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93008" y="2423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AI capability in air-gapped environments. No internet required.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35040" y="1828800"/>
            <a:ext cx="2468880" cy="12344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035040" y="1828800"/>
            <a:ext cx="246888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23" name="Text 21"/>
          <p:cNvSpPr/>
          <p:nvPr/>
        </p:nvSpPr>
        <p:spPr>
          <a:xfrm>
            <a:off x="6144768" y="193852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Workers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144768" y="21762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AI without internet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144768" y="2423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AI on a laptop. Works in a mine shaft with zero signal.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31520" y="3246120"/>
            <a:ext cx="2468880" cy="12344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31520" y="3246120"/>
            <a:ext cx="2468880" cy="457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335584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41248" y="35935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recommendations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248" y="3840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systems run AI locally. No cloud round-trip. Instant response.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383280" y="3246120"/>
            <a:ext cx="2468880" cy="12344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383280" y="3246120"/>
            <a:ext cx="2468880" cy="45720"/>
          </a:xfrm>
          <a:prstGeom prst="rect">
            <a:avLst/>
          </a:prstGeom>
          <a:solidFill>
            <a:srgbClr val="E879F9"/>
          </a:solidFill>
          <a:ln/>
        </p:spPr>
      </p:sp>
      <p:sp>
        <p:nvSpPr>
          <p:cNvPr id="33" name="Text 31"/>
          <p:cNvSpPr/>
          <p:nvPr/>
        </p:nvSpPr>
        <p:spPr>
          <a:xfrm>
            <a:off x="3493008" y="335584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9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/ Edge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493008" y="35935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on every device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493008" y="3840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Sensors, cameras, devices — each one becomes an intelligent endpoint.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035040" y="3246120"/>
            <a:ext cx="2468880" cy="12344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035040" y="3246120"/>
            <a:ext cx="246888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8" name="Text 36"/>
          <p:cNvSpPr/>
          <p:nvPr/>
        </p:nvSpPr>
        <p:spPr>
          <a:xfrm>
            <a:off x="6144768" y="335584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Developing World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144768" y="35935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Democratized AI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44768" y="3840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clinic in rural Africa gets the same AI as Johns Hopkins.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not a feature. This is a paradigm shift.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Teams. Real Results.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3749040" cy="14630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188720"/>
            <a:ext cx="54864" cy="14630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2618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Fox Flow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0" y="126187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Builder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1554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12.8M QPS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0" y="1901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4,000x faster than Redis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2148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database on RuVector that processes 12.8 million queries per second.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188720"/>
            <a:ext cx="3749040" cy="14630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188720"/>
            <a:ext cx="54864" cy="146304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12618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 Fleet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766560" y="126187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Engineering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37760" y="1554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51 agents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937760" y="1901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12 domains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37760" y="2148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51 AI agents across 12 business domains. Zero manual coordination.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1520" y="2880360"/>
            <a:ext cx="3749040" cy="14630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2880360"/>
            <a:ext cx="54864" cy="146304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29535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Sentry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743200" y="29535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3246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C6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years expertise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14400" y="359359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billing automation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4400" y="3840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medical billing fraud detection. Real clinical use, real savings.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54880" y="2880360"/>
            <a:ext cx="3749040" cy="14630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880360"/>
            <a:ext cx="54864" cy="146304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29535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Finland Gov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766560" y="29535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937760" y="3246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National scale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937760" y="359359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transformation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37760" y="3840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country-scale agentic deployment for AI-native public services.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31520" y="4617720"/>
            <a:ext cx="2468880" cy="411480"/>
          </a:xfrm>
          <a:prstGeom prst="rect">
            <a:avLst/>
          </a:prstGeom>
          <a:solidFill>
            <a:srgbClr val="1A2035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" y="46177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500K+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920240" y="46177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474720" y="4617720"/>
            <a:ext cx="2468880" cy="411480"/>
          </a:xfrm>
          <a:prstGeom prst="rect">
            <a:avLst/>
          </a:prstGeom>
          <a:solidFill>
            <a:srgbClr val="1A2035"/>
          </a:solidFill>
          <a:ln/>
        </p:spPr>
      </p:sp>
      <p:sp>
        <p:nvSpPr>
          <p:cNvPr id="37" name="Text 35"/>
          <p:cNvSpPr/>
          <p:nvPr/>
        </p:nvSpPr>
        <p:spPr>
          <a:xfrm>
            <a:off x="3566160" y="46177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12K+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4663440" y="46177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17920" y="4617720"/>
            <a:ext cx="2468880" cy="411480"/>
          </a:xfrm>
          <a:prstGeom prst="rect">
            <a:avLst/>
          </a:prstGeom>
          <a:solidFill>
            <a:srgbClr val="1A2035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46177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100K+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406640" y="46177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That Speaks For Itself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results. Not theoretical. Not marketing projections.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2011680"/>
                <a:gridCol w="1645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RuvNet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Industry Baseline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D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Advantage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SWE-Bench Score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84.8%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GPT-4o: 33.2%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D93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2.5x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HNSW Vector Search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61µs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500ms+ (Pinecone)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D93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8,000x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Attention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2.49-7.47x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attention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D93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Up to 7.47x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 Processing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12.8M QPS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Redis: 3K QPS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D93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4,000x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Threat Detection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0.06ms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Rule-based: 10-50ms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D93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166-833x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Learning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&lt;1ms, $0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Days, $100K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D93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Instant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WASM Runtime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5.5KB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100MB+ containers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D93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9,000x smaller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31520" y="3977640"/>
            <a:ext cx="7680960" cy="411480"/>
          </a:xfrm>
          <a:prstGeom prst="rect">
            <a:avLst/>
          </a:prstGeom>
          <a:solidFill>
            <a:srgbClr val="0D2920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3977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number above is from actual benchmarks.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Built the Future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Months Early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March 2026, Anthropic launched sub-agents for Claude Code. Ruflo shipped multi-agent orchestration in August 2025.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71600" y="2148840"/>
            <a:ext cx="6400800" cy="36576"/>
          </a:xfrm>
          <a:prstGeom prst="rect">
            <a:avLst/>
          </a:prstGeom>
          <a:solidFill>
            <a:srgbClr val="8899AA"/>
          </a:solidFill>
          <a:ln/>
        </p:spPr>
      </p:sp>
      <p:sp>
        <p:nvSpPr>
          <p:cNvPr id="7" name="Shape 5"/>
          <p:cNvSpPr/>
          <p:nvPr/>
        </p:nvSpPr>
        <p:spPr>
          <a:xfrm>
            <a:off x="1828800" y="1828800"/>
            <a:ext cx="109728" cy="64008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8" name="Text 6"/>
          <p:cNvSpPr/>
          <p:nvPr/>
        </p:nvSpPr>
        <p:spPr>
          <a:xfrm>
            <a:off x="2103120" y="17830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AUG 2025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10312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Ruflo ships multi-agent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0" y="18288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months ahead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0" y="1828800"/>
            <a:ext cx="109728" cy="640080"/>
          </a:xfrm>
          <a:prstGeom prst="rect">
            <a:avLst/>
          </a:prstGeom>
          <a:solidFill>
            <a:srgbClr val="8899AA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17830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 2026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1792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ships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1520" y="2926080"/>
            <a:ext cx="7680960" cy="502920"/>
          </a:xfrm>
          <a:prstGeom prst="rect">
            <a:avLst/>
          </a:prstGeom>
          <a:solidFill>
            <a:srgbClr val="0D2920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29260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RuvNet doesn't follow the industry. The industry follows RuvNet.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3611880"/>
            <a:ext cx="3749040" cy="5486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611880"/>
            <a:ext cx="54864" cy="5486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6393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RuVector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011680" y="363931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In-process vector search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88620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still uses external vector DBs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54880" y="3611880"/>
            <a:ext cx="3749040" cy="5486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3611880"/>
            <a:ext cx="54864" cy="54864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6393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035040" y="363931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Chaos theory security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37760" y="388620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still uses rule-based WAFs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31520" y="4297680"/>
            <a:ext cx="3749040" cy="5486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31520" y="4297680"/>
            <a:ext cx="54864" cy="54864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43251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RVF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011680" y="432511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5.5KB cognitive containers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14400" y="457200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still uses Docker (50-500MB)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754880" y="4297680"/>
            <a:ext cx="3749040" cy="5486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54880" y="4297680"/>
            <a:ext cx="54864" cy="54864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33" name="Text 31"/>
          <p:cNvSpPr/>
          <p:nvPr/>
        </p:nvSpPr>
        <p:spPr>
          <a:xfrm>
            <a:off x="4937760" y="43251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035040" y="432511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Self-optimizing neural arch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937760" y="457200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uses static models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ROI Isn't Incremental.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Transformational.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1874520" cy="29260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280160"/>
            <a:ext cx="187452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4173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Learning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18288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$30M/mo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423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27432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" y="2926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$1.7M/mo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22960" y="3429000"/>
            <a:ext cx="1691640" cy="320040"/>
          </a:xfrm>
          <a:prstGeom prst="rect">
            <a:avLst/>
          </a:prstGeom>
          <a:solidFill>
            <a:srgbClr val="0D292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429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95% reduction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88920" y="1280160"/>
            <a:ext cx="1874520" cy="29260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88920" y="1280160"/>
            <a:ext cx="1874520" cy="45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6" name="Text 14"/>
          <p:cNvSpPr/>
          <p:nvPr/>
        </p:nvSpPr>
        <p:spPr>
          <a:xfrm>
            <a:off x="2880360" y="14173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Memory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880360" y="18288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880360" y="20116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 storage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880360" y="2423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2880360" y="27432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880360" y="2926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4% storage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2880360" y="3429000"/>
            <a:ext cx="1691640" cy="320040"/>
          </a:xfrm>
          <a:prstGeom prst="rect">
            <a:avLst/>
          </a:prstGeom>
          <a:solidFill>
            <a:srgbClr val="0D2920"/>
          </a:solidFill>
          <a:ln/>
        </p:spPr>
      </p:sp>
      <p:sp>
        <p:nvSpPr>
          <p:cNvPr id="23" name="Text 21"/>
          <p:cNvSpPr/>
          <p:nvPr/>
        </p:nvSpPr>
        <p:spPr>
          <a:xfrm>
            <a:off x="2880360" y="3429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96% reduction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1280160"/>
            <a:ext cx="1874520" cy="29260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46320" y="1280160"/>
            <a:ext cx="187452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26" name="Text 24"/>
          <p:cNvSpPr/>
          <p:nvPr/>
        </p:nvSpPr>
        <p:spPr>
          <a:xfrm>
            <a:off x="4937760" y="14173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Cost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18288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937760" y="20116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 tokens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937760" y="2423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4937760" y="27432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937760" y="2926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25-50% tokens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937760" y="3429000"/>
            <a:ext cx="1691640" cy="320040"/>
          </a:xfrm>
          <a:prstGeom prst="rect">
            <a:avLst/>
          </a:prstGeom>
          <a:solidFill>
            <a:srgbClr val="0D2920"/>
          </a:solidFill>
          <a:ln/>
        </p:spPr>
      </p:sp>
      <p:sp>
        <p:nvSpPr>
          <p:cNvPr id="33" name="Text 31"/>
          <p:cNvSpPr/>
          <p:nvPr/>
        </p:nvSpPr>
        <p:spPr>
          <a:xfrm>
            <a:off x="4937760" y="3429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50-75% reduction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903720" y="1280160"/>
            <a:ext cx="1874520" cy="29260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903720" y="1280160"/>
            <a:ext cx="1874520" cy="457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36" name="Text 34"/>
          <p:cNvSpPr/>
          <p:nvPr/>
        </p:nvSpPr>
        <p:spPr>
          <a:xfrm>
            <a:off x="6995160" y="14173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Cache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95160" y="18288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995160" y="20116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 memory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995160" y="2423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95160" y="27432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995160" y="2926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6-12% memory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995160" y="3429000"/>
            <a:ext cx="1691640" cy="320040"/>
          </a:xfrm>
          <a:prstGeom prst="rect">
            <a:avLst/>
          </a:prstGeom>
          <a:solidFill>
            <a:srgbClr val="0D2920"/>
          </a:solidFill>
          <a:ln/>
        </p:spPr>
      </p:sp>
      <p:sp>
        <p:nvSpPr>
          <p:cNvPr id="43" name="Text 41"/>
          <p:cNvSpPr/>
          <p:nvPr/>
        </p:nvSpPr>
        <p:spPr>
          <a:xfrm>
            <a:off x="6995160" y="3429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8-16x reduction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31520" y="44348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savings from real deployments, not projections.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 Ticket Resolution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3108960"/>
          </a:xfrm>
          <a:prstGeom prst="rect">
            <a:avLst/>
          </a:prstGeom>
          <a:solidFill>
            <a:srgbClr val="1A152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51560"/>
            <a:ext cx="3749040" cy="411480"/>
          </a:xfrm>
          <a:prstGeom prst="rect">
            <a:avLst/>
          </a:prstGeom>
          <a:solidFill>
            <a:srgbClr val="2A152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0515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— 45 min average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600200"/>
            <a:ext cx="33832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ticket routing (5-10 min)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manually searches KB (10 min)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memory of similar past tickets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learning from resolutions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requires re-explaining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security scanning of inputs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Cloud-dependent — outage = no support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3749040" cy="3108960"/>
          </a:xfrm>
          <a:prstGeom prst="rect">
            <a:avLst/>
          </a:prstGeom>
          <a:solidFill>
            <a:srgbClr val="0D292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051560"/>
            <a:ext cx="3749040" cy="411480"/>
          </a:xfrm>
          <a:prstGeom prst="rect">
            <a:avLst/>
          </a:prstGeom>
          <a:solidFill>
            <a:srgbClr val="0D393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0515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— 3 min average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1600200"/>
            <a:ext cx="33832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AIMDS scans input for threats (0.06ms)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Ruflo routes to specialist agent (instant)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RuVector finds relevant context (61µs)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AgentDB recalls all prior interactions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 learns from this resolution ($0)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 via witness chain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 via RVF container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4343400"/>
            <a:ext cx="7680960" cy="457200"/>
          </a:xfrm>
          <a:prstGeom prst="rect">
            <a:avLst/>
          </a:prstGeom>
          <a:solidFill>
            <a:srgbClr val="1A2035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343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15x faster  |  Self-improving  |  Air-gapped capable  |  Full audit trail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Compound Advantage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Organizations deploying now accumulate advantages that cannot be replicated.</a:t>
            </a:r>
            <a:endParaRPr lang="en-US" sz="1400" dirty="0"/>
          </a:p>
        </p:txBody>
      </p:sp>
      <p:pic>
        <p:nvPicPr>
          <p:cNvPr id="5" name="Image 0" descr="/Users/stuartkerr/Code/Ask-Ruvnet/Ask-Ruvnet/docs/presentations/images/03-compounding-advantage.png">    </p:cNvPr>
          <p:cNvPicPr>
            <a:picLocks noChangeAspect="1"/>
          </p:cNvPicPr>
          <p:nvPr/>
        </p:nvPicPr>
        <p:blipFill>
          <a:blip r:embed="rId1">
            <a:alphaModFix amt="7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1325880"/>
            <a:ext cx="7680960" cy="658368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325880"/>
            <a:ext cx="54864" cy="65836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8" name="Text 5"/>
          <p:cNvSpPr/>
          <p:nvPr/>
        </p:nvSpPr>
        <p:spPr>
          <a:xfrm>
            <a:off x="1005840" y="13624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 Training Data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05840" y="1600200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interaction generates training data unique to your organization. SONA converts this into LoRA adapters automatically. Your AI gets smarter from your data.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31520" y="2103120"/>
            <a:ext cx="54864" cy="65836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2" name="Text 9"/>
          <p:cNvSpPr/>
          <p:nvPr/>
        </p:nvSpPr>
        <p:spPr>
          <a:xfrm>
            <a:off x="1005840" y="21396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AI Memory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005840" y="2377440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+ semantic + procedural memory builds organizational knowledge that no competitor can copy or purchase. Your AI knows your company.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31520" y="2880360"/>
            <a:ext cx="7680960" cy="658368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31520" y="2880360"/>
            <a:ext cx="54864" cy="658368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6" name="Text 13"/>
          <p:cNvSpPr/>
          <p:nvPr/>
        </p:nvSpPr>
        <p:spPr>
          <a:xfrm>
            <a:off x="1005840" y="291693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Adapters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005840" y="3154680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adapters fine-tuned on your data. Each adaptation makes the system more valuable and more differentiated from off-the-shelf AI.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31520" y="3657600"/>
            <a:ext cx="7680960" cy="658368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31520" y="3657600"/>
            <a:ext cx="54864" cy="658368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20" name="Text 17"/>
          <p:cNvSpPr/>
          <p:nvPr/>
        </p:nvSpPr>
        <p:spPr>
          <a:xfrm>
            <a:off x="1005840" y="369417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Threat Intelligence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005840" y="3931920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AIMDS learns from every attack attempt. Your security posture improves continuously — attackers train your defense against themselves.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31520" y="4526280"/>
            <a:ext cx="7680960" cy="411480"/>
          </a:xfrm>
          <a:prstGeom prst="rect">
            <a:avLst/>
          </a:prstGeom>
          <a:solidFill>
            <a:srgbClr val="2A1520"/>
          </a:solidFill>
          <a:ln/>
        </p:spPr>
      </p:sp>
      <p:sp>
        <p:nvSpPr>
          <p:cNvPr id="23" name="Text 20"/>
          <p:cNvSpPr/>
          <p:nvPr/>
        </p:nvSpPr>
        <p:spPr>
          <a:xfrm>
            <a:off x="914400" y="4526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advantage compounds at the speed of AI.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Industry Applications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3749040" cy="16916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05840"/>
            <a:ext cx="374904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11556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Services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146304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Algorithmic trading (53.8% accuracy, 87% walk-forward)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compliance monitoring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 via chaos theory (AIMDS)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3749040" cy="16916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05840"/>
            <a:ext cx="3749040" cy="45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111556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92040" y="146304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rvDNA genomic diagnostics on any device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billing automation (Bill Sentry)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compliance trivial via WASM air-gap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2926080"/>
            <a:ext cx="3749040" cy="16916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2926080"/>
            <a:ext cx="374904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0358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&amp; Government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338328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AI that never touches a network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witness chains for audit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National-scale AI transformation (Finland)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54880" y="2926080"/>
            <a:ext cx="3749040" cy="16916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2926080"/>
            <a:ext cx="3749040" cy="457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18" name="Text 16"/>
          <p:cNvSpPr/>
          <p:nvPr/>
        </p:nvSpPr>
        <p:spPr>
          <a:xfrm>
            <a:off x="4892040" y="30358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892040" y="338328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COBOL-to-Rust migration in one afternoon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RVCOW: 200x cost savings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Self-improving support and operations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Free — And That Should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Terrify Your Competitors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RuvNet is open source. MIT license. Zero licensing cost. The entire 148-capability stack.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1874520" cy="13716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187452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7830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88920" y="1600200"/>
            <a:ext cx="1874520" cy="13716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88920" y="1600200"/>
            <a:ext cx="187452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2880360" y="17830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2880360" y="24688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 Cost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1600200"/>
            <a:ext cx="1874520" cy="13716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46320" y="1600200"/>
            <a:ext cx="187452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17830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148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4937760" y="24688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03720" y="1600200"/>
            <a:ext cx="1874520" cy="13716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03720" y="1600200"/>
            <a:ext cx="187452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9" name="Text 17"/>
          <p:cNvSpPr/>
          <p:nvPr/>
        </p:nvSpPr>
        <p:spPr>
          <a:xfrm>
            <a:off x="6995160" y="17830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80+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6995160" y="24688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Crates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" y="3200400"/>
            <a:ext cx="7680960" cy="640080"/>
          </a:xfrm>
          <a:prstGeom prst="rect">
            <a:avLst/>
          </a:prstGeom>
          <a:solidFill>
            <a:srgbClr val="0D292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3200400"/>
            <a:ext cx="54864" cy="64008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320040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BEC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dollar your competitor spends on licensing, you invest in capability. The gap compounds daily.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31520" y="4069080"/>
            <a:ext cx="7680960" cy="548640"/>
          </a:xfrm>
          <a:prstGeom prst="rect">
            <a:avLst/>
          </a:prstGeom>
          <a:solidFill>
            <a:srgbClr val="1A2035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40690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isn't a trial or freemium trap. This is the full production stack. Open source forever.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Window Is Open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RuvNet has a 12-18 month head start. The gap is closing — but not yet.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7680960" cy="594360"/>
          </a:xfrm>
          <a:prstGeom prst="rect">
            <a:avLst/>
          </a:prstGeom>
          <a:solidFill>
            <a:srgbClr val="0D2920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371600"/>
            <a:ext cx="54864" cy="59436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37160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103120" y="13716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RuvNet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40480" y="137160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148-capability stack shipping today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148840"/>
            <a:ext cx="5029200" cy="59436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14884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 2026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103120" y="2148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0480" y="214884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orchestration (sub-agents — 8 months after Ruflo)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926080"/>
            <a:ext cx="3657600" cy="59436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292608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Q4 2026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03120" y="292608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840480" y="292608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 (limited capabilities)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703320"/>
            <a:ext cx="2286000" cy="59436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70332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103120" y="37033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/ AWS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840480" y="370332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stack (no WASM, no air-gap, no self-learning)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4526280"/>
            <a:ext cx="7680960" cy="457200"/>
          </a:xfrm>
          <a:prstGeom prst="rect">
            <a:avLst/>
          </a:prstGeom>
          <a:solidFill>
            <a:srgbClr val="2A1520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12-18 month head start. The gap is closing — but not yet.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 Anywhere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deployment model. SOC 2, HIPAA, GDPR, ITAR compliant.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1874520" cy="21031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325880"/>
            <a:ext cx="187452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41248" y="22860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Kubernetes-native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auto-scaling. Managed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88920" y="1325880"/>
            <a:ext cx="1874520" cy="21031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88920" y="1325880"/>
            <a:ext cx="1874520" cy="45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2898648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HW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898648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898648" y="22860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 metal deployment.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data sovereignty.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control.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846320" y="1325880"/>
            <a:ext cx="1874520" cy="21031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46320" y="1325880"/>
            <a:ext cx="187452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7" name="Text 15"/>
          <p:cNvSpPr/>
          <p:nvPr/>
        </p:nvSpPr>
        <p:spPr>
          <a:xfrm>
            <a:off x="4956048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C6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Mix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956048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56048" y="22860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orchestration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on-premise data.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of both.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03720" y="1325880"/>
            <a:ext cx="1874520" cy="21031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903720" y="1325880"/>
            <a:ext cx="1874520" cy="457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22" name="Text 20"/>
          <p:cNvSpPr/>
          <p:nvPr/>
        </p:nvSpPr>
        <p:spPr>
          <a:xfrm>
            <a:off x="7013448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D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RVF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7013448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Air-Gapped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013448" y="22860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Self-booting cognitive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containers. Zero network.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 a bunker.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1520" y="3657600"/>
            <a:ext cx="7680960" cy="640080"/>
          </a:xfrm>
          <a:prstGeom prst="rect">
            <a:avLst/>
          </a:prstGeom>
          <a:solidFill>
            <a:srgbClr val="0D2920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703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Browser-Only via WASM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14400" y="39776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server. No installation. Just open a web page. The 5.5KB WASM runtime runs the full vector search engine in a browser tab.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31520" y="4480560"/>
            <a:ext cx="7680960" cy="411480"/>
          </a:xfrm>
          <a:prstGeom prst="rect">
            <a:avLst/>
          </a:prstGeom>
          <a:solidFill>
            <a:srgbClr val="1A2035"/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" y="44805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 |  HIPAA  |  GDPR  |  ITAR compliant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Partnership Tiers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2560320" cy="37490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05840"/>
            <a:ext cx="256032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143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15087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Days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17373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Department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68680" y="2057400"/>
            <a:ext cx="2286000" cy="18288"/>
          </a:xfrm>
          <a:prstGeom prst="rect">
            <a:avLst/>
          </a:prstGeom>
          <a:solidFill>
            <a:srgbClr val="2A3045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19456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stack deployment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review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engineer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metrics defined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commitment required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74720" y="1005840"/>
            <a:ext cx="2560320" cy="37490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74720" y="1005840"/>
            <a:ext cx="256032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3" name="Text 11"/>
          <p:cNvSpPr/>
          <p:nvPr/>
        </p:nvSpPr>
        <p:spPr>
          <a:xfrm>
            <a:off x="3611880" y="1143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Enterprise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11880" y="15087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Annual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11880" y="17373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Organization-Wide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11880" y="2057400"/>
            <a:ext cx="2286000" cy="18288"/>
          </a:xfrm>
          <a:prstGeom prst="rect">
            <a:avLst/>
          </a:prstGeom>
          <a:solidFill>
            <a:srgbClr val="2A3045"/>
          </a:solidFill>
          <a:ln/>
        </p:spPr>
      </p:sp>
      <p:sp>
        <p:nvSpPr>
          <p:cNvPr id="17" name="Text 15"/>
          <p:cNvSpPr/>
          <p:nvPr/>
        </p:nvSpPr>
        <p:spPr>
          <a:xfrm>
            <a:off x="3611880" y="219456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Multi-department rollout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agent development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support SLA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architecture reviews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and enablement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17920" y="1005840"/>
            <a:ext cx="2560320" cy="37490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1005840"/>
            <a:ext cx="2560320" cy="457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20" name="Text 18"/>
          <p:cNvSpPr/>
          <p:nvPr/>
        </p:nvSpPr>
        <p:spPr>
          <a:xfrm>
            <a:off x="6355080" y="1143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9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55080" y="15087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Multi-Year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55080" y="17373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Partnership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355080" y="2057400"/>
            <a:ext cx="2286000" cy="18288"/>
          </a:xfrm>
          <a:prstGeom prst="rect">
            <a:avLst/>
          </a:prstGeom>
          <a:solidFill>
            <a:srgbClr val="2A3045"/>
          </a:solidFill>
          <a:ln/>
        </p:spPr>
      </p:sp>
      <p:sp>
        <p:nvSpPr>
          <p:cNvPr id="24" name="Text 22"/>
          <p:cNvSpPr/>
          <p:nvPr/>
        </p:nvSpPr>
        <p:spPr>
          <a:xfrm>
            <a:off x="6355080" y="219456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roadmap development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module development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engineering team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 options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share models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 U  V  N  E  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Schedule a 30-Minute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Review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2743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how the 148-capability agentic stack maps to your specific use case.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337560"/>
            <a:ext cx="1828800" cy="7772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33832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148+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37947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0" y="3337560"/>
            <a:ext cx="1828800" cy="7772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834640" y="33832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80+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834640" y="37947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Crates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3337560"/>
            <a:ext cx="1828800" cy="7772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46320" y="33832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500K+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846320" y="37947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3337560"/>
            <a:ext cx="1828800" cy="7772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0" y="33832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858000" y="37947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4343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standard deviations beyond state of the art. Open source. Free.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ruvnet.com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RuvNet CEO Deck 2026 — The Complete Agentic Intelligence Platform</dc:title>
  <dc:subject>PptxGenJS Presentation</dc:subject>
  <dc:creator>RuvNet</dc:creator>
  <cp:lastModifiedBy>RuvNet</cp:lastModifiedBy>
  <cp:revision>1</cp:revision>
  <dcterms:created xsi:type="dcterms:W3CDTF">2026-03-13T20:36:55Z</dcterms:created>
  <dcterms:modified xsi:type="dcterms:W3CDTF">2026-03-13T20:36:55Z</dcterms:modified>
</cp:coreProperties>
</file>